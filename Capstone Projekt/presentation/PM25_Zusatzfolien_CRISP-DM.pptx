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9260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42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Business-Entscheidung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731520" y="93268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CRISP-DM 1 · Business Understanding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10725912" cy="1371600"/>
          </a:xfrm>
          <a:prstGeom prst="roundRect">
            <a:avLst>
              <a:gd name="adj" fmla="val 6667"/>
            </a:avLst>
          </a:prstGeom>
          <a:solidFill>
            <a:srgbClr val="C4471C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554480"/>
            <a:ext cx="10149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Notfallplan aktivieren?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 prognostiziertem Rotalarm (Tages-AQI &gt; 200 an &gt; 2 Tagen) Bau, Produktion und Logistik 1–3 Tage im Voraus umplanen – statt kurzfristig zu reagieren.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3063240"/>
            <a:ext cx="3383280" cy="1554480"/>
          </a:xfrm>
          <a:prstGeom prst="roundRect">
            <a:avLst>
              <a:gd name="adj" fmla="val 5882"/>
            </a:avLst>
          </a:prstGeom>
          <a:solidFill>
            <a:srgbClr val="F3F5F7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32461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Bauleiter / Site-Manager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38404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Bauarbeiten aussetzen/verschieben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43400" y="3063240"/>
            <a:ext cx="3383280" cy="1554480"/>
          </a:xfrm>
          <a:prstGeom prst="roundRect">
            <a:avLst>
              <a:gd name="adj" fmla="val 5882"/>
            </a:avLst>
          </a:prstGeom>
          <a:solidFill>
            <a:srgbClr val="F3F5F7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32461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Produktionsplaner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0" y="38404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Produktion drosseln/umplanen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955280" y="3063240"/>
            <a:ext cx="3383280" cy="1554480"/>
          </a:xfrm>
          <a:prstGeom prst="roundRect">
            <a:avLst>
              <a:gd name="adj" fmla="val 5882"/>
            </a:avLst>
          </a:prstGeom>
          <a:solidFill>
            <a:srgbClr val="F3F5F7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83880" y="32461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Logistik / Flotte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183880" y="38404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Lieferverkehr umdisponieren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5029200"/>
            <a:ext cx="10725912" cy="1188720"/>
          </a:xfrm>
          <a:prstGeom prst="roundRect">
            <a:avLst>
              <a:gd name="adj" fmla="val 7692"/>
            </a:avLst>
          </a:prstGeom>
          <a:solidFill>
            <a:srgbClr val="20262E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5138928"/>
            <a:ext cx="1026871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9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Erfolg =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 schlagen die Seasonal-Naive-Baseline um ≥ 15–20 % RMSE auf 24–72 h – stabil über den gesamten Testzeitraum.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9260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42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Prognose → Entscheidung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731520" y="93268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Vom Modell zur Handlung</a:t>
            </a:r>
            <a:endParaRPr lang="en-US" sz="1300" dirty="0"/>
          </a:p>
        </p:txBody>
      </p:sp>
      <p:pic>
        <p:nvPicPr>
          <p:cNvPr id="5" name="Image 0" descr="/sessions/eager-gallant-allen/mnt/AIForBusinessPrognosis_fv/Capstone Projekt/grafiken/decision_progno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006" y="1371600"/>
            <a:ext cx="8898941" cy="3657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" y="5257800"/>
            <a:ext cx="10725912" cy="1188720"/>
          </a:xfrm>
          <a:prstGeom prst="roundRect">
            <a:avLst>
              <a:gd name="adj" fmla="val 7692"/>
            </a:avLst>
          </a:prstGeom>
          <a:solidFill>
            <a:srgbClr val="20262E"/>
          </a:solidFill>
          <a:ln/>
        </p:spPr>
      </p:sp>
      <p:sp>
        <p:nvSpPr>
          <p:cNvPr id="7" name="Text 4"/>
          <p:cNvSpPr/>
          <p:nvPr/>
        </p:nvSpPr>
        <p:spPr>
          <a:xfrm>
            <a:off x="960120" y="5367528"/>
            <a:ext cx="1026871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9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Ablesen: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Prognose überschreitet die Rotalarm-Schwelle (150 µg/m³) ~24–48 h im Voraus → Notfallplan aktivieren. Der Ist-Verlauf bestätigt die Episode (Spitzen bis ~400 µg/m³).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9260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42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Erfolgskriterium erreicht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731520" y="93268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CRISP-DM 5 · Evaluation</a:t>
            </a:r>
            <a:endParaRPr lang="en-US" sz="1300" dirty="0"/>
          </a:p>
        </p:txBody>
      </p:sp>
      <p:pic>
        <p:nvPicPr>
          <p:cNvPr id="5" name="Image 0" descr="/sessions/eager-gallant-allen/mnt/AIForBusinessPrognosis_fv/Capstone Projekt/grafiken/erfolgskriteriu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64708"/>
            <a:ext cx="8138160" cy="455154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098280" y="1554480"/>
            <a:ext cx="2697480" cy="4663440"/>
          </a:xfrm>
          <a:prstGeom prst="roundRect">
            <a:avLst>
              <a:gd name="adj" fmla="val 3390"/>
            </a:avLst>
          </a:prstGeom>
          <a:solidFill>
            <a:srgbClr val="20262E"/>
          </a:solidFill>
          <a:ln/>
        </p:spPr>
      </p:sp>
      <p:sp>
        <p:nvSpPr>
          <p:cNvPr id="7" name="Text 4"/>
          <p:cNvSpPr/>
          <p:nvPr/>
        </p:nvSpPr>
        <p:spPr>
          <a:xfrm>
            <a:off x="9281160" y="1783080"/>
            <a:ext cx="237744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E09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Ziel: ≥ 15–20 %</a:t>
            </a:r>
            <a:endParaRPr lang="en-US" sz="15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klar übertroffen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TFT / Chronos-2: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45–62 % weniger RMSE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 (PP):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25–39 %</a:t>
            </a:r>
            <a:endParaRPr lang="en-US" sz="1500" dirty="0"/>
          </a:p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…gegenüber Seasonal Naive (24–72 h).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9260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42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Daten &amp; Messstationen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731520" y="93268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CRISP-DM 2 · Data Understanding</a:t>
            </a:r>
            <a:endParaRPr lang="en-US" sz="1300" dirty="0"/>
          </a:p>
        </p:txBody>
      </p:sp>
      <p:pic>
        <p:nvPicPr>
          <p:cNvPr id="5" name="Image 0" descr="/sessions/eager-gallant-allen/mnt/AIForBusinessPrognosis_fv/Capstone Projekt/grafiken/beijing_pm25_station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40155"/>
            <a:ext cx="7680960" cy="418352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412480" y="1463040"/>
            <a:ext cx="3383280" cy="4937760"/>
          </a:xfrm>
          <a:prstGeom prst="roundRect">
            <a:avLst>
              <a:gd name="adj" fmla="val 2703"/>
            </a:avLst>
          </a:prstGeom>
          <a:solidFill>
            <a:srgbClr val="F3F5F7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41080" y="16459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Datensteckbrief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41080" y="2103120"/>
            <a:ext cx="29718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4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Beijing Multi-Site Air-Quality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4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Messstationen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4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03/2013 – 02/2017, stündlich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4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~35.000 Stunden je Station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4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Exogen: Wetter (Temp., Taupunkt, Druck, Regen, Wind)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4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Co-Schadstoffe: SO₂, NO₂, CO, O₃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4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Lizenz: CC BY 4.0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9260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42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– Kernbefunde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731520" y="93268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CRISP-DM 2 · Data Understanding</a:t>
            </a:r>
            <a:endParaRPr lang="en-US" sz="1300" dirty="0"/>
          </a:p>
        </p:txBody>
      </p:sp>
      <p:pic>
        <p:nvPicPr>
          <p:cNvPr id="5" name="Image 0" descr="/sessions/eager-gallant-allen/mnt/AIForBusinessPrognosis_fv/Capstone Projekt/grafiken/eda_kernbefun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1041" y="1371600"/>
            <a:ext cx="7116318" cy="5029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464040" y="1554480"/>
            <a:ext cx="233172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4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Fehlwerte nur 1–3 %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2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einfache Interpolation reicht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4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Klarer Tagesgang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2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(Verkehr) + Jahresgang (Heizperiode)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4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Stationen stark korreliert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2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r ≈ 0,88 → multivariat/räumlich sinnvoll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Diese Muster nutzen die Modelle als Saisonalität &amp; Regressoren.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9260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42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Datenaufbereitung &amp; Splits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731520" y="93268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CRISP-DM 3 · Data Preparation</a:t>
            </a:r>
            <a:endParaRPr lang="en-US" sz="1300" dirty="0"/>
          </a:p>
        </p:txBody>
      </p:sp>
      <p:pic>
        <p:nvPicPr>
          <p:cNvPr id="5" name="Image 0" descr="/sessions/eager-gallant-allen/mnt/AIForBusinessPrognosis_fv/Capstone Projekt/grafiken/sliding_window_schem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05990" y="1371600"/>
            <a:ext cx="7776972" cy="2743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4389120"/>
            <a:ext cx="10607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24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Imputation: lineare Interpolation (nur 1–3 % Fehlwerte); log1p-Transformation (PM2.5 rechtsschief)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24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Engineering: Kalender-Features (Stunde, Wochentag, Feiertag) + Wetter-Regressoren; Co-Schadstoffe als Zusatz-Serien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24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Splits: identische Sliding-Window-Fenster für ALLE Modelle – Training bis 30.08.2016, Test 09/2016–02/2017, Horizonte 8/24/48/72 h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9260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42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Unsicherheit quantifizieren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731520" y="93268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Challenge-Schwerpunkt · Uncertainty Quantification</a:t>
            </a:r>
            <a:endParaRPr lang="en-US" sz="1300" dirty="0"/>
          </a:p>
        </p:txBody>
      </p:sp>
      <p:pic>
        <p:nvPicPr>
          <p:cNvPr id="5" name="Image 0" descr="/sessions/eager-gallant-allen/mnt/AIForBusinessPrognosis_fv/Capstone Projekt/grafiken/prophet_ki_Dongsi_2016-09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196672"/>
            <a:ext cx="7955280" cy="319617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915400" y="1554480"/>
            <a:ext cx="2880360" cy="4663440"/>
          </a:xfrm>
          <a:prstGeom prst="roundRect">
            <a:avLst>
              <a:gd name="adj" fmla="val 3175"/>
            </a:avLst>
          </a:prstGeom>
          <a:solidFill>
            <a:srgbClr val="F3F5F7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0" y="1783080"/>
            <a:ext cx="242316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4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 liefert Vorhersage­intervalle (80 % / 95 %) automatisch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4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 wird mit dem Horizont breiter – mehr Unsicherheit weiter voraus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4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Chronos-2 liefert ebenfalls Quantile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4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Qualität = Kalibrierung: Coverage über viele Fenster prüfen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4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Für die Entscheidung zählt nicht nur der Punkt, sondern das Risiko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026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Einordnung gegen das Referenzpaper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9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CRISP-DM 5 · Blueprint, keine vollständige Reproduktion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97280" y="2103120"/>
            <a:ext cx="3291840" cy="2194560"/>
          </a:xfrm>
          <a:prstGeom prst="roundRect">
            <a:avLst>
              <a:gd name="adj" fmla="val 5000"/>
            </a:avLst>
          </a:prstGeom>
          <a:solidFill>
            <a:srgbClr val="2B333D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23317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Unser TFT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97280" y="278892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10,4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1097280" y="3703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µg/m³ MAE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2103120"/>
            <a:ext cx="3291840" cy="2194560"/>
          </a:xfrm>
          <a:prstGeom prst="roundRect">
            <a:avLst>
              <a:gd name="adj" fmla="val 5000"/>
            </a:avLst>
          </a:prstGeom>
          <a:solidFill>
            <a:srgbClr val="2B333D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23317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Zhang et al. (Paper)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754880" y="278892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16,75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4754880" y="3703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µg/m³ MAE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595360" y="2103120"/>
            <a:ext cx="2834640" cy="2194560"/>
          </a:xfrm>
          <a:prstGeom prst="roundRect">
            <a:avLst>
              <a:gd name="adj" fmla="val 5000"/>
            </a:avLst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8595360" y="274320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38 %</a:t>
            </a:r>
            <a:endParaRPr lang="en-US" sz="34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niedrigerer MAE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1097280" y="4754880"/>
            <a:ext cx="10332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Referenzpaper: Zhang et al. (2022), CNN-BiLSTM/CBAM – als Blueprint für Methode, Benchmark &amp; Datensatz.</a:t>
            </a:r>
            <a:endParaRPr lang="en-US" sz="1300" dirty="0"/>
          </a:p>
          <a:p>
            <a:pPr indent="0" marL="0">
              <a:buNone/>
            </a:pPr>
            <a:r>
              <a:rPr lang="en-US" sz="1200" i="1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Vorsicht: Paper berichtet nur einzelne Stationen (hier Wanliu); Auswertungssetups nicht 1:1 identisch → als Orientierung, nicht als exakter Vergleich.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2026-07-22T18:58:49Z</dcterms:created>
  <dcterms:modified xsi:type="dcterms:W3CDTF">2026-07-22T18:58:49Z</dcterms:modified>
</cp:coreProperties>
</file>