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PM2.5 (µg/m³, Jahresmittel)</c:v>
                </c:pt>
              </c:strCache>
            </c:strRef>
          </c:tx>
          <c:spPr>
            <a:solidFill>
              <a:srgbClr val="2C5F2D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242A3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C5F2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4471C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WHO-Richtwert</c:v>
                  </c:pt>
                  <c:pt idx="1">
                    <c:v>Berlin</c:v>
                  </c:pt>
                  <c:pt idx="2">
                    <c:v>Stuttgart</c:v>
                  </c:pt>
                  <c:pt idx="3">
                    <c:v>München</c:v>
                  </c:pt>
                  <c:pt idx="4">
                    <c:v>Beijing 2024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</c:v>
                </c:pt>
                <c:pt idx="1">
                  <c:v>10.5</c:v>
                </c:pt>
                <c:pt idx="2">
                  <c:v>8.4</c:v>
                </c:pt>
                <c:pt idx="3">
                  <c:v>8.2</c:v>
                </c:pt>
                <c:pt idx="4">
                  <c:v>30.5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1" i="0" strike="noStrike" sz="1400" u="none">
                  <a:solidFill>
                    <a:srgbClr val="242A3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42A3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"/>
          <c:min val="0"/>
        </c:scaling>
        <c:delete val="0"/>
        <c:axPos val="l"/>
        <c:majorGridlines>
          <c:spPr>
            <a:ln w="12700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6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42A31"/>
                </a:solidFill>
                <a:latin typeface="Arial"/>
              </a:defRPr>
            </a:pPr>
            <a:r>
              <a:rPr sz="1200" b="0" i="0" u="none" strike="noStrike">
                <a:solidFill>
                  <a:srgbClr val="242A31"/>
                </a:solidFill>
                <a:latin typeface="Arial"/>
              </a:rPr>
              <a:t>Quellen-Anteile am PM2.5 (grob)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Quellen-Anteile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7B2CBF"/>
              </a:solidFill>
              <a:effectLst/>
            </c:spPr>
          </c:dPt>
          <c:dPt>
            <c:idx val="1"/>
            <c:bubble3D val="0"/>
            <c:spPr>
              <a:solidFill>
                <a:srgbClr val="2C3E50"/>
              </a:solidFill>
              <a:effectLst/>
            </c:spPr>
          </c:dPt>
          <c:dPt>
            <c:idx val="2"/>
            <c:bubble3D val="0"/>
            <c:spPr>
              <a:solidFill>
                <a:srgbClr val="1C7293"/>
              </a:solidFill>
              <a:effectLst/>
            </c:spPr>
          </c:dPt>
          <c:dPt>
            <c:idx val="3"/>
            <c:bubble3D val="0"/>
            <c:spPr>
              <a:solidFill>
                <a:srgbClr val="6B7684"/>
              </a:solidFill>
              <a:effectLst/>
            </c:spPr>
          </c:dPt>
          <c:dPt>
            <c:idx val="4"/>
            <c:bubble3D val="0"/>
            <c:spPr>
              <a:solidFill>
                <a:srgbClr val="C4471C"/>
              </a:solidFill>
              <a:effectLst/>
            </c:spPr>
          </c:dPt>
          <c:dPt>
            <c:idx val="5"/>
            <c:bubble3D val="0"/>
            <c:spPr>
              <a:solidFill>
                <a:srgbClr val="E0912F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Sekundäraerosole</c:v>
                </c:pt>
                <c:pt idx="1">
                  <c:v>Kohle</c:v>
                </c:pt>
                <c:pt idx="2">
                  <c:v>Verkehr</c:v>
                </c:pt>
                <c:pt idx="3">
                  <c:v>Industrie</c:v>
                </c:pt>
                <c:pt idx="4">
                  <c:v>Biomasse</c:v>
                </c:pt>
                <c:pt idx="5">
                  <c:v>Staub/Sonstige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31</c:v>
                </c:pt>
                <c:pt idx="1">
                  <c:v>20</c:v>
                </c:pt>
                <c:pt idx="2">
                  <c:v>15</c:v>
                </c:pt>
                <c:pt idx="3">
                  <c:v>12</c:v>
                </c:pt>
                <c:pt idx="4">
                  <c:v>10</c:v>
                </c:pt>
                <c:pt idx="5">
                  <c:v>12</c:v>
                </c:pt>
              </c:numCache>
            </c:numRef>
          </c:val>
        </c:ser>
        <c:firstSliceAng val="0"/>
        <c:holeSize val="52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242A31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2.xml"/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02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Feinstaub-Prognose für Beijing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306324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Prognose-Philosophien im Vergleich:  Seasonal-Naive · Prophet · Chronos-2 · TFT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3749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 · 12 Messstationen · 2013–2017 · Rolling-Window-Backtest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5120640"/>
            <a:ext cx="201168" cy="201168"/>
          </a:xfrm>
          <a:prstGeom prst="ellipse">
            <a:avLst/>
          </a:prstGeom>
          <a:solidFill>
            <a:srgbClr val="E0912F"/>
          </a:solidFill>
          <a:ln/>
        </p:spPr>
      </p:sp>
      <p:sp>
        <p:nvSpPr>
          <p:cNvPr id="6" name="Text 4"/>
          <p:cNvSpPr/>
          <p:nvPr/>
        </p:nvSpPr>
        <p:spPr>
          <a:xfrm>
            <a:off x="1024128" y="5029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Seasonal-Naive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520440" y="5120640"/>
            <a:ext cx="201168" cy="201168"/>
          </a:xfrm>
          <a:prstGeom prst="ellipse">
            <a:avLst/>
          </a:prstGeom>
          <a:solidFill>
            <a:srgbClr val="1F6FEB"/>
          </a:solidFill>
          <a:ln/>
        </p:spPr>
      </p:sp>
      <p:sp>
        <p:nvSpPr>
          <p:cNvPr id="8" name="Text 6"/>
          <p:cNvSpPr/>
          <p:nvPr/>
        </p:nvSpPr>
        <p:spPr>
          <a:xfrm>
            <a:off x="3767328" y="5029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3640" y="5120640"/>
            <a:ext cx="201168" cy="201168"/>
          </a:xfrm>
          <a:prstGeom prst="ellipse">
            <a:avLst/>
          </a:prstGeom>
          <a:solidFill>
            <a:srgbClr val="7B2CBF"/>
          </a:solidFill>
          <a:ln/>
        </p:spPr>
      </p:sp>
      <p:sp>
        <p:nvSpPr>
          <p:cNvPr id="10" name="Text 8"/>
          <p:cNvSpPr/>
          <p:nvPr/>
        </p:nvSpPr>
        <p:spPr>
          <a:xfrm>
            <a:off x="6510528" y="5029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Chronos-2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006840" y="5120640"/>
            <a:ext cx="201168" cy="20116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9253728" y="5029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eager-gallant-allen/mnt/AIForBusinessPrognosis_fv/Capstone Projekt/images/peopleinbejing2013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785135"/>
            <a:ext cx="5852160" cy="328773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852160" y="0"/>
            <a:ext cx="633953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6309360" y="64008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2"/>
          <p:cNvSpPr/>
          <p:nvPr/>
        </p:nvSpPr>
        <p:spPr>
          <a:xfrm>
            <a:off x="6537960" y="45720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Warum PM2.5-Prognose?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6537960" y="1371600"/>
            <a:ext cx="53949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4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Feinstaub (PM2.5) ist ein akutes Gesundheitsrisiko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4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Beijing: extreme Smog-Episoden im Winter (Heizperiode)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4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Verlässliche Kurzfrist-Prognosen (8–72 h) stützen Warnungen, Verkehrs- und Gesundheitsplanung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24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Frage: Wie gut können moderne Modelle das leisten?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Zur Einordnung: PM2.5 im Vergleich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554480"/>
          <a:ext cx="7772400" cy="4617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686800" y="1554480"/>
            <a:ext cx="2770632" cy="4617720"/>
          </a:xfrm>
          <a:prstGeom prst="roundRect">
            <a:avLst>
              <a:gd name="adj" fmla="val 3300"/>
            </a:avLst>
          </a:prstGeom>
          <a:solidFill>
            <a:srgbClr val="20262E"/>
          </a:solidFill>
          <a:ln/>
        </p:spPr>
      </p:sp>
      <p:sp>
        <p:nvSpPr>
          <p:cNvPr id="6" name="Text 3"/>
          <p:cNvSpPr/>
          <p:nvPr/>
        </p:nvSpPr>
        <p:spPr>
          <a:xfrm>
            <a:off x="8915400" y="1783080"/>
            <a:ext cx="23317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0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Deutsche Städte heute</a:t>
            </a:r>
            <a:endParaRPr lang="en-US" sz="13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~8–11 µg/m³  (≈ 2× WHO)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0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Beijing 2024</a:t>
            </a:r>
            <a:endParaRPr lang="en-US" sz="13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30,5 µg/m³  (≈ 3× dt. Städte, 6× WHO)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0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Beijing 2013–2017 (unser Datensatz)</a:t>
            </a:r>
            <a:endParaRPr lang="en-US" sz="13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 µg/m³, Spitzen bis 625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62636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WHO-Richtwert 5 µg/m³ (2021).  Quellen: EEA 2024 (dt. Städte) · Beijing Municipal Bureau of Ecology and Environment (2024).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Wodurch entstand der Smog? (2013–2017)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508760"/>
            <a:ext cx="658368" cy="658368"/>
          </a:xfrm>
          <a:prstGeom prst="ellipse">
            <a:avLst/>
          </a:prstGeom>
          <a:solidFill>
            <a:srgbClr val="2C3E50"/>
          </a:solidFill>
          <a:ln/>
        </p:spPr>
      </p:sp>
      <p:pic>
        <p:nvPicPr>
          <p:cNvPr id="5" name="Image 0" descr="/tmp/ic_co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55064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49047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Kohle &amp; Heizung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600200" y="187452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Winterheizung, Kraftwerke, Industrie – größter Einzeltreiber (~20 %).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31520" y="2468880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1" descr="/tmp/ic_verkeh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2615184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00200" y="245059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Verkehr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1600200" y="283464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Millionen Fahrzeuge: Stickoxide, Ruß, Partikel.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31520" y="3429000"/>
            <a:ext cx="658368" cy="658368"/>
          </a:xfrm>
          <a:prstGeom prst="ellipse">
            <a:avLst/>
          </a:prstGeom>
          <a:solidFill>
            <a:srgbClr val="6B7684"/>
          </a:solidFill>
          <a:ln/>
        </p:spPr>
      </p:sp>
      <p:pic>
        <p:nvPicPr>
          <p:cNvPr id="13" name="Image 2" descr="/tmp/ic_industri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3575304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00200" y="341071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Industrie (Umland Hebei)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1600200" y="37947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Stahl, Zement, Chemie – regionaler Transport nach Beijing.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731520" y="4389120"/>
            <a:ext cx="658368" cy="658368"/>
          </a:xfrm>
          <a:prstGeom prst="ellipse">
            <a:avLst/>
          </a:prstGeom>
          <a:solidFill>
            <a:srgbClr val="C4471C"/>
          </a:solidFill>
          <a:ln/>
        </p:spPr>
      </p:sp>
      <p:pic>
        <p:nvPicPr>
          <p:cNvPr id="17" name="Image 3" descr="/tmp/ic_biomas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4535424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600200" y="437083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Biomasse &amp; Feuerwerk</a:t>
            </a:r>
            <a:endParaRPr lang="en-US" sz="1700" dirty="0"/>
          </a:p>
        </p:txBody>
      </p:sp>
      <p:sp>
        <p:nvSpPr>
          <p:cNvPr id="19" name="Text 13"/>
          <p:cNvSpPr/>
          <p:nvPr/>
        </p:nvSpPr>
        <p:spPr>
          <a:xfrm>
            <a:off x="1600200" y="475488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Ernteverbrennung; Frühlingsfest-Feuerwerk (Extrempeaks).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731520" y="5349240"/>
            <a:ext cx="658368" cy="658368"/>
          </a:xfrm>
          <a:prstGeom prst="ellipse">
            <a:avLst/>
          </a:prstGeom>
          <a:solidFill>
            <a:srgbClr val="E0912F"/>
          </a:solidFill>
          <a:ln/>
        </p:spPr>
      </p:sp>
      <p:pic>
        <p:nvPicPr>
          <p:cNvPr id="21" name="Image 4" descr="/tmp/ic_wett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" y="5495544"/>
            <a:ext cx="365760" cy="3657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600200" y="533095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Wetterlage</a:t>
            </a:r>
            <a:endParaRPr lang="en-US" sz="1700" dirty="0"/>
          </a:p>
        </p:txBody>
      </p:sp>
      <p:sp>
        <p:nvSpPr>
          <p:cNvPr id="23" name="Text 16"/>
          <p:cNvSpPr/>
          <p:nvPr/>
        </p:nvSpPr>
        <p:spPr>
          <a:xfrm>
            <a:off x="1600200" y="57150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Beckenlage, Winter-Inversion, wenig Wind → Stau statt Abzug.</a:t>
            </a:r>
            <a:endParaRPr lang="en-US" sz="130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7040880" y="1600200"/>
          <a:ext cx="44805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5" name="Text 17"/>
          <p:cNvSpPr/>
          <p:nvPr/>
        </p:nvSpPr>
        <p:spPr>
          <a:xfrm>
            <a:off x="7040880" y="516636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großer Teil ist „sekundär“: Sulfat/Nitrat/Ammonium bilden sich erst in der Luft aus SO₂, NOx, NH₃.</a:t>
            </a:r>
            <a:endParaRPr lang="en-US" sz="1200" dirty="0"/>
          </a:p>
        </p:txBody>
      </p:sp>
      <p:sp>
        <p:nvSpPr>
          <p:cNvPr id="26" name="Text 18"/>
          <p:cNvSpPr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Anteile grob, variieren je Studie/Saison. Quellen: ACP 2013/2019; Zheng et al. 2016 (Beijing PM2.5-Quellenanalyse).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Datensatz &amp; Ziel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2560320" cy="2011680"/>
          </a:xfrm>
          <a:prstGeom prst="roundRect">
            <a:avLst>
              <a:gd name="adj" fmla="val 4545"/>
            </a:avLst>
          </a:prstGeom>
          <a:solidFill>
            <a:srgbClr val="F3F5F7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745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27889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Messstationen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520440" y="1554480"/>
            <a:ext cx="2560320" cy="2011680"/>
          </a:xfrm>
          <a:prstGeom prst="roundRect">
            <a:avLst>
              <a:gd name="adj" fmla="val 4545"/>
            </a:avLst>
          </a:prstGeom>
          <a:solidFill>
            <a:srgbClr val="F3F5F7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20440" y="18745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~35.000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520440" y="27889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Stunden je Station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309360" y="1554480"/>
            <a:ext cx="2560320" cy="2011680"/>
          </a:xfrm>
          <a:prstGeom prst="roundRect">
            <a:avLst>
              <a:gd name="adj" fmla="val 4545"/>
            </a:avLst>
          </a:prstGeom>
          <a:solidFill>
            <a:srgbClr val="F3F5F7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18745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Jahre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6309360" y="27889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 – 2017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098280" y="1554480"/>
            <a:ext cx="2560320" cy="2011680"/>
          </a:xfrm>
          <a:prstGeom prst="roundRect">
            <a:avLst>
              <a:gd name="adj" fmla="val 4545"/>
            </a:avLst>
          </a:prstGeom>
          <a:solidFill>
            <a:srgbClr val="F3F5F7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98280" y="18745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8–72 h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9098280" y="27889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Prognosehorizonte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31520" y="40233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4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Stündliche PM2.5-Werte plus Wetter (Temperatur, Wind, Druck, Regen …) und Co-Schadstoffe (SO₂, NO₂, CO, O₃) als Kovariaten. Ziel: PM2.5 mehrere Stunden im Voraus prognostizieren.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02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0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Leitfrage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31520" y="2194560"/>
            <a:ext cx="10698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Schlägt ein modernes Modell die simple Baseline –</a:t>
            </a:r>
            <a:endParaRPr lang="en-US" sz="3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 lohnt sich Deep Learning gegenüber klassischer Statistik oder einem trainingsfreien Foundation-Modell?</a:t>
            </a:r>
            <a:endParaRPr lang="en-US" sz="3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Fairer Testaufbau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00200" y="153619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600200" y="193852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 30.08.2016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26974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697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00200" y="267919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Rolling-Window-Backtest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600200" y="308152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09/2016 – 02/2017, Versatz 15 Tage, 12 Folds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38404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840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600200" y="382219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Horizonte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600200" y="422452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24 · 48 · 72 h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1520" y="49834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983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600200" y="496519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Metrik: MASE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600200" y="536752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= besser als Naive-Baseline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600200" y="61264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vier Modelle prognostizieren dieselben Fenster → direkter, fairer Vergleich.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Vier Prognose-Philosophien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554480"/>
          <a:ext cx="10725912" cy="914400"/>
        </p:xfrm>
        <a:graphic>
          <a:graphicData uri="http://schemas.openxmlformats.org/drawingml/2006/table">
            <a:tbl>
              <a:tblPr/>
              <a:tblGrid>
                <a:gridCol w="1947672"/>
                <a:gridCol w="2194560"/>
                <a:gridCol w="2194560"/>
                <a:gridCol w="2194560"/>
                <a:gridCol w="219456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Seasonal Naive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91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Prophet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Chronos-2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CB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4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klassisch-statistisch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Foundation-Modell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Deep-Learning-Netz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4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keins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 Fenster neu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zero-shot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einmal, dann eingefroren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4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Stärke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Referenzwert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interpretierbar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Muster ohne Training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komplexe Zusammenhänge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4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Schwäche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ignoriert Lage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Blackbox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Trainingsaufwand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61264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grundverschiedene Ansätze – genau das macht den Vergleich spannend.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Annahmen &amp; Fairness – offen gelegt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10725912" cy="1234440"/>
          </a:xfrm>
          <a:prstGeom prst="roundRect">
            <a:avLst>
              <a:gd name="adj" fmla="val 5926"/>
            </a:avLst>
          </a:prstGeom>
          <a:solidFill>
            <a:srgbClr val="F3F5F7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92024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920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783080" y="173736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Perfect-Prognosis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783080" y="2148840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Wetter für den Prognosezeitraum als „bekannt“ angenommen = optimistische Obergrenze. Zusätzlich realistische Persistenz-Variante.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3017520"/>
            <a:ext cx="10725912" cy="1234440"/>
          </a:xfrm>
          <a:prstGeom prst="roundRect">
            <a:avLst>
              <a:gd name="adj" fmla="val 5926"/>
            </a:avLst>
          </a:prstGeom>
          <a:solidFill>
            <a:srgbClr val="F3F5F7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333756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337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783080" y="315468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TFT eingefroren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783080" y="3566160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TFT ist auf den 30.08.2016 trainiert; Prophet/Chronos nutzen pro Fold aktuellere Historie.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4434840"/>
            <a:ext cx="10725912" cy="1234440"/>
          </a:xfrm>
          <a:prstGeom prst="roundRect">
            <a:avLst>
              <a:gd name="adj" fmla="val 5926"/>
            </a:avLst>
          </a:prstGeom>
          <a:solidFill>
            <a:srgbClr val="F3F5F7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0120" y="475488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754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783080" y="45720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Out-of-time-Test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783080" y="4983480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12 Stationen waren im TFT-Training – aber der Testzeitraum ist zeitlich neu (nicht: unbekannte Stationen).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Hauptergebnis: Fehler je Horizont</a:t>
            </a:r>
            <a:endParaRPr lang="en-US" sz="3000" dirty="0"/>
          </a:p>
        </p:txBody>
      </p:sp>
      <p:pic>
        <p:nvPicPr>
          <p:cNvPr id="4" name="Image 0" descr="/sessions/eager-gallant-allen/mnt/AIForBusinessPrognosis_fv/Capstone Projekt/grafiken/vergleich_rolling_noteboo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23601"/>
            <a:ext cx="11064240" cy="289639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" y="4892040"/>
            <a:ext cx="10725912" cy="1508760"/>
          </a:xfrm>
          <a:prstGeom prst="roundRect">
            <a:avLst>
              <a:gd name="adj" fmla="val 6061"/>
            </a:avLst>
          </a:prstGeom>
          <a:solidFill>
            <a:srgbClr val="20262E"/>
          </a:solidFill>
          <a:ln/>
        </p:spPr>
      </p:sp>
      <p:sp>
        <p:nvSpPr>
          <p:cNvPr id="6" name="Text 3"/>
          <p:cNvSpPr/>
          <p:nvPr/>
        </p:nvSpPr>
        <p:spPr>
          <a:xfrm>
            <a:off x="1005840" y="5029200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Kernbefund: 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Chronos-2 ≈ TFT an der Spitze – beide ≫ Prophet ≫ Naive.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05840" y="5623560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MASE 8 h:  Chronos 0,37 · TFT 0,41 · Prophet 0,77 · Seasonal Naive 1,44   (Mittel über alle 12 Stationen, 12 Folds)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Ist der Unterschied echt?</a:t>
            </a:r>
            <a:endParaRPr lang="en-US" sz="3000" dirty="0"/>
          </a:p>
        </p:txBody>
      </p:sp>
      <p:pic>
        <p:nvPicPr>
          <p:cNvPr id="4" name="Image 0" descr="/sessions/eager-gallant-allen/mnt/AIForBusinessPrognosis_fv/Capstone Projekt/grafiken/signifikanz_tft_vs_chron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113224"/>
            <a:ext cx="6583680" cy="36373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589520" y="1737360"/>
            <a:ext cx="41148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24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TFT vs. Chronos-2: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statistisch gleichauf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24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Gepaarte MASE-Differenzen streuen um 0, Trefferquote ~50 %, Wilcoxon p = 0,4–0,9 → kein belastbarer Unterschied.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Beide schlagen Prophet signifikant (kleine p-Werte).</a:t>
            </a:r>
            <a:endParaRPr lang="en-US" sz="2000" dirty="0"/>
          </a:p>
          <a:p>
            <a:pPr indent="0" marL="0">
              <a:buNone/>
            </a:pPr>
            <a:r>
              <a:rPr lang="en-US" sz="1500" b="1" i="1" dirty="0">
                <a:solidFill>
                  <a:srgbClr val="E0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„TFT ist NICHT das beste Modell – Chronos zieht ohne jedes Training gleich.“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Prophets Stärke: Interpretierbarkeit</a:t>
            </a:r>
            <a:endParaRPr lang="en-US" sz="3000" dirty="0"/>
          </a:p>
        </p:txBody>
      </p:sp>
      <p:pic>
        <p:nvPicPr>
          <p:cNvPr id="4" name="Image 0" descr="/sessions/eager-gallant-allen/mnt/AIForBusinessPrognosis_fv/Capstone Projekt/grafiken/prophet_komponenten_Dongs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80730" y="1280160"/>
            <a:ext cx="2589581" cy="5394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554480"/>
            <a:ext cx="685800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700" b="1" dirty="0">
                <a:solidFill>
                  <a:srgbClr val="24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zerlegt die Vorhersage in verständliche Bausteine: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4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– langfristige Entwicklung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4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Jahresgang – Heizperiode im Winter hoch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4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Tagesgang – Abend-Peak, Morgentief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4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Feiertage – u. a. Frühlingsfest-Ausschläge</a:t>
            </a:r>
            <a:endParaRPr lang="en-US" sz="17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24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Wetter-Regressoren</a:t>
            </a:r>
            <a:endParaRPr lang="en-US" sz="1700" dirty="0"/>
          </a:p>
          <a:p>
            <a:pPr indent="0" marL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Interpretierbarkeit ↔ Genauigkeit. Chronos/TFT sind genauer, aber Blackboxen.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02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0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ehrliche Befund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Kein Modell beherrscht das Frühlingsfest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2468880"/>
            <a:ext cx="10725912" cy="1051560"/>
          </a:xfrm>
          <a:prstGeom prst="roundRect">
            <a:avLst>
              <a:gd name="adj" fmla="val 6957"/>
            </a:avLst>
          </a:prstGeom>
          <a:solidFill>
            <a:srgbClr val="2B333D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578608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Warum?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389120" y="2578608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Feuerwerk + Fahrverbote treiben den PM2.5-Peak – reines Verhalten, kein Wetter.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3703320"/>
            <a:ext cx="10725912" cy="1051560"/>
          </a:xfrm>
          <a:prstGeom prst="roundRect">
            <a:avLst>
              <a:gd name="adj" fmla="val 6957"/>
            </a:avLst>
          </a:prstGeom>
          <a:solidFill>
            <a:srgbClr val="2B333D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13048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Treiber in den Daten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389120" y="3813048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Dieser Auslöser steckt in keiner Kovariate, also unlernbar.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4937760"/>
            <a:ext cx="10725912" cy="1051560"/>
          </a:xfrm>
          <a:prstGeom prst="roundRect">
            <a:avLst>
              <a:gd name="adj" fmla="val 6957"/>
            </a:avLst>
          </a:prstGeom>
          <a:solidFill>
            <a:srgbClr val="2B333D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5047488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 + selten + beweglich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389120" y="5047488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kurzer, jährlich wandernder Ausschlag – das schwächste Feld jedes Zeitreihenmodells.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Zwei Vertiefungen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5257800" cy="4480560"/>
          </a:xfrm>
          <a:prstGeom prst="roundRect">
            <a:avLst>
              <a:gd name="adj" fmla="val 2041"/>
            </a:avLst>
          </a:prstGeom>
          <a:solidFill>
            <a:srgbClr val="F3F5F7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828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Optimismus-Band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05840" y="2377440"/>
            <a:ext cx="4754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24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mit perfekter Wetterprognose (PP) vs. realistischem Persistenz-Wetter.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24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h:  MASE 0,98  →  1,48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der „Preis dafür, das Wetter nicht zu kennen“.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0" y="1554480"/>
            <a:ext cx="5257800" cy="4480560"/>
          </a:xfrm>
          <a:prstGeom prst="roundRect">
            <a:avLst>
              <a:gd name="adj" fmla="val 2041"/>
            </a:avLst>
          </a:prstGeom>
          <a:solidFill>
            <a:srgbClr val="F3F5F7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828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Stationstyp-Effekt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92240" y="2377440"/>
            <a:ext cx="4754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24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(PP) holt an ruhigen Vorstadt-/Hintergrund-Stationen auf: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24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Vorstadt  MASE 0,73   vs.   Urban 0,89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Bleibt aber hinter Chronos/TFT. Spike-lastige Urban-Stationen favorisieren die neuronalen Modelle.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Welches Modell wann?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5257800" cy="2057400"/>
          </a:xfrm>
          <a:prstGeom prst="roundRect">
            <a:avLst>
              <a:gd name="adj" fmla="val 4444"/>
            </a:avLst>
          </a:prstGeom>
          <a:solidFill>
            <a:srgbClr val="F3F5F7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1874520"/>
            <a:ext cx="457200" cy="457200"/>
          </a:xfrm>
          <a:prstGeom prst="ellipse">
            <a:avLst/>
          </a:prstGeom>
          <a:solidFill>
            <a:srgbClr val="7B2CBF"/>
          </a:solidFill>
          <a:ln/>
        </p:spPr>
      </p:sp>
      <p:sp>
        <p:nvSpPr>
          <p:cNvPr id="6" name="Text 4"/>
          <p:cNvSpPr/>
          <p:nvPr/>
        </p:nvSpPr>
        <p:spPr>
          <a:xfrm>
            <a:off x="1645920" y="184708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Chronos-2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45920" y="242316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Beste Genauigkeit ohne Training – ideal, wenn schnell einsatzbereit.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63640" y="1554480"/>
            <a:ext cx="5257800" cy="2057400"/>
          </a:xfrm>
          <a:prstGeom prst="roundRect">
            <a:avLst>
              <a:gd name="adj" fmla="val 4444"/>
            </a:avLst>
          </a:prstGeom>
          <a:solidFill>
            <a:srgbClr val="F3F5F7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37960" y="187452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7178040" y="184708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178040" y="242316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Gleich gut, aber einmal trainieren → billig &amp; skalierbar über viele Stationen.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3840480"/>
            <a:ext cx="5257800" cy="2057400"/>
          </a:xfrm>
          <a:prstGeom prst="roundRect">
            <a:avLst>
              <a:gd name="adj" fmla="val 4444"/>
            </a:avLst>
          </a:prstGeom>
          <a:solidFill>
            <a:srgbClr val="F3F5F7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" y="4160520"/>
            <a:ext cx="457200" cy="457200"/>
          </a:xfrm>
          <a:prstGeom prst="ellipse">
            <a:avLst/>
          </a:prstGeom>
          <a:solidFill>
            <a:srgbClr val="1F6FEB"/>
          </a:solidFill>
          <a:ln/>
        </p:spPr>
      </p:sp>
      <p:sp>
        <p:nvSpPr>
          <p:cNvPr id="14" name="Text 12"/>
          <p:cNvSpPr/>
          <p:nvPr/>
        </p:nvSpPr>
        <p:spPr>
          <a:xfrm>
            <a:off x="1645920" y="413308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645920" y="470916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Wenn Interpretierbarkeit / Erklärbarkeit zählt.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263640" y="3840480"/>
            <a:ext cx="5257800" cy="2057400"/>
          </a:xfrm>
          <a:prstGeom prst="roundRect">
            <a:avLst>
              <a:gd name="adj" fmla="val 4444"/>
            </a:avLst>
          </a:prstGeom>
          <a:solidFill>
            <a:srgbClr val="F3F5F7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37960" y="4160520"/>
            <a:ext cx="457200" cy="457200"/>
          </a:xfrm>
          <a:prstGeom prst="ellipse">
            <a:avLst/>
          </a:prstGeom>
          <a:solidFill>
            <a:srgbClr val="E0912F"/>
          </a:solidFill>
          <a:ln/>
        </p:spPr>
      </p:sp>
      <p:sp>
        <p:nvSpPr>
          <p:cNvPr id="18" name="Text 16"/>
          <p:cNvSpPr/>
          <p:nvPr/>
        </p:nvSpPr>
        <p:spPr>
          <a:xfrm>
            <a:off x="7178040" y="413308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Naive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178040" y="470916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Sanity-Floor, den jedes Modell schlagen muss.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Ausblick: zusätzliche Kovariaten</a:t>
            </a:r>
            <a:endParaRPr lang="en-US" sz="3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60350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463040"/>
                <a:gridCol w="146304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Variante (TFT)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4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4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19,40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4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37,75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4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Windgeschw.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4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18,53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4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34,24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4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Windrichtung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4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18,48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4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35,73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4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beide Wind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4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18,55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4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32,93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E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4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beide Wind + Geo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4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18,92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4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33,88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040880" y="1737360"/>
            <a:ext cx="44805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hilft, Geo nicht.</a:t>
            </a:r>
            <a:endParaRPr lang="en-US" sz="2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24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Windgeschwindigkeit &amp; -richtung senken den Fehler; zusätzliche Geo-Koordinaten bringen keinen Nutzen (eher minimal schlechter).</a:t>
            </a:r>
            <a:endParaRPr lang="en-US" sz="2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Lehre: Kovariaten begründet auswählen – „mehr Daten“ ist nicht automatisch besser.</a:t>
            </a:r>
            <a:endParaRPr lang="en-US" sz="2200" dirty="0"/>
          </a:p>
          <a:p>
            <a:pPr indent="0" marL="0">
              <a:buNone/>
            </a:pPr>
            <a:r>
              <a:rPr lang="en-US" sz="1300" dirty="0">
                <a:solidFill>
                  <a:srgbClr val="C44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Vorsicht: kleine Effekte, nur 2 Seeds – als Tendenz, nicht als Beweis darstellen.</a:t>
            </a:r>
            <a:endParaRPr lang="en-US"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02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Fazit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645920"/>
            <a:ext cx="10515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Moderne Modelle schlagen die Naive-Baseline klar.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Foundation-Modell (Chronos-2) und Deep Learning (TFT) sind gleichauf an der Spitze – Chronos sogar ohne jedes Training.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bleibt interpretierbar, aber genauer nur im Mittelfeld.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Grenzen: Perfect-Prognosis-Obergrenze, Extremereignisse (Frühlingsfest) ungelöst.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5029200"/>
            <a:ext cx="10725912" cy="1280160"/>
          </a:xfrm>
          <a:prstGeom prst="roundRect">
            <a:avLst>
              <a:gd name="adj" fmla="val 7143"/>
            </a:avLst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5029200"/>
            <a:ext cx="10149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Live-Demo: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interaktives Dashboard (alle 12 Stationen, Fehlervergleich · Verteilung · Prognosekurven)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2026-07-20T20:42:02Z</dcterms:created>
  <dcterms:modified xsi:type="dcterms:W3CDTF">2026-07-20T20:42:02Z</dcterms:modified>
</cp:coreProperties>
</file>