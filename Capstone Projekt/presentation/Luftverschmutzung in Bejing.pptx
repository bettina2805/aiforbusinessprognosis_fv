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rts/chart2.xml" ContentType="application/vnd.openxmlformats-officedocument.drawingml.chart+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63" r:id="rId3"/>
    <p:sldMasterId id="2147483665" r:id="rId4"/>
    <p:sldMasterId id="2147483683" r:id="rId5"/>
  </p:sldMasterIdLst>
  <p:notesMasterIdLst>
    <p:notesMasterId r:id="rId64"/>
  </p:notesMasterIdLst>
  <p:sldIdLst>
    <p:sldId id="256" r:id="rId6"/>
    <p:sldId id="257" r:id="rId7"/>
    <p:sldId id="320" r:id="rId8"/>
    <p:sldId id="293" r:id="rId9"/>
    <p:sldId id="288" r:id="rId10"/>
    <p:sldId id="297" r:id="rId11"/>
    <p:sldId id="296" r:id="rId12"/>
    <p:sldId id="327" r:id="rId13"/>
    <p:sldId id="333" r:id="rId14"/>
    <p:sldId id="284" r:id="rId15"/>
    <p:sldId id="342" r:id="rId16"/>
    <p:sldId id="295" r:id="rId17"/>
    <p:sldId id="340" r:id="rId18"/>
    <p:sldId id="259" r:id="rId19"/>
    <p:sldId id="343" r:id="rId20"/>
    <p:sldId id="344" r:id="rId21"/>
    <p:sldId id="334" r:id="rId22"/>
    <p:sldId id="345" r:id="rId23"/>
    <p:sldId id="262" r:id="rId24"/>
    <p:sldId id="353" r:id="rId25"/>
    <p:sldId id="294" r:id="rId26"/>
    <p:sldId id="264" r:id="rId27"/>
    <p:sldId id="319" r:id="rId28"/>
    <p:sldId id="290" r:id="rId29"/>
    <p:sldId id="300" r:id="rId30"/>
    <p:sldId id="301" r:id="rId31"/>
    <p:sldId id="302" r:id="rId32"/>
    <p:sldId id="307" r:id="rId33"/>
    <p:sldId id="328" r:id="rId34"/>
    <p:sldId id="278" r:id="rId35"/>
    <p:sldId id="358" r:id="rId36"/>
    <p:sldId id="356" r:id="rId37"/>
    <p:sldId id="308" r:id="rId38"/>
    <p:sldId id="298" r:id="rId39"/>
    <p:sldId id="311" r:id="rId40"/>
    <p:sldId id="337" r:id="rId41"/>
    <p:sldId id="286" r:id="rId42"/>
    <p:sldId id="313" r:id="rId43"/>
    <p:sldId id="315" r:id="rId44"/>
    <p:sldId id="276" r:id="rId45"/>
    <p:sldId id="263" r:id="rId46"/>
    <p:sldId id="310" r:id="rId47"/>
    <p:sldId id="279" r:id="rId48"/>
    <p:sldId id="280" r:id="rId49"/>
    <p:sldId id="283" r:id="rId50"/>
    <p:sldId id="330" r:id="rId51"/>
    <p:sldId id="277" r:id="rId52"/>
    <p:sldId id="351" r:id="rId53"/>
    <p:sldId id="355" r:id="rId54"/>
    <p:sldId id="352" r:id="rId55"/>
    <p:sldId id="274" r:id="rId56"/>
    <p:sldId id="338" r:id="rId57"/>
    <p:sldId id="335" r:id="rId58"/>
    <p:sldId id="336" r:id="rId59"/>
    <p:sldId id="321" r:id="rId60"/>
    <p:sldId id="282" r:id="rId61"/>
    <p:sldId id="258" r:id="rId62"/>
    <p:sldId id="265" r:id="rId63"/>
  </p:sldIdLst>
  <p:sldSz cx="12161838"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ittlere Formatvorlage 1 - Akz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92"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viewProps" Target="viewProps.xml"/><Relationship Id="rId5" Type="http://schemas.openxmlformats.org/officeDocument/2006/relationships/slideMaster" Target="slideMasters/slideMaster5.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title>
      <c:tx>
        <c:rich>
          <a:bodyPr/>
          <a:lstStyle/>
          <a:p>
            <a:pPr>
              <a:defRPr sz="1200" b="0" i="0" u="none" strike="noStrike">
                <a:solidFill>
                  <a:srgbClr val="242A31"/>
                </a:solidFill>
                <a:latin typeface="Arial"/>
              </a:defRPr>
            </a:pPr>
            <a:r>
              <a:rPr lang="de-DE" sz="1200" b="0" i="0" u="none" strike="noStrike">
                <a:solidFill>
                  <a:srgbClr val="242A31"/>
                </a:solidFill>
                <a:latin typeface="Arial"/>
              </a:rPr>
              <a:t>Quellen-Anteile am PM2.5 (grob)</a:t>
            </a:r>
          </a:p>
        </c:rich>
      </c:tx>
      <c:overlay val="0"/>
    </c:title>
    <c:autoTitleDeleted val="0"/>
    <c:plotArea>
      <c:layout/>
      <c:doughnutChart>
        <c:varyColors val="1"/>
        <c:ser>
          <c:idx val="0"/>
          <c:order val="0"/>
          <c:tx>
            <c:strRef>
              <c:f>Sheet1!$B$1</c:f>
              <c:strCache>
                <c:ptCount val="1"/>
                <c:pt idx="0">
                  <c:v>Quellen-Anteile</c:v>
                </c:pt>
              </c:strCache>
            </c:strRef>
          </c:tx>
          <c:spPr>
            <a:solidFill>
              <a:schemeClr val="accent1"/>
            </a:solidFill>
            <a:ln w="9525" cap="flat">
              <a:solidFill>
                <a:srgbClr val="F9F9F9"/>
              </a:solidFill>
              <a:prstDash val="solid"/>
              <a:round/>
            </a:ln>
            <a:effectLst/>
          </c:spPr>
          <c:dPt>
            <c:idx val="0"/>
            <c:bubble3D val="0"/>
            <c:spPr>
              <a:solidFill>
                <a:srgbClr val="7B2CBF"/>
              </a:solidFill>
              <a:effectLst/>
            </c:spPr>
            <c:extLst>
              <c:ext xmlns:c16="http://schemas.microsoft.com/office/drawing/2014/chart" uri="{C3380CC4-5D6E-409C-BE32-E72D297353CC}">
                <c16:uniqueId val="{00000001-D144-44BF-9A88-94A06B3B2D00}"/>
              </c:ext>
            </c:extLst>
          </c:dPt>
          <c:dPt>
            <c:idx val="1"/>
            <c:bubble3D val="0"/>
            <c:spPr>
              <a:solidFill>
                <a:srgbClr val="2C3E50"/>
              </a:solidFill>
              <a:effectLst/>
            </c:spPr>
            <c:extLst>
              <c:ext xmlns:c16="http://schemas.microsoft.com/office/drawing/2014/chart" uri="{C3380CC4-5D6E-409C-BE32-E72D297353CC}">
                <c16:uniqueId val="{00000003-D144-44BF-9A88-94A06B3B2D00}"/>
              </c:ext>
            </c:extLst>
          </c:dPt>
          <c:dPt>
            <c:idx val="2"/>
            <c:bubble3D val="0"/>
            <c:spPr>
              <a:solidFill>
                <a:srgbClr val="1C7293"/>
              </a:solidFill>
              <a:effectLst/>
            </c:spPr>
            <c:extLst>
              <c:ext xmlns:c16="http://schemas.microsoft.com/office/drawing/2014/chart" uri="{C3380CC4-5D6E-409C-BE32-E72D297353CC}">
                <c16:uniqueId val="{00000005-D144-44BF-9A88-94A06B3B2D00}"/>
              </c:ext>
            </c:extLst>
          </c:dPt>
          <c:dPt>
            <c:idx val="3"/>
            <c:bubble3D val="0"/>
            <c:spPr>
              <a:solidFill>
                <a:srgbClr val="6B7684"/>
              </a:solidFill>
              <a:effectLst/>
            </c:spPr>
            <c:extLst>
              <c:ext xmlns:c16="http://schemas.microsoft.com/office/drawing/2014/chart" uri="{C3380CC4-5D6E-409C-BE32-E72D297353CC}">
                <c16:uniqueId val="{00000007-D144-44BF-9A88-94A06B3B2D00}"/>
              </c:ext>
            </c:extLst>
          </c:dPt>
          <c:dPt>
            <c:idx val="4"/>
            <c:bubble3D val="0"/>
            <c:spPr>
              <a:solidFill>
                <a:srgbClr val="C4471C"/>
              </a:solidFill>
              <a:effectLst/>
            </c:spPr>
            <c:extLst>
              <c:ext xmlns:c16="http://schemas.microsoft.com/office/drawing/2014/chart" uri="{C3380CC4-5D6E-409C-BE32-E72D297353CC}">
                <c16:uniqueId val="{00000009-D144-44BF-9A88-94A06B3B2D00}"/>
              </c:ext>
            </c:extLst>
          </c:dPt>
          <c:dPt>
            <c:idx val="5"/>
            <c:bubble3D val="0"/>
            <c:spPr>
              <a:solidFill>
                <a:srgbClr val="E0912F"/>
              </a:solidFill>
              <a:effectLst/>
            </c:spPr>
            <c:extLst>
              <c:ext xmlns:c16="http://schemas.microsoft.com/office/drawing/2014/chart" uri="{C3380CC4-5D6E-409C-BE32-E72D297353CC}">
                <c16:uniqueId val="{0000000B-D144-44BF-9A88-94A06B3B2D00}"/>
              </c:ext>
            </c:extLst>
          </c:dPt>
          <c:dLbls>
            <c:dLbl>
              <c:idx val="0"/>
              <c:numFmt formatCode="0%" sourceLinked="0"/>
              <c:spPr/>
              <c:txPr>
                <a:bodyPr/>
                <a:lstStyle/>
                <a:p>
                  <a:pPr>
                    <a:defRPr sz="1000" b="1" i="0" u="none" strike="noStrike">
                      <a:solidFill>
                        <a:srgbClr val="FFFFFF"/>
                      </a:solidFill>
                      <a:latin typeface="Arial"/>
                    </a:defRPr>
                  </a:pPr>
                  <a:endParaRPr lang="de-DE"/>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D144-44BF-9A88-94A06B3B2D00}"/>
                </c:ext>
              </c:extLst>
            </c:dLbl>
            <c:dLbl>
              <c:idx val="1"/>
              <c:numFmt formatCode="0%" sourceLinked="0"/>
              <c:spPr/>
              <c:txPr>
                <a:bodyPr/>
                <a:lstStyle/>
                <a:p>
                  <a:pPr>
                    <a:defRPr sz="1000" b="1" i="0" u="none" strike="noStrike">
                      <a:solidFill>
                        <a:srgbClr val="FFFFFF"/>
                      </a:solidFill>
                      <a:latin typeface="Arial"/>
                    </a:defRPr>
                  </a:pPr>
                  <a:endParaRPr lang="de-DE"/>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144-44BF-9A88-94A06B3B2D00}"/>
                </c:ext>
              </c:extLst>
            </c:dLbl>
            <c:dLbl>
              <c:idx val="2"/>
              <c:numFmt formatCode="0%" sourceLinked="0"/>
              <c:spPr/>
              <c:txPr>
                <a:bodyPr/>
                <a:lstStyle/>
                <a:p>
                  <a:pPr>
                    <a:defRPr sz="1000" b="1" i="0" u="none" strike="noStrike">
                      <a:solidFill>
                        <a:srgbClr val="FFFFFF"/>
                      </a:solidFill>
                      <a:latin typeface="Arial"/>
                    </a:defRPr>
                  </a:pPr>
                  <a:endParaRPr lang="de-DE"/>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D144-44BF-9A88-94A06B3B2D00}"/>
                </c:ext>
              </c:extLst>
            </c:dLbl>
            <c:dLbl>
              <c:idx val="3"/>
              <c:numFmt formatCode="0%" sourceLinked="0"/>
              <c:spPr/>
              <c:txPr>
                <a:bodyPr/>
                <a:lstStyle/>
                <a:p>
                  <a:pPr>
                    <a:defRPr sz="1000" b="1" i="0" u="none" strike="noStrike">
                      <a:solidFill>
                        <a:srgbClr val="FFFFFF"/>
                      </a:solidFill>
                      <a:latin typeface="Arial"/>
                    </a:defRPr>
                  </a:pPr>
                  <a:endParaRPr lang="de-DE"/>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D144-44BF-9A88-94A06B3B2D00}"/>
                </c:ext>
              </c:extLst>
            </c:dLbl>
            <c:dLbl>
              <c:idx val="4"/>
              <c:numFmt formatCode="0%" sourceLinked="0"/>
              <c:spPr/>
              <c:txPr>
                <a:bodyPr/>
                <a:lstStyle/>
                <a:p>
                  <a:pPr>
                    <a:defRPr sz="1000" b="1" i="0" u="none" strike="noStrike">
                      <a:solidFill>
                        <a:srgbClr val="FFFFFF"/>
                      </a:solidFill>
                      <a:latin typeface="Arial"/>
                    </a:defRPr>
                  </a:pPr>
                  <a:endParaRPr lang="de-DE"/>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D144-44BF-9A88-94A06B3B2D00}"/>
                </c:ext>
              </c:extLst>
            </c:dLbl>
            <c:dLbl>
              <c:idx val="5"/>
              <c:numFmt formatCode="0%" sourceLinked="0"/>
              <c:spPr/>
              <c:txPr>
                <a:bodyPr/>
                <a:lstStyle/>
                <a:p>
                  <a:pPr>
                    <a:defRPr sz="1000" b="1" i="0" u="none" strike="noStrike">
                      <a:solidFill>
                        <a:srgbClr val="FFFFFF"/>
                      </a:solidFill>
                      <a:latin typeface="Arial"/>
                    </a:defRPr>
                  </a:pPr>
                  <a:endParaRPr lang="de-DE"/>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D144-44BF-9A88-94A06B3B2D00}"/>
                </c:ext>
              </c:extLst>
            </c:dLbl>
            <c:numFmt formatCode="0%" sourceLinked="0"/>
            <c:spPr>
              <a:noFill/>
              <a:ln>
                <a:noFill/>
              </a:ln>
              <a:effectLst/>
            </c:spPr>
            <c:txPr>
              <a:bodyPr/>
              <a:lstStyle/>
              <a:p>
                <a:pPr>
                  <a:defRPr sz="1800" b="1" i="0" u="none" strike="noStrike">
                    <a:solidFill>
                      <a:srgbClr val="000000"/>
                    </a:solidFill>
                    <a:latin typeface="Arial"/>
                  </a:defRPr>
                </a:pPr>
                <a:endParaRPr lang="de-DE"/>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Sheet1!$A$2:$A$7</c:f>
              <c:strCache>
                <c:ptCount val="6"/>
                <c:pt idx="0">
                  <c:v>Sekundäraerosole</c:v>
                </c:pt>
                <c:pt idx="1">
                  <c:v>Kohle</c:v>
                </c:pt>
                <c:pt idx="2">
                  <c:v>Verkehr</c:v>
                </c:pt>
                <c:pt idx="3">
                  <c:v>Industrie</c:v>
                </c:pt>
                <c:pt idx="4">
                  <c:v>Biomasse</c:v>
                </c:pt>
                <c:pt idx="5">
                  <c:v>Staub/Sonstige</c:v>
                </c:pt>
              </c:strCache>
            </c:strRef>
          </c:cat>
          <c:val>
            <c:numRef>
              <c:f>Sheet1!$B$2:$B$7</c:f>
              <c:numCache>
                <c:formatCode>General</c:formatCode>
                <c:ptCount val="6"/>
                <c:pt idx="0">
                  <c:v>31</c:v>
                </c:pt>
                <c:pt idx="1">
                  <c:v>20</c:v>
                </c:pt>
                <c:pt idx="2">
                  <c:v>15</c:v>
                </c:pt>
                <c:pt idx="3">
                  <c:v>12</c:v>
                </c:pt>
                <c:pt idx="4">
                  <c:v>10</c:v>
                </c:pt>
                <c:pt idx="5">
                  <c:v>12</c:v>
                </c:pt>
              </c:numCache>
            </c:numRef>
          </c:val>
          <c:extLst>
            <c:ext xmlns:c16="http://schemas.microsoft.com/office/drawing/2014/chart" uri="{C3380CC4-5D6E-409C-BE32-E72D297353CC}">
              <c16:uniqueId val="{0000000C-D144-44BF-9A88-94A06B3B2D00}"/>
            </c:ext>
          </c:extLst>
        </c:ser>
        <c:dLbls>
          <c:showLegendKey val="0"/>
          <c:showVal val="0"/>
          <c:showCatName val="0"/>
          <c:showSerName val="0"/>
          <c:showPercent val="0"/>
          <c:showBubbleSize val="0"/>
          <c:showLeaderLines val="0"/>
        </c:dLbls>
        <c:firstSliceAng val="0"/>
        <c:holeSize val="52"/>
      </c:doughnutChart>
      <c:spPr>
        <a:noFill/>
        <a:ln>
          <a:noFill/>
        </a:ln>
        <a:effectLst/>
      </c:spPr>
    </c:plotArea>
    <c:legend>
      <c:legendPos val="r"/>
      <c:overlay val="0"/>
      <c:txPr>
        <a:bodyPr/>
        <a:lstStyle/>
        <a:p>
          <a:pPr>
            <a:defRPr sz="1100">
              <a:solidFill>
                <a:srgbClr val="242A31"/>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barChart>
        <c:barDir val="col"/>
        <c:grouping val="clustered"/>
        <c:varyColors val="0"/>
        <c:ser>
          <c:idx val="0"/>
          <c:order val="0"/>
          <c:tx>
            <c:strRef>
              <c:f>Sheet1!$B$1</c:f>
              <c:strCache>
                <c:ptCount val="1"/>
                <c:pt idx="0">
                  <c:v>PM2.5 (µg/m³, Jahresmittel)</c:v>
                </c:pt>
              </c:strCache>
            </c:strRef>
          </c:tx>
          <c:spPr>
            <a:solidFill>
              <a:srgbClr val="2C5F2D"/>
            </a:solidFill>
            <a:effectLst/>
          </c:spPr>
          <c:invertIfNegative val="0"/>
          <c:dPt>
            <c:idx val="0"/>
            <c:invertIfNegative val="0"/>
            <c:bubble3D val="0"/>
            <c:extLst>
              <c:ext xmlns:c16="http://schemas.microsoft.com/office/drawing/2014/chart" uri="{C3380CC4-5D6E-409C-BE32-E72D297353CC}">
                <c16:uniqueId val="{00000001-3F1C-4FEF-8FCC-4CAD7CAB7C52}"/>
              </c:ext>
            </c:extLst>
          </c:dPt>
          <c:dPt>
            <c:idx val="1"/>
            <c:invertIfNegative val="0"/>
            <c:bubble3D val="0"/>
            <c:spPr>
              <a:solidFill>
                <a:srgbClr val="1C7293"/>
              </a:solidFill>
              <a:effectLst/>
            </c:spPr>
            <c:extLst>
              <c:ext xmlns:c16="http://schemas.microsoft.com/office/drawing/2014/chart" uri="{C3380CC4-5D6E-409C-BE32-E72D297353CC}">
                <c16:uniqueId val="{00000003-3F1C-4FEF-8FCC-4CAD7CAB7C52}"/>
              </c:ext>
            </c:extLst>
          </c:dPt>
          <c:dPt>
            <c:idx val="2"/>
            <c:invertIfNegative val="0"/>
            <c:bubble3D val="0"/>
            <c:spPr>
              <a:solidFill>
                <a:srgbClr val="1C7293"/>
              </a:solidFill>
              <a:effectLst/>
            </c:spPr>
            <c:extLst>
              <c:ext xmlns:c16="http://schemas.microsoft.com/office/drawing/2014/chart" uri="{C3380CC4-5D6E-409C-BE32-E72D297353CC}">
                <c16:uniqueId val="{00000005-3F1C-4FEF-8FCC-4CAD7CAB7C52}"/>
              </c:ext>
            </c:extLst>
          </c:dPt>
          <c:dPt>
            <c:idx val="3"/>
            <c:invertIfNegative val="0"/>
            <c:bubble3D val="0"/>
            <c:spPr>
              <a:solidFill>
                <a:srgbClr val="1C7293"/>
              </a:solidFill>
              <a:effectLst/>
            </c:spPr>
            <c:extLst>
              <c:ext xmlns:c16="http://schemas.microsoft.com/office/drawing/2014/chart" uri="{C3380CC4-5D6E-409C-BE32-E72D297353CC}">
                <c16:uniqueId val="{00000007-3F1C-4FEF-8FCC-4CAD7CAB7C52}"/>
              </c:ext>
            </c:extLst>
          </c:dPt>
          <c:dPt>
            <c:idx val="4"/>
            <c:invertIfNegative val="0"/>
            <c:bubble3D val="0"/>
            <c:spPr>
              <a:solidFill>
                <a:srgbClr val="C4471C"/>
              </a:solidFill>
              <a:effectLst/>
            </c:spPr>
            <c:extLst>
              <c:ext xmlns:c16="http://schemas.microsoft.com/office/drawing/2014/chart" uri="{C3380CC4-5D6E-409C-BE32-E72D297353CC}">
                <c16:uniqueId val="{00000009-3F1C-4FEF-8FCC-4CAD7CAB7C52}"/>
              </c:ext>
            </c:extLst>
          </c:dPt>
          <c:dLbls>
            <c:numFmt formatCode="0.0" sourceLinked="0"/>
            <c:spPr>
              <a:noFill/>
              <a:ln>
                <a:noFill/>
              </a:ln>
              <a:effectLst/>
            </c:spPr>
            <c:txPr>
              <a:bodyPr/>
              <a:lstStyle/>
              <a:p>
                <a:pPr>
                  <a:defRPr sz="1400" b="1" i="0" u="none" strike="noStrike">
                    <a:solidFill>
                      <a:srgbClr val="242A31"/>
                    </a:solidFill>
                    <a:latin typeface="Arial"/>
                  </a:defRPr>
                </a:pPr>
                <a:endParaRPr lang="de-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WHO-Richtwert</c:v>
                </c:pt>
                <c:pt idx="1">
                  <c:v>Berlin</c:v>
                </c:pt>
                <c:pt idx="2">
                  <c:v>Stuttgart</c:v>
                </c:pt>
                <c:pt idx="3">
                  <c:v>München</c:v>
                </c:pt>
                <c:pt idx="4">
                  <c:v>Beijing 2024</c:v>
                </c:pt>
              </c:strCache>
            </c:strRef>
          </c:cat>
          <c:val>
            <c:numRef>
              <c:f>Sheet1!$B$2:$B$6</c:f>
              <c:numCache>
                <c:formatCode>General</c:formatCode>
                <c:ptCount val="5"/>
                <c:pt idx="0">
                  <c:v>5</c:v>
                </c:pt>
                <c:pt idx="1">
                  <c:v>10.5</c:v>
                </c:pt>
                <c:pt idx="2">
                  <c:v>8.4</c:v>
                </c:pt>
                <c:pt idx="3">
                  <c:v>8.1999999999999993</c:v>
                </c:pt>
                <c:pt idx="4">
                  <c:v>30.5</c:v>
                </c:pt>
              </c:numCache>
            </c:numRef>
          </c:val>
          <c:extLst>
            <c:ext xmlns:c16="http://schemas.microsoft.com/office/drawing/2014/chart" uri="{C3380CC4-5D6E-409C-BE32-E72D297353CC}">
              <c16:uniqueId val="{0000000A-3F1C-4FEF-8FCC-4CAD7CAB7C5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42A31"/>
                </a:solidFill>
                <a:latin typeface="Arial"/>
              </a:defRPr>
            </a:pPr>
            <a:endParaRPr lang="en-US"/>
          </a:p>
        </c:txPr>
        <c:crossAx val="2094734552"/>
        <c:crosses val="autoZero"/>
        <c:auto val="1"/>
        <c:lblAlgn val="ctr"/>
        <c:lblOffset val="100"/>
        <c:noMultiLvlLbl val="1"/>
      </c:catAx>
      <c:valAx>
        <c:axId val="2094734552"/>
        <c:scaling>
          <c:orientation val="minMax"/>
          <c:max val="35"/>
          <c:min val="0"/>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684"/>
                </a:solidFill>
                <a:latin typeface="Arial"/>
              </a:defRPr>
            </a:pPr>
            <a:endParaRPr lang="en-US"/>
          </a:p>
        </c:txPr>
        <c:crossAx val="2094734554"/>
        <c:crosses val="autoZero"/>
        <c:crossBetween val="between"/>
        <c:majorUnit val="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6"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Folie mittels Klicken verschieben</a:t>
            </a:r>
          </a:p>
        </p:txBody>
      </p:sp>
      <p:sp>
        <p:nvSpPr>
          <p:cNvPr id="6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de-DE" sz="2000" b="0" u="none" strike="noStrike">
                <a:solidFill>
                  <a:srgbClr val="000000"/>
                </a:solidFill>
                <a:effectLst/>
                <a:uFillTx/>
                <a:latin typeface="Arial"/>
              </a:rPr>
              <a:t>Format der Notizen mittels Klicken bearbeiten</a:t>
            </a:r>
          </a:p>
        </p:txBody>
      </p:sp>
      <p:sp>
        <p:nvSpPr>
          <p:cNvPr id="68"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de-DE" sz="1400" b="0" u="none" strike="noStrike">
                <a:solidFill>
                  <a:srgbClr val="000000"/>
                </a:solidFill>
                <a:effectLst/>
                <a:uFillTx/>
                <a:latin typeface="Times New Roman"/>
              </a:rPr>
              <a:t> </a:t>
            </a:r>
          </a:p>
        </p:txBody>
      </p:sp>
      <p:sp>
        <p:nvSpPr>
          <p:cNvPr id="69" name="PlaceHolder 4"/>
          <p:cNvSpPr>
            <a:spLocks noGrp="1"/>
          </p:cNvSpPr>
          <p:nvPr>
            <p:ph type="dt" idx="37"/>
          </p:nvPr>
        </p:nvSpPr>
        <p:spPr>
          <a:xfrm>
            <a:off x="4278960" y="0"/>
            <a:ext cx="3280680" cy="534240"/>
          </a:xfrm>
          <a:prstGeom prst="rect">
            <a:avLst/>
          </a:prstGeom>
          <a:noFill/>
          <a:ln w="0">
            <a:noFill/>
          </a:ln>
        </p:spPr>
        <p:txBody>
          <a:bodyPr lIns="0" tIns="0" rIns="0" bIns="0" anchor="t">
            <a:noAutofit/>
          </a:bodyPr>
          <a:lstStyle>
            <a:lvl1pPr indent="0" algn="r">
              <a:buNone/>
              <a:defRPr lang="de-DE" sz="1400" b="0" u="none" strike="noStrike">
                <a:solidFill>
                  <a:srgbClr val="000000"/>
                </a:solidFill>
                <a:effectLst/>
                <a:uFillTx/>
                <a:latin typeface="Times New Roman"/>
              </a:defRPr>
            </a:lvl1pPr>
          </a:lstStyle>
          <a:p>
            <a:pPr indent="0" algn="r">
              <a:buNone/>
            </a:pPr>
            <a:r>
              <a:rPr lang="de-DE" sz="1400" b="0" u="none" strike="noStrike">
                <a:solidFill>
                  <a:srgbClr val="000000"/>
                </a:solidFill>
                <a:effectLst/>
                <a:uFillTx/>
                <a:latin typeface="Times New Roman"/>
              </a:rPr>
              <a:t> </a:t>
            </a:r>
          </a:p>
        </p:txBody>
      </p:sp>
      <p:sp>
        <p:nvSpPr>
          <p:cNvPr id="70" name="PlaceHolder 5"/>
          <p:cNvSpPr>
            <a:spLocks noGrp="1"/>
          </p:cNvSpPr>
          <p:nvPr>
            <p:ph type="ftr" idx="38"/>
          </p:nvPr>
        </p:nvSpPr>
        <p:spPr>
          <a:xfrm>
            <a:off x="0" y="10157400"/>
            <a:ext cx="3280680" cy="534240"/>
          </a:xfrm>
          <a:prstGeom prst="rect">
            <a:avLst/>
          </a:prstGeom>
          <a:noFill/>
          <a:ln w="0">
            <a:noFill/>
          </a:ln>
        </p:spPr>
        <p:txBody>
          <a:bodyPr lIns="0" tIns="0" rIns="0" bIns="0" anchor="b">
            <a:noAutofit/>
          </a:bodyPr>
          <a:lstStyle>
            <a:lvl1pPr indent="0">
              <a:buNone/>
              <a:defRPr lang="de-DE" sz="1400" b="0" u="none" strike="noStrike">
                <a:solidFill>
                  <a:srgbClr val="000000"/>
                </a:solidFill>
                <a:effectLst/>
                <a:uFillTx/>
                <a:latin typeface="Times New Roman"/>
              </a:defRPr>
            </a:lvl1pPr>
          </a:lstStyle>
          <a:p>
            <a:pPr indent="0">
              <a:buNone/>
            </a:pPr>
            <a:r>
              <a:rPr lang="de-DE" sz="1400" b="0" u="none" strike="noStrike">
                <a:solidFill>
                  <a:srgbClr val="000000"/>
                </a:solidFill>
                <a:effectLst/>
                <a:uFillTx/>
                <a:latin typeface="Times New Roman"/>
              </a:rPr>
              <a:t> </a:t>
            </a:r>
          </a:p>
        </p:txBody>
      </p:sp>
      <p:sp>
        <p:nvSpPr>
          <p:cNvPr id="71" name="PlaceHolder 6"/>
          <p:cNvSpPr>
            <a:spLocks noGrp="1"/>
          </p:cNvSpPr>
          <p:nvPr>
            <p:ph type="sldNum" idx="39"/>
          </p:nvPr>
        </p:nvSpPr>
        <p:spPr>
          <a:xfrm>
            <a:off x="4278960" y="10157400"/>
            <a:ext cx="3280680" cy="534240"/>
          </a:xfrm>
          <a:prstGeom prst="rect">
            <a:avLst/>
          </a:prstGeom>
          <a:noFill/>
          <a:ln w="0">
            <a:noFill/>
          </a:ln>
        </p:spPr>
        <p:txBody>
          <a:bodyPr lIns="0" tIns="0" rIns="0" bIns="0" anchor="b">
            <a:noAutofit/>
          </a:bodyPr>
          <a:lstStyle>
            <a:lvl1pPr indent="0" algn="r">
              <a:buNone/>
              <a:defRPr lang="de-DE" sz="1400" b="0" u="none" strike="noStrike">
                <a:solidFill>
                  <a:srgbClr val="000000"/>
                </a:solidFill>
                <a:effectLst/>
                <a:uFillTx/>
                <a:latin typeface="Times New Roman"/>
              </a:defRPr>
            </a:lvl1pPr>
          </a:lstStyle>
          <a:p>
            <a:pPr indent="0" algn="r">
              <a:buNone/>
            </a:pPr>
            <a:fld id="{0471218F-CC4C-4BC0-81B8-A40FF3811C4E}" type="slidenum">
              <a:rPr lang="de-DE" sz="1400" b="0" u="none" strike="noStrike">
                <a:solidFill>
                  <a:srgbClr val="000000"/>
                </a:solidFill>
                <a:effectLst/>
                <a:uFillTx/>
                <a:latin typeface="Times New Roman"/>
              </a:rPr>
              <a:t>‹Nr.›</a:t>
            </a:fld>
            <a:endParaRPr lang="de-DE"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PlaceHolder 1"/>
          <p:cNvSpPr>
            <a:spLocks noGrp="1" noRot="1" noChangeAspect="1"/>
          </p:cNvSpPr>
          <p:nvPr>
            <p:ph type="sldImg"/>
          </p:nvPr>
        </p:nvSpPr>
        <p:spPr>
          <a:xfrm>
            <a:off x="0" y="0"/>
            <a:ext cx="0" cy="0"/>
          </a:xfrm>
          <a:prstGeom prst="rect">
            <a:avLst/>
          </a:prstGeom>
          <a:ln w="0">
            <a:noFill/>
          </a:ln>
        </p:spPr>
      </p:sp>
      <p:sp>
        <p:nvSpPr>
          <p:cNvPr id="34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endParaRPr lang="de-DE" sz="2000" b="0" u="none" strike="noStrike" dirty="0">
              <a:solidFill>
                <a:srgbClr val="000000"/>
              </a:solidFill>
              <a:effectLst/>
              <a:uFillTx/>
              <a:latin typeface="Arial"/>
            </a:endParaRPr>
          </a:p>
        </p:txBody>
      </p:sp>
      <p:sp>
        <p:nvSpPr>
          <p:cNvPr id="347" name="PlaceHolder 3"/>
          <p:cNvSpPr>
            <a:spLocks noGrp="1"/>
          </p:cNvSpPr>
          <p:nvPr>
            <p:ph type="sldNum" idx="40"/>
          </p:nvPr>
        </p:nvSpPr>
        <p:spPr>
          <a:xfrm>
            <a:off x="0" y="0"/>
            <a:ext cx="0" cy="0"/>
          </a:xfrm>
          <a:prstGeom prst="rect">
            <a:avLst/>
          </a:prstGeom>
          <a:noFill/>
          <a:ln w="0">
            <a:noFill/>
          </a:ln>
        </p:spPr>
        <p:txBody>
          <a:bodyPr lIns="90000" tIns="-45000" rIns="90000" bIns="-45000" anchor="t">
            <a:noAutofit/>
          </a:bodyPr>
          <a:lstStyle/>
          <a:p>
            <a:pPr indent="0">
              <a:buNone/>
            </a:pPr>
            <a:endParaRPr lang="de-DE" sz="18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PlaceHolder 1"/>
          <p:cNvSpPr>
            <a:spLocks noGrp="1" noRot="1" noChangeAspect="1"/>
          </p:cNvSpPr>
          <p:nvPr>
            <p:ph type="sldImg"/>
          </p:nvPr>
        </p:nvSpPr>
        <p:spPr>
          <a:xfrm>
            <a:off x="0" y="0"/>
            <a:ext cx="0" cy="0"/>
          </a:xfrm>
          <a:prstGeom prst="rect">
            <a:avLst/>
          </a:prstGeom>
          <a:ln w="0">
            <a:noFill/>
          </a:ln>
        </p:spPr>
      </p:sp>
      <p:sp>
        <p:nvSpPr>
          <p:cNvPr id="34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r>
              <a:rPr lang="de-DE" sz="2000" b="0" u="none" strike="noStrike" dirty="0">
                <a:solidFill>
                  <a:srgbClr val="000000"/>
                </a:solidFill>
                <a:effectLst/>
                <a:uFillTx/>
                <a:latin typeface="Arial"/>
              </a:rPr>
              <a:t>Überblick der sechs CRISP-DM-Phasen. Phase 4 (Modeling) als Projekt-Schwerpunkt farblich hervorgehoben.</a:t>
            </a:r>
          </a:p>
        </p:txBody>
      </p:sp>
      <p:sp>
        <p:nvSpPr>
          <p:cNvPr id="350" name="PlaceHolder 3"/>
          <p:cNvSpPr>
            <a:spLocks noGrp="1"/>
          </p:cNvSpPr>
          <p:nvPr>
            <p:ph type="sldNum" idx="41"/>
          </p:nvPr>
        </p:nvSpPr>
        <p:spPr>
          <a:xfrm>
            <a:off x="0" y="0"/>
            <a:ext cx="0" cy="0"/>
          </a:xfrm>
          <a:prstGeom prst="rect">
            <a:avLst/>
          </a:prstGeom>
          <a:noFill/>
          <a:ln w="0">
            <a:noFill/>
          </a:ln>
        </p:spPr>
        <p:txBody>
          <a:bodyPr lIns="90000" tIns="-45000" rIns="90000" bIns="-45000" anchor="t">
            <a:noAutofit/>
          </a:bodyPr>
          <a:lstStyle/>
          <a:p>
            <a:pPr indent="0">
              <a:buNone/>
            </a:pPr>
            <a:endParaRPr lang="de-DE" sz="18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BFA94-C84B-9092-29B0-CA32ED0403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6D9356-2FF6-2941-215E-E60AFB9D24A3}"/>
              </a:ext>
            </a:extLst>
          </p:cNvPr>
          <p:cNvSpPr>
            <a:spLocks noGrp="1" noRot="1" noChangeAspect="1"/>
          </p:cNvSpPr>
          <p:nvPr>
            <p:ph type="sldImg"/>
          </p:nvPr>
        </p:nvSpPr>
        <p:spPr>
          <a:xfrm>
            <a:off x="0" y="812800"/>
            <a:ext cx="0" cy="0"/>
          </a:xfrm>
        </p:spPr>
      </p:sp>
      <p:sp>
        <p:nvSpPr>
          <p:cNvPr id="3" name="Notes Placeholder 2">
            <a:extLst>
              <a:ext uri="{FF2B5EF4-FFF2-40B4-BE49-F238E27FC236}">
                <a16:creationId xmlns:a16="http://schemas.microsoft.com/office/drawing/2014/main" id="{938FB81B-7C7B-2B0A-8EA3-72AAE82220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A128D2-AA5C-3C91-E144-8C3D4095D1E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66591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F5477-9ACE-3644-96A9-B58E2E1914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4B0B2-C200-EB44-045A-4663A5FE344A}"/>
              </a:ext>
            </a:extLst>
          </p:cNvPr>
          <p:cNvSpPr>
            <a:spLocks noGrp="1" noRot="1" noChangeAspect="1"/>
          </p:cNvSpPr>
          <p:nvPr>
            <p:ph type="sldImg"/>
          </p:nvPr>
        </p:nvSpPr>
        <p:spPr>
          <a:xfrm>
            <a:off x="0" y="812800"/>
            <a:ext cx="0" cy="0"/>
          </a:xfrm>
        </p:spPr>
      </p:sp>
      <p:sp>
        <p:nvSpPr>
          <p:cNvPr id="3" name="Notes Placeholder 2">
            <a:extLst>
              <a:ext uri="{FF2B5EF4-FFF2-40B4-BE49-F238E27FC236}">
                <a16:creationId xmlns:a16="http://schemas.microsoft.com/office/drawing/2014/main" id="{0BC37665-6E94-58A0-3C65-DECBF227526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u="none" strike="noStrike" dirty="0">
                <a:solidFill>
                  <a:srgbClr val="000000"/>
                </a:solidFill>
                <a:effectLst/>
                <a:uFillTx/>
                <a:latin typeface="+mn-lt"/>
              </a:rPr>
              <a:t>Phase 2 – Datenverständnis (Data Understanding). </a:t>
            </a:r>
          </a:p>
          <a:p>
            <a:endParaRPr lang="en-US" dirty="0"/>
          </a:p>
        </p:txBody>
      </p:sp>
      <p:sp>
        <p:nvSpPr>
          <p:cNvPr id="4" name="Slide Number Placeholder 3">
            <a:extLst>
              <a:ext uri="{FF2B5EF4-FFF2-40B4-BE49-F238E27FC236}">
                <a16:creationId xmlns:a16="http://schemas.microsoft.com/office/drawing/2014/main" id="{E0A589A5-A11B-B2A5-FDD4-6FBD22805F3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01642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59AA0-D36F-46B8-B37E-72326E33BC9C}"/>
            </a:ext>
          </a:extLst>
        </p:cNvPr>
        <p:cNvGrpSpPr/>
        <p:nvPr/>
      </p:nvGrpSpPr>
      <p:grpSpPr>
        <a:xfrm>
          <a:off x="0" y="0"/>
          <a:ext cx="0" cy="0"/>
          <a:chOff x="0" y="0"/>
          <a:chExt cx="0" cy="0"/>
        </a:xfrm>
      </p:grpSpPr>
      <p:sp>
        <p:nvSpPr>
          <p:cNvPr id="354" name="PlaceHolder 1">
            <a:extLst>
              <a:ext uri="{FF2B5EF4-FFF2-40B4-BE49-F238E27FC236}">
                <a16:creationId xmlns:a16="http://schemas.microsoft.com/office/drawing/2014/main" id="{8263C210-1A3A-6D9A-844E-72828D432D27}"/>
              </a:ext>
            </a:extLst>
          </p:cNvPr>
          <p:cNvSpPr>
            <a:spLocks noGrp="1" noRot="1" noChangeAspect="1"/>
          </p:cNvSpPr>
          <p:nvPr>
            <p:ph type="sldImg"/>
          </p:nvPr>
        </p:nvSpPr>
        <p:spPr>
          <a:xfrm>
            <a:off x="0" y="0"/>
            <a:ext cx="0" cy="0"/>
          </a:xfrm>
          <a:prstGeom prst="rect">
            <a:avLst/>
          </a:prstGeom>
          <a:ln w="0">
            <a:noFill/>
          </a:ln>
        </p:spPr>
      </p:sp>
      <p:sp>
        <p:nvSpPr>
          <p:cNvPr id="355" name="PlaceHolder 2">
            <a:extLst>
              <a:ext uri="{FF2B5EF4-FFF2-40B4-BE49-F238E27FC236}">
                <a16:creationId xmlns:a16="http://schemas.microsoft.com/office/drawing/2014/main" id="{208DC358-AE56-AC2B-F52B-352CCFE5823C}"/>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endParaRPr lang="de-DE" sz="2000" b="0" u="none" strike="noStrike" dirty="0">
              <a:solidFill>
                <a:srgbClr val="000000"/>
              </a:solidFill>
              <a:effectLst/>
              <a:uFillTx/>
              <a:latin typeface="Arial"/>
            </a:endParaRPr>
          </a:p>
        </p:txBody>
      </p:sp>
      <p:sp>
        <p:nvSpPr>
          <p:cNvPr id="356" name="PlaceHolder 3">
            <a:extLst>
              <a:ext uri="{FF2B5EF4-FFF2-40B4-BE49-F238E27FC236}">
                <a16:creationId xmlns:a16="http://schemas.microsoft.com/office/drawing/2014/main" id="{22C49335-FE1F-CB18-F4C8-D05E96A12033}"/>
              </a:ext>
            </a:extLst>
          </p:cNvPr>
          <p:cNvSpPr>
            <a:spLocks noGrp="1"/>
          </p:cNvSpPr>
          <p:nvPr>
            <p:ph type="sldNum" idx="43"/>
          </p:nvPr>
        </p:nvSpPr>
        <p:spPr>
          <a:xfrm>
            <a:off x="0" y="0"/>
            <a:ext cx="0" cy="0"/>
          </a:xfrm>
          <a:prstGeom prst="rect">
            <a:avLst/>
          </a:prstGeom>
          <a:noFill/>
          <a:ln w="0">
            <a:noFill/>
          </a:ln>
        </p:spPr>
        <p:txBody>
          <a:bodyPr lIns="90000" tIns="-45000" rIns="90000" bIns="-45000" anchor="t">
            <a:noAutofit/>
          </a:bodyPr>
          <a:lstStyle/>
          <a:p>
            <a:pPr indent="0">
              <a:buNone/>
            </a:pPr>
            <a:endParaRPr lang="de-DE"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8097769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16837-B2EE-C6FB-F382-FCEB61F85822}"/>
            </a:ext>
          </a:extLst>
        </p:cNvPr>
        <p:cNvGrpSpPr/>
        <p:nvPr/>
      </p:nvGrpSpPr>
      <p:grpSpPr>
        <a:xfrm>
          <a:off x="0" y="0"/>
          <a:ext cx="0" cy="0"/>
          <a:chOff x="0" y="0"/>
          <a:chExt cx="0" cy="0"/>
        </a:xfrm>
      </p:grpSpPr>
      <p:sp>
        <p:nvSpPr>
          <p:cNvPr id="354" name="PlaceHolder 1">
            <a:extLst>
              <a:ext uri="{FF2B5EF4-FFF2-40B4-BE49-F238E27FC236}">
                <a16:creationId xmlns:a16="http://schemas.microsoft.com/office/drawing/2014/main" id="{4F3F9FBF-C1D0-E216-C450-39912FB8F6D3}"/>
              </a:ext>
            </a:extLst>
          </p:cNvPr>
          <p:cNvSpPr>
            <a:spLocks noGrp="1" noRot="1" noChangeAspect="1"/>
          </p:cNvSpPr>
          <p:nvPr>
            <p:ph type="sldImg"/>
          </p:nvPr>
        </p:nvSpPr>
        <p:spPr>
          <a:xfrm>
            <a:off x="0" y="0"/>
            <a:ext cx="0" cy="0"/>
          </a:xfrm>
          <a:prstGeom prst="rect">
            <a:avLst/>
          </a:prstGeom>
          <a:ln w="0">
            <a:noFill/>
          </a:ln>
        </p:spPr>
      </p:sp>
      <p:sp>
        <p:nvSpPr>
          <p:cNvPr id="355" name="PlaceHolder 2">
            <a:extLst>
              <a:ext uri="{FF2B5EF4-FFF2-40B4-BE49-F238E27FC236}">
                <a16:creationId xmlns:a16="http://schemas.microsoft.com/office/drawing/2014/main" id="{6507B22B-1702-3C20-7A57-22EBDFD846C1}"/>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endParaRPr lang="de-DE" sz="2000" b="0" u="none" strike="noStrike" dirty="0">
              <a:solidFill>
                <a:srgbClr val="000000"/>
              </a:solidFill>
              <a:effectLst/>
              <a:uFillTx/>
              <a:latin typeface="Arial"/>
            </a:endParaRPr>
          </a:p>
        </p:txBody>
      </p:sp>
      <p:sp>
        <p:nvSpPr>
          <p:cNvPr id="356" name="PlaceHolder 3">
            <a:extLst>
              <a:ext uri="{FF2B5EF4-FFF2-40B4-BE49-F238E27FC236}">
                <a16:creationId xmlns:a16="http://schemas.microsoft.com/office/drawing/2014/main" id="{0510FEF6-D769-4569-FBCD-4AB500F725A1}"/>
              </a:ext>
            </a:extLst>
          </p:cNvPr>
          <p:cNvSpPr>
            <a:spLocks noGrp="1"/>
          </p:cNvSpPr>
          <p:nvPr>
            <p:ph type="sldNum" idx="43"/>
          </p:nvPr>
        </p:nvSpPr>
        <p:spPr>
          <a:xfrm>
            <a:off x="0" y="0"/>
            <a:ext cx="0" cy="0"/>
          </a:xfrm>
          <a:prstGeom prst="rect">
            <a:avLst/>
          </a:prstGeom>
          <a:noFill/>
          <a:ln w="0">
            <a:noFill/>
          </a:ln>
        </p:spPr>
        <p:txBody>
          <a:bodyPr lIns="90000" tIns="-45000" rIns="90000" bIns="-45000" anchor="t">
            <a:noAutofit/>
          </a:bodyPr>
          <a:lstStyle/>
          <a:p>
            <a:pPr indent="0">
              <a:buNone/>
            </a:pPr>
            <a:endParaRPr lang="de-DE"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28649767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9041E-A91B-C50B-D9C9-07DF81552574}"/>
            </a:ext>
          </a:extLst>
        </p:cNvPr>
        <p:cNvGrpSpPr/>
        <p:nvPr/>
      </p:nvGrpSpPr>
      <p:grpSpPr>
        <a:xfrm>
          <a:off x="0" y="0"/>
          <a:ext cx="0" cy="0"/>
          <a:chOff x="0" y="0"/>
          <a:chExt cx="0" cy="0"/>
        </a:xfrm>
      </p:grpSpPr>
      <p:sp>
        <p:nvSpPr>
          <p:cNvPr id="354" name="PlaceHolder 1">
            <a:extLst>
              <a:ext uri="{FF2B5EF4-FFF2-40B4-BE49-F238E27FC236}">
                <a16:creationId xmlns:a16="http://schemas.microsoft.com/office/drawing/2014/main" id="{1D34E851-1358-25F6-0EF2-BE9136A8BACD}"/>
              </a:ext>
            </a:extLst>
          </p:cNvPr>
          <p:cNvSpPr>
            <a:spLocks noGrp="1" noRot="1" noChangeAspect="1"/>
          </p:cNvSpPr>
          <p:nvPr>
            <p:ph type="sldImg"/>
          </p:nvPr>
        </p:nvSpPr>
        <p:spPr>
          <a:xfrm>
            <a:off x="0" y="0"/>
            <a:ext cx="0" cy="0"/>
          </a:xfrm>
          <a:prstGeom prst="rect">
            <a:avLst/>
          </a:prstGeom>
          <a:ln w="0">
            <a:noFill/>
          </a:ln>
        </p:spPr>
      </p:sp>
      <p:sp>
        <p:nvSpPr>
          <p:cNvPr id="355" name="PlaceHolder 2">
            <a:extLst>
              <a:ext uri="{FF2B5EF4-FFF2-40B4-BE49-F238E27FC236}">
                <a16:creationId xmlns:a16="http://schemas.microsoft.com/office/drawing/2014/main" id="{21F3BA32-2023-24C8-A3FF-8A5599BE740E}"/>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endParaRPr lang="de-DE" sz="2000" b="0" u="none" strike="noStrike" dirty="0">
              <a:solidFill>
                <a:srgbClr val="000000"/>
              </a:solidFill>
              <a:effectLst/>
              <a:uFillTx/>
              <a:latin typeface="Arial"/>
            </a:endParaRPr>
          </a:p>
        </p:txBody>
      </p:sp>
      <p:sp>
        <p:nvSpPr>
          <p:cNvPr id="356" name="PlaceHolder 3">
            <a:extLst>
              <a:ext uri="{FF2B5EF4-FFF2-40B4-BE49-F238E27FC236}">
                <a16:creationId xmlns:a16="http://schemas.microsoft.com/office/drawing/2014/main" id="{B4D2C40E-7972-CA08-55A2-0B4BB59D54DA}"/>
              </a:ext>
            </a:extLst>
          </p:cNvPr>
          <p:cNvSpPr>
            <a:spLocks noGrp="1"/>
          </p:cNvSpPr>
          <p:nvPr>
            <p:ph type="sldNum" idx="43"/>
          </p:nvPr>
        </p:nvSpPr>
        <p:spPr>
          <a:xfrm>
            <a:off x="0" y="0"/>
            <a:ext cx="0" cy="0"/>
          </a:xfrm>
          <a:prstGeom prst="rect">
            <a:avLst/>
          </a:prstGeom>
          <a:noFill/>
          <a:ln w="0">
            <a:noFill/>
          </a:ln>
        </p:spPr>
        <p:txBody>
          <a:bodyPr lIns="90000" tIns="-45000" rIns="90000" bIns="-45000" anchor="t">
            <a:noAutofit/>
          </a:bodyPr>
          <a:lstStyle/>
          <a:p>
            <a:pPr indent="0">
              <a:buNone/>
            </a:pPr>
            <a:endParaRPr lang="de-DE"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2457051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PlaceHolder 1"/>
          <p:cNvSpPr>
            <a:spLocks noGrp="1" noRot="1" noChangeAspect="1"/>
          </p:cNvSpPr>
          <p:nvPr>
            <p:ph type="sldImg"/>
          </p:nvPr>
        </p:nvSpPr>
        <p:spPr>
          <a:xfrm>
            <a:off x="0" y="0"/>
            <a:ext cx="0" cy="0"/>
          </a:xfrm>
          <a:prstGeom prst="rect">
            <a:avLst/>
          </a:prstGeom>
          <a:ln w="0">
            <a:noFill/>
          </a:ln>
        </p:spPr>
      </p:sp>
      <p:sp>
        <p:nvSpPr>
          <p:cNvPr id="35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endParaRPr lang="de-DE" sz="2000" b="0" u="none" strike="noStrike" dirty="0">
              <a:solidFill>
                <a:srgbClr val="000000"/>
              </a:solidFill>
              <a:effectLst/>
              <a:uFillTx/>
              <a:latin typeface="Arial"/>
            </a:endParaRPr>
          </a:p>
        </p:txBody>
      </p:sp>
      <p:sp>
        <p:nvSpPr>
          <p:cNvPr id="356" name="PlaceHolder 3"/>
          <p:cNvSpPr>
            <a:spLocks noGrp="1"/>
          </p:cNvSpPr>
          <p:nvPr>
            <p:ph type="sldNum" idx="43"/>
          </p:nvPr>
        </p:nvSpPr>
        <p:spPr>
          <a:xfrm>
            <a:off x="0" y="0"/>
            <a:ext cx="0" cy="0"/>
          </a:xfrm>
          <a:prstGeom prst="rect">
            <a:avLst/>
          </a:prstGeom>
          <a:noFill/>
          <a:ln w="0">
            <a:noFill/>
          </a:ln>
        </p:spPr>
        <p:txBody>
          <a:bodyPr lIns="90000" tIns="-45000" rIns="90000" bIns="-45000" anchor="t">
            <a:noAutofit/>
          </a:bodyPr>
          <a:lstStyle/>
          <a:p>
            <a:pPr indent="0">
              <a:buNone/>
            </a:pPr>
            <a:endParaRPr lang="de-DE" sz="18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17A34-4287-3614-E909-ADF21DE44A05}"/>
            </a:ext>
          </a:extLst>
        </p:cNvPr>
        <p:cNvGrpSpPr/>
        <p:nvPr/>
      </p:nvGrpSpPr>
      <p:grpSpPr>
        <a:xfrm>
          <a:off x="0" y="0"/>
          <a:ext cx="0" cy="0"/>
          <a:chOff x="0" y="0"/>
          <a:chExt cx="0" cy="0"/>
        </a:xfrm>
      </p:grpSpPr>
      <p:sp>
        <p:nvSpPr>
          <p:cNvPr id="354" name="PlaceHolder 1">
            <a:extLst>
              <a:ext uri="{FF2B5EF4-FFF2-40B4-BE49-F238E27FC236}">
                <a16:creationId xmlns:a16="http://schemas.microsoft.com/office/drawing/2014/main" id="{577984B4-2E68-EDDB-76FF-F78D02E12D06}"/>
              </a:ext>
            </a:extLst>
          </p:cNvPr>
          <p:cNvSpPr>
            <a:spLocks noGrp="1" noRot="1" noChangeAspect="1"/>
          </p:cNvSpPr>
          <p:nvPr>
            <p:ph type="sldImg"/>
          </p:nvPr>
        </p:nvSpPr>
        <p:spPr>
          <a:xfrm>
            <a:off x="0" y="0"/>
            <a:ext cx="0" cy="0"/>
          </a:xfrm>
          <a:prstGeom prst="rect">
            <a:avLst/>
          </a:prstGeom>
          <a:ln w="0">
            <a:noFill/>
          </a:ln>
        </p:spPr>
      </p:sp>
      <p:sp>
        <p:nvSpPr>
          <p:cNvPr id="355" name="PlaceHolder 2">
            <a:extLst>
              <a:ext uri="{FF2B5EF4-FFF2-40B4-BE49-F238E27FC236}">
                <a16:creationId xmlns:a16="http://schemas.microsoft.com/office/drawing/2014/main" id="{6909D0CE-5563-3C22-0D64-3B5B0D142DAA}"/>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endParaRPr lang="de-DE" sz="2000" b="0" u="none" strike="noStrike" dirty="0">
              <a:solidFill>
                <a:srgbClr val="000000"/>
              </a:solidFill>
              <a:effectLst/>
              <a:uFillTx/>
              <a:latin typeface="Arial"/>
            </a:endParaRPr>
          </a:p>
        </p:txBody>
      </p:sp>
      <p:sp>
        <p:nvSpPr>
          <p:cNvPr id="356" name="PlaceHolder 3">
            <a:extLst>
              <a:ext uri="{FF2B5EF4-FFF2-40B4-BE49-F238E27FC236}">
                <a16:creationId xmlns:a16="http://schemas.microsoft.com/office/drawing/2014/main" id="{3DB80B61-6560-4F06-61BF-E1F3AA814F0B}"/>
              </a:ext>
            </a:extLst>
          </p:cNvPr>
          <p:cNvSpPr>
            <a:spLocks noGrp="1"/>
          </p:cNvSpPr>
          <p:nvPr>
            <p:ph type="sldNum" idx="43"/>
          </p:nvPr>
        </p:nvSpPr>
        <p:spPr>
          <a:xfrm>
            <a:off x="0" y="0"/>
            <a:ext cx="0" cy="0"/>
          </a:xfrm>
          <a:prstGeom prst="rect">
            <a:avLst/>
          </a:prstGeom>
          <a:noFill/>
          <a:ln w="0">
            <a:noFill/>
          </a:ln>
        </p:spPr>
        <p:txBody>
          <a:bodyPr lIns="90000" tIns="-45000" rIns="90000" bIns="-45000" anchor="t">
            <a:noAutofit/>
          </a:bodyPr>
          <a:lstStyle/>
          <a:p>
            <a:pPr indent="0">
              <a:buNone/>
            </a:pPr>
            <a:endParaRPr lang="de-DE"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28193038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8AB90-1667-EB0B-0D44-EA61F2276C5F}"/>
            </a:ext>
          </a:extLst>
        </p:cNvPr>
        <p:cNvGrpSpPr/>
        <p:nvPr/>
      </p:nvGrpSpPr>
      <p:grpSpPr>
        <a:xfrm>
          <a:off x="0" y="0"/>
          <a:ext cx="0" cy="0"/>
          <a:chOff x="0" y="0"/>
          <a:chExt cx="0" cy="0"/>
        </a:xfrm>
      </p:grpSpPr>
      <p:sp>
        <p:nvSpPr>
          <p:cNvPr id="354" name="PlaceHolder 1">
            <a:extLst>
              <a:ext uri="{FF2B5EF4-FFF2-40B4-BE49-F238E27FC236}">
                <a16:creationId xmlns:a16="http://schemas.microsoft.com/office/drawing/2014/main" id="{3ACFC2E7-B54D-977E-5062-9A3313164520}"/>
              </a:ext>
            </a:extLst>
          </p:cNvPr>
          <p:cNvSpPr>
            <a:spLocks noGrp="1" noRot="1" noChangeAspect="1"/>
          </p:cNvSpPr>
          <p:nvPr>
            <p:ph type="sldImg"/>
          </p:nvPr>
        </p:nvSpPr>
        <p:spPr>
          <a:xfrm>
            <a:off x="0" y="0"/>
            <a:ext cx="0" cy="0"/>
          </a:xfrm>
          <a:prstGeom prst="rect">
            <a:avLst/>
          </a:prstGeom>
          <a:ln w="0">
            <a:noFill/>
          </a:ln>
        </p:spPr>
      </p:sp>
      <p:sp>
        <p:nvSpPr>
          <p:cNvPr id="355" name="PlaceHolder 2">
            <a:extLst>
              <a:ext uri="{FF2B5EF4-FFF2-40B4-BE49-F238E27FC236}">
                <a16:creationId xmlns:a16="http://schemas.microsoft.com/office/drawing/2014/main" id="{77E69483-A857-E507-7B57-21A94B0E850E}"/>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endParaRPr lang="de-DE" sz="2000" b="0" u="none" strike="noStrike" dirty="0">
              <a:solidFill>
                <a:srgbClr val="000000"/>
              </a:solidFill>
              <a:effectLst/>
              <a:uFillTx/>
              <a:latin typeface="Arial"/>
            </a:endParaRPr>
          </a:p>
        </p:txBody>
      </p:sp>
      <p:sp>
        <p:nvSpPr>
          <p:cNvPr id="356" name="PlaceHolder 3">
            <a:extLst>
              <a:ext uri="{FF2B5EF4-FFF2-40B4-BE49-F238E27FC236}">
                <a16:creationId xmlns:a16="http://schemas.microsoft.com/office/drawing/2014/main" id="{2CA987C3-26D9-7EE2-0E40-4CA4D9239CD4}"/>
              </a:ext>
            </a:extLst>
          </p:cNvPr>
          <p:cNvSpPr>
            <a:spLocks noGrp="1"/>
          </p:cNvSpPr>
          <p:nvPr>
            <p:ph type="sldNum" idx="43"/>
          </p:nvPr>
        </p:nvSpPr>
        <p:spPr>
          <a:xfrm>
            <a:off x="0" y="0"/>
            <a:ext cx="0" cy="0"/>
          </a:xfrm>
          <a:prstGeom prst="rect">
            <a:avLst/>
          </a:prstGeom>
          <a:noFill/>
          <a:ln w="0">
            <a:noFill/>
          </a:ln>
        </p:spPr>
        <p:txBody>
          <a:bodyPr lIns="90000" tIns="-45000" rIns="90000" bIns="-45000" anchor="t">
            <a:noAutofit/>
          </a:bodyPr>
          <a:lstStyle/>
          <a:p>
            <a:pPr indent="0">
              <a:buNone/>
            </a:pPr>
            <a:endParaRPr lang="de-DE"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15928228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8A9F1-DDBA-6B53-8CFA-CB29400EBE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C337CD-0CFF-2E9C-63C5-F1A141A8D642}"/>
              </a:ext>
            </a:extLst>
          </p:cNvPr>
          <p:cNvSpPr>
            <a:spLocks noGrp="1" noRot="1" noChangeAspect="1"/>
          </p:cNvSpPr>
          <p:nvPr>
            <p:ph type="sldImg"/>
          </p:nvPr>
        </p:nvSpPr>
        <p:spPr>
          <a:xfrm>
            <a:off x="0" y="812800"/>
            <a:ext cx="0" cy="0"/>
          </a:xfrm>
        </p:spPr>
      </p:sp>
      <p:sp>
        <p:nvSpPr>
          <p:cNvPr id="3" name="Notes Placeholder 2">
            <a:extLst>
              <a:ext uri="{FF2B5EF4-FFF2-40B4-BE49-F238E27FC236}">
                <a16:creationId xmlns:a16="http://schemas.microsoft.com/office/drawing/2014/main" id="{35F82AD5-E8DD-9D69-3A12-610AE1F58ED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u="none" strike="noStrike" dirty="0">
                <a:solidFill>
                  <a:srgbClr val="000000"/>
                </a:solidFill>
                <a:effectLst/>
                <a:uFillTx/>
                <a:latin typeface="+mn-lt"/>
              </a:rPr>
              <a:t>Phase 3 – Datenaufbereitung (Data </a:t>
            </a:r>
            <a:r>
              <a:rPr lang="de-DE" sz="1200" b="0" u="none" strike="noStrike" dirty="0" err="1">
                <a:solidFill>
                  <a:srgbClr val="000000"/>
                </a:solidFill>
                <a:effectLst/>
                <a:uFillTx/>
                <a:latin typeface="+mn-lt"/>
              </a:rPr>
              <a:t>Preparation</a:t>
            </a:r>
            <a:r>
              <a:rPr lang="de-DE" sz="1200" b="0" u="none" strike="noStrike" dirty="0">
                <a:solidFill>
                  <a:srgbClr val="000000"/>
                </a:solidFill>
                <a:effectLst/>
                <a:uFillTx/>
                <a:latin typeface="+mn-lt"/>
              </a:rPr>
              <a:t>)</a:t>
            </a:r>
          </a:p>
          <a:p>
            <a:endParaRPr lang="en-US" dirty="0"/>
          </a:p>
        </p:txBody>
      </p:sp>
      <p:sp>
        <p:nvSpPr>
          <p:cNvPr id="4" name="Slide Number Placeholder 3">
            <a:extLst>
              <a:ext uri="{FF2B5EF4-FFF2-40B4-BE49-F238E27FC236}">
                <a16:creationId xmlns:a16="http://schemas.microsoft.com/office/drawing/2014/main" id="{34F36DCB-E1A5-01DC-0475-7BF938018F9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849050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idx="1"/>
          </p:nvPr>
        </p:nvSpPr>
        <p:spPr/>
        <p:txBody>
          <a:bodyPr/>
          <a:lstStyle/>
          <a:p>
            <a:pPr rtl="0"/>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idx="39"/>
          </p:nvPr>
        </p:nvSpPr>
        <p:spPr/>
        <p:txBody>
          <a:bodyPr/>
          <a:lstStyle/>
          <a:p>
            <a:pPr indent="0" algn="r">
              <a:buNone/>
            </a:pPr>
            <a:fld id="{0471218F-CC4C-4BC0-81B8-A40FF3811C4E}" type="slidenum">
              <a:rPr lang="de-DE" sz="1400" b="0" u="none" strike="noStrike" smtClean="0">
                <a:solidFill>
                  <a:srgbClr val="000000"/>
                </a:solidFill>
                <a:effectLst/>
                <a:uFillTx/>
                <a:latin typeface="Times New Roman"/>
              </a:rPr>
              <a:t>20</a:t>
            </a:fld>
            <a:endParaRPr lang="de-DE"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2980055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0" y="812800"/>
            <a:ext cx="0" cy="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idx="39"/>
          </p:nvPr>
        </p:nvSpPr>
        <p:spPr/>
        <p:txBody>
          <a:bodyPr/>
          <a:lstStyle/>
          <a:p>
            <a:pPr indent="0" algn="r">
              <a:buNone/>
            </a:pPr>
            <a:fld id="{0471218F-CC4C-4BC0-81B8-A40FF3811C4E}" type="slidenum">
              <a:rPr lang="de-DE" sz="1400" b="0" u="none" strike="noStrike" smtClean="0">
                <a:solidFill>
                  <a:srgbClr val="000000"/>
                </a:solidFill>
                <a:effectLst/>
                <a:uFillTx/>
                <a:latin typeface="Times New Roman"/>
              </a:rPr>
              <a:t>22</a:t>
            </a:fld>
            <a:endParaRPr lang="de-DE"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9506881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0" y="812800"/>
            <a:ext cx="0" cy="0"/>
          </a:xfrm>
        </p:spPr>
      </p:sp>
      <p:sp>
        <p:nvSpPr>
          <p:cNvPr id="3" name="Notizenplatzhalter 2"/>
          <p:cNvSpPr>
            <a:spLocks noGrp="1"/>
          </p:cNvSpPr>
          <p:nvPr>
            <p:ph type="body" idx="1"/>
          </p:nvPr>
        </p:nvSpPr>
        <p:spPr/>
        <p:txBody>
          <a:bodyPr/>
          <a:lstStyle/>
          <a:p>
            <a:pPr rtl="0"/>
            <a:r>
              <a:rPr lang="de-DE" b="1" dirty="0"/>
              <a:t>„</a:t>
            </a:r>
            <a:endParaRPr lang="de-DE" dirty="0"/>
          </a:p>
        </p:txBody>
      </p:sp>
      <p:sp>
        <p:nvSpPr>
          <p:cNvPr id="4" name="Foliennummernplatzhalter 3"/>
          <p:cNvSpPr>
            <a:spLocks noGrp="1"/>
          </p:cNvSpPr>
          <p:nvPr>
            <p:ph type="sldNum" idx="39"/>
          </p:nvPr>
        </p:nvSpPr>
        <p:spPr/>
        <p:txBody>
          <a:bodyPr/>
          <a:lstStyle/>
          <a:p>
            <a:pPr indent="0" algn="r">
              <a:buNone/>
            </a:pPr>
            <a:fld id="{0471218F-CC4C-4BC0-81B8-A40FF3811C4E}" type="slidenum">
              <a:rPr lang="de-DE" sz="1400" b="0" u="none" strike="noStrike" smtClean="0">
                <a:solidFill>
                  <a:srgbClr val="000000"/>
                </a:solidFill>
                <a:effectLst/>
                <a:uFillTx/>
                <a:latin typeface="Times New Roman"/>
              </a:rPr>
              <a:t>24</a:t>
            </a:fld>
            <a:endParaRPr lang="de-DE"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914836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0" y="812800"/>
            <a:ext cx="0" cy="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idx="39"/>
          </p:nvPr>
        </p:nvSpPr>
        <p:spPr/>
        <p:txBody>
          <a:bodyPr/>
          <a:lstStyle/>
          <a:p>
            <a:pPr indent="0" algn="r">
              <a:buNone/>
            </a:pPr>
            <a:fld id="{0471218F-CC4C-4BC0-81B8-A40FF3811C4E}" type="slidenum">
              <a:rPr lang="de-DE" sz="1400" b="0" u="none" strike="noStrike" smtClean="0">
                <a:solidFill>
                  <a:srgbClr val="000000"/>
                </a:solidFill>
                <a:effectLst/>
                <a:uFillTx/>
                <a:latin typeface="Times New Roman"/>
              </a:rPr>
              <a:t>25</a:t>
            </a:fld>
            <a:endParaRPr lang="de-DE"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515861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FF528-A62C-5577-07F0-D68E043D150D}"/>
            </a:ext>
          </a:extLst>
        </p:cNvPr>
        <p:cNvGrpSpPr/>
        <p:nvPr/>
      </p:nvGrpSpPr>
      <p:grpSpPr>
        <a:xfrm>
          <a:off x="0" y="0"/>
          <a:ext cx="0" cy="0"/>
          <a:chOff x="0" y="0"/>
          <a:chExt cx="0" cy="0"/>
        </a:xfrm>
      </p:grpSpPr>
      <p:sp>
        <p:nvSpPr>
          <p:cNvPr id="372" name="PlaceHolder 1">
            <a:extLst>
              <a:ext uri="{FF2B5EF4-FFF2-40B4-BE49-F238E27FC236}">
                <a16:creationId xmlns:a16="http://schemas.microsoft.com/office/drawing/2014/main" id="{81B8389D-91C6-4816-E96C-E22A03B2F7D7}"/>
              </a:ext>
            </a:extLst>
          </p:cNvPr>
          <p:cNvSpPr>
            <a:spLocks noGrp="1" noRot="1" noChangeAspect="1"/>
          </p:cNvSpPr>
          <p:nvPr>
            <p:ph type="sldImg"/>
          </p:nvPr>
        </p:nvSpPr>
        <p:spPr>
          <a:xfrm>
            <a:off x="0" y="0"/>
            <a:ext cx="0" cy="0"/>
          </a:xfrm>
          <a:prstGeom prst="rect">
            <a:avLst/>
          </a:prstGeom>
          <a:ln w="0">
            <a:noFill/>
          </a:ln>
        </p:spPr>
      </p:sp>
      <p:sp>
        <p:nvSpPr>
          <p:cNvPr id="373" name="PlaceHolder 2">
            <a:extLst>
              <a:ext uri="{FF2B5EF4-FFF2-40B4-BE49-F238E27FC236}">
                <a16:creationId xmlns:a16="http://schemas.microsoft.com/office/drawing/2014/main" id="{0E7C1FB7-4003-7DC5-9D13-7B6BDC1862CD}"/>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endParaRPr lang="de-DE" sz="2000" b="0" u="none" strike="noStrike" dirty="0">
              <a:solidFill>
                <a:srgbClr val="000000"/>
              </a:solidFill>
              <a:effectLst/>
              <a:uFillTx/>
              <a:latin typeface="Arial"/>
            </a:endParaRPr>
          </a:p>
        </p:txBody>
      </p:sp>
      <p:sp>
        <p:nvSpPr>
          <p:cNvPr id="374" name="PlaceHolder 3">
            <a:extLst>
              <a:ext uri="{FF2B5EF4-FFF2-40B4-BE49-F238E27FC236}">
                <a16:creationId xmlns:a16="http://schemas.microsoft.com/office/drawing/2014/main" id="{269742D3-9A18-4995-6027-B44D0F7A1C96}"/>
              </a:ext>
            </a:extLst>
          </p:cNvPr>
          <p:cNvSpPr>
            <a:spLocks noGrp="1"/>
          </p:cNvSpPr>
          <p:nvPr>
            <p:ph type="sldNum" idx="49"/>
          </p:nvPr>
        </p:nvSpPr>
        <p:spPr>
          <a:xfrm>
            <a:off x="0" y="0"/>
            <a:ext cx="0" cy="0"/>
          </a:xfrm>
          <a:prstGeom prst="rect">
            <a:avLst/>
          </a:prstGeom>
          <a:noFill/>
          <a:ln w="0">
            <a:noFill/>
          </a:ln>
        </p:spPr>
        <p:txBody>
          <a:bodyPr lIns="90000" tIns="-45000" rIns="90000" bIns="-45000" anchor="t">
            <a:noAutofit/>
          </a:bodyPr>
          <a:lstStyle/>
          <a:p>
            <a:pPr indent="0">
              <a:buNone/>
            </a:pPr>
            <a:endParaRPr lang="de-DE"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40729943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F66E1-5E9C-B661-C06B-D4DDA7B6C5F3}"/>
            </a:ext>
          </a:extLst>
        </p:cNvPr>
        <p:cNvGrpSpPr/>
        <p:nvPr/>
      </p:nvGrpSpPr>
      <p:grpSpPr>
        <a:xfrm>
          <a:off x="0" y="0"/>
          <a:ext cx="0" cy="0"/>
          <a:chOff x="0" y="0"/>
          <a:chExt cx="0" cy="0"/>
        </a:xfrm>
      </p:grpSpPr>
      <p:sp>
        <p:nvSpPr>
          <p:cNvPr id="372" name="PlaceHolder 1">
            <a:extLst>
              <a:ext uri="{FF2B5EF4-FFF2-40B4-BE49-F238E27FC236}">
                <a16:creationId xmlns:a16="http://schemas.microsoft.com/office/drawing/2014/main" id="{D2D6BE18-975A-2782-FA1B-2FF6DFEF456E}"/>
              </a:ext>
            </a:extLst>
          </p:cNvPr>
          <p:cNvSpPr>
            <a:spLocks noGrp="1" noRot="1" noChangeAspect="1"/>
          </p:cNvSpPr>
          <p:nvPr>
            <p:ph type="sldImg"/>
          </p:nvPr>
        </p:nvSpPr>
        <p:spPr>
          <a:xfrm>
            <a:off x="0" y="0"/>
            <a:ext cx="0" cy="0"/>
          </a:xfrm>
          <a:prstGeom prst="rect">
            <a:avLst/>
          </a:prstGeom>
          <a:ln w="0">
            <a:noFill/>
          </a:ln>
        </p:spPr>
      </p:sp>
      <p:sp>
        <p:nvSpPr>
          <p:cNvPr id="373" name="PlaceHolder 2">
            <a:extLst>
              <a:ext uri="{FF2B5EF4-FFF2-40B4-BE49-F238E27FC236}">
                <a16:creationId xmlns:a16="http://schemas.microsoft.com/office/drawing/2014/main" id="{3638CC27-31F9-06BA-53CD-C0DC295DD0F9}"/>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endParaRPr lang="de-DE" sz="2000" b="0" u="none" strike="noStrike" dirty="0">
              <a:solidFill>
                <a:srgbClr val="000000"/>
              </a:solidFill>
              <a:effectLst/>
              <a:uFillTx/>
              <a:latin typeface="Arial"/>
            </a:endParaRPr>
          </a:p>
        </p:txBody>
      </p:sp>
      <p:sp>
        <p:nvSpPr>
          <p:cNvPr id="374" name="PlaceHolder 3">
            <a:extLst>
              <a:ext uri="{FF2B5EF4-FFF2-40B4-BE49-F238E27FC236}">
                <a16:creationId xmlns:a16="http://schemas.microsoft.com/office/drawing/2014/main" id="{588B2B77-75A0-7AB7-9D3B-B03FD4D72B96}"/>
              </a:ext>
            </a:extLst>
          </p:cNvPr>
          <p:cNvSpPr>
            <a:spLocks noGrp="1"/>
          </p:cNvSpPr>
          <p:nvPr>
            <p:ph type="sldNum" idx="49"/>
          </p:nvPr>
        </p:nvSpPr>
        <p:spPr>
          <a:xfrm>
            <a:off x="0" y="0"/>
            <a:ext cx="0" cy="0"/>
          </a:xfrm>
          <a:prstGeom prst="rect">
            <a:avLst/>
          </a:prstGeom>
          <a:noFill/>
          <a:ln w="0">
            <a:noFill/>
          </a:ln>
        </p:spPr>
        <p:txBody>
          <a:bodyPr lIns="90000" tIns="-45000" rIns="90000" bIns="-45000" anchor="t">
            <a:noAutofit/>
          </a:bodyPr>
          <a:lstStyle/>
          <a:p>
            <a:pPr indent="0">
              <a:buNone/>
            </a:pPr>
            <a:endParaRPr lang="de-DE"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22722789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5F0E0-1ED7-6602-A37C-1F0C5049A553}"/>
            </a:ext>
          </a:extLst>
        </p:cNvPr>
        <p:cNvGrpSpPr/>
        <p:nvPr/>
      </p:nvGrpSpPr>
      <p:grpSpPr>
        <a:xfrm>
          <a:off x="0" y="0"/>
          <a:ext cx="0" cy="0"/>
          <a:chOff x="0" y="0"/>
          <a:chExt cx="0" cy="0"/>
        </a:xfrm>
      </p:grpSpPr>
      <p:sp>
        <p:nvSpPr>
          <p:cNvPr id="372" name="PlaceHolder 1">
            <a:extLst>
              <a:ext uri="{FF2B5EF4-FFF2-40B4-BE49-F238E27FC236}">
                <a16:creationId xmlns:a16="http://schemas.microsoft.com/office/drawing/2014/main" id="{814333C5-BF0E-51B7-577B-74675CE53477}"/>
              </a:ext>
            </a:extLst>
          </p:cNvPr>
          <p:cNvSpPr>
            <a:spLocks noGrp="1" noRot="1" noChangeAspect="1"/>
          </p:cNvSpPr>
          <p:nvPr>
            <p:ph type="sldImg"/>
          </p:nvPr>
        </p:nvSpPr>
        <p:spPr>
          <a:xfrm>
            <a:off x="0" y="0"/>
            <a:ext cx="0" cy="0"/>
          </a:xfrm>
          <a:prstGeom prst="rect">
            <a:avLst/>
          </a:prstGeom>
          <a:ln w="0">
            <a:noFill/>
          </a:ln>
        </p:spPr>
      </p:sp>
      <p:sp>
        <p:nvSpPr>
          <p:cNvPr id="373" name="PlaceHolder 2">
            <a:extLst>
              <a:ext uri="{FF2B5EF4-FFF2-40B4-BE49-F238E27FC236}">
                <a16:creationId xmlns:a16="http://schemas.microsoft.com/office/drawing/2014/main" id="{6EE9E4BD-7E6F-045E-21A6-55AB6BCA24E5}"/>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endParaRPr lang="de-DE" sz="2000" b="0" u="none" strike="noStrike" dirty="0">
              <a:solidFill>
                <a:srgbClr val="000000"/>
              </a:solidFill>
              <a:effectLst/>
              <a:uFillTx/>
              <a:latin typeface="Arial"/>
            </a:endParaRPr>
          </a:p>
        </p:txBody>
      </p:sp>
      <p:sp>
        <p:nvSpPr>
          <p:cNvPr id="374" name="PlaceHolder 3">
            <a:extLst>
              <a:ext uri="{FF2B5EF4-FFF2-40B4-BE49-F238E27FC236}">
                <a16:creationId xmlns:a16="http://schemas.microsoft.com/office/drawing/2014/main" id="{0CA18672-18EC-8594-A6E8-7A9161FE46F6}"/>
              </a:ext>
            </a:extLst>
          </p:cNvPr>
          <p:cNvSpPr>
            <a:spLocks noGrp="1"/>
          </p:cNvSpPr>
          <p:nvPr>
            <p:ph type="sldNum" idx="49"/>
          </p:nvPr>
        </p:nvSpPr>
        <p:spPr>
          <a:xfrm>
            <a:off x="0" y="0"/>
            <a:ext cx="0" cy="0"/>
          </a:xfrm>
          <a:prstGeom prst="rect">
            <a:avLst/>
          </a:prstGeom>
          <a:noFill/>
          <a:ln w="0">
            <a:noFill/>
          </a:ln>
        </p:spPr>
        <p:txBody>
          <a:bodyPr lIns="90000" tIns="-45000" rIns="90000" bIns="-45000" anchor="t">
            <a:noAutofit/>
          </a:bodyPr>
          <a:lstStyle/>
          <a:p>
            <a:pPr indent="0">
              <a:buNone/>
            </a:pPr>
            <a:endParaRPr lang="de-DE"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30258002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B8AF3-1450-0D2C-143F-3F543D6C1C96}"/>
            </a:ext>
          </a:extLst>
        </p:cNvPr>
        <p:cNvGrpSpPr/>
        <p:nvPr/>
      </p:nvGrpSpPr>
      <p:grpSpPr>
        <a:xfrm>
          <a:off x="0" y="0"/>
          <a:ext cx="0" cy="0"/>
          <a:chOff x="0" y="0"/>
          <a:chExt cx="0" cy="0"/>
        </a:xfrm>
      </p:grpSpPr>
      <p:sp>
        <p:nvSpPr>
          <p:cNvPr id="372" name="PlaceHolder 1">
            <a:extLst>
              <a:ext uri="{FF2B5EF4-FFF2-40B4-BE49-F238E27FC236}">
                <a16:creationId xmlns:a16="http://schemas.microsoft.com/office/drawing/2014/main" id="{C18ADE0E-EA39-911B-4F29-F3D7EDE81FF2}"/>
              </a:ext>
            </a:extLst>
          </p:cNvPr>
          <p:cNvSpPr>
            <a:spLocks noGrp="1" noRot="1" noChangeAspect="1"/>
          </p:cNvSpPr>
          <p:nvPr>
            <p:ph type="sldImg"/>
          </p:nvPr>
        </p:nvSpPr>
        <p:spPr>
          <a:xfrm>
            <a:off x="0" y="0"/>
            <a:ext cx="0" cy="0"/>
          </a:xfrm>
          <a:prstGeom prst="rect">
            <a:avLst/>
          </a:prstGeom>
          <a:ln w="0">
            <a:noFill/>
          </a:ln>
        </p:spPr>
      </p:sp>
      <p:sp>
        <p:nvSpPr>
          <p:cNvPr id="373" name="PlaceHolder 2">
            <a:extLst>
              <a:ext uri="{FF2B5EF4-FFF2-40B4-BE49-F238E27FC236}">
                <a16:creationId xmlns:a16="http://schemas.microsoft.com/office/drawing/2014/main" id="{EE6B77F6-C3FB-36A0-4EED-92D56D0B43E4}"/>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endParaRPr lang="de-DE" sz="2000" b="0" u="none" strike="noStrike" dirty="0">
              <a:solidFill>
                <a:srgbClr val="000000"/>
              </a:solidFill>
              <a:effectLst/>
              <a:uFillTx/>
              <a:latin typeface="Arial"/>
            </a:endParaRPr>
          </a:p>
        </p:txBody>
      </p:sp>
      <p:sp>
        <p:nvSpPr>
          <p:cNvPr id="374" name="PlaceHolder 3">
            <a:extLst>
              <a:ext uri="{FF2B5EF4-FFF2-40B4-BE49-F238E27FC236}">
                <a16:creationId xmlns:a16="http://schemas.microsoft.com/office/drawing/2014/main" id="{AE957657-C293-088D-00D4-809B3C2111CC}"/>
              </a:ext>
            </a:extLst>
          </p:cNvPr>
          <p:cNvSpPr>
            <a:spLocks noGrp="1"/>
          </p:cNvSpPr>
          <p:nvPr>
            <p:ph type="sldNum" idx="49"/>
          </p:nvPr>
        </p:nvSpPr>
        <p:spPr>
          <a:xfrm>
            <a:off x="0" y="0"/>
            <a:ext cx="0" cy="0"/>
          </a:xfrm>
          <a:prstGeom prst="rect">
            <a:avLst/>
          </a:prstGeom>
          <a:noFill/>
          <a:ln w="0">
            <a:noFill/>
          </a:ln>
        </p:spPr>
        <p:txBody>
          <a:bodyPr lIns="90000" tIns="-45000" rIns="90000" bIns="-45000" anchor="t">
            <a:noAutofit/>
          </a:bodyPr>
          <a:lstStyle/>
          <a:p>
            <a:pPr indent="0">
              <a:buNone/>
            </a:pPr>
            <a:endParaRPr lang="de-DE"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21724802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C7174-A75E-38F8-1BC9-BB6B127D86EC}"/>
            </a:ext>
          </a:extLst>
        </p:cNvPr>
        <p:cNvGrpSpPr/>
        <p:nvPr/>
      </p:nvGrpSpPr>
      <p:grpSpPr>
        <a:xfrm>
          <a:off x="0" y="0"/>
          <a:ext cx="0" cy="0"/>
          <a:chOff x="0" y="0"/>
          <a:chExt cx="0" cy="0"/>
        </a:xfrm>
      </p:grpSpPr>
      <p:sp>
        <p:nvSpPr>
          <p:cNvPr id="372" name="PlaceHolder 1">
            <a:extLst>
              <a:ext uri="{FF2B5EF4-FFF2-40B4-BE49-F238E27FC236}">
                <a16:creationId xmlns:a16="http://schemas.microsoft.com/office/drawing/2014/main" id="{82082B79-87B3-2A93-91D4-DF3DBFB682F6}"/>
              </a:ext>
            </a:extLst>
          </p:cNvPr>
          <p:cNvSpPr>
            <a:spLocks noGrp="1" noRot="1" noChangeAspect="1"/>
          </p:cNvSpPr>
          <p:nvPr>
            <p:ph type="sldImg"/>
          </p:nvPr>
        </p:nvSpPr>
        <p:spPr>
          <a:xfrm>
            <a:off x="0" y="0"/>
            <a:ext cx="0" cy="0"/>
          </a:xfrm>
          <a:prstGeom prst="rect">
            <a:avLst/>
          </a:prstGeom>
          <a:ln w="0">
            <a:noFill/>
          </a:ln>
        </p:spPr>
      </p:sp>
      <p:sp>
        <p:nvSpPr>
          <p:cNvPr id="373" name="PlaceHolder 2">
            <a:extLst>
              <a:ext uri="{FF2B5EF4-FFF2-40B4-BE49-F238E27FC236}">
                <a16:creationId xmlns:a16="http://schemas.microsoft.com/office/drawing/2014/main" id="{E20E0470-1E45-C29E-5AE0-778E67940179}"/>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endParaRPr lang="de-DE" sz="2000" b="0" u="none" strike="noStrike" dirty="0">
              <a:solidFill>
                <a:srgbClr val="000000"/>
              </a:solidFill>
              <a:effectLst/>
              <a:uFillTx/>
              <a:latin typeface="Arial"/>
            </a:endParaRPr>
          </a:p>
        </p:txBody>
      </p:sp>
      <p:sp>
        <p:nvSpPr>
          <p:cNvPr id="374" name="PlaceHolder 3">
            <a:extLst>
              <a:ext uri="{FF2B5EF4-FFF2-40B4-BE49-F238E27FC236}">
                <a16:creationId xmlns:a16="http://schemas.microsoft.com/office/drawing/2014/main" id="{CE6E2996-1D75-4E80-19AD-C6B3D480615C}"/>
              </a:ext>
            </a:extLst>
          </p:cNvPr>
          <p:cNvSpPr>
            <a:spLocks noGrp="1"/>
          </p:cNvSpPr>
          <p:nvPr>
            <p:ph type="sldNum" idx="49"/>
          </p:nvPr>
        </p:nvSpPr>
        <p:spPr>
          <a:xfrm>
            <a:off x="0" y="0"/>
            <a:ext cx="0" cy="0"/>
          </a:xfrm>
          <a:prstGeom prst="rect">
            <a:avLst/>
          </a:prstGeom>
          <a:noFill/>
          <a:ln w="0">
            <a:noFill/>
          </a:ln>
        </p:spPr>
        <p:txBody>
          <a:bodyPr lIns="90000" tIns="-45000" rIns="90000" bIns="-45000" anchor="t">
            <a:noAutofit/>
          </a:bodyPr>
          <a:lstStyle/>
          <a:p>
            <a:pPr indent="0">
              <a:buNone/>
            </a:pPr>
            <a:endParaRPr lang="de-DE"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23049250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D4DB1-8FA3-846F-0FEA-641634E71B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844F4-75B7-0EED-A26E-0664B8921FDB}"/>
              </a:ext>
            </a:extLst>
          </p:cNvPr>
          <p:cNvSpPr>
            <a:spLocks noGrp="1" noRot="1" noChangeAspect="1"/>
          </p:cNvSpPr>
          <p:nvPr>
            <p:ph type="sldImg"/>
          </p:nvPr>
        </p:nvSpPr>
        <p:spPr>
          <a:xfrm>
            <a:off x="0" y="812800"/>
            <a:ext cx="0" cy="0"/>
          </a:xfrm>
        </p:spPr>
      </p:sp>
      <p:sp>
        <p:nvSpPr>
          <p:cNvPr id="3" name="Notes Placeholder 2">
            <a:extLst>
              <a:ext uri="{FF2B5EF4-FFF2-40B4-BE49-F238E27FC236}">
                <a16:creationId xmlns:a16="http://schemas.microsoft.com/office/drawing/2014/main" id="{EF6E316F-A90B-DF60-BB51-CCD8D3E350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9D9A23-24F2-2549-034E-A55D9FBA136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322369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E8781-06E8-4307-EE8D-940DC30CCD98}"/>
            </a:ext>
          </a:extLst>
        </p:cNvPr>
        <p:cNvGrpSpPr/>
        <p:nvPr/>
      </p:nvGrpSpPr>
      <p:grpSpPr>
        <a:xfrm>
          <a:off x="0" y="0"/>
          <a:ext cx="0" cy="0"/>
          <a:chOff x="0" y="0"/>
          <a:chExt cx="0" cy="0"/>
        </a:xfrm>
      </p:grpSpPr>
      <p:sp>
        <p:nvSpPr>
          <p:cNvPr id="363" name="PlaceHolder 1">
            <a:extLst>
              <a:ext uri="{FF2B5EF4-FFF2-40B4-BE49-F238E27FC236}">
                <a16:creationId xmlns:a16="http://schemas.microsoft.com/office/drawing/2014/main" id="{D097A5A0-68FE-A942-65E5-4F5012789D4F}"/>
              </a:ext>
            </a:extLst>
          </p:cNvPr>
          <p:cNvSpPr>
            <a:spLocks noGrp="1" noRot="1" noChangeAspect="1"/>
          </p:cNvSpPr>
          <p:nvPr>
            <p:ph type="sldImg"/>
          </p:nvPr>
        </p:nvSpPr>
        <p:spPr>
          <a:xfrm>
            <a:off x="0" y="0"/>
            <a:ext cx="0" cy="0"/>
          </a:xfrm>
          <a:prstGeom prst="rect">
            <a:avLst/>
          </a:prstGeom>
          <a:ln w="0">
            <a:noFill/>
          </a:ln>
        </p:spPr>
      </p:sp>
      <p:sp>
        <p:nvSpPr>
          <p:cNvPr id="364" name="PlaceHolder 2">
            <a:extLst>
              <a:ext uri="{FF2B5EF4-FFF2-40B4-BE49-F238E27FC236}">
                <a16:creationId xmlns:a16="http://schemas.microsoft.com/office/drawing/2014/main" id="{EDB4C274-76DA-EA1B-4F45-C561A371A0C0}"/>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r>
              <a:rPr lang="de-DE" sz="2000" b="0" u="none" strike="noStrike" dirty="0">
                <a:solidFill>
                  <a:srgbClr val="000000"/>
                </a:solidFill>
                <a:effectLst/>
                <a:uFillTx/>
                <a:latin typeface="Arial"/>
              </a:rPr>
              <a:t>.</a:t>
            </a:r>
          </a:p>
        </p:txBody>
      </p:sp>
      <p:sp>
        <p:nvSpPr>
          <p:cNvPr id="365" name="PlaceHolder 3">
            <a:extLst>
              <a:ext uri="{FF2B5EF4-FFF2-40B4-BE49-F238E27FC236}">
                <a16:creationId xmlns:a16="http://schemas.microsoft.com/office/drawing/2014/main" id="{1A718077-5BA1-5229-8BEC-5E64B4CF4059}"/>
              </a:ext>
            </a:extLst>
          </p:cNvPr>
          <p:cNvSpPr>
            <a:spLocks noGrp="1"/>
          </p:cNvSpPr>
          <p:nvPr>
            <p:ph type="sldNum" idx="46"/>
          </p:nvPr>
        </p:nvSpPr>
        <p:spPr>
          <a:xfrm>
            <a:off x="0" y="0"/>
            <a:ext cx="0" cy="0"/>
          </a:xfrm>
          <a:prstGeom prst="rect">
            <a:avLst/>
          </a:prstGeom>
          <a:noFill/>
          <a:ln w="0">
            <a:noFill/>
          </a:ln>
        </p:spPr>
        <p:txBody>
          <a:bodyPr lIns="90000" tIns="-45000" rIns="90000" bIns="-45000" anchor="t">
            <a:noAutofit/>
          </a:bodyPr>
          <a:lstStyle/>
          <a:p>
            <a:pPr indent="0">
              <a:buNone/>
            </a:pPr>
            <a:endParaRPr lang="de-DE"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4430789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0115D-CF83-1265-ED47-3B34C79418A5}"/>
            </a:ext>
          </a:extLst>
        </p:cNvPr>
        <p:cNvGrpSpPr/>
        <p:nvPr/>
      </p:nvGrpSpPr>
      <p:grpSpPr>
        <a:xfrm>
          <a:off x="0" y="0"/>
          <a:ext cx="0" cy="0"/>
          <a:chOff x="0" y="0"/>
          <a:chExt cx="0" cy="0"/>
        </a:xfrm>
      </p:grpSpPr>
      <p:sp>
        <p:nvSpPr>
          <p:cNvPr id="363" name="PlaceHolder 1">
            <a:extLst>
              <a:ext uri="{FF2B5EF4-FFF2-40B4-BE49-F238E27FC236}">
                <a16:creationId xmlns:a16="http://schemas.microsoft.com/office/drawing/2014/main" id="{F4B1A937-5143-D162-D435-E167FF156329}"/>
              </a:ext>
            </a:extLst>
          </p:cNvPr>
          <p:cNvSpPr>
            <a:spLocks noGrp="1" noRot="1" noChangeAspect="1"/>
          </p:cNvSpPr>
          <p:nvPr>
            <p:ph type="sldImg"/>
          </p:nvPr>
        </p:nvSpPr>
        <p:spPr>
          <a:xfrm>
            <a:off x="0" y="0"/>
            <a:ext cx="0" cy="0"/>
          </a:xfrm>
          <a:prstGeom prst="rect">
            <a:avLst/>
          </a:prstGeom>
          <a:ln w="0">
            <a:noFill/>
          </a:ln>
        </p:spPr>
      </p:sp>
      <p:sp>
        <p:nvSpPr>
          <p:cNvPr id="364" name="PlaceHolder 2">
            <a:extLst>
              <a:ext uri="{FF2B5EF4-FFF2-40B4-BE49-F238E27FC236}">
                <a16:creationId xmlns:a16="http://schemas.microsoft.com/office/drawing/2014/main" id="{A74010D5-D417-1D14-E4C8-B74F37A29EA8}"/>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endParaRPr lang="de-DE" sz="2000" b="0" u="none" strike="noStrike" dirty="0">
              <a:solidFill>
                <a:srgbClr val="000000"/>
              </a:solidFill>
              <a:effectLst/>
              <a:uFillTx/>
              <a:latin typeface="Arial"/>
            </a:endParaRPr>
          </a:p>
        </p:txBody>
      </p:sp>
      <p:sp>
        <p:nvSpPr>
          <p:cNvPr id="365" name="PlaceHolder 3">
            <a:extLst>
              <a:ext uri="{FF2B5EF4-FFF2-40B4-BE49-F238E27FC236}">
                <a16:creationId xmlns:a16="http://schemas.microsoft.com/office/drawing/2014/main" id="{5F4B26DA-595C-B0C2-AA08-569C8C6A9C32}"/>
              </a:ext>
            </a:extLst>
          </p:cNvPr>
          <p:cNvSpPr>
            <a:spLocks noGrp="1"/>
          </p:cNvSpPr>
          <p:nvPr>
            <p:ph type="sldNum" idx="46"/>
          </p:nvPr>
        </p:nvSpPr>
        <p:spPr>
          <a:xfrm>
            <a:off x="0" y="0"/>
            <a:ext cx="0" cy="0"/>
          </a:xfrm>
          <a:prstGeom prst="rect">
            <a:avLst/>
          </a:prstGeom>
          <a:noFill/>
          <a:ln w="0">
            <a:noFill/>
          </a:ln>
        </p:spPr>
        <p:txBody>
          <a:bodyPr lIns="90000" tIns="-45000" rIns="90000" bIns="-45000" anchor="t">
            <a:noAutofit/>
          </a:bodyPr>
          <a:lstStyle/>
          <a:p>
            <a:pPr indent="0">
              <a:buNone/>
            </a:pPr>
            <a:endParaRPr lang="de-DE"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23185407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741BC-2A74-5318-1B76-83BA63AC9CB0}"/>
            </a:ext>
          </a:extLst>
        </p:cNvPr>
        <p:cNvGrpSpPr/>
        <p:nvPr/>
      </p:nvGrpSpPr>
      <p:grpSpPr>
        <a:xfrm>
          <a:off x="0" y="0"/>
          <a:ext cx="0" cy="0"/>
          <a:chOff x="0" y="0"/>
          <a:chExt cx="0" cy="0"/>
        </a:xfrm>
      </p:grpSpPr>
      <p:sp>
        <p:nvSpPr>
          <p:cNvPr id="363" name="PlaceHolder 1">
            <a:extLst>
              <a:ext uri="{FF2B5EF4-FFF2-40B4-BE49-F238E27FC236}">
                <a16:creationId xmlns:a16="http://schemas.microsoft.com/office/drawing/2014/main" id="{D90C4AC3-3ACE-2B8F-AB39-F01EA08DDDF4}"/>
              </a:ext>
            </a:extLst>
          </p:cNvPr>
          <p:cNvSpPr>
            <a:spLocks noGrp="1" noRot="1" noChangeAspect="1"/>
          </p:cNvSpPr>
          <p:nvPr>
            <p:ph type="sldImg"/>
          </p:nvPr>
        </p:nvSpPr>
        <p:spPr>
          <a:xfrm>
            <a:off x="0" y="0"/>
            <a:ext cx="0" cy="0"/>
          </a:xfrm>
          <a:prstGeom prst="rect">
            <a:avLst/>
          </a:prstGeom>
          <a:ln w="0">
            <a:noFill/>
          </a:ln>
        </p:spPr>
      </p:sp>
      <p:sp>
        <p:nvSpPr>
          <p:cNvPr id="364" name="PlaceHolder 2">
            <a:extLst>
              <a:ext uri="{FF2B5EF4-FFF2-40B4-BE49-F238E27FC236}">
                <a16:creationId xmlns:a16="http://schemas.microsoft.com/office/drawing/2014/main" id="{C3F1C491-73FD-AA49-B1B1-A88F1F8E34B9}"/>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endParaRPr lang="de-DE" sz="2000" b="0" u="none" strike="noStrike" dirty="0">
              <a:solidFill>
                <a:srgbClr val="000000"/>
              </a:solidFill>
              <a:effectLst/>
              <a:uFillTx/>
              <a:latin typeface="Arial"/>
            </a:endParaRPr>
          </a:p>
        </p:txBody>
      </p:sp>
      <p:sp>
        <p:nvSpPr>
          <p:cNvPr id="365" name="PlaceHolder 3">
            <a:extLst>
              <a:ext uri="{FF2B5EF4-FFF2-40B4-BE49-F238E27FC236}">
                <a16:creationId xmlns:a16="http://schemas.microsoft.com/office/drawing/2014/main" id="{BE879F4D-AFC5-F1D1-E768-4FEFDE1D5AD5}"/>
              </a:ext>
            </a:extLst>
          </p:cNvPr>
          <p:cNvSpPr>
            <a:spLocks noGrp="1"/>
          </p:cNvSpPr>
          <p:nvPr>
            <p:ph type="sldNum" idx="46"/>
          </p:nvPr>
        </p:nvSpPr>
        <p:spPr>
          <a:xfrm>
            <a:off x="0" y="0"/>
            <a:ext cx="0" cy="0"/>
          </a:xfrm>
          <a:prstGeom prst="rect">
            <a:avLst/>
          </a:prstGeom>
          <a:noFill/>
          <a:ln w="0">
            <a:noFill/>
          </a:ln>
        </p:spPr>
        <p:txBody>
          <a:bodyPr lIns="90000" tIns="-45000" rIns="90000" bIns="-45000" anchor="t">
            <a:noAutofit/>
          </a:bodyPr>
          <a:lstStyle/>
          <a:p>
            <a:pPr indent="0">
              <a:buNone/>
            </a:pPr>
            <a:endParaRPr lang="de-DE"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26248217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PlaceHolder 1"/>
          <p:cNvSpPr>
            <a:spLocks noGrp="1" noRot="1" noChangeAspect="1"/>
          </p:cNvSpPr>
          <p:nvPr>
            <p:ph type="sldImg"/>
          </p:nvPr>
        </p:nvSpPr>
        <p:spPr>
          <a:xfrm>
            <a:off x="0" y="0"/>
            <a:ext cx="0" cy="0"/>
          </a:xfrm>
          <a:prstGeom prst="rect">
            <a:avLst/>
          </a:prstGeom>
          <a:ln w="0">
            <a:noFill/>
          </a:ln>
        </p:spPr>
      </p:sp>
      <p:sp>
        <p:nvSpPr>
          <p:cNvPr id="36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endParaRPr lang="de-DE" sz="2000" b="0" u="none" strike="noStrike" dirty="0">
              <a:solidFill>
                <a:srgbClr val="000000"/>
              </a:solidFill>
              <a:effectLst/>
              <a:uFillTx/>
              <a:latin typeface="Arial"/>
            </a:endParaRPr>
          </a:p>
        </p:txBody>
      </p:sp>
      <p:sp>
        <p:nvSpPr>
          <p:cNvPr id="368" name="PlaceHolder 3"/>
          <p:cNvSpPr>
            <a:spLocks noGrp="1"/>
          </p:cNvSpPr>
          <p:nvPr>
            <p:ph type="sldNum" idx="47"/>
          </p:nvPr>
        </p:nvSpPr>
        <p:spPr>
          <a:xfrm>
            <a:off x="0" y="0"/>
            <a:ext cx="0" cy="0"/>
          </a:xfrm>
          <a:prstGeom prst="rect">
            <a:avLst/>
          </a:prstGeom>
          <a:noFill/>
          <a:ln w="0">
            <a:noFill/>
          </a:ln>
        </p:spPr>
        <p:txBody>
          <a:bodyPr lIns="90000" tIns="-45000" rIns="90000" bIns="-45000" anchor="t">
            <a:noAutofit/>
          </a:bodyPr>
          <a:lstStyle/>
          <a:p>
            <a:pPr indent="0">
              <a:buNone/>
            </a:pPr>
            <a:endParaRPr lang="de-DE" sz="1800" b="0" u="none" strike="noStrike">
              <a:solidFill>
                <a:srgbClr val="000000"/>
              </a:solidFill>
              <a:effectLst/>
              <a:uFillTx/>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F6430-A9B6-F812-D9D4-778DC1233AF6}"/>
            </a:ext>
          </a:extLst>
        </p:cNvPr>
        <p:cNvGrpSpPr/>
        <p:nvPr/>
      </p:nvGrpSpPr>
      <p:grpSpPr>
        <a:xfrm>
          <a:off x="0" y="0"/>
          <a:ext cx="0" cy="0"/>
          <a:chOff x="0" y="0"/>
          <a:chExt cx="0" cy="0"/>
        </a:xfrm>
      </p:grpSpPr>
      <p:sp>
        <p:nvSpPr>
          <p:cNvPr id="366" name="PlaceHolder 1">
            <a:extLst>
              <a:ext uri="{FF2B5EF4-FFF2-40B4-BE49-F238E27FC236}">
                <a16:creationId xmlns:a16="http://schemas.microsoft.com/office/drawing/2014/main" id="{A38EABB7-8208-5FE4-5EF9-F84323DD0A52}"/>
              </a:ext>
            </a:extLst>
          </p:cNvPr>
          <p:cNvSpPr>
            <a:spLocks noGrp="1" noRot="1" noChangeAspect="1"/>
          </p:cNvSpPr>
          <p:nvPr>
            <p:ph type="sldImg"/>
          </p:nvPr>
        </p:nvSpPr>
        <p:spPr>
          <a:xfrm>
            <a:off x="0" y="0"/>
            <a:ext cx="0" cy="0"/>
          </a:xfrm>
          <a:prstGeom prst="rect">
            <a:avLst/>
          </a:prstGeom>
          <a:ln w="0">
            <a:noFill/>
          </a:ln>
        </p:spPr>
      </p:sp>
      <p:sp>
        <p:nvSpPr>
          <p:cNvPr id="367" name="PlaceHolder 2">
            <a:extLst>
              <a:ext uri="{FF2B5EF4-FFF2-40B4-BE49-F238E27FC236}">
                <a16:creationId xmlns:a16="http://schemas.microsoft.com/office/drawing/2014/main" id="{A36AE21B-D9F6-7420-C654-A3EADC78E132}"/>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endParaRPr lang="de-DE" sz="2000" b="0" u="none" strike="noStrike" dirty="0">
              <a:solidFill>
                <a:srgbClr val="000000"/>
              </a:solidFill>
              <a:effectLst/>
              <a:uFillTx/>
              <a:latin typeface="Arial"/>
            </a:endParaRPr>
          </a:p>
        </p:txBody>
      </p:sp>
      <p:sp>
        <p:nvSpPr>
          <p:cNvPr id="368" name="PlaceHolder 3">
            <a:extLst>
              <a:ext uri="{FF2B5EF4-FFF2-40B4-BE49-F238E27FC236}">
                <a16:creationId xmlns:a16="http://schemas.microsoft.com/office/drawing/2014/main" id="{24B5F246-B454-E15A-E4EA-56C33D701320}"/>
              </a:ext>
            </a:extLst>
          </p:cNvPr>
          <p:cNvSpPr>
            <a:spLocks noGrp="1"/>
          </p:cNvSpPr>
          <p:nvPr>
            <p:ph type="sldNum" idx="47"/>
          </p:nvPr>
        </p:nvSpPr>
        <p:spPr>
          <a:xfrm>
            <a:off x="0" y="0"/>
            <a:ext cx="0" cy="0"/>
          </a:xfrm>
          <a:prstGeom prst="rect">
            <a:avLst/>
          </a:prstGeom>
          <a:noFill/>
          <a:ln w="0">
            <a:noFill/>
          </a:ln>
        </p:spPr>
        <p:txBody>
          <a:bodyPr lIns="90000" tIns="-45000" rIns="90000" bIns="-45000" anchor="t">
            <a:noAutofit/>
          </a:bodyPr>
          <a:lstStyle/>
          <a:p>
            <a:pPr indent="0">
              <a:buNone/>
            </a:pPr>
            <a:endParaRPr lang="de-DE"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15732069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0599A-3E80-C868-D271-560ACD14A5E4}"/>
            </a:ext>
          </a:extLst>
        </p:cNvPr>
        <p:cNvGrpSpPr/>
        <p:nvPr/>
      </p:nvGrpSpPr>
      <p:grpSpPr>
        <a:xfrm>
          <a:off x="0" y="0"/>
          <a:ext cx="0" cy="0"/>
          <a:chOff x="0" y="0"/>
          <a:chExt cx="0" cy="0"/>
        </a:xfrm>
      </p:grpSpPr>
      <p:sp>
        <p:nvSpPr>
          <p:cNvPr id="366" name="PlaceHolder 1">
            <a:extLst>
              <a:ext uri="{FF2B5EF4-FFF2-40B4-BE49-F238E27FC236}">
                <a16:creationId xmlns:a16="http://schemas.microsoft.com/office/drawing/2014/main" id="{FB022955-F905-10F9-3D2D-7E732B7251A9}"/>
              </a:ext>
            </a:extLst>
          </p:cNvPr>
          <p:cNvSpPr>
            <a:spLocks noGrp="1" noRot="1" noChangeAspect="1"/>
          </p:cNvSpPr>
          <p:nvPr>
            <p:ph type="sldImg"/>
          </p:nvPr>
        </p:nvSpPr>
        <p:spPr>
          <a:xfrm>
            <a:off x="0" y="0"/>
            <a:ext cx="0" cy="0"/>
          </a:xfrm>
          <a:prstGeom prst="rect">
            <a:avLst/>
          </a:prstGeom>
          <a:ln w="0">
            <a:noFill/>
          </a:ln>
        </p:spPr>
      </p:sp>
      <p:sp>
        <p:nvSpPr>
          <p:cNvPr id="367" name="PlaceHolder 2">
            <a:extLst>
              <a:ext uri="{FF2B5EF4-FFF2-40B4-BE49-F238E27FC236}">
                <a16:creationId xmlns:a16="http://schemas.microsoft.com/office/drawing/2014/main" id="{7139F7DD-0143-5E0F-FE45-0EEDFE55FC7E}"/>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r>
              <a:rPr lang="de-DE" sz="2000" b="0" u="none" strike="noStrike">
                <a:solidFill>
                  <a:srgbClr val="000000"/>
                </a:solidFill>
                <a:effectLst/>
                <a:uFillTx/>
                <a:latin typeface="Arial"/>
              </a:rPr>
              <a:t>Phase 06 – Bereitstellung (Deployment). Platzhalter mit Projektinhalten füllen; rechte Karte für Leitfragen/Notizen.</a:t>
            </a:r>
          </a:p>
        </p:txBody>
      </p:sp>
      <p:sp>
        <p:nvSpPr>
          <p:cNvPr id="368" name="PlaceHolder 3">
            <a:extLst>
              <a:ext uri="{FF2B5EF4-FFF2-40B4-BE49-F238E27FC236}">
                <a16:creationId xmlns:a16="http://schemas.microsoft.com/office/drawing/2014/main" id="{6FA41267-2D29-417C-D428-628A6D9F2713}"/>
              </a:ext>
            </a:extLst>
          </p:cNvPr>
          <p:cNvSpPr>
            <a:spLocks noGrp="1"/>
          </p:cNvSpPr>
          <p:nvPr>
            <p:ph type="sldNum" idx="47"/>
          </p:nvPr>
        </p:nvSpPr>
        <p:spPr>
          <a:xfrm>
            <a:off x="0" y="0"/>
            <a:ext cx="0" cy="0"/>
          </a:xfrm>
          <a:prstGeom prst="rect">
            <a:avLst/>
          </a:prstGeom>
          <a:noFill/>
          <a:ln w="0">
            <a:noFill/>
          </a:ln>
        </p:spPr>
        <p:txBody>
          <a:bodyPr lIns="90000" tIns="-45000" rIns="90000" bIns="-45000" anchor="t">
            <a:noAutofit/>
          </a:bodyPr>
          <a:lstStyle/>
          <a:p>
            <a:pPr indent="0">
              <a:buNone/>
            </a:pPr>
            <a:endParaRPr lang="de-DE"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22394296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0FD59-B53C-C455-CC83-DA7B519205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9A174C-FFCB-8165-809F-FA8E066102B6}"/>
              </a:ext>
            </a:extLst>
          </p:cNvPr>
          <p:cNvSpPr>
            <a:spLocks noGrp="1" noRot="1" noChangeAspect="1"/>
          </p:cNvSpPr>
          <p:nvPr>
            <p:ph type="sldImg"/>
          </p:nvPr>
        </p:nvSpPr>
        <p:spPr>
          <a:xfrm>
            <a:off x="0" y="812800"/>
            <a:ext cx="0" cy="0"/>
          </a:xfrm>
        </p:spPr>
      </p:sp>
      <p:sp>
        <p:nvSpPr>
          <p:cNvPr id="3" name="Notes Placeholder 2">
            <a:extLst>
              <a:ext uri="{FF2B5EF4-FFF2-40B4-BE49-F238E27FC236}">
                <a16:creationId xmlns:a16="http://schemas.microsoft.com/office/drawing/2014/main" id="{E711C24E-D9D1-6BED-0789-CDBCB8B29E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BAD3B2-F999-1D03-CC45-4ACEBF30BD1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741191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FF4C3-6D61-0F18-7CBB-13ED6BB24B29}"/>
            </a:ext>
          </a:extLst>
        </p:cNvPr>
        <p:cNvGrpSpPr/>
        <p:nvPr/>
      </p:nvGrpSpPr>
      <p:grpSpPr>
        <a:xfrm>
          <a:off x="0" y="0"/>
          <a:ext cx="0" cy="0"/>
          <a:chOff x="0" y="0"/>
          <a:chExt cx="0" cy="0"/>
        </a:xfrm>
      </p:grpSpPr>
      <p:sp>
        <p:nvSpPr>
          <p:cNvPr id="384" name="PlaceHolder 1">
            <a:extLst>
              <a:ext uri="{FF2B5EF4-FFF2-40B4-BE49-F238E27FC236}">
                <a16:creationId xmlns:a16="http://schemas.microsoft.com/office/drawing/2014/main" id="{28CCDA68-B0E3-9866-2D54-08C50FA32C94}"/>
              </a:ext>
            </a:extLst>
          </p:cNvPr>
          <p:cNvSpPr>
            <a:spLocks noGrp="1" noRot="1" noChangeAspect="1"/>
          </p:cNvSpPr>
          <p:nvPr>
            <p:ph type="sldImg"/>
          </p:nvPr>
        </p:nvSpPr>
        <p:spPr>
          <a:xfrm>
            <a:off x="0" y="0"/>
            <a:ext cx="0" cy="0"/>
          </a:xfrm>
          <a:prstGeom prst="rect">
            <a:avLst/>
          </a:prstGeom>
          <a:ln w="0">
            <a:noFill/>
          </a:ln>
        </p:spPr>
      </p:sp>
      <p:sp>
        <p:nvSpPr>
          <p:cNvPr id="385" name="PlaceHolder 2">
            <a:extLst>
              <a:ext uri="{FF2B5EF4-FFF2-40B4-BE49-F238E27FC236}">
                <a16:creationId xmlns:a16="http://schemas.microsoft.com/office/drawing/2014/main" id="{554AA735-85AF-B117-122D-0CF89BD7554E}"/>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endParaRPr lang="de-DE" sz="2000" b="0" u="none" strike="noStrike" dirty="0">
              <a:solidFill>
                <a:srgbClr val="000000"/>
              </a:solidFill>
              <a:effectLst/>
              <a:uFillTx/>
              <a:latin typeface="Arial"/>
            </a:endParaRPr>
          </a:p>
        </p:txBody>
      </p:sp>
      <p:sp>
        <p:nvSpPr>
          <p:cNvPr id="386" name="PlaceHolder 3">
            <a:extLst>
              <a:ext uri="{FF2B5EF4-FFF2-40B4-BE49-F238E27FC236}">
                <a16:creationId xmlns:a16="http://schemas.microsoft.com/office/drawing/2014/main" id="{7ADA12B8-58A3-8635-B9B2-135714D5AE08}"/>
              </a:ext>
            </a:extLst>
          </p:cNvPr>
          <p:cNvSpPr>
            <a:spLocks noGrp="1"/>
          </p:cNvSpPr>
          <p:nvPr>
            <p:ph type="sldNum" idx="53"/>
          </p:nvPr>
        </p:nvSpPr>
        <p:spPr>
          <a:xfrm>
            <a:off x="0" y="0"/>
            <a:ext cx="0" cy="0"/>
          </a:xfrm>
          <a:prstGeom prst="rect">
            <a:avLst/>
          </a:prstGeom>
          <a:noFill/>
          <a:ln w="0">
            <a:noFill/>
          </a:ln>
        </p:spPr>
        <p:txBody>
          <a:bodyPr lIns="90000" tIns="-45000" rIns="90000" bIns="-45000" anchor="t">
            <a:noAutofit/>
          </a:bodyPr>
          <a:lstStyle/>
          <a:p>
            <a:pPr indent="0">
              <a:buNone/>
            </a:pPr>
            <a:endParaRPr lang="de-DE"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11761891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20987297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PlaceHolder 1"/>
          <p:cNvSpPr>
            <a:spLocks noGrp="1" noRot="1" noChangeAspect="1"/>
          </p:cNvSpPr>
          <p:nvPr>
            <p:ph type="sldImg"/>
          </p:nvPr>
        </p:nvSpPr>
        <p:spPr>
          <a:xfrm>
            <a:off x="0" y="0"/>
            <a:ext cx="0" cy="0"/>
          </a:xfrm>
          <a:prstGeom prst="rect">
            <a:avLst/>
          </a:prstGeom>
          <a:ln w="0">
            <a:noFill/>
          </a:ln>
        </p:spPr>
      </p:sp>
      <p:sp>
        <p:nvSpPr>
          <p:cNvPr id="37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endParaRPr lang="de-DE" sz="2000" b="0" u="none" strike="noStrike" dirty="0">
              <a:solidFill>
                <a:srgbClr val="000000"/>
              </a:solidFill>
              <a:effectLst/>
              <a:uFillTx/>
              <a:latin typeface="Arial"/>
            </a:endParaRPr>
          </a:p>
        </p:txBody>
      </p:sp>
      <p:sp>
        <p:nvSpPr>
          <p:cNvPr id="371" name="PlaceHolder 3"/>
          <p:cNvSpPr>
            <a:spLocks noGrp="1"/>
          </p:cNvSpPr>
          <p:nvPr>
            <p:ph type="sldNum" idx="48"/>
          </p:nvPr>
        </p:nvSpPr>
        <p:spPr>
          <a:xfrm>
            <a:off x="0" y="0"/>
            <a:ext cx="0" cy="0"/>
          </a:xfrm>
          <a:prstGeom prst="rect">
            <a:avLst/>
          </a:prstGeom>
          <a:noFill/>
          <a:ln w="0">
            <a:noFill/>
          </a:ln>
        </p:spPr>
        <p:txBody>
          <a:bodyPr lIns="90000" tIns="-45000" rIns="90000" bIns="-45000" anchor="t">
            <a:noAutofit/>
          </a:bodyPr>
          <a:lstStyle/>
          <a:p>
            <a:pPr indent="0">
              <a:buNone/>
            </a:pPr>
            <a:endParaRPr lang="de-DE" sz="18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846211B-B8EE-4494-BF3D-46DDC8A559DF}" type="slidenum">
              <a:rPr lang="en-US"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45D9358-0938-47EC-BD9D-29D2D5DDA9F4}" type="slidenum">
              <a:rPr lang="en-US"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07AD15C-76EA-4DBD-917E-223A18FFA344}" type="slidenum">
              <a:rPr lang="en-US"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53C5276-BC33-4AAB-BA90-AF2496AF9553}" type="slidenum">
              <a:rPr lang="en-US"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p>
            <a:pPr indent="0" defTabSz="457200">
              <a:lnSpc>
                <a:spcPct val="100000"/>
              </a:lnSpc>
              <a:buNone/>
            </a:pPr>
            <a:r>
              <a:rPr lang="en-US" sz="4000" b="1" u="none" strike="noStrike" cap="all">
                <a:solidFill>
                  <a:schemeClr val="dk1"/>
                </a:solidFill>
                <a:effectLst/>
                <a:uFillTx/>
                <a:latin typeface="Calibri"/>
              </a:rPr>
              <a:t>Click to edit Master title style</a:t>
            </a:r>
            <a:endParaRPr lang="en-US" sz="4000" b="0" u="none" strike="noStrike">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p>
            <a:pPr indent="0"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162F85B-3F4E-416E-9D03-CCE3E4FCFADE}" type="slidenum">
              <a:rPr lang="en-US"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p>
            <a:pPr marL="343080" indent="-34308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p>
            <a:pPr marL="343080" indent="-34308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11C815F-3A0F-40C4-A927-E96AF5F0BA82}" type="slidenum">
              <a:rPr lang="en-US"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p>
            <a:pPr indent="0"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p>
            <a:pPr indent="0"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4E32088-C8F5-4E6C-A0C9-617FE4E6013A}" type="slidenum">
              <a:rPr lang="en-US"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77EF0BB-6F41-48C2-A757-B875E3CF7D18}" type="slidenum">
              <a:rPr lang="en-US"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377A697-E3CD-4633-B0BD-0D8765B596F6}" type="slidenum">
              <a:rPr lang="en-US"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8040" y="273600"/>
            <a:ext cx="1094508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Format des Titeltextes durch Klicken bearbeiten</a:t>
            </a:r>
          </a:p>
        </p:txBody>
      </p:sp>
      <p:sp>
        <p:nvSpPr>
          <p:cNvPr id="48" name="PlaceHolder 5"/>
          <p:cNvSpPr>
            <a:spLocks noGrp="1"/>
          </p:cNvSpPr>
          <p:nvPr>
            <p:ph type="body"/>
          </p:nvPr>
        </p:nvSpPr>
        <p:spPr>
          <a:xfrm>
            <a:off x="608040" y="1604520"/>
            <a:ext cx="1094508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Format des Gliederungstextes durch Klicken bearbeiten</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Zweite Gliederungsebene</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Dritte Gliederungsebene</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Vierte Gliederungsebene</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Fünfte Gliederungsebene</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Sechste Gliederungsebene</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Siebte Gliederungsebene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p>
            <a:pPr indent="0" defTabSz="457200">
              <a:lnSpc>
                <a:spcPct val="100000"/>
              </a:lnSpc>
              <a:buNone/>
            </a:pPr>
            <a:r>
              <a:rPr lang="en-US" sz="2000" b="1" u="none" strike="noStrike">
                <a:solidFill>
                  <a:schemeClr val="dk1"/>
                </a:solidFill>
                <a:effectLst/>
                <a:uFillTx/>
                <a:latin typeface="Calibri"/>
              </a:rPr>
              <a:t>Click to edit Master title style</a:t>
            </a:r>
            <a:endParaRPr lang="en-US" sz="2000" b="0"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p>
            <a:pPr indent="0"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77DBEDC-4ADD-437A-8E70-15B1FABB4610}" type="slidenum">
              <a:rPr lang="en-US"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p>
            <a:pPr indent="0" defTabSz="457200">
              <a:lnSpc>
                <a:spcPct val="100000"/>
              </a:lnSpc>
              <a:buNone/>
            </a:pPr>
            <a:r>
              <a:rPr lang="en-US" sz="2000" b="1" u="none" strike="noStrike">
                <a:solidFill>
                  <a:schemeClr val="dk1"/>
                </a:solidFill>
                <a:effectLst/>
                <a:uFillTx/>
                <a:latin typeface="Calibri"/>
              </a:rPr>
              <a:t>Click to edit Master title style</a:t>
            </a:r>
            <a:endParaRPr lang="en-US" sz="2000" b="0"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Format des Gliederungstextes durch Klicken bearbeiten</a:t>
            </a:r>
          </a:p>
          <a:p>
            <a:pPr marL="864000" lvl="1" indent="-324000">
              <a:spcBef>
                <a:spcPts val="1134"/>
              </a:spcBef>
              <a:buClr>
                <a:srgbClr val="000000"/>
              </a:buClr>
              <a:buSzPct val="75000"/>
              <a:buFont typeface="Symbol" charset="2"/>
              <a:buChar char=""/>
            </a:pPr>
            <a:r>
              <a:rPr lang="en-US" sz="3200" b="0" u="none" strike="noStrike">
                <a:solidFill>
                  <a:schemeClr val="dk1"/>
                </a:solidFill>
                <a:effectLst/>
                <a:uFillTx/>
                <a:latin typeface="Calibri"/>
              </a:rPr>
              <a:t>Zweite Gliederungsebene</a:t>
            </a:r>
          </a:p>
          <a:p>
            <a:pPr marL="1296000" lvl="2" indent="-288000">
              <a:spcBef>
                <a:spcPts val="850"/>
              </a:spcBef>
              <a:buClr>
                <a:srgbClr val="000000"/>
              </a:buClr>
              <a:buSzPct val="45000"/>
              <a:buFont typeface="Wingdings" charset="2"/>
              <a:buChar char=""/>
            </a:pPr>
            <a:r>
              <a:rPr lang="en-US" sz="3200" b="0" u="none" strike="noStrike">
                <a:solidFill>
                  <a:schemeClr val="dk1"/>
                </a:solidFill>
                <a:effectLst/>
                <a:uFillTx/>
                <a:latin typeface="Calibri"/>
              </a:rPr>
              <a:t>Dritte Gliederungsebene</a:t>
            </a:r>
          </a:p>
          <a:p>
            <a:pPr marL="1728000" lvl="3" indent="-216000">
              <a:spcBef>
                <a:spcPts val="567"/>
              </a:spcBef>
              <a:buClr>
                <a:srgbClr val="000000"/>
              </a:buClr>
              <a:buSzPct val="75000"/>
              <a:buFont typeface="Symbol" charset="2"/>
              <a:buChar char=""/>
            </a:pPr>
            <a:r>
              <a:rPr lang="en-US" sz="3200" b="0" u="none" strike="noStrike">
                <a:solidFill>
                  <a:schemeClr val="dk1"/>
                </a:solidFill>
                <a:effectLst/>
                <a:uFillTx/>
                <a:latin typeface="Calibri"/>
              </a:rPr>
              <a:t>Vierte Gliederungsebene</a:t>
            </a:r>
          </a:p>
          <a:p>
            <a:pPr marL="2160000" lvl="4"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Fünfte Gliederungsebene</a:t>
            </a:r>
          </a:p>
          <a:p>
            <a:pPr marL="2592000" lvl="5"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Sechste Gliederungsebene</a:t>
            </a:r>
          </a:p>
          <a:p>
            <a:pPr marL="3024000" lvl="6"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Siebte Gliederungsebene</a:t>
            </a: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p>
            <a:pPr indent="0"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D905CEB-00CD-4316-9791-C2258DEAB5CF}" type="slidenum">
              <a:rPr lang="en-US"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1471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PlaceHolder 1"/>
          <p:cNvSpPr>
            <a:spLocks noGrp="1"/>
          </p:cNvSpPr>
          <p:nvPr>
            <p:ph type="ftr" idx="35"/>
          </p:nvPr>
        </p:nvSpPr>
        <p:spPr/>
        <p:txBody>
          <a:bodyPr/>
          <a:lstStyle/>
          <a:p>
            <a:r>
              <a:t>Footer</a:t>
            </a:r>
          </a:p>
        </p:txBody>
      </p:sp>
      <p:sp>
        <p:nvSpPr>
          <p:cNvPr id="3" name="PlaceHolder 2"/>
          <p:cNvSpPr>
            <a:spLocks noGrp="1"/>
          </p:cNvSpPr>
          <p:nvPr>
            <p:ph type="sldNum" idx="36"/>
          </p:nvPr>
        </p:nvSpPr>
        <p:spPr/>
        <p:txBody>
          <a:bodyPr/>
          <a:lstStyle/>
          <a:p>
            <a:fld id="{940218C2-07D3-4294-952F-FDB5EC38A243}" type="slidenum">
              <a:t>‹Nr.›</a:t>
            </a:fld>
            <a:endParaRPr/>
          </a:p>
        </p:txBody>
      </p:sp>
      <p:sp>
        <p:nvSpPr>
          <p:cNvPr id="4" name="PlaceHolder 3"/>
          <p:cNvSpPr>
            <a:spLocks noGrp="1"/>
          </p:cNvSpPr>
          <p:nvPr>
            <p:ph type="dt" idx="34"/>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377A697-E3CD-4633-B0BD-0D8765B596F6}" type="slidenum">
              <a:rPr lang="en-US"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8040" y="273600"/>
            <a:ext cx="1094508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Format des Titeltextes durch Klicken bearbeiten</a:t>
            </a:r>
          </a:p>
        </p:txBody>
      </p:sp>
      <p:sp>
        <p:nvSpPr>
          <p:cNvPr id="48" name="PlaceHolder 5"/>
          <p:cNvSpPr>
            <a:spLocks noGrp="1"/>
          </p:cNvSpPr>
          <p:nvPr>
            <p:ph type="body"/>
          </p:nvPr>
        </p:nvSpPr>
        <p:spPr>
          <a:xfrm>
            <a:off x="608040" y="1604520"/>
            <a:ext cx="1094508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Format des Gliederungstextes durch Klicken bearbeiten</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Zweite Gliederungsebene</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Dritte Gliederungsebene</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Vierte Gliederungsebene</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Fünfte Gliederungsebene</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Sechste Gliederungsebene</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Siebte Gliederungsebene</a:t>
            </a:r>
          </a:p>
        </p:txBody>
      </p:sp>
    </p:spTree>
    <p:extLst>
      <p:ext uri="{BB962C8B-B14F-4D97-AF65-F5344CB8AC3E}">
        <p14:creationId xmlns:p14="http://schemas.microsoft.com/office/powerpoint/2010/main" val="3871457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21860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377A697-E3CD-4633-B0BD-0D8765B596F6}" type="slidenum">
              <a:rPr lang="en-US"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8040" y="273600"/>
            <a:ext cx="1094508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Format des Titeltextes durch Klicken bearbeiten</a:t>
            </a:r>
          </a:p>
        </p:txBody>
      </p:sp>
      <p:sp>
        <p:nvSpPr>
          <p:cNvPr id="48" name="PlaceHolder 5"/>
          <p:cNvSpPr>
            <a:spLocks noGrp="1"/>
          </p:cNvSpPr>
          <p:nvPr>
            <p:ph type="body"/>
          </p:nvPr>
        </p:nvSpPr>
        <p:spPr>
          <a:xfrm>
            <a:off x="608040" y="1604520"/>
            <a:ext cx="1094508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Format des Gliederungstextes durch Klicken bearbeiten</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Zweite Gliederungsebene</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Dritte Gliederungsebene</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Vierte Gliederungsebene</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Fünfte Gliederungsebene</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Sechste Gliederungsebene</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Siebte Gliederungsebene</a:t>
            </a:r>
          </a:p>
        </p:txBody>
      </p:sp>
    </p:spTree>
    <p:extLst>
      <p:ext uri="{BB962C8B-B14F-4D97-AF65-F5344CB8AC3E}">
        <p14:creationId xmlns:p14="http://schemas.microsoft.com/office/powerpoint/2010/main" val="36753169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PlaceHolder 1"/>
          <p:cNvSpPr>
            <a:spLocks noGrp="1"/>
          </p:cNvSpPr>
          <p:nvPr>
            <p:ph type="ftr" idx="35"/>
          </p:nvPr>
        </p:nvSpPr>
        <p:spPr/>
        <p:txBody>
          <a:bodyPr/>
          <a:lstStyle/>
          <a:p>
            <a:r>
              <a:t>Footer</a:t>
            </a:r>
          </a:p>
        </p:txBody>
      </p:sp>
      <p:sp>
        <p:nvSpPr>
          <p:cNvPr id="3" name="PlaceHolder 2"/>
          <p:cNvSpPr>
            <a:spLocks noGrp="1"/>
          </p:cNvSpPr>
          <p:nvPr>
            <p:ph type="sldNum" idx="36"/>
          </p:nvPr>
        </p:nvSpPr>
        <p:spPr/>
        <p:txBody>
          <a:bodyPr/>
          <a:lstStyle/>
          <a:p>
            <a:fld id="{940218C2-07D3-4294-952F-FDB5EC38A243}" type="slidenum">
              <a:t>‹Nr.›</a:t>
            </a:fld>
            <a:endParaRPr/>
          </a:p>
        </p:txBody>
      </p:sp>
      <p:sp>
        <p:nvSpPr>
          <p:cNvPr id="4" name="PlaceHolder 3"/>
          <p:cNvSpPr>
            <a:spLocks noGrp="1"/>
          </p:cNvSpPr>
          <p:nvPr>
            <p:ph type="dt" idx="34"/>
          </p:nvPr>
        </p:nvSpPr>
        <p:spPr/>
        <p:txBody>
          <a:bodyPr/>
          <a:lstStyle/>
          <a:p>
            <a:endParaRPr/>
          </a:p>
        </p:txBody>
      </p:sp>
    </p:spTree>
    <p:extLst>
      <p:ext uri="{BB962C8B-B14F-4D97-AF65-F5344CB8AC3E}">
        <p14:creationId xmlns:p14="http://schemas.microsoft.com/office/powerpoint/2010/main" val="24142094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377A697-E3CD-4633-B0BD-0D8765B596F6}" type="slidenum">
              <a:rPr lang="en-US"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8040" y="273600"/>
            <a:ext cx="1094508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Format des Titeltextes durch Klicken bearbeiten</a:t>
            </a:r>
          </a:p>
        </p:txBody>
      </p:sp>
      <p:sp>
        <p:nvSpPr>
          <p:cNvPr id="48" name="PlaceHolder 5"/>
          <p:cNvSpPr>
            <a:spLocks noGrp="1"/>
          </p:cNvSpPr>
          <p:nvPr>
            <p:ph type="body"/>
          </p:nvPr>
        </p:nvSpPr>
        <p:spPr>
          <a:xfrm>
            <a:off x="608040" y="1604520"/>
            <a:ext cx="1094508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Format des Gliederungstextes durch Klicken bearbeiten</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Zweite Gliederungsebene</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Dritte Gliederungsebene</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Vierte Gliederungsebene</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Fünfte Gliederungsebene</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Sechste Gliederungsebene</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Siebte Gliederungsebene</a:t>
            </a:r>
          </a:p>
        </p:txBody>
      </p:sp>
    </p:spTree>
    <p:extLst>
      <p:ext uri="{BB962C8B-B14F-4D97-AF65-F5344CB8AC3E}">
        <p14:creationId xmlns:p14="http://schemas.microsoft.com/office/powerpoint/2010/main" val="747119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DC96DD-E08A-3ABA-B770-F93155DD21AE}"/>
              </a:ext>
            </a:extLst>
          </p:cNvPr>
          <p:cNvSpPr>
            <a:spLocks noGrp="1"/>
          </p:cNvSpPr>
          <p:nvPr>
            <p:ph type="ctrTitle"/>
          </p:nvPr>
        </p:nvSpPr>
        <p:spPr>
          <a:xfrm>
            <a:off x="1520230" y="1122363"/>
            <a:ext cx="9121379" cy="2387600"/>
          </a:xfrm>
        </p:spPr>
        <p:txBody>
          <a:bodyPr anchor="b"/>
          <a:lstStyle>
            <a:lvl1pPr algn="ctr">
              <a:defRPr sz="5985"/>
            </a:lvl1pPr>
          </a:lstStyle>
          <a:p>
            <a:r>
              <a:rPr lang="de-DE"/>
              <a:t>Mastertitelformat bearbeiten</a:t>
            </a:r>
          </a:p>
        </p:txBody>
      </p:sp>
      <p:sp>
        <p:nvSpPr>
          <p:cNvPr id="3" name="Untertitel 2">
            <a:extLst>
              <a:ext uri="{FF2B5EF4-FFF2-40B4-BE49-F238E27FC236}">
                <a16:creationId xmlns:a16="http://schemas.microsoft.com/office/drawing/2014/main" id="{C8C75E2D-269A-2CE6-E845-8696542EF2E2}"/>
              </a:ext>
            </a:extLst>
          </p:cNvPr>
          <p:cNvSpPr>
            <a:spLocks noGrp="1"/>
          </p:cNvSpPr>
          <p:nvPr>
            <p:ph type="subTitle" idx="1"/>
          </p:nvPr>
        </p:nvSpPr>
        <p:spPr>
          <a:xfrm>
            <a:off x="1520230" y="3602038"/>
            <a:ext cx="9121379" cy="1655762"/>
          </a:xfrm>
        </p:spPr>
        <p:txBody>
          <a:bodyPr/>
          <a:lstStyle>
            <a:lvl1pPr marL="0" indent="0" algn="ctr">
              <a:buNone/>
              <a:defRPr sz="2394"/>
            </a:lvl1pPr>
            <a:lvl2pPr marL="456057" indent="0" algn="ctr">
              <a:buNone/>
              <a:defRPr sz="1995"/>
            </a:lvl2pPr>
            <a:lvl3pPr marL="912114" indent="0" algn="ctr">
              <a:buNone/>
              <a:defRPr sz="1795"/>
            </a:lvl3pPr>
            <a:lvl4pPr marL="1368171" indent="0" algn="ctr">
              <a:buNone/>
              <a:defRPr sz="1596"/>
            </a:lvl4pPr>
            <a:lvl5pPr marL="1824228" indent="0" algn="ctr">
              <a:buNone/>
              <a:defRPr sz="1596"/>
            </a:lvl5pPr>
            <a:lvl6pPr marL="2280285" indent="0" algn="ctr">
              <a:buNone/>
              <a:defRPr sz="1596"/>
            </a:lvl6pPr>
            <a:lvl7pPr marL="2736342" indent="0" algn="ctr">
              <a:buNone/>
              <a:defRPr sz="1596"/>
            </a:lvl7pPr>
            <a:lvl8pPr marL="3192399" indent="0" algn="ctr">
              <a:buNone/>
              <a:defRPr sz="1596"/>
            </a:lvl8pPr>
            <a:lvl9pPr marL="3648456" indent="0" algn="ctr">
              <a:buNone/>
              <a:defRPr sz="1596"/>
            </a:lvl9pPr>
          </a:lstStyle>
          <a:p>
            <a:r>
              <a:rPr lang="de-DE"/>
              <a:t>Master-Untertitelformat bearbeiten</a:t>
            </a:r>
          </a:p>
        </p:txBody>
      </p:sp>
      <p:sp>
        <p:nvSpPr>
          <p:cNvPr id="4" name="Datumsplatzhalter 3">
            <a:extLst>
              <a:ext uri="{FF2B5EF4-FFF2-40B4-BE49-F238E27FC236}">
                <a16:creationId xmlns:a16="http://schemas.microsoft.com/office/drawing/2014/main" id="{3A307CB0-01F6-12BF-9A07-C56C4E449DE4}"/>
              </a:ext>
            </a:extLst>
          </p:cNvPr>
          <p:cNvSpPr>
            <a:spLocks noGrp="1"/>
          </p:cNvSpPr>
          <p:nvPr>
            <p:ph type="dt" sz="half" idx="10"/>
          </p:nvPr>
        </p:nvSpPr>
        <p:spPr/>
        <p:txBody>
          <a:bodyPr/>
          <a:lstStyle/>
          <a:p>
            <a:fld id="{6BE48996-CD14-44F7-92FB-DBD10A0346AA}" type="datetimeFigureOut">
              <a:rPr lang="de-DE" smtClean="0"/>
              <a:t>24.07.2026</a:t>
            </a:fld>
            <a:endParaRPr lang="de-DE"/>
          </a:p>
        </p:txBody>
      </p:sp>
      <p:sp>
        <p:nvSpPr>
          <p:cNvPr id="5" name="Fußzeilenplatzhalter 4">
            <a:extLst>
              <a:ext uri="{FF2B5EF4-FFF2-40B4-BE49-F238E27FC236}">
                <a16:creationId xmlns:a16="http://schemas.microsoft.com/office/drawing/2014/main" id="{384E1E05-32A2-5C3A-E16B-8E3C647591B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7A6826B9-7D4F-D5DB-58B4-01A5C76AFF7C}"/>
              </a:ext>
            </a:extLst>
          </p:cNvPr>
          <p:cNvSpPr>
            <a:spLocks noGrp="1"/>
          </p:cNvSpPr>
          <p:nvPr>
            <p:ph type="sldNum" sz="quarter" idx="12"/>
          </p:nvPr>
        </p:nvSpPr>
        <p:spPr/>
        <p:txBody>
          <a:bodyPr/>
          <a:lstStyle/>
          <a:p>
            <a:fld id="{04C44946-DCE4-4C28-9D83-5A3EB0BF1984}" type="slidenum">
              <a:rPr lang="de-DE" smtClean="0"/>
              <a:t>‹Nr.›</a:t>
            </a:fld>
            <a:endParaRPr lang="de-DE"/>
          </a:p>
        </p:txBody>
      </p:sp>
    </p:spTree>
    <p:extLst>
      <p:ext uri="{BB962C8B-B14F-4D97-AF65-F5344CB8AC3E}">
        <p14:creationId xmlns:p14="http://schemas.microsoft.com/office/powerpoint/2010/main" val="21231293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0B5C565-AFF9-9F07-7558-4CC12299661F}"/>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2C54EB84-A0D3-D937-7450-24DD9152F084}"/>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CA1C3FA3-2A36-A099-38C6-7DA46BBF9EE3}"/>
              </a:ext>
            </a:extLst>
          </p:cNvPr>
          <p:cNvSpPr>
            <a:spLocks noGrp="1"/>
          </p:cNvSpPr>
          <p:nvPr>
            <p:ph type="dt" sz="half" idx="10"/>
          </p:nvPr>
        </p:nvSpPr>
        <p:spPr/>
        <p:txBody>
          <a:bodyPr/>
          <a:lstStyle/>
          <a:p>
            <a:fld id="{6BE48996-CD14-44F7-92FB-DBD10A0346AA}" type="datetimeFigureOut">
              <a:rPr lang="de-DE" smtClean="0"/>
              <a:t>24.07.2026</a:t>
            </a:fld>
            <a:endParaRPr lang="de-DE"/>
          </a:p>
        </p:txBody>
      </p:sp>
      <p:sp>
        <p:nvSpPr>
          <p:cNvPr id="5" name="Fußzeilenplatzhalter 4">
            <a:extLst>
              <a:ext uri="{FF2B5EF4-FFF2-40B4-BE49-F238E27FC236}">
                <a16:creationId xmlns:a16="http://schemas.microsoft.com/office/drawing/2014/main" id="{2BAF4121-2450-59F2-64E0-F77D4AAC000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48A887A-A4D7-7E38-628D-0C12DA916338}"/>
              </a:ext>
            </a:extLst>
          </p:cNvPr>
          <p:cNvSpPr>
            <a:spLocks noGrp="1"/>
          </p:cNvSpPr>
          <p:nvPr>
            <p:ph type="sldNum" sz="quarter" idx="12"/>
          </p:nvPr>
        </p:nvSpPr>
        <p:spPr/>
        <p:txBody>
          <a:bodyPr/>
          <a:lstStyle/>
          <a:p>
            <a:fld id="{04C44946-DCE4-4C28-9D83-5A3EB0BF1984}" type="slidenum">
              <a:rPr lang="de-DE" smtClean="0"/>
              <a:t>‹Nr.›</a:t>
            </a:fld>
            <a:endParaRPr lang="de-DE"/>
          </a:p>
        </p:txBody>
      </p:sp>
    </p:spTree>
    <p:extLst>
      <p:ext uri="{BB962C8B-B14F-4D97-AF65-F5344CB8AC3E}">
        <p14:creationId xmlns:p14="http://schemas.microsoft.com/office/powerpoint/2010/main" val="3550268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5DF9BAB-DF39-7FD8-51F4-84DD64183225}"/>
              </a:ext>
            </a:extLst>
          </p:cNvPr>
          <p:cNvSpPr>
            <a:spLocks noGrp="1"/>
          </p:cNvSpPr>
          <p:nvPr>
            <p:ph type="title"/>
          </p:nvPr>
        </p:nvSpPr>
        <p:spPr>
          <a:xfrm>
            <a:off x="829792" y="1709739"/>
            <a:ext cx="10489585" cy="2852737"/>
          </a:xfrm>
        </p:spPr>
        <p:txBody>
          <a:bodyPr anchor="b"/>
          <a:lstStyle>
            <a:lvl1pPr>
              <a:defRPr sz="5985"/>
            </a:lvl1pPr>
          </a:lstStyle>
          <a:p>
            <a:r>
              <a:rPr lang="de-DE"/>
              <a:t>Mastertitelformat bearbeiten</a:t>
            </a:r>
          </a:p>
        </p:txBody>
      </p:sp>
      <p:sp>
        <p:nvSpPr>
          <p:cNvPr id="3" name="Textplatzhalter 2">
            <a:extLst>
              <a:ext uri="{FF2B5EF4-FFF2-40B4-BE49-F238E27FC236}">
                <a16:creationId xmlns:a16="http://schemas.microsoft.com/office/drawing/2014/main" id="{4D26EA70-71AD-1880-3D7F-966777945176}"/>
              </a:ext>
            </a:extLst>
          </p:cNvPr>
          <p:cNvSpPr>
            <a:spLocks noGrp="1"/>
          </p:cNvSpPr>
          <p:nvPr>
            <p:ph type="body" idx="1"/>
          </p:nvPr>
        </p:nvSpPr>
        <p:spPr>
          <a:xfrm>
            <a:off x="829792" y="4589464"/>
            <a:ext cx="10489585" cy="1500187"/>
          </a:xfrm>
        </p:spPr>
        <p:txBody>
          <a:bodyPr/>
          <a:lstStyle>
            <a:lvl1pPr marL="0" indent="0">
              <a:buNone/>
              <a:defRPr sz="2394">
                <a:solidFill>
                  <a:schemeClr val="tx1">
                    <a:tint val="82000"/>
                  </a:schemeClr>
                </a:solidFill>
              </a:defRPr>
            </a:lvl1pPr>
            <a:lvl2pPr marL="456057" indent="0">
              <a:buNone/>
              <a:defRPr sz="1995">
                <a:solidFill>
                  <a:schemeClr val="tx1">
                    <a:tint val="82000"/>
                  </a:schemeClr>
                </a:solidFill>
              </a:defRPr>
            </a:lvl2pPr>
            <a:lvl3pPr marL="912114" indent="0">
              <a:buNone/>
              <a:defRPr sz="1795">
                <a:solidFill>
                  <a:schemeClr val="tx1">
                    <a:tint val="82000"/>
                  </a:schemeClr>
                </a:solidFill>
              </a:defRPr>
            </a:lvl3pPr>
            <a:lvl4pPr marL="1368171" indent="0">
              <a:buNone/>
              <a:defRPr sz="1596">
                <a:solidFill>
                  <a:schemeClr val="tx1">
                    <a:tint val="82000"/>
                  </a:schemeClr>
                </a:solidFill>
              </a:defRPr>
            </a:lvl4pPr>
            <a:lvl5pPr marL="1824228" indent="0">
              <a:buNone/>
              <a:defRPr sz="1596">
                <a:solidFill>
                  <a:schemeClr val="tx1">
                    <a:tint val="82000"/>
                  </a:schemeClr>
                </a:solidFill>
              </a:defRPr>
            </a:lvl5pPr>
            <a:lvl6pPr marL="2280285" indent="0">
              <a:buNone/>
              <a:defRPr sz="1596">
                <a:solidFill>
                  <a:schemeClr val="tx1">
                    <a:tint val="82000"/>
                  </a:schemeClr>
                </a:solidFill>
              </a:defRPr>
            </a:lvl6pPr>
            <a:lvl7pPr marL="2736342" indent="0">
              <a:buNone/>
              <a:defRPr sz="1596">
                <a:solidFill>
                  <a:schemeClr val="tx1">
                    <a:tint val="82000"/>
                  </a:schemeClr>
                </a:solidFill>
              </a:defRPr>
            </a:lvl7pPr>
            <a:lvl8pPr marL="3192399" indent="0">
              <a:buNone/>
              <a:defRPr sz="1596">
                <a:solidFill>
                  <a:schemeClr val="tx1">
                    <a:tint val="82000"/>
                  </a:schemeClr>
                </a:solidFill>
              </a:defRPr>
            </a:lvl8pPr>
            <a:lvl9pPr marL="3648456" indent="0">
              <a:buNone/>
              <a:defRPr sz="1596">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C0ED00B0-B994-8F65-1D08-A3A8111121D8}"/>
              </a:ext>
            </a:extLst>
          </p:cNvPr>
          <p:cNvSpPr>
            <a:spLocks noGrp="1"/>
          </p:cNvSpPr>
          <p:nvPr>
            <p:ph type="dt" sz="half" idx="10"/>
          </p:nvPr>
        </p:nvSpPr>
        <p:spPr/>
        <p:txBody>
          <a:bodyPr/>
          <a:lstStyle/>
          <a:p>
            <a:fld id="{6BE48996-CD14-44F7-92FB-DBD10A0346AA}" type="datetimeFigureOut">
              <a:rPr lang="de-DE" smtClean="0"/>
              <a:t>24.07.2026</a:t>
            </a:fld>
            <a:endParaRPr lang="de-DE"/>
          </a:p>
        </p:txBody>
      </p:sp>
      <p:sp>
        <p:nvSpPr>
          <p:cNvPr id="5" name="Fußzeilenplatzhalter 4">
            <a:extLst>
              <a:ext uri="{FF2B5EF4-FFF2-40B4-BE49-F238E27FC236}">
                <a16:creationId xmlns:a16="http://schemas.microsoft.com/office/drawing/2014/main" id="{C5D398C8-837C-96E2-D77E-DE563DCB374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44F1BDEA-38A0-73B1-DE8A-567D05403E74}"/>
              </a:ext>
            </a:extLst>
          </p:cNvPr>
          <p:cNvSpPr>
            <a:spLocks noGrp="1"/>
          </p:cNvSpPr>
          <p:nvPr>
            <p:ph type="sldNum" sz="quarter" idx="12"/>
          </p:nvPr>
        </p:nvSpPr>
        <p:spPr/>
        <p:txBody>
          <a:bodyPr/>
          <a:lstStyle/>
          <a:p>
            <a:fld id="{04C44946-DCE4-4C28-9D83-5A3EB0BF1984}" type="slidenum">
              <a:rPr lang="de-DE" smtClean="0"/>
              <a:t>‹Nr.›</a:t>
            </a:fld>
            <a:endParaRPr lang="de-DE"/>
          </a:p>
        </p:txBody>
      </p:sp>
    </p:spTree>
    <p:extLst>
      <p:ext uri="{BB962C8B-B14F-4D97-AF65-F5344CB8AC3E}">
        <p14:creationId xmlns:p14="http://schemas.microsoft.com/office/powerpoint/2010/main" val="9903882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448D04D-139C-0902-B920-53E05B96845E}"/>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31A62D9F-2EFF-9D55-EE4A-1C490BA82A9F}"/>
              </a:ext>
            </a:extLst>
          </p:cNvPr>
          <p:cNvSpPr>
            <a:spLocks noGrp="1"/>
          </p:cNvSpPr>
          <p:nvPr>
            <p:ph sz="half" idx="1"/>
          </p:nvPr>
        </p:nvSpPr>
        <p:spPr>
          <a:xfrm>
            <a:off x="836126" y="1825625"/>
            <a:ext cx="5168781"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1995605C-749D-0448-96B8-E27AB837A6D6}"/>
              </a:ext>
            </a:extLst>
          </p:cNvPr>
          <p:cNvSpPr>
            <a:spLocks noGrp="1"/>
          </p:cNvSpPr>
          <p:nvPr>
            <p:ph sz="half" idx="2"/>
          </p:nvPr>
        </p:nvSpPr>
        <p:spPr>
          <a:xfrm>
            <a:off x="6156931" y="1825625"/>
            <a:ext cx="5168781"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548759BD-8DA3-40C8-2B67-F367707192F0}"/>
              </a:ext>
            </a:extLst>
          </p:cNvPr>
          <p:cNvSpPr>
            <a:spLocks noGrp="1"/>
          </p:cNvSpPr>
          <p:nvPr>
            <p:ph type="dt" sz="half" idx="10"/>
          </p:nvPr>
        </p:nvSpPr>
        <p:spPr/>
        <p:txBody>
          <a:bodyPr/>
          <a:lstStyle/>
          <a:p>
            <a:fld id="{6BE48996-CD14-44F7-92FB-DBD10A0346AA}" type="datetimeFigureOut">
              <a:rPr lang="de-DE" smtClean="0"/>
              <a:t>24.07.2026</a:t>
            </a:fld>
            <a:endParaRPr lang="de-DE"/>
          </a:p>
        </p:txBody>
      </p:sp>
      <p:sp>
        <p:nvSpPr>
          <p:cNvPr id="6" name="Fußzeilenplatzhalter 5">
            <a:extLst>
              <a:ext uri="{FF2B5EF4-FFF2-40B4-BE49-F238E27FC236}">
                <a16:creationId xmlns:a16="http://schemas.microsoft.com/office/drawing/2014/main" id="{F97194C2-FEE4-682A-51F8-6A7B1EAC1420}"/>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D1DBEDCB-6480-6DF5-285A-F5148B0C3961}"/>
              </a:ext>
            </a:extLst>
          </p:cNvPr>
          <p:cNvSpPr>
            <a:spLocks noGrp="1"/>
          </p:cNvSpPr>
          <p:nvPr>
            <p:ph type="sldNum" sz="quarter" idx="12"/>
          </p:nvPr>
        </p:nvSpPr>
        <p:spPr/>
        <p:txBody>
          <a:bodyPr/>
          <a:lstStyle/>
          <a:p>
            <a:fld id="{04C44946-DCE4-4C28-9D83-5A3EB0BF1984}" type="slidenum">
              <a:rPr lang="de-DE" smtClean="0"/>
              <a:t>‹Nr.›</a:t>
            </a:fld>
            <a:endParaRPr lang="de-DE"/>
          </a:p>
        </p:txBody>
      </p:sp>
    </p:spTree>
    <p:extLst>
      <p:ext uri="{BB962C8B-B14F-4D97-AF65-F5344CB8AC3E}">
        <p14:creationId xmlns:p14="http://schemas.microsoft.com/office/powerpoint/2010/main" val="32788759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91A529-90E9-D43C-E2CE-EDC15534ECEB}"/>
              </a:ext>
            </a:extLst>
          </p:cNvPr>
          <p:cNvSpPr>
            <a:spLocks noGrp="1"/>
          </p:cNvSpPr>
          <p:nvPr>
            <p:ph type="title"/>
          </p:nvPr>
        </p:nvSpPr>
        <p:spPr>
          <a:xfrm>
            <a:off x="837711" y="365126"/>
            <a:ext cx="10489585"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3159BA6F-43B2-6DF0-684B-48E833DFCBC6}"/>
              </a:ext>
            </a:extLst>
          </p:cNvPr>
          <p:cNvSpPr>
            <a:spLocks noGrp="1"/>
          </p:cNvSpPr>
          <p:nvPr>
            <p:ph type="body" idx="1"/>
          </p:nvPr>
        </p:nvSpPr>
        <p:spPr>
          <a:xfrm>
            <a:off x="837711" y="1681163"/>
            <a:ext cx="5145027" cy="823912"/>
          </a:xfrm>
        </p:spPr>
        <p:txBody>
          <a:bodyPr anchor="b"/>
          <a:lstStyle>
            <a:lvl1pPr marL="0" indent="0">
              <a:buNone/>
              <a:defRPr sz="2394" b="1"/>
            </a:lvl1pPr>
            <a:lvl2pPr marL="456057" indent="0">
              <a:buNone/>
              <a:defRPr sz="1995" b="1"/>
            </a:lvl2pPr>
            <a:lvl3pPr marL="912114" indent="0">
              <a:buNone/>
              <a:defRPr sz="1795" b="1"/>
            </a:lvl3pPr>
            <a:lvl4pPr marL="1368171" indent="0">
              <a:buNone/>
              <a:defRPr sz="1596" b="1"/>
            </a:lvl4pPr>
            <a:lvl5pPr marL="1824228" indent="0">
              <a:buNone/>
              <a:defRPr sz="1596" b="1"/>
            </a:lvl5pPr>
            <a:lvl6pPr marL="2280285" indent="0">
              <a:buNone/>
              <a:defRPr sz="1596" b="1"/>
            </a:lvl6pPr>
            <a:lvl7pPr marL="2736342" indent="0">
              <a:buNone/>
              <a:defRPr sz="1596" b="1"/>
            </a:lvl7pPr>
            <a:lvl8pPr marL="3192399" indent="0">
              <a:buNone/>
              <a:defRPr sz="1596" b="1"/>
            </a:lvl8pPr>
            <a:lvl9pPr marL="3648456" indent="0">
              <a:buNone/>
              <a:defRPr sz="1596" b="1"/>
            </a:lvl9pPr>
          </a:lstStyle>
          <a:p>
            <a:pPr lvl="0"/>
            <a:r>
              <a:rPr lang="de-DE"/>
              <a:t>Mastertextformat bearbeiten</a:t>
            </a:r>
          </a:p>
        </p:txBody>
      </p:sp>
      <p:sp>
        <p:nvSpPr>
          <p:cNvPr id="4" name="Inhaltsplatzhalter 3">
            <a:extLst>
              <a:ext uri="{FF2B5EF4-FFF2-40B4-BE49-F238E27FC236}">
                <a16:creationId xmlns:a16="http://schemas.microsoft.com/office/drawing/2014/main" id="{31D8C8A3-B857-F0F1-EDF6-6EA15905B33E}"/>
              </a:ext>
            </a:extLst>
          </p:cNvPr>
          <p:cNvSpPr>
            <a:spLocks noGrp="1"/>
          </p:cNvSpPr>
          <p:nvPr>
            <p:ph sz="half" idx="2"/>
          </p:nvPr>
        </p:nvSpPr>
        <p:spPr>
          <a:xfrm>
            <a:off x="837711" y="2505075"/>
            <a:ext cx="514502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6ECE640A-A62A-C366-8649-2D5EEB0B0BC2}"/>
              </a:ext>
            </a:extLst>
          </p:cNvPr>
          <p:cNvSpPr>
            <a:spLocks noGrp="1"/>
          </p:cNvSpPr>
          <p:nvPr>
            <p:ph type="body" sz="quarter" idx="3"/>
          </p:nvPr>
        </p:nvSpPr>
        <p:spPr>
          <a:xfrm>
            <a:off x="6156931" y="1681163"/>
            <a:ext cx="5170365" cy="823912"/>
          </a:xfrm>
        </p:spPr>
        <p:txBody>
          <a:bodyPr anchor="b"/>
          <a:lstStyle>
            <a:lvl1pPr marL="0" indent="0">
              <a:buNone/>
              <a:defRPr sz="2394" b="1"/>
            </a:lvl1pPr>
            <a:lvl2pPr marL="456057" indent="0">
              <a:buNone/>
              <a:defRPr sz="1995" b="1"/>
            </a:lvl2pPr>
            <a:lvl3pPr marL="912114" indent="0">
              <a:buNone/>
              <a:defRPr sz="1795" b="1"/>
            </a:lvl3pPr>
            <a:lvl4pPr marL="1368171" indent="0">
              <a:buNone/>
              <a:defRPr sz="1596" b="1"/>
            </a:lvl4pPr>
            <a:lvl5pPr marL="1824228" indent="0">
              <a:buNone/>
              <a:defRPr sz="1596" b="1"/>
            </a:lvl5pPr>
            <a:lvl6pPr marL="2280285" indent="0">
              <a:buNone/>
              <a:defRPr sz="1596" b="1"/>
            </a:lvl6pPr>
            <a:lvl7pPr marL="2736342" indent="0">
              <a:buNone/>
              <a:defRPr sz="1596" b="1"/>
            </a:lvl7pPr>
            <a:lvl8pPr marL="3192399" indent="0">
              <a:buNone/>
              <a:defRPr sz="1596" b="1"/>
            </a:lvl8pPr>
            <a:lvl9pPr marL="3648456" indent="0">
              <a:buNone/>
              <a:defRPr sz="1596" b="1"/>
            </a:lvl9pPr>
          </a:lstStyle>
          <a:p>
            <a:pPr lvl="0"/>
            <a:r>
              <a:rPr lang="de-DE"/>
              <a:t>Mastertextformat bearbeiten</a:t>
            </a:r>
          </a:p>
        </p:txBody>
      </p:sp>
      <p:sp>
        <p:nvSpPr>
          <p:cNvPr id="6" name="Inhaltsplatzhalter 5">
            <a:extLst>
              <a:ext uri="{FF2B5EF4-FFF2-40B4-BE49-F238E27FC236}">
                <a16:creationId xmlns:a16="http://schemas.microsoft.com/office/drawing/2014/main" id="{78B2752A-A662-D941-F523-55519307B81F}"/>
              </a:ext>
            </a:extLst>
          </p:cNvPr>
          <p:cNvSpPr>
            <a:spLocks noGrp="1"/>
          </p:cNvSpPr>
          <p:nvPr>
            <p:ph sz="quarter" idx="4"/>
          </p:nvPr>
        </p:nvSpPr>
        <p:spPr>
          <a:xfrm>
            <a:off x="6156931" y="2505075"/>
            <a:ext cx="5170365"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118757E7-B27C-0EAF-FFD4-CBFE7998690C}"/>
              </a:ext>
            </a:extLst>
          </p:cNvPr>
          <p:cNvSpPr>
            <a:spLocks noGrp="1"/>
          </p:cNvSpPr>
          <p:nvPr>
            <p:ph type="dt" sz="half" idx="10"/>
          </p:nvPr>
        </p:nvSpPr>
        <p:spPr/>
        <p:txBody>
          <a:bodyPr/>
          <a:lstStyle/>
          <a:p>
            <a:fld id="{6BE48996-CD14-44F7-92FB-DBD10A0346AA}" type="datetimeFigureOut">
              <a:rPr lang="de-DE" smtClean="0"/>
              <a:t>24.07.2026</a:t>
            </a:fld>
            <a:endParaRPr lang="de-DE"/>
          </a:p>
        </p:txBody>
      </p:sp>
      <p:sp>
        <p:nvSpPr>
          <p:cNvPr id="8" name="Fußzeilenplatzhalter 7">
            <a:extLst>
              <a:ext uri="{FF2B5EF4-FFF2-40B4-BE49-F238E27FC236}">
                <a16:creationId xmlns:a16="http://schemas.microsoft.com/office/drawing/2014/main" id="{09FC5A3C-3313-A28C-A7C6-1E85977A087F}"/>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98E9493B-B51C-FCD3-9A71-7E4B21F4FCB7}"/>
              </a:ext>
            </a:extLst>
          </p:cNvPr>
          <p:cNvSpPr>
            <a:spLocks noGrp="1"/>
          </p:cNvSpPr>
          <p:nvPr>
            <p:ph type="sldNum" sz="quarter" idx="12"/>
          </p:nvPr>
        </p:nvSpPr>
        <p:spPr/>
        <p:txBody>
          <a:bodyPr/>
          <a:lstStyle/>
          <a:p>
            <a:fld id="{04C44946-DCE4-4C28-9D83-5A3EB0BF1984}" type="slidenum">
              <a:rPr lang="de-DE" smtClean="0"/>
              <a:t>‹Nr.›</a:t>
            </a:fld>
            <a:endParaRPr lang="de-DE"/>
          </a:p>
        </p:txBody>
      </p:sp>
    </p:spTree>
    <p:extLst>
      <p:ext uri="{BB962C8B-B14F-4D97-AF65-F5344CB8AC3E}">
        <p14:creationId xmlns:p14="http://schemas.microsoft.com/office/powerpoint/2010/main" val="15540988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618D55-50E3-3945-DE28-1EDEF38CB3FC}"/>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DDD209B3-52B5-7478-3AE0-24B427E25485}"/>
              </a:ext>
            </a:extLst>
          </p:cNvPr>
          <p:cNvSpPr>
            <a:spLocks noGrp="1"/>
          </p:cNvSpPr>
          <p:nvPr>
            <p:ph type="dt" sz="half" idx="10"/>
          </p:nvPr>
        </p:nvSpPr>
        <p:spPr/>
        <p:txBody>
          <a:bodyPr/>
          <a:lstStyle/>
          <a:p>
            <a:fld id="{6BE48996-CD14-44F7-92FB-DBD10A0346AA}" type="datetimeFigureOut">
              <a:rPr lang="de-DE" smtClean="0"/>
              <a:t>24.07.2026</a:t>
            </a:fld>
            <a:endParaRPr lang="de-DE"/>
          </a:p>
        </p:txBody>
      </p:sp>
      <p:sp>
        <p:nvSpPr>
          <p:cNvPr id="4" name="Fußzeilenplatzhalter 3">
            <a:extLst>
              <a:ext uri="{FF2B5EF4-FFF2-40B4-BE49-F238E27FC236}">
                <a16:creationId xmlns:a16="http://schemas.microsoft.com/office/drawing/2014/main" id="{E2BD72FE-C2EB-DDDC-B72D-269E14A4059A}"/>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7615AA7B-42CD-EC4C-81F1-E825D4F19D55}"/>
              </a:ext>
            </a:extLst>
          </p:cNvPr>
          <p:cNvSpPr>
            <a:spLocks noGrp="1"/>
          </p:cNvSpPr>
          <p:nvPr>
            <p:ph type="sldNum" sz="quarter" idx="12"/>
          </p:nvPr>
        </p:nvSpPr>
        <p:spPr/>
        <p:txBody>
          <a:bodyPr/>
          <a:lstStyle/>
          <a:p>
            <a:fld id="{04C44946-DCE4-4C28-9D83-5A3EB0BF1984}" type="slidenum">
              <a:rPr lang="de-DE" smtClean="0"/>
              <a:t>‹Nr.›</a:t>
            </a:fld>
            <a:endParaRPr lang="de-DE"/>
          </a:p>
        </p:txBody>
      </p:sp>
    </p:spTree>
    <p:extLst>
      <p:ext uri="{BB962C8B-B14F-4D97-AF65-F5344CB8AC3E}">
        <p14:creationId xmlns:p14="http://schemas.microsoft.com/office/powerpoint/2010/main" val="9579741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7FD994AD-71BC-3C42-EEB0-F11F1B15A47C}"/>
              </a:ext>
            </a:extLst>
          </p:cNvPr>
          <p:cNvSpPr>
            <a:spLocks noGrp="1"/>
          </p:cNvSpPr>
          <p:nvPr>
            <p:ph type="dt" sz="half" idx="10"/>
          </p:nvPr>
        </p:nvSpPr>
        <p:spPr/>
        <p:txBody>
          <a:bodyPr/>
          <a:lstStyle/>
          <a:p>
            <a:fld id="{6BE48996-CD14-44F7-92FB-DBD10A0346AA}" type="datetimeFigureOut">
              <a:rPr lang="de-DE" smtClean="0"/>
              <a:t>24.07.2026</a:t>
            </a:fld>
            <a:endParaRPr lang="de-DE"/>
          </a:p>
        </p:txBody>
      </p:sp>
      <p:sp>
        <p:nvSpPr>
          <p:cNvPr id="3" name="Fußzeilenplatzhalter 2">
            <a:extLst>
              <a:ext uri="{FF2B5EF4-FFF2-40B4-BE49-F238E27FC236}">
                <a16:creationId xmlns:a16="http://schemas.microsoft.com/office/drawing/2014/main" id="{652B21DE-DFE2-7725-05A6-7220EC46B94A}"/>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52040838-7041-2936-73C6-5DC09A05D4DD}"/>
              </a:ext>
            </a:extLst>
          </p:cNvPr>
          <p:cNvSpPr>
            <a:spLocks noGrp="1"/>
          </p:cNvSpPr>
          <p:nvPr>
            <p:ph type="sldNum" sz="quarter" idx="12"/>
          </p:nvPr>
        </p:nvSpPr>
        <p:spPr/>
        <p:txBody>
          <a:bodyPr/>
          <a:lstStyle/>
          <a:p>
            <a:fld id="{04C44946-DCE4-4C28-9D83-5A3EB0BF1984}" type="slidenum">
              <a:rPr lang="de-DE" smtClean="0"/>
              <a:t>‹Nr.›</a:t>
            </a:fld>
            <a:endParaRPr lang="de-DE"/>
          </a:p>
        </p:txBody>
      </p:sp>
    </p:spTree>
    <p:extLst>
      <p:ext uri="{BB962C8B-B14F-4D97-AF65-F5344CB8AC3E}">
        <p14:creationId xmlns:p14="http://schemas.microsoft.com/office/powerpoint/2010/main" val="3816669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D1BD8D-8E36-4033-BB9A-505775E60770}"/>
              </a:ext>
            </a:extLst>
          </p:cNvPr>
          <p:cNvSpPr>
            <a:spLocks noGrp="1"/>
          </p:cNvSpPr>
          <p:nvPr>
            <p:ph type="title"/>
          </p:nvPr>
        </p:nvSpPr>
        <p:spPr>
          <a:xfrm>
            <a:off x="837711" y="457200"/>
            <a:ext cx="3922509" cy="1600200"/>
          </a:xfrm>
        </p:spPr>
        <p:txBody>
          <a:bodyPr anchor="b"/>
          <a:lstStyle>
            <a:lvl1pPr>
              <a:defRPr sz="3192"/>
            </a:lvl1pPr>
          </a:lstStyle>
          <a:p>
            <a:r>
              <a:rPr lang="de-DE"/>
              <a:t>Mastertitelformat bearbeiten</a:t>
            </a:r>
          </a:p>
        </p:txBody>
      </p:sp>
      <p:sp>
        <p:nvSpPr>
          <p:cNvPr id="3" name="Inhaltsplatzhalter 2">
            <a:extLst>
              <a:ext uri="{FF2B5EF4-FFF2-40B4-BE49-F238E27FC236}">
                <a16:creationId xmlns:a16="http://schemas.microsoft.com/office/drawing/2014/main" id="{C471F209-DEBB-A034-6AB5-362AAD74C49C}"/>
              </a:ext>
            </a:extLst>
          </p:cNvPr>
          <p:cNvSpPr>
            <a:spLocks noGrp="1"/>
          </p:cNvSpPr>
          <p:nvPr>
            <p:ph idx="1"/>
          </p:nvPr>
        </p:nvSpPr>
        <p:spPr>
          <a:xfrm>
            <a:off x="5170365" y="987426"/>
            <a:ext cx="6156930" cy="4873625"/>
          </a:xfrm>
        </p:spPr>
        <p:txBody>
          <a:bodyPr/>
          <a:lstStyle>
            <a:lvl1pPr>
              <a:defRPr sz="3192"/>
            </a:lvl1pPr>
            <a:lvl2pPr>
              <a:defRPr sz="2793"/>
            </a:lvl2pPr>
            <a:lvl3pPr>
              <a:defRPr sz="2394"/>
            </a:lvl3pPr>
            <a:lvl4pPr>
              <a:defRPr sz="1995"/>
            </a:lvl4pPr>
            <a:lvl5pPr>
              <a:defRPr sz="1995"/>
            </a:lvl5pPr>
            <a:lvl6pPr>
              <a:defRPr sz="1995"/>
            </a:lvl6pPr>
            <a:lvl7pPr>
              <a:defRPr sz="1995"/>
            </a:lvl7pPr>
            <a:lvl8pPr>
              <a:defRPr sz="1995"/>
            </a:lvl8pPr>
            <a:lvl9pPr>
              <a:defRPr sz="1995"/>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6610055D-7154-747C-A5AD-6985C65BDBCD}"/>
              </a:ext>
            </a:extLst>
          </p:cNvPr>
          <p:cNvSpPr>
            <a:spLocks noGrp="1"/>
          </p:cNvSpPr>
          <p:nvPr>
            <p:ph type="body" sz="half" idx="2"/>
          </p:nvPr>
        </p:nvSpPr>
        <p:spPr>
          <a:xfrm>
            <a:off x="837711" y="2057400"/>
            <a:ext cx="3922509" cy="3811588"/>
          </a:xfrm>
        </p:spPr>
        <p:txBody>
          <a:bodyPr/>
          <a:lstStyle>
            <a:lvl1pPr marL="0" indent="0">
              <a:buNone/>
              <a:defRPr sz="1596"/>
            </a:lvl1pPr>
            <a:lvl2pPr marL="456057" indent="0">
              <a:buNone/>
              <a:defRPr sz="1397"/>
            </a:lvl2pPr>
            <a:lvl3pPr marL="912114" indent="0">
              <a:buNone/>
              <a:defRPr sz="1197"/>
            </a:lvl3pPr>
            <a:lvl4pPr marL="1368171" indent="0">
              <a:buNone/>
              <a:defRPr sz="998"/>
            </a:lvl4pPr>
            <a:lvl5pPr marL="1824228" indent="0">
              <a:buNone/>
              <a:defRPr sz="998"/>
            </a:lvl5pPr>
            <a:lvl6pPr marL="2280285" indent="0">
              <a:buNone/>
              <a:defRPr sz="998"/>
            </a:lvl6pPr>
            <a:lvl7pPr marL="2736342" indent="0">
              <a:buNone/>
              <a:defRPr sz="998"/>
            </a:lvl7pPr>
            <a:lvl8pPr marL="3192399" indent="0">
              <a:buNone/>
              <a:defRPr sz="998"/>
            </a:lvl8pPr>
            <a:lvl9pPr marL="3648456" indent="0">
              <a:buNone/>
              <a:defRPr sz="998"/>
            </a:lvl9pPr>
          </a:lstStyle>
          <a:p>
            <a:pPr lvl="0"/>
            <a:r>
              <a:rPr lang="de-DE"/>
              <a:t>Mastertextformat bearbeiten</a:t>
            </a:r>
          </a:p>
        </p:txBody>
      </p:sp>
      <p:sp>
        <p:nvSpPr>
          <p:cNvPr id="5" name="Datumsplatzhalter 4">
            <a:extLst>
              <a:ext uri="{FF2B5EF4-FFF2-40B4-BE49-F238E27FC236}">
                <a16:creationId xmlns:a16="http://schemas.microsoft.com/office/drawing/2014/main" id="{3B7A8468-7626-CD47-17BE-EADA93CAEE0C}"/>
              </a:ext>
            </a:extLst>
          </p:cNvPr>
          <p:cNvSpPr>
            <a:spLocks noGrp="1"/>
          </p:cNvSpPr>
          <p:nvPr>
            <p:ph type="dt" sz="half" idx="10"/>
          </p:nvPr>
        </p:nvSpPr>
        <p:spPr/>
        <p:txBody>
          <a:bodyPr/>
          <a:lstStyle/>
          <a:p>
            <a:fld id="{6BE48996-CD14-44F7-92FB-DBD10A0346AA}" type="datetimeFigureOut">
              <a:rPr lang="de-DE" smtClean="0"/>
              <a:t>24.07.2026</a:t>
            </a:fld>
            <a:endParaRPr lang="de-DE"/>
          </a:p>
        </p:txBody>
      </p:sp>
      <p:sp>
        <p:nvSpPr>
          <p:cNvPr id="6" name="Fußzeilenplatzhalter 5">
            <a:extLst>
              <a:ext uri="{FF2B5EF4-FFF2-40B4-BE49-F238E27FC236}">
                <a16:creationId xmlns:a16="http://schemas.microsoft.com/office/drawing/2014/main" id="{37010533-E56B-2C50-996D-8647D7A30953}"/>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60E2608C-6455-971F-7D0D-AC08FB2C900D}"/>
              </a:ext>
            </a:extLst>
          </p:cNvPr>
          <p:cNvSpPr>
            <a:spLocks noGrp="1"/>
          </p:cNvSpPr>
          <p:nvPr>
            <p:ph type="sldNum" sz="quarter" idx="12"/>
          </p:nvPr>
        </p:nvSpPr>
        <p:spPr/>
        <p:txBody>
          <a:bodyPr/>
          <a:lstStyle/>
          <a:p>
            <a:fld id="{04C44946-DCE4-4C28-9D83-5A3EB0BF1984}" type="slidenum">
              <a:rPr lang="de-DE" smtClean="0"/>
              <a:t>‹Nr.›</a:t>
            </a:fld>
            <a:endParaRPr lang="de-DE"/>
          </a:p>
        </p:txBody>
      </p:sp>
    </p:spTree>
    <p:extLst>
      <p:ext uri="{BB962C8B-B14F-4D97-AF65-F5344CB8AC3E}">
        <p14:creationId xmlns:p14="http://schemas.microsoft.com/office/powerpoint/2010/main" val="31805789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D730884-6E36-77A2-0B0A-5CAB09F8A862}"/>
              </a:ext>
            </a:extLst>
          </p:cNvPr>
          <p:cNvSpPr>
            <a:spLocks noGrp="1"/>
          </p:cNvSpPr>
          <p:nvPr>
            <p:ph type="title"/>
          </p:nvPr>
        </p:nvSpPr>
        <p:spPr>
          <a:xfrm>
            <a:off x="837711" y="457200"/>
            <a:ext cx="3922509" cy="1600200"/>
          </a:xfrm>
        </p:spPr>
        <p:txBody>
          <a:bodyPr anchor="b"/>
          <a:lstStyle>
            <a:lvl1pPr>
              <a:defRPr sz="3192"/>
            </a:lvl1pPr>
          </a:lstStyle>
          <a:p>
            <a:r>
              <a:rPr lang="de-DE"/>
              <a:t>Mastertitelformat bearbeiten</a:t>
            </a:r>
          </a:p>
        </p:txBody>
      </p:sp>
      <p:sp>
        <p:nvSpPr>
          <p:cNvPr id="3" name="Bildplatzhalter 2">
            <a:extLst>
              <a:ext uri="{FF2B5EF4-FFF2-40B4-BE49-F238E27FC236}">
                <a16:creationId xmlns:a16="http://schemas.microsoft.com/office/drawing/2014/main" id="{444424C8-8E8F-D235-64D3-952828DA3AF3}"/>
              </a:ext>
            </a:extLst>
          </p:cNvPr>
          <p:cNvSpPr>
            <a:spLocks noGrp="1"/>
          </p:cNvSpPr>
          <p:nvPr>
            <p:ph type="pic" idx="1"/>
          </p:nvPr>
        </p:nvSpPr>
        <p:spPr>
          <a:xfrm>
            <a:off x="5170365" y="987426"/>
            <a:ext cx="6156930" cy="4873625"/>
          </a:xfrm>
        </p:spPr>
        <p:txBody>
          <a:bodyPr/>
          <a:lstStyle>
            <a:lvl1pPr marL="0" indent="0">
              <a:buNone/>
              <a:defRPr sz="3192"/>
            </a:lvl1pPr>
            <a:lvl2pPr marL="456057" indent="0">
              <a:buNone/>
              <a:defRPr sz="2793"/>
            </a:lvl2pPr>
            <a:lvl3pPr marL="912114" indent="0">
              <a:buNone/>
              <a:defRPr sz="2394"/>
            </a:lvl3pPr>
            <a:lvl4pPr marL="1368171" indent="0">
              <a:buNone/>
              <a:defRPr sz="1995"/>
            </a:lvl4pPr>
            <a:lvl5pPr marL="1824228" indent="0">
              <a:buNone/>
              <a:defRPr sz="1995"/>
            </a:lvl5pPr>
            <a:lvl6pPr marL="2280285" indent="0">
              <a:buNone/>
              <a:defRPr sz="1995"/>
            </a:lvl6pPr>
            <a:lvl7pPr marL="2736342" indent="0">
              <a:buNone/>
              <a:defRPr sz="1995"/>
            </a:lvl7pPr>
            <a:lvl8pPr marL="3192399" indent="0">
              <a:buNone/>
              <a:defRPr sz="1995"/>
            </a:lvl8pPr>
            <a:lvl9pPr marL="3648456" indent="0">
              <a:buNone/>
              <a:defRPr sz="1995"/>
            </a:lvl9pPr>
          </a:lstStyle>
          <a:p>
            <a:endParaRPr lang="de-DE"/>
          </a:p>
        </p:txBody>
      </p:sp>
      <p:sp>
        <p:nvSpPr>
          <p:cNvPr id="4" name="Textplatzhalter 3">
            <a:extLst>
              <a:ext uri="{FF2B5EF4-FFF2-40B4-BE49-F238E27FC236}">
                <a16:creationId xmlns:a16="http://schemas.microsoft.com/office/drawing/2014/main" id="{4148603F-0D8E-3126-C59B-228FDF0EA502}"/>
              </a:ext>
            </a:extLst>
          </p:cNvPr>
          <p:cNvSpPr>
            <a:spLocks noGrp="1"/>
          </p:cNvSpPr>
          <p:nvPr>
            <p:ph type="body" sz="half" idx="2"/>
          </p:nvPr>
        </p:nvSpPr>
        <p:spPr>
          <a:xfrm>
            <a:off x="837711" y="2057400"/>
            <a:ext cx="3922509" cy="3811588"/>
          </a:xfrm>
        </p:spPr>
        <p:txBody>
          <a:bodyPr/>
          <a:lstStyle>
            <a:lvl1pPr marL="0" indent="0">
              <a:buNone/>
              <a:defRPr sz="1596"/>
            </a:lvl1pPr>
            <a:lvl2pPr marL="456057" indent="0">
              <a:buNone/>
              <a:defRPr sz="1397"/>
            </a:lvl2pPr>
            <a:lvl3pPr marL="912114" indent="0">
              <a:buNone/>
              <a:defRPr sz="1197"/>
            </a:lvl3pPr>
            <a:lvl4pPr marL="1368171" indent="0">
              <a:buNone/>
              <a:defRPr sz="998"/>
            </a:lvl4pPr>
            <a:lvl5pPr marL="1824228" indent="0">
              <a:buNone/>
              <a:defRPr sz="998"/>
            </a:lvl5pPr>
            <a:lvl6pPr marL="2280285" indent="0">
              <a:buNone/>
              <a:defRPr sz="998"/>
            </a:lvl6pPr>
            <a:lvl7pPr marL="2736342" indent="0">
              <a:buNone/>
              <a:defRPr sz="998"/>
            </a:lvl7pPr>
            <a:lvl8pPr marL="3192399" indent="0">
              <a:buNone/>
              <a:defRPr sz="998"/>
            </a:lvl8pPr>
            <a:lvl9pPr marL="3648456" indent="0">
              <a:buNone/>
              <a:defRPr sz="998"/>
            </a:lvl9pPr>
          </a:lstStyle>
          <a:p>
            <a:pPr lvl="0"/>
            <a:r>
              <a:rPr lang="de-DE"/>
              <a:t>Mastertextformat bearbeiten</a:t>
            </a:r>
          </a:p>
        </p:txBody>
      </p:sp>
      <p:sp>
        <p:nvSpPr>
          <p:cNvPr id="5" name="Datumsplatzhalter 4">
            <a:extLst>
              <a:ext uri="{FF2B5EF4-FFF2-40B4-BE49-F238E27FC236}">
                <a16:creationId xmlns:a16="http://schemas.microsoft.com/office/drawing/2014/main" id="{3E7AD57C-B2A9-7456-EA52-82147F3BAB72}"/>
              </a:ext>
            </a:extLst>
          </p:cNvPr>
          <p:cNvSpPr>
            <a:spLocks noGrp="1"/>
          </p:cNvSpPr>
          <p:nvPr>
            <p:ph type="dt" sz="half" idx="10"/>
          </p:nvPr>
        </p:nvSpPr>
        <p:spPr/>
        <p:txBody>
          <a:bodyPr/>
          <a:lstStyle/>
          <a:p>
            <a:fld id="{6BE48996-CD14-44F7-92FB-DBD10A0346AA}" type="datetimeFigureOut">
              <a:rPr lang="de-DE" smtClean="0"/>
              <a:t>24.07.2026</a:t>
            </a:fld>
            <a:endParaRPr lang="de-DE"/>
          </a:p>
        </p:txBody>
      </p:sp>
      <p:sp>
        <p:nvSpPr>
          <p:cNvPr id="6" name="Fußzeilenplatzhalter 5">
            <a:extLst>
              <a:ext uri="{FF2B5EF4-FFF2-40B4-BE49-F238E27FC236}">
                <a16:creationId xmlns:a16="http://schemas.microsoft.com/office/drawing/2014/main" id="{4B01240D-FA02-9429-7AD3-16247D965CF2}"/>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126226D6-0BE8-2BE1-F3A9-B153302F6D30}"/>
              </a:ext>
            </a:extLst>
          </p:cNvPr>
          <p:cNvSpPr>
            <a:spLocks noGrp="1"/>
          </p:cNvSpPr>
          <p:nvPr>
            <p:ph type="sldNum" sz="quarter" idx="12"/>
          </p:nvPr>
        </p:nvSpPr>
        <p:spPr/>
        <p:txBody>
          <a:bodyPr/>
          <a:lstStyle/>
          <a:p>
            <a:fld id="{04C44946-DCE4-4C28-9D83-5A3EB0BF1984}" type="slidenum">
              <a:rPr lang="de-DE" smtClean="0"/>
              <a:t>‹Nr.›</a:t>
            </a:fld>
            <a:endParaRPr lang="de-DE"/>
          </a:p>
        </p:txBody>
      </p:sp>
    </p:spTree>
    <p:extLst>
      <p:ext uri="{BB962C8B-B14F-4D97-AF65-F5344CB8AC3E}">
        <p14:creationId xmlns:p14="http://schemas.microsoft.com/office/powerpoint/2010/main" val="24679840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078A8F-B9B1-AFDD-4877-D2848B72ECD7}"/>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D1196E37-4A3D-3D47-2A51-121FE289B435}"/>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FDE43FA-2DEF-FED9-D336-6FF98567EFB5}"/>
              </a:ext>
            </a:extLst>
          </p:cNvPr>
          <p:cNvSpPr>
            <a:spLocks noGrp="1"/>
          </p:cNvSpPr>
          <p:nvPr>
            <p:ph type="dt" sz="half" idx="10"/>
          </p:nvPr>
        </p:nvSpPr>
        <p:spPr/>
        <p:txBody>
          <a:bodyPr/>
          <a:lstStyle/>
          <a:p>
            <a:fld id="{6BE48996-CD14-44F7-92FB-DBD10A0346AA}" type="datetimeFigureOut">
              <a:rPr lang="de-DE" smtClean="0"/>
              <a:t>24.07.2026</a:t>
            </a:fld>
            <a:endParaRPr lang="de-DE"/>
          </a:p>
        </p:txBody>
      </p:sp>
      <p:sp>
        <p:nvSpPr>
          <p:cNvPr id="5" name="Fußzeilenplatzhalter 4">
            <a:extLst>
              <a:ext uri="{FF2B5EF4-FFF2-40B4-BE49-F238E27FC236}">
                <a16:creationId xmlns:a16="http://schemas.microsoft.com/office/drawing/2014/main" id="{015B3870-E8F2-1CF4-386D-59F56E58E62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DE67017B-2FD0-E7B7-C912-90E0680ABB85}"/>
              </a:ext>
            </a:extLst>
          </p:cNvPr>
          <p:cNvSpPr>
            <a:spLocks noGrp="1"/>
          </p:cNvSpPr>
          <p:nvPr>
            <p:ph type="sldNum" sz="quarter" idx="12"/>
          </p:nvPr>
        </p:nvSpPr>
        <p:spPr/>
        <p:txBody>
          <a:bodyPr/>
          <a:lstStyle/>
          <a:p>
            <a:fld id="{04C44946-DCE4-4C28-9D83-5A3EB0BF1984}" type="slidenum">
              <a:rPr lang="de-DE" smtClean="0"/>
              <a:t>‹Nr.›</a:t>
            </a:fld>
            <a:endParaRPr lang="de-DE"/>
          </a:p>
        </p:txBody>
      </p:sp>
    </p:spTree>
    <p:extLst>
      <p:ext uri="{BB962C8B-B14F-4D97-AF65-F5344CB8AC3E}">
        <p14:creationId xmlns:p14="http://schemas.microsoft.com/office/powerpoint/2010/main" val="15384661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70C7A2CF-E95A-F712-0A0B-72B635455590}"/>
              </a:ext>
            </a:extLst>
          </p:cNvPr>
          <p:cNvSpPr>
            <a:spLocks noGrp="1"/>
          </p:cNvSpPr>
          <p:nvPr>
            <p:ph type="title" orient="vert"/>
          </p:nvPr>
        </p:nvSpPr>
        <p:spPr>
          <a:xfrm>
            <a:off x="8703315" y="365125"/>
            <a:ext cx="2622396"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E0C6DC8C-E8FD-9179-D50B-153E3706DEB4}"/>
              </a:ext>
            </a:extLst>
          </p:cNvPr>
          <p:cNvSpPr>
            <a:spLocks noGrp="1"/>
          </p:cNvSpPr>
          <p:nvPr>
            <p:ph type="body" orient="vert" idx="1"/>
          </p:nvPr>
        </p:nvSpPr>
        <p:spPr>
          <a:xfrm>
            <a:off x="836126" y="365125"/>
            <a:ext cx="7715166"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A488D9F9-B01D-FEBE-25CA-740A69E0B334}"/>
              </a:ext>
            </a:extLst>
          </p:cNvPr>
          <p:cNvSpPr>
            <a:spLocks noGrp="1"/>
          </p:cNvSpPr>
          <p:nvPr>
            <p:ph type="dt" sz="half" idx="10"/>
          </p:nvPr>
        </p:nvSpPr>
        <p:spPr/>
        <p:txBody>
          <a:bodyPr/>
          <a:lstStyle/>
          <a:p>
            <a:fld id="{6BE48996-CD14-44F7-92FB-DBD10A0346AA}" type="datetimeFigureOut">
              <a:rPr lang="de-DE" smtClean="0"/>
              <a:t>24.07.2026</a:t>
            </a:fld>
            <a:endParaRPr lang="de-DE"/>
          </a:p>
        </p:txBody>
      </p:sp>
      <p:sp>
        <p:nvSpPr>
          <p:cNvPr id="5" name="Fußzeilenplatzhalter 4">
            <a:extLst>
              <a:ext uri="{FF2B5EF4-FFF2-40B4-BE49-F238E27FC236}">
                <a16:creationId xmlns:a16="http://schemas.microsoft.com/office/drawing/2014/main" id="{49494FEE-91C3-D86E-7D79-DF2242639EA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59DBD124-132B-7FAF-CBE1-C9E1B2618571}"/>
              </a:ext>
            </a:extLst>
          </p:cNvPr>
          <p:cNvSpPr>
            <a:spLocks noGrp="1"/>
          </p:cNvSpPr>
          <p:nvPr>
            <p:ph type="sldNum" sz="quarter" idx="12"/>
          </p:nvPr>
        </p:nvSpPr>
        <p:spPr/>
        <p:txBody>
          <a:bodyPr/>
          <a:lstStyle/>
          <a:p>
            <a:fld id="{04C44946-DCE4-4C28-9D83-5A3EB0BF1984}" type="slidenum">
              <a:rPr lang="de-DE" smtClean="0"/>
              <a:t>‹Nr.›</a:t>
            </a:fld>
            <a:endParaRPr lang="de-DE"/>
          </a:p>
        </p:txBody>
      </p:sp>
    </p:spTree>
    <p:extLst>
      <p:ext uri="{BB962C8B-B14F-4D97-AF65-F5344CB8AC3E}">
        <p14:creationId xmlns:p14="http://schemas.microsoft.com/office/powerpoint/2010/main" val="8061482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cSld name="Blank">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1" y="6356520"/>
            <a:ext cx="2133360" cy="364680"/>
          </a:xfrm>
          <a:prstGeom prst="rect">
            <a:avLst/>
          </a:prstGeom>
          <a:noFill/>
          <a:ln w="0">
            <a:noFill/>
          </a:ln>
        </p:spPr>
        <p:txBody>
          <a:bodyPr lIns="91440" tIns="45720" rIns="91440" bIns="45720" anchor="ctr">
            <a:noAutofit/>
          </a:bodyPr>
          <a:lstStyle>
            <a:lvl1pPr indent="0" defTabSz="456057">
              <a:lnSpc>
                <a:spcPct val="100000"/>
              </a:lnSpc>
              <a:buNone/>
              <a:defRPr lang="en-US" sz="1197" b="0" u="none" strike="noStrike">
                <a:solidFill>
                  <a:schemeClr val="dk1">
                    <a:tint val="75000"/>
                  </a:schemeClr>
                </a:solidFill>
                <a:effectLst/>
                <a:uFillTx/>
                <a:latin typeface="Calibri"/>
              </a:defRPr>
            </a:lvl1pPr>
          </a:lstStyle>
          <a:p>
            <a:r>
              <a:rPr lang="de-DE"/>
              <a:t>&lt;Datum/Uhrzeit&gt;</a:t>
            </a:r>
            <a:endParaRPr lang="de-DE">
              <a:solidFill>
                <a:srgbClr val="000000"/>
              </a:solidFill>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de-DE" sz="1397" b="0" u="none" strike="noStrike">
                <a:solidFill>
                  <a:srgbClr val="000000"/>
                </a:solidFill>
                <a:effectLst/>
                <a:uFillTx/>
                <a:latin typeface="Times New Roman"/>
              </a:defRPr>
            </a:lvl1pPr>
          </a:lstStyle>
          <a:p>
            <a:r>
              <a:rPr lang="de-DE"/>
              <a:t>&lt;Fußzeile&gt;</a:t>
            </a:r>
          </a:p>
        </p:txBody>
      </p:sp>
      <p:sp>
        <p:nvSpPr>
          <p:cNvPr id="46" name="PlaceHolder 3"/>
          <p:cNvSpPr>
            <a:spLocks noGrp="1"/>
          </p:cNvSpPr>
          <p:nvPr>
            <p:ph type="sldNum" idx="27"/>
          </p:nvPr>
        </p:nvSpPr>
        <p:spPr>
          <a:xfrm>
            <a:off x="6553081" y="6356520"/>
            <a:ext cx="2133360" cy="364680"/>
          </a:xfrm>
          <a:prstGeom prst="rect">
            <a:avLst/>
          </a:prstGeom>
          <a:noFill/>
          <a:ln w="0">
            <a:noFill/>
          </a:ln>
        </p:spPr>
        <p:txBody>
          <a:bodyPr lIns="91440" tIns="45720" rIns="91440" bIns="45720" anchor="ctr">
            <a:noAutofit/>
          </a:bodyPr>
          <a:lstStyle>
            <a:lvl1pPr indent="0" algn="r" defTabSz="456057">
              <a:lnSpc>
                <a:spcPct val="100000"/>
              </a:lnSpc>
              <a:buNone/>
              <a:defRPr lang="en-US" sz="1197" b="0" u="none" strike="noStrike">
                <a:solidFill>
                  <a:schemeClr val="dk1">
                    <a:tint val="75000"/>
                  </a:schemeClr>
                </a:solidFill>
                <a:effectLst/>
                <a:uFillTx/>
                <a:latin typeface="Calibri"/>
              </a:defRPr>
            </a:lvl1pPr>
          </a:lstStyle>
          <a:p>
            <a:fld id="{9377A697-E3CD-4633-B0BD-0D8765B596F6}" type="slidenum">
              <a:rPr lang="de-DE" smtClean="0"/>
              <a:pPr/>
              <a:t>‹Nr.›</a:t>
            </a:fld>
            <a:endParaRPr lang="de-DE">
              <a:solidFill>
                <a:srgbClr val="000000"/>
              </a:solidFill>
              <a:latin typeface="Times New Roman"/>
            </a:endParaRPr>
          </a:p>
        </p:txBody>
      </p:sp>
      <p:sp>
        <p:nvSpPr>
          <p:cNvPr id="47" name="PlaceHolder 4"/>
          <p:cNvSpPr>
            <a:spLocks noGrp="1"/>
          </p:cNvSpPr>
          <p:nvPr>
            <p:ph type="title"/>
          </p:nvPr>
        </p:nvSpPr>
        <p:spPr>
          <a:xfrm>
            <a:off x="608040" y="273600"/>
            <a:ext cx="10945080" cy="1144800"/>
          </a:xfrm>
          <a:prstGeom prst="rect">
            <a:avLst/>
          </a:prstGeom>
          <a:noFill/>
          <a:ln w="0">
            <a:noFill/>
          </a:ln>
        </p:spPr>
        <p:txBody>
          <a:bodyPr lIns="0" tIns="0" rIns="0" bIns="0" anchor="ctr">
            <a:noAutofit/>
          </a:bodyPr>
          <a:lstStyle>
            <a:lvl1pPr indent="0">
              <a:buNone/>
              <a:defRPr/>
            </a:lvl1pPr>
          </a:lstStyle>
          <a:p>
            <a:pPr indent="0">
              <a:buNone/>
            </a:pPr>
            <a:r>
              <a:rPr lang="en-US" sz="1795" b="0" u="none" strike="noStrike">
                <a:solidFill>
                  <a:schemeClr val="dk1"/>
                </a:solidFill>
                <a:effectLst/>
                <a:uFillTx/>
                <a:latin typeface="Calibri"/>
              </a:rPr>
              <a:t>Format des Titeltextes durch Klicken bearbeiten</a:t>
            </a:r>
          </a:p>
        </p:txBody>
      </p:sp>
      <p:sp>
        <p:nvSpPr>
          <p:cNvPr id="48" name="PlaceHolder 5"/>
          <p:cNvSpPr>
            <a:spLocks noGrp="1"/>
          </p:cNvSpPr>
          <p:nvPr>
            <p:ph type="body"/>
          </p:nvPr>
        </p:nvSpPr>
        <p:spPr>
          <a:xfrm>
            <a:off x="608040" y="1604520"/>
            <a:ext cx="10945080" cy="3977280"/>
          </a:xfrm>
          <a:prstGeom prst="rect">
            <a:avLst/>
          </a:prstGeom>
          <a:noFill/>
          <a:ln w="0">
            <a:noFill/>
          </a:ln>
        </p:spPr>
        <p:txBody>
          <a:bodyPr lIns="0" tIns="0" rIns="0" bIns="0" anchor="t">
            <a:normAutofit/>
          </a:bodyPr>
          <a:lstStyle>
            <a:lvl1pPr marL="430920" indent="-323190">
              <a:spcBef>
                <a:spcPts val="1413"/>
              </a:spcBef>
              <a:buClr>
                <a:srgbClr val="000000"/>
              </a:buClr>
              <a:buSzPct val="45000"/>
              <a:buFont typeface="Wingdings" charset="2"/>
              <a:buChar char=""/>
              <a:defRPr/>
            </a:lvl1pPr>
          </a:lstStyle>
          <a:p>
            <a:pPr marL="432000" indent="-324000">
              <a:spcBef>
                <a:spcPts val="1417"/>
              </a:spcBef>
              <a:buClr>
                <a:srgbClr val="000000"/>
              </a:buClr>
              <a:buSzPct val="45000"/>
              <a:buFont typeface="Wingdings" charset="2"/>
              <a:buChar char=""/>
            </a:pPr>
            <a:r>
              <a:rPr lang="en-US" sz="3192" b="0" u="none" strike="noStrike">
                <a:solidFill>
                  <a:schemeClr val="dk1"/>
                </a:solidFill>
                <a:effectLst/>
                <a:uFillTx/>
                <a:latin typeface="Calibri"/>
              </a:rPr>
              <a:t>Format des Gliederungstextes durch Klicken bearbeiten</a:t>
            </a:r>
          </a:p>
          <a:p>
            <a:pPr marL="861840" lvl="1" indent="-323190">
              <a:spcBef>
                <a:spcPts val="1131"/>
              </a:spcBef>
              <a:buClr>
                <a:srgbClr val="000000"/>
              </a:buClr>
              <a:buSzPct val="75000"/>
              <a:buFont typeface="Symbol" charset="2"/>
              <a:buChar char=""/>
            </a:pPr>
            <a:r>
              <a:rPr lang="en-US" sz="2394" b="0" u="none" strike="noStrike">
                <a:solidFill>
                  <a:schemeClr val="dk1"/>
                </a:solidFill>
                <a:effectLst/>
                <a:uFillTx/>
                <a:latin typeface="Calibri"/>
              </a:rPr>
              <a:t>Zweite Gliederungsebene</a:t>
            </a:r>
          </a:p>
          <a:p>
            <a:pPr marL="1292760" lvl="2" indent="-287280">
              <a:spcBef>
                <a:spcPts val="848"/>
              </a:spcBef>
              <a:buClr>
                <a:srgbClr val="000000"/>
              </a:buClr>
              <a:buSzPct val="45000"/>
              <a:buFont typeface="Wingdings" charset="2"/>
              <a:buChar char=""/>
            </a:pPr>
            <a:r>
              <a:rPr lang="en-US" sz="1995" b="0" u="none" strike="noStrike">
                <a:solidFill>
                  <a:schemeClr val="dk1"/>
                </a:solidFill>
                <a:effectLst/>
                <a:uFillTx/>
                <a:latin typeface="Calibri"/>
              </a:rPr>
              <a:t>Dritte Gliederungsebene</a:t>
            </a:r>
          </a:p>
          <a:p>
            <a:pPr marL="1723680" lvl="3" indent="-215460">
              <a:spcBef>
                <a:spcPts val="566"/>
              </a:spcBef>
              <a:buClr>
                <a:srgbClr val="000000"/>
              </a:buClr>
              <a:buSzPct val="75000"/>
              <a:buFont typeface="Symbol" charset="2"/>
              <a:buChar char=""/>
            </a:pPr>
            <a:r>
              <a:rPr lang="en-US" sz="1995" b="0" u="none" strike="noStrike">
                <a:solidFill>
                  <a:schemeClr val="dk1"/>
                </a:solidFill>
                <a:effectLst/>
                <a:uFillTx/>
                <a:latin typeface="Calibri"/>
              </a:rPr>
              <a:t>Vierte Gliederungsebene</a:t>
            </a:r>
          </a:p>
          <a:p>
            <a:pPr marL="2154600" lvl="4" indent="-215460">
              <a:spcBef>
                <a:spcPts val="282"/>
              </a:spcBef>
              <a:buClr>
                <a:srgbClr val="000000"/>
              </a:buClr>
              <a:buSzPct val="45000"/>
              <a:buFont typeface="Wingdings" charset="2"/>
              <a:buChar char=""/>
            </a:pPr>
            <a:r>
              <a:rPr lang="en-US" sz="1995" b="0" u="none" strike="noStrike">
                <a:solidFill>
                  <a:schemeClr val="dk1"/>
                </a:solidFill>
                <a:effectLst/>
                <a:uFillTx/>
                <a:latin typeface="Calibri"/>
              </a:rPr>
              <a:t>Fünfte Gliederungsebene</a:t>
            </a:r>
          </a:p>
          <a:p>
            <a:pPr marL="2585520" lvl="5" indent="-215460">
              <a:spcBef>
                <a:spcPts val="282"/>
              </a:spcBef>
              <a:buClr>
                <a:srgbClr val="000000"/>
              </a:buClr>
              <a:buSzPct val="45000"/>
              <a:buFont typeface="Wingdings" charset="2"/>
              <a:buChar char=""/>
            </a:pPr>
            <a:r>
              <a:rPr lang="en-US" sz="1995" b="0" u="none" strike="noStrike">
                <a:solidFill>
                  <a:schemeClr val="dk1"/>
                </a:solidFill>
                <a:effectLst/>
                <a:uFillTx/>
                <a:latin typeface="Calibri"/>
              </a:rPr>
              <a:t>Sechste Gliederungsebene</a:t>
            </a:r>
          </a:p>
          <a:p>
            <a:pPr marL="3016440" lvl="6" indent="-215460">
              <a:spcBef>
                <a:spcPts val="282"/>
              </a:spcBef>
              <a:buClr>
                <a:srgbClr val="000000"/>
              </a:buClr>
              <a:buSzPct val="45000"/>
              <a:buFont typeface="Wingdings" charset="2"/>
              <a:buChar char=""/>
            </a:pPr>
            <a:r>
              <a:rPr lang="en-US" sz="1995" b="0" u="none" strike="noStrike">
                <a:solidFill>
                  <a:schemeClr val="dk1"/>
                </a:solidFill>
                <a:effectLst/>
                <a:uFillTx/>
                <a:latin typeface="Calibri"/>
              </a:rPr>
              <a:t>Siebte Gliederungsebene</a:t>
            </a:r>
          </a:p>
        </p:txBody>
      </p:sp>
    </p:spTree>
    <p:extLst>
      <p:ext uri="{BB962C8B-B14F-4D97-AF65-F5344CB8AC3E}">
        <p14:creationId xmlns:p14="http://schemas.microsoft.com/office/powerpoint/2010/main" val="2020420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0198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8.xml"/><Relationship Id="rId1" Type="http://schemas.openxmlformats.org/officeDocument/2006/relationships/slideLayout" Target="../slideLayouts/slideLayout1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PlaceHolder 1"/>
          <p:cNvSpPr>
            <a:spLocks noGrp="1"/>
          </p:cNvSpPr>
          <p:nvPr>
            <p:ph type="dt" idx="34"/>
          </p:nvPr>
        </p:nvSpPr>
        <p:spPr>
          <a:xfrm>
            <a:off x="457200" y="6356520"/>
            <a:ext cx="2133000" cy="364320"/>
          </a:xfrm>
          <a:prstGeom prst="rect">
            <a:avLst/>
          </a:prstGeom>
          <a:noFill/>
          <a:ln w="0">
            <a:noFill/>
          </a:ln>
        </p:spPr>
        <p:txBody>
          <a:bodyPr lIns="91440" tIns="45720" rIns="91440" bIns="45720" anchor="ctr">
            <a:noAutofit/>
          </a:bodyPr>
          <a:lstStyle>
            <a:lvl1pPr indent="0"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457200">
              <a:lnSpc>
                <a:spcPct val="100000"/>
              </a:lnSpc>
              <a:buNone/>
              <a:tabLst>
                <a:tab pos="0" algn="l"/>
              </a:tabLst>
            </a:pPr>
            <a:r>
              <a:rPr lang="en-US"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62" name="PlaceHolder 2"/>
          <p:cNvSpPr>
            <a:spLocks noGrp="1"/>
          </p:cNvSpPr>
          <p:nvPr>
            <p:ph type="ftr" idx="35"/>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de-DE" sz="1400" b="0" u="none" strike="noStrike">
                <a:solidFill>
                  <a:srgbClr val="000000"/>
                </a:solidFill>
                <a:effectLst/>
                <a:uFillTx/>
                <a:latin typeface="Times New Roman"/>
              </a:defRPr>
            </a:lvl1pPr>
          </a:lstStyle>
          <a:p>
            <a:pPr indent="0" algn="ctr">
              <a:lnSpc>
                <a:spcPct val="100000"/>
              </a:lnSpc>
              <a:buNone/>
              <a:tabLst>
                <a:tab pos="0" algn="l"/>
              </a:tabLst>
            </a:pPr>
            <a:r>
              <a:rPr lang="de-DE" sz="1400" b="0" u="none" strike="noStrike">
                <a:solidFill>
                  <a:srgbClr val="000000"/>
                </a:solidFill>
                <a:effectLst/>
                <a:uFillTx/>
                <a:latin typeface="Times New Roman"/>
              </a:rPr>
              <a:t>&lt;Fußzeile&gt;</a:t>
            </a:r>
          </a:p>
        </p:txBody>
      </p:sp>
      <p:sp>
        <p:nvSpPr>
          <p:cNvPr id="63" name="PlaceHolder 3"/>
          <p:cNvSpPr>
            <a:spLocks noGrp="1"/>
          </p:cNvSpPr>
          <p:nvPr>
            <p:ph type="sldNum" idx="36"/>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5FD272E8-2E44-4954-A6F2-0FAC717692DB}" type="slidenum">
              <a:rPr lang="en-US"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
        <p:nvSpPr>
          <p:cNvPr id="64" name="PlaceHolder 4"/>
          <p:cNvSpPr>
            <a:spLocks noGrp="1"/>
          </p:cNvSpPr>
          <p:nvPr>
            <p:ph type="title"/>
          </p:nvPr>
        </p:nvSpPr>
        <p:spPr>
          <a:xfrm>
            <a:off x="608040" y="273600"/>
            <a:ext cx="10944720" cy="1144440"/>
          </a:xfrm>
          <a:prstGeom prst="rect">
            <a:avLst/>
          </a:prstGeom>
          <a:noFill/>
          <a:ln w="0">
            <a:noFill/>
          </a:ln>
        </p:spPr>
        <p:txBody>
          <a:bodyPr lIns="0" tIns="0" rIns="0" bIns="0" anchor="ctr">
            <a:noAutofit/>
          </a:bodyPr>
          <a:lstStyle/>
          <a:p>
            <a:pPr indent="0">
              <a:lnSpc>
                <a:spcPct val="100000"/>
              </a:lnSpc>
              <a:buNone/>
              <a:tabLst>
                <a:tab pos="0" algn="l"/>
              </a:tabLst>
            </a:pPr>
            <a:r>
              <a:rPr lang="en-US" sz="1800" b="0" u="none" strike="noStrike">
                <a:solidFill>
                  <a:schemeClr val="dk1"/>
                </a:solidFill>
                <a:effectLst/>
                <a:uFillTx/>
                <a:latin typeface="Calibri"/>
              </a:rPr>
              <a:t>Format des Titeltextes durch Klicken bearbeiten</a:t>
            </a:r>
            <a:endParaRPr lang="de-DE" sz="1800" b="0" u="none" strike="noStrike">
              <a:solidFill>
                <a:srgbClr val="000000"/>
              </a:solidFill>
              <a:effectLst/>
              <a:uFillTx/>
              <a:latin typeface="Arial"/>
            </a:endParaRPr>
          </a:p>
        </p:txBody>
      </p:sp>
      <p:sp>
        <p:nvSpPr>
          <p:cNvPr id="65" name="PlaceHolder 5"/>
          <p:cNvSpPr>
            <a:spLocks noGrp="1"/>
          </p:cNvSpPr>
          <p:nvPr>
            <p:ph type="body"/>
          </p:nvPr>
        </p:nvSpPr>
        <p:spPr>
          <a:xfrm>
            <a:off x="608040" y="1604520"/>
            <a:ext cx="10944720" cy="397692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Format des Gliederungstextes durch Klicken bearbeiten</a:t>
            </a:r>
            <a:endParaRPr lang="de-DE"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Zweite Gliederungsebene</a:t>
            </a:r>
            <a:endParaRPr lang="de-DE" sz="2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Dritte Gliederungsebene</a:t>
            </a:r>
            <a:endParaRPr lang="de-DE" sz="20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Vierte Gliederungsebene</a:t>
            </a:r>
            <a:endParaRPr lang="de-DE"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Fünfte Gliederungsebene</a:t>
            </a:r>
            <a:endParaRPr lang="de-DE"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Sechste Gliederungsebene</a:t>
            </a:r>
            <a:endParaRPr lang="de-DE"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Siebte Gliederungsebene</a:t>
            </a:r>
            <a:endParaRPr lang="de-DE"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61" r:id="rId1"/>
    <p:sldLayoutId id="214748368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7274430"/>
      </p:ext>
    </p:extLst>
  </p:cSld>
  <p:clrMap bg1="lt1" tx1="dk1" bg2="lt2" tx2="dk2" accent1="accent1" accent2="accent2" accent3="accent3" accent4="accent4" accent5="accent5" accent6="accent6" hlink="hlink" folHlink="folHlink"/>
  <p:sldLayoutIdLst>
    <p:sldLayoutId id="2147483664" r:id="rId1"/>
    <p:sldLayoutId id="2147483682" r:id="rId2"/>
  </p:sldLayoutIdLst>
  <p:hf sldNum="0" hdr="0" ftr="0" dt="0"/>
  <p:txStyles>
    <p:titleStyle>
      <a:lvl1pPr algn="ctr" defTabSz="912114" rtl="0" eaLnBrk="1" latinLnBrk="0" hangingPunct="1">
        <a:spcBef>
          <a:spcPct val="0"/>
        </a:spcBef>
        <a:buNone/>
        <a:defRPr sz="4389" kern="1200">
          <a:solidFill>
            <a:schemeClr val="tx1"/>
          </a:solidFill>
          <a:latin typeface="+mj-lt"/>
          <a:ea typeface="+mj-ea"/>
          <a:cs typeface="+mj-cs"/>
        </a:defRPr>
      </a:lvl1pPr>
    </p:titleStyle>
    <p:bodyStyle>
      <a:lvl1pPr marL="342043" indent="-342043" algn="l" defTabSz="912114" rtl="0" eaLnBrk="1" latinLnBrk="0" hangingPunct="1">
        <a:spcBef>
          <a:spcPct val="20000"/>
        </a:spcBef>
        <a:buFont typeface="Arial" pitchFamily="34" charset="0"/>
        <a:buChar char="•"/>
        <a:defRPr sz="3192" kern="1200">
          <a:solidFill>
            <a:schemeClr val="tx1"/>
          </a:solidFill>
          <a:latin typeface="+mn-lt"/>
          <a:ea typeface="+mn-ea"/>
          <a:cs typeface="+mn-cs"/>
        </a:defRPr>
      </a:lvl1pPr>
      <a:lvl2pPr marL="741093" indent="-285036" algn="l" defTabSz="912114" rtl="0" eaLnBrk="1" latinLnBrk="0" hangingPunct="1">
        <a:spcBef>
          <a:spcPct val="20000"/>
        </a:spcBef>
        <a:buFont typeface="Arial" pitchFamily="34" charset="0"/>
        <a:buChar char="–"/>
        <a:defRPr sz="2793" kern="1200">
          <a:solidFill>
            <a:schemeClr val="tx1"/>
          </a:solidFill>
          <a:latin typeface="+mn-lt"/>
          <a:ea typeface="+mn-ea"/>
          <a:cs typeface="+mn-cs"/>
        </a:defRPr>
      </a:lvl2pPr>
      <a:lvl3pPr marL="1140143" indent="-228029" algn="l" defTabSz="912114" rtl="0" eaLnBrk="1" latinLnBrk="0" hangingPunct="1">
        <a:spcBef>
          <a:spcPct val="20000"/>
        </a:spcBef>
        <a:buFont typeface="Arial" pitchFamily="34" charset="0"/>
        <a:buChar char="•"/>
        <a:defRPr sz="2394" kern="1200">
          <a:solidFill>
            <a:schemeClr val="tx1"/>
          </a:solidFill>
          <a:latin typeface="+mn-lt"/>
          <a:ea typeface="+mn-ea"/>
          <a:cs typeface="+mn-cs"/>
        </a:defRPr>
      </a:lvl3pPr>
      <a:lvl4pPr marL="1596200" indent="-228029" algn="l" defTabSz="912114" rtl="0" eaLnBrk="1" latinLnBrk="0" hangingPunct="1">
        <a:spcBef>
          <a:spcPct val="20000"/>
        </a:spcBef>
        <a:buFont typeface="Arial" pitchFamily="34" charset="0"/>
        <a:buChar char="–"/>
        <a:defRPr sz="1995" kern="1200">
          <a:solidFill>
            <a:schemeClr val="tx1"/>
          </a:solidFill>
          <a:latin typeface="+mn-lt"/>
          <a:ea typeface="+mn-ea"/>
          <a:cs typeface="+mn-cs"/>
        </a:defRPr>
      </a:lvl4pPr>
      <a:lvl5pPr marL="2052257" indent="-228029" algn="l" defTabSz="912114" rtl="0" eaLnBrk="1" latinLnBrk="0" hangingPunct="1">
        <a:spcBef>
          <a:spcPct val="20000"/>
        </a:spcBef>
        <a:buFont typeface="Arial" pitchFamily="34" charset="0"/>
        <a:buChar char="»"/>
        <a:defRPr sz="1995" kern="1200">
          <a:solidFill>
            <a:schemeClr val="tx1"/>
          </a:solidFill>
          <a:latin typeface="+mn-lt"/>
          <a:ea typeface="+mn-ea"/>
          <a:cs typeface="+mn-cs"/>
        </a:defRPr>
      </a:lvl5pPr>
      <a:lvl6pPr marL="2508314" indent="-228029" algn="l" defTabSz="912114" rtl="0" eaLnBrk="1" latinLnBrk="0" hangingPunct="1">
        <a:spcBef>
          <a:spcPct val="20000"/>
        </a:spcBef>
        <a:buFont typeface="Arial" pitchFamily="34" charset="0"/>
        <a:buChar char="•"/>
        <a:defRPr sz="1995" kern="1200">
          <a:solidFill>
            <a:schemeClr val="tx1"/>
          </a:solidFill>
          <a:latin typeface="+mn-lt"/>
          <a:ea typeface="+mn-ea"/>
          <a:cs typeface="+mn-cs"/>
        </a:defRPr>
      </a:lvl6pPr>
      <a:lvl7pPr marL="2964371" indent="-228029" algn="l" defTabSz="912114" rtl="0" eaLnBrk="1" latinLnBrk="0" hangingPunct="1">
        <a:spcBef>
          <a:spcPct val="20000"/>
        </a:spcBef>
        <a:buFont typeface="Arial" pitchFamily="34" charset="0"/>
        <a:buChar char="•"/>
        <a:defRPr sz="1995" kern="1200">
          <a:solidFill>
            <a:schemeClr val="tx1"/>
          </a:solidFill>
          <a:latin typeface="+mn-lt"/>
          <a:ea typeface="+mn-ea"/>
          <a:cs typeface="+mn-cs"/>
        </a:defRPr>
      </a:lvl7pPr>
      <a:lvl8pPr marL="3420428" indent="-228029" algn="l" defTabSz="912114" rtl="0" eaLnBrk="1" latinLnBrk="0" hangingPunct="1">
        <a:spcBef>
          <a:spcPct val="20000"/>
        </a:spcBef>
        <a:buFont typeface="Arial" pitchFamily="34" charset="0"/>
        <a:buChar char="•"/>
        <a:defRPr sz="1995" kern="1200">
          <a:solidFill>
            <a:schemeClr val="tx1"/>
          </a:solidFill>
          <a:latin typeface="+mn-lt"/>
          <a:ea typeface="+mn-ea"/>
          <a:cs typeface="+mn-cs"/>
        </a:defRPr>
      </a:lvl8pPr>
      <a:lvl9pPr marL="3876485" indent="-228029" algn="l" defTabSz="912114" rtl="0" eaLnBrk="1" latinLnBrk="0" hangingPunct="1">
        <a:spcBef>
          <a:spcPct val="20000"/>
        </a:spcBef>
        <a:buFont typeface="Arial" pitchFamily="34" charset="0"/>
        <a:buChar char="•"/>
        <a:defRPr sz="1995" kern="1200">
          <a:solidFill>
            <a:schemeClr val="tx1"/>
          </a:solidFill>
          <a:latin typeface="+mn-lt"/>
          <a:ea typeface="+mn-ea"/>
          <a:cs typeface="+mn-cs"/>
        </a:defRPr>
      </a:lvl9pPr>
    </p:bodyStyle>
    <p:otherStyle>
      <a:defPPr>
        <a:defRPr lang="en-US"/>
      </a:defPPr>
      <a:lvl1pPr marL="0" algn="l" defTabSz="912114" rtl="0" eaLnBrk="1" latinLnBrk="0" hangingPunct="1">
        <a:defRPr sz="1795" kern="1200">
          <a:solidFill>
            <a:schemeClr val="tx1"/>
          </a:solidFill>
          <a:latin typeface="+mn-lt"/>
          <a:ea typeface="+mn-ea"/>
          <a:cs typeface="+mn-cs"/>
        </a:defRPr>
      </a:lvl1pPr>
      <a:lvl2pPr marL="456057" algn="l" defTabSz="912114" rtl="0" eaLnBrk="1" latinLnBrk="0" hangingPunct="1">
        <a:defRPr sz="1795" kern="1200">
          <a:solidFill>
            <a:schemeClr val="tx1"/>
          </a:solidFill>
          <a:latin typeface="+mn-lt"/>
          <a:ea typeface="+mn-ea"/>
          <a:cs typeface="+mn-cs"/>
        </a:defRPr>
      </a:lvl2pPr>
      <a:lvl3pPr marL="912114" algn="l" defTabSz="912114" rtl="0" eaLnBrk="1" latinLnBrk="0" hangingPunct="1">
        <a:defRPr sz="1795" kern="1200">
          <a:solidFill>
            <a:schemeClr val="tx1"/>
          </a:solidFill>
          <a:latin typeface="+mn-lt"/>
          <a:ea typeface="+mn-ea"/>
          <a:cs typeface="+mn-cs"/>
        </a:defRPr>
      </a:lvl3pPr>
      <a:lvl4pPr marL="1368171" algn="l" defTabSz="912114" rtl="0" eaLnBrk="1" latinLnBrk="0" hangingPunct="1">
        <a:defRPr sz="1795" kern="1200">
          <a:solidFill>
            <a:schemeClr val="tx1"/>
          </a:solidFill>
          <a:latin typeface="+mn-lt"/>
          <a:ea typeface="+mn-ea"/>
          <a:cs typeface="+mn-cs"/>
        </a:defRPr>
      </a:lvl4pPr>
      <a:lvl5pPr marL="1824228" algn="l" defTabSz="912114" rtl="0" eaLnBrk="1" latinLnBrk="0" hangingPunct="1">
        <a:defRPr sz="1795" kern="1200">
          <a:solidFill>
            <a:schemeClr val="tx1"/>
          </a:solidFill>
          <a:latin typeface="+mn-lt"/>
          <a:ea typeface="+mn-ea"/>
          <a:cs typeface="+mn-cs"/>
        </a:defRPr>
      </a:lvl5pPr>
      <a:lvl6pPr marL="2280285" algn="l" defTabSz="912114" rtl="0" eaLnBrk="1" latinLnBrk="0" hangingPunct="1">
        <a:defRPr sz="1795" kern="1200">
          <a:solidFill>
            <a:schemeClr val="tx1"/>
          </a:solidFill>
          <a:latin typeface="+mn-lt"/>
          <a:ea typeface="+mn-ea"/>
          <a:cs typeface="+mn-cs"/>
        </a:defRPr>
      </a:lvl6pPr>
      <a:lvl7pPr marL="2736342" algn="l" defTabSz="912114" rtl="0" eaLnBrk="1" latinLnBrk="0" hangingPunct="1">
        <a:defRPr sz="1795" kern="1200">
          <a:solidFill>
            <a:schemeClr val="tx1"/>
          </a:solidFill>
          <a:latin typeface="+mn-lt"/>
          <a:ea typeface="+mn-ea"/>
          <a:cs typeface="+mn-cs"/>
        </a:defRPr>
      </a:lvl7pPr>
      <a:lvl8pPr marL="3192399" algn="l" defTabSz="912114" rtl="0" eaLnBrk="1" latinLnBrk="0" hangingPunct="1">
        <a:defRPr sz="1795" kern="1200">
          <a:solidFill>
            <a:schemeClr val="tx1"/>
          </a:solidFill>
          <a:latin typeface="+mn-lt"/>
          <a:ea typeface="+mn-ea"/>
          <a:cs typeface="+mn-cs"/>
        </a:defRPr>
      </a:lvl8pPr>
      <a:lvl9pPr marL="3648456" algn="l" defTabSz="912114" rtl="0" eaLnBrk="1" latinLnBrk="0" hangingPunct="1">
        <a:defRPr sz="179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PlaceHolder 1"/>
          <p:cNvSpPr>
            <a:spLocks noGrp="1"/>
          </p:cNvSpPr>
          <p:nvPr>
            <p:ph type="dt" idx="34"/>
          </p:nvPr>
        </p:nvSpPr>
        <p:spPr>
          <a:xfrm>
            <a:off x="457200" y="6356520"/>
            <a:ext cx="2133000" cy="364320"/>
          </a:xfrm>
          <a:prstGeom prst="rect">
            <a:avLst/>
          </a:prstGeom>
          <a:noFill/>
          <a:ln w="0">
            <a:noFill/>
          </a:ln>
        </p:spPr>
        <p:txBody>
          <a:bodyPr lIns="91440" tIns="45720" rIns="91440" bIns="45720" anchor="ctr">
            <a:noAutofit/>
          </a:bodyPr>
          <a:lstStyle>
            <a:lvl1pPr indent="0" defTabSz="456057">
              <a:lnSpc>
                <a:spcPct val="100000"/>
              </a:lnSpc>
              <a:buNone/>
              <a:tabLst>
                <a:tab pos="0" algn="l"/>
              </a:tabLst>
              <a:defRPr lang="en-US" sz="1197" b="0" u="none" strike="noStrike">
                <a:solidFill>
                  <a:schemeClr val="dk1">
                    <a:tint val="75000"/>
                  </a:schemeClr>
                </a:solidFill>
                <a:effectLst/>
                <a:uFillTx/>
                <a:latin typeface="Calibri"/>
              </a:defRPr>
            </a:lvl1pPr>
          </a:lstStyle>
          <a:p>
            <a:r>
              <a:rPr lang="de-DE"/>
              <a:t>&lt;Datum/Uhrzeit&gt;</a:t>
            </a:r>
            <a:endParaRPr lang="de-DE">
              <a:solidFill>
                <a:srgbClr val="000000"/>
              </a:solidFill>
              <a:latin typeface="Times New Roman"/>
            </a:endParaRPr>
          </a:p>
        </p:txBody>
      </p:sp>
      <p:sp>
        <p:nvSpPr>
          <p:cNvPr id="62" name="PlaceHolder 2"/>
          <p:cNvSpPr>
            <a:spLocks noGrp="1"/>
          </p:cNvSpPr>
          <p:nvPr>
            <p:ph type="ftr" idx="35"/>
          </p:nvPr>
        </p:nvSpPr>
        <p:spPr>
          <a:xfrm>
            <a:off x="3124081"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de-DE" sz="1397" b="0" u="none" strike="noStrike">
                <a:solidFill>
                  <a:srgbClr val="000000"/>
                </a:solidFill>
                <a:effectLst/>
                <a:uFillTx/>
                <a:latin typeface="Times New Roman"/>
              </a:defRPr>
            </a:lvl1pPr>
          </a:lstStyle>
          <a:p>
            <a:r>
              <a:rPr lang="de-DE"/>
              <a:t>&lt;Fußzeile&gt;</a:t>
            </a:r>
          </a:p>
        </p:txBody>
      </p:sp>
      <p:sp>
        <p:nvSpPr>
          <p:cNvPr id="63" name="PlaceHolder 3"/>
          <p:cNvSpPr>
            <a:spLocks noGrp="1"/>
          </p:cNvSpPr>
          <p:nvPr>
            <p:ph type="sldNum" idx="36"/>
          </p:nvPr>
        </p:nvSpPr>
        <p:spPr>
          <a:xfrm>
            <a:off x="6553080" y="6356520"/>
            <a:ext cx="2133000" cy="364320"/>
          </a:xfrm>
          <a:prstGeom prst="rect">
            <a:avLst/>
          </a:prstGeom>
          <a:noFill/>
          <a:ln w="0">
            <a:noFill/>
          </a:ln>
        </p:spPr>
        <p:txBody>
          <a:bodyPr lIns="91440" tIns="45720" rIns="91440" bIns="45720" anchor="ctr">
            <a:noAutofit/>
          </a:bodyPr>
          <a:lstStyle>
            <a:lvl1pPr indent="0" algn="r" defTabSz="456057">
              <a:lnSpc>
                <a:spcPct val="100000"/>
              </a:lnSpc>
              <a:buNone/>
              <a:tabLst>
                <a:tab pos="0" algn="l"/>
              </a:tabLst>
              <a:defRPr lang="en-US" sz="1197" b="0" u="none" strike="noStrike">
                <a:solidFill>
                  <a:schemeClr val="dk1">
                    <a:tint val="75000"/>
                  </a:schemeClr>
                </a:solidFill>
                <a:effectLst/>
                <a:uFillTx/>
                <a:latin typeface="Calibri"/>
              </a:defRPr>
            </a:lvl1pPr>
          </a:lstStyle>
          <a:p>
            <a:fld id="{5FD272E8-2E44-4954-A6F2-0FAC717692DB}" type="slidenum">
              <a:rPr lang="de-DE" smtClean="0"/>
              <a:pPr/>
              <a:t>‹Nr.›</a:t>
            </a:fld>
            <a:endParaRPr lang="de-DE">
              <a:solidFill>
                <a:srgbClr val="000000"/>
              </a:solidFill>
              <a:latin typeface="Times New Roman"/>
            </a:endParaRPr>
          </a:p>
        </p:txBody>
      </p:sp>
      <p:sp>
        <p:nvSpPr>
          <p:cNvPr id="64" name="PlaceHolder 4"/>
          <p:cNvSpPr>
            <a:spLocks noGrp="1"/>
          </p:cNvSpPr>
          <p:nvPr>
            <p:ph type="title"/>
          </p:nvPr>
        </p:nvSpPr>
        <p:spPr>
          <a:xfrm>
            <a:off x="608040" y="273600"/>
            <a:ext cx="10944720" cy="1144440"/>
          </a:xfrm>
          <a:prstGeom prst="rect">
            <a:avLst/>
          </a:prstGeom>
          <a:noFill/>
          <a:ln w="0">
            <a:noFill/>
          </a:ln>
        </p:spPr>
        <p:txBody>
          <a:bodyPr lIns="0" tIns="0" rIns="0" bIns="0" anchor="ctr">
            <a:noAutofit/>
          </a:bodyPr>
          <a:lstStyle/>
          <a:p>
            <a:pPr indent="0">
              <a:lnSpc>
                <a:spcPct val="100000"/>
              </a:lnSpc>
              <a:buNone/>
              <a:tabLst>
                <a:tab pos="0" algn="l"/>
              </a:tabLst>
            </a:pPr>
            <a:r>
              <a:rPr lang="en-US" sz="1795" b="0" u="none" strike="noStrike">
                <a:solidFill>
                  <a:schemeClr val="dk1"/>
                </a:solidFill>
                <a:effectLst/>
                <a:uFillTx/>
                <a:latin typeface="Calibri"/>
              </a:rPr>
              <a:t>Format des Titeltextes durch Klicken bearbeiten</a:t>
            </a:r>
            <a:endParaRPr lang="de-DE" sz="1795" b="0" u="none" strike="noStrike">
              <a:solidFill>
                <a:srgbClr val="000000"/>
              </a:solidFill>
              <a:effectLst/>
              <a:uFillTx/>
              <a:latin typeface="Arial"/>
            </a:endParaRPr>
          </a:p>
        </p:txBody>
      </p:sp>
      <p:sp>
        <p:nvSpPr>
          <p:cNvPr id="65" name="PlaceHolder 5"/>
          <p:cNvSpPr>
            <a:spLocks noGrp="1"/>
          </p:cNvSpPr>
          <p:nvPr>
            <p:ph type="body"/>
          </p:nvPr>
        </p:nvSpPr>
        <p:spPr>
          <a:xfrm>
            <a:off x="608040" y="1604520"/>
            <a:ext cx="10944720" cy="397692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US" sz="3192" b="0" u="none" strike="noStrike">
                <a:solidFill>
                  <a:schemeClr val="dk1"/>
                </a:solidFill>
                <a:effectLst/>
                <a:uFillTx/>
                <a:latin typeface="Calibri"/>
              </a:rPr>
              <a:t>Format des Gliederungstextes durch Klicken bearbeiten</a:t>
            </a:r>
            <a:endParaRPr lang="de-DE" sz="3192" b="0" u="none" strike="noStrike">
              <a:solidFill>
                <a:srgbClr val="000000"/>
              </a:solidFill>
              <a:effectLst/>
              <a:uFillTx/>
              <a:latin typeface="Arial"/>
            </a:endParaRPr>
          </a:p>
          <a:p>
            <a:pPr marL="861840" lvl="1" indent="-323190">
              <a:lnSpc>
                <a:spcPct val="100000"/>
              </a:lnSpc>
              <a:spcBef>
                <a:spcPts val="1131"/>
              </a:spcBef>
              <a:buClr>
                <a:srgbClr val="000000"/>
              </a:buClr>
              <a:buSzPct val="75000"/>
              <a:buFont typeface="Symbol" charset="2"/>
              <a:buChar char=""/>
            </a:pPr>
            <a:r>
              <a:rPr lang="en-US" sz="2394" b="0" u="none" strike="noStrike">
                <a:solidFill>
                  <a:schemeClr val="dk1"/>
                </a:solidFill>
                <a:effectLst/>
                <a:uFillTx/>
                <a:latin typeface="Calibri"/>
              </a:rPr>
              <a:t>Zweite Gliederungsebene</a:t>
            </a:r>
            <a:endParaRPr lang="de-DE" sz="2394" b="0" u="none" strike="noStrike">
              <a:solidFill>
                <a:srgbClr val="000000"/>
              </a:solidFill>
              <a:effectLst/>
              <a:uFillTx/>
              <a:latin typeface="Arial"/>
            </a:endParaRPr>
          </a:p>
          <a:p>
            <a:pPr marL="1292760" lvl="2" indent="-287280">
              <a:lnSpc>
                <a:spcPct val="100000"/>
              </a:lnSpc>
              <a:spcBef>
                <a:spcPts val="848"/>
              </a:spcBef>
              <a:buClr>
                <a:srgbClr val="000000"/>
              </a:buClr>
              <a:buSzPct val="45000"/>
              <a:buFont typeface="Wingdings" charset="2"/>
              <a:buChar char=""/>
            </a:pPr>
            <a:r>
              <a:rPr lang="en-US" sz="1995" b="0" u="none" strike="noStrike">
                <a:solidFill>
                  <a:schemeClr val="dk1"/>
                </a:solidFill>
                <a:effectLst/>
                <a:uFillTx/>
                <a:latin typeface="Calibri"/>
              </a:rPr>
              <a:t>Dritte Gliederungsebene</a:t>
            </a:r>
            <a:endParaRPr lang="de-DE" sz="1995" b="0" u="none" strike="noStrike">
              <a:solidFill>
                <a:srgbClr val="000000"/>
              </a:solidFill>
              <a:effectLst/>
              <a:uFillTx/>
              <a:latin typeface="Arial"/>
            </a:endParaRPr>
          </a:p>
          <a:p>
            <a:pPr marL="1723680" lvl="3" indent="-215460">
              <a:lnSpc>
                <a:spcPct val="100000"/>
              </a:lnSpc>
              <a:spcBef>
                <a:spcPts val="566"/>
              </a:spcBef>
              <a:buClr>
                <a:srgbClr val="000000"/>
              </a:buClr>
              <a:buSzPct val="75000"/>
              <a:buFont typeface="Symbol" charset="2"/>
              <a:buChar char=""/>
            </a:pPr>
            <a:r>
              <a:rPr lang="en-US" sz="1995" b="0" u="none" strike="noStrike">
                <a:solidFill>
                  <a:schemeClr val="dk1"/>
                </a:solidFill>
                <a:effectLst/>
                <a:uFillTx/>
                <a:latin typeface="Calibri"/>
              </a:rPr>
              <a:t>Vierte Gliederungsebene</a:t>
            </a:r>
            <a:endParaRPr lang="de-DE" sz="1995" b="0" u="none" strike="noStrike">
              <a:solidFill>
                <a:srgbClr val="000000"/>
              </a:solidFill>
              <a:effectLst/>
              <a:uFillTx/>
              <a:latin typeface="Arial"/>
            </a:endParaRPr>
          </a:p>
          <a:p>
            <a:pPr marL="2154600" lvl="4" indent="-215460">
              <a:lnSpc>
                <a:spcPct val="100000"/>
              </a:lnSpc>
              <a:spcBef>
                <a:spcPts val="282"/>
              </a:spcBef>
              <a:buClr>
                <a:srgbClr val="000000"/>
              </a:buClr>
              <a:buSzPct val="45000"/>
              <a:buFont typeface="Wingdings" charset="2"/>
              <a:buChar char=""/>
            </a:pPr>
            <a:r>
              <a:rPr lang="en-US" sz="1995" b="0" u="none" strike="noStrike">
                <a:solidFill>
                  <a:schemeClr val="dk1"/>
                </a:solidFill>
                <a:effectLst/>
                <a:uFillTx/>
                <a:latin typeface="Calibri"/>
              </a:rPr>
              <a:t>Fünfte Gliederungsebene</a:t>
            </a:r>
            <a:endParaRPr lang="de-DE" sz="1995" b="0" u="none" strike="noStrike">
              <a:solidFill>
                <a:srgbClr val="000000"/>
              </a:solidFill>
              <a:effectLst/>
              <a:uFillTx/>
              <a:latin typeface="Arial"/>
            </a:endParaRPr>
          </a:p>
          <a:p>
            <a:pPr marL="2585520" lvl="5" indent="-215460">
              <a:lnSpc>
                <a:spcPct val="100000"/>
              </a:lnSpc>
              <a:spcBef>
                <a:spcPts val="282"/>
              </a:spcBef>
              <a:buClr>
                <a:srgbClr val="000000"/>
              </a:buClr>
              <a:buSzPct val="45000"/>
              <a:buFont typeface="Wingdings" charset="2"/>
              <a:buChar char=""/>
            </a:pPr>
            <a:r>
              <a:rPr lang="en-US" sz="1995" b="0" u="none" strike="noStrike">
                <a:solidFill>
                  <a:schemeClr val="dk1"/>
                </a:solidFill>
                <a:effectLst/>
                <a:uFillTx/>
                <a:latin typeface="Calibri"/>
              </a:rPr>
              <a:t>Sechste Gliederungsebene</a:t>
            </a:r>
            <a:endParaRPr lang="de-DE" sz="1995" b="0" u="none" strike="noStrike">
              <a:solidFill>
                <a:srgbClr val="000000"/>
              </a:solidFill>
              <a:effectLst/>
              <a:uFillTx/>
              <a:latin typeface="Arial"/>
            </a:endParaRPr>
          </a:p>
          <a:p>
            <a:pPr marL="3016440" lvl="6" indent="-215460">
              <a:lnSpc>
                <a:spcPct val="100000"/>
              </a:lnSpc>
              <a:spcBef>
                <a:spcPts val="282"/>
              </a:spcBef>
              <a:buClr>
                <a:srgbClr val="000000"/>
              </a:buClr>
              <a:buSzPct val="45000"/>
              <a:buFont typeface="Wingdings" charset="2"/>
              <a:buChar char=""/>
            </a:pPr>
            <a:r>
              <a:rPr lang="en-US" sz="1995" b="0" u="none" strike="noStrike">
                <a:solidFill>
                  <a:schemeClr val="dk1"/>
                </a:solidFill>
                <a:effectLst/>
                <a:uFillTx/>
                <a:latin typeface="Calibri"/>
              </a:rPr>
              <a:t>Siebte Gliederungsebene</a:t>
            </a:r>
            <a:endParaRPr lang="de-DE" sz="1995" b="0" u="none" strike="noStrike">
              <a:solidFill>
                <a:srgbClr val="000000"/>
              </a:solidFill>
              <a:effectLst/>
              <a:uFillTx/>
              <a:latin typeface="Arial"/>
            </a:endParaRPr>
          </a:p>
        </p:txBody>
      </p:sp>
    </p:spTree>
    <p:extLst>
      <p:ext uri="{BB962C8B-B14F-4D97-AF65-F5344CB8AC3E}">
        <p14:creationId xmlns:p14="http://schemas.microsoft.com/office/powerpoint/2010/main" val="3750716789"/>
      </p:ext>
    </p:extLst>
  </p:cSld>
  <p:clrMap bg1="lt1" tx1="dk1" bg2="lt2" tx2="dk2" accent1="accent1" accent2="accent2" accent3="accent3" accent4="accent4" accent5="accent5" accent6="accent6" hlink="hlink" folHlink="folHlink"/>
  <p:sldLayoutIdLst>
    <p:sldLayoutId id="2147483666" r:id="rId1"/>
    <p:sldLayoutId id="2147483697" r:id="rId2"/>
  </p:sldLayoutIdLst>
  <p:txStyles>
    <p:titleStyle>
      <a:lvl1pPr indent="0" algn="l" defTabSz="912114" rtl="0" eaLnBrk="1" latinLnBrk="0" hangingPunct="1">
        <a:lnSpc>
          <a:spcPct val="100000"/>
        </a:lnSpc>
        <a:spcBef>
          <a:spcPct val="0"/>
        </a:spcBef>
        <a:buNone/>
        <a:tabLst>
          <a:tab pos="0" algn="l"/>
        </a:tabLst>
        <a:defRPr sz="4389" kern="1200">
          <a:solidFill>
            <a:schemeClr val="tx1"/>
          </a:solidFill>
          <a:latin typeface="+mj-lt"/>
          <a:ea typeface="+mj-ea"/>
          <a:cs typeface="+mj-cs"/>
        </a:defRPr>
      </a:lvl1pPr>
    </p:titleStyle>
    <p:bodyStyle>
      <a:lvl1pPr marL="430920" indent="-323190" algn="l" defTabSz="912114" rtl="0" eaLnBrk="1" latinLnBrk="0" hangingPunct="1">
        <a:lnSpc>
          <a:spcPct val="100000"/>
        </a:lnSpc>
        <a:spcBef>
          <a:spcPts val="1413"/>
        </a:spcBef>
        <a:buClr>
          <a:srgbClr val="000000"/>
        </a:buClr>
        <a:buSzPct val="45000"/>
        <a:buFont typeface="Wingdings" charset="2"/>
        <a:buChar char=""/>
        <a:defRPr sz="2793" kern="1200">
          <a:solidFill>
            <a:schemeClr val="tx1"/>
          </a:solidFill>
          <a:latin typeface="+mn-lt"/>
          <a:ea typeface="+mn-ea"/>
          <a:cs typeface="+mn-cs"/>
        </a:defRPr>
      </a:lvl1pPr>
      <a:lvl2pPr marL="684086" indent="-228029" algn="l" defTabSz="912114" rtl="0" eaLnBrk="1" latinLnBrk="0" hangingPunct="1">
        <a:lnSpc>
          <a:spcPct val="90000"/>
        </a:lnSpc>
        <a:spcBef>
          <a:spcPts val="499"/>
        </a:spcBef>
        <a:buFont typeface="Arial" panose="020B0604020202020204" pitchFamily="34" charset="0"/>
        <a:buChar char="•"/>
        <a:defRPr sz="2394" kern="1200">
          <a:solidFill>
            <a:schemeClr val="tx1"/>
          </a:solidFill>
          <a:latin typeface="+mn-lt"/>
          <a:ea typeface="+mn-ea"/>
          <a:cs typeface="+mn-cs"/>
        </a:defRPr>
      </a:lvl2pPr>
      <a:lvl3pPr marL="1140143" indent="-228029" algn="l" defTabSz="912114" rtl="0" eaLnBrk="1" latinLnBrk="0" hangingPunct="1">
        <a:lnSpc>
          <a:spcPct val="90000"/>
        </a:lnSpc>
        <a:spcBef>
          <a:spcPts val="499"/>
        </a:spcBef>
        <a:buFont typeface="Arial" panose="020B0604020202020204" pitchFamily="34" charset="0"/>
        <a:buChar char="•"/>
        <a:defRPr sz="1995" kern="1200">
          <a:solidFill>
            <a:schemeClr val="tx1"/>
          </a:solidFill>
          <a:latin typeface="+mn-lt"/>
          <a:ea typeface="+mn-ea"/>
          <a:cs typeface="+mn-cs"/>
        </a:defRPr>
      </a:lvl3pPr>
      <a:lvl4pPr marL="1596200"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4pPr>
      <a:lvl5pPr marL="2052257"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5pPr>
      <a:lvl6pPr marL="2508314"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6pPr>
      <a:lvl7pPr marL="2964371"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7pPr>
      <a:lvl8pPr marL="3420428"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8pPr>
      <a:lvl9pPr marL="3876485"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9pPr>
    </p:bodyStyle>
    <p:otherStyle>
      <a:defPPr>
        <a:defRPr lang="de-DE"/>
      </a:defPPr>
      <a:lvl1pPr marL="0" algn="l" defTabSz="912114" rtl="0" eaLnBrk="1" latinLnBrk="0" hangingPunct="1">
        <a:defRPr sz="1795" kern="1200">
          <a:solidFill>
            <a:schemeClr val="tx1"/>
          </a:solidFill>
          <a:latin typeface="+mn-lt"/>
          <a:ea typeface="+mn-ea"/>
          <a:cs typeface="+mn-cs"/>
        </a:defRPr>
      </a:lvl1pPr>
      <a:lvl2pPr marL="456057" algn="l" defTabSz="912114" rtl="0" eaLnBrk="1" latinLnBrk="0" hangingPunct="1">
        <a:defRPr sz="1795" kern="1200">
          <a:solidFill>
            <a:schemeClr val="tx1"/>
          </a:solidFill>
          <a:latin typeface="+mn-lt"/>
          <a:ea typeface="+mn-ea"/>
          <a:cs typeface="+mn-cs"/>
        </a:defRPr>
      </a:lvl2pPr>
      <a:lvl3pPr marL="912114" algn="l" defTabSz="912114" rtl="0" eaLnBrk="1" latinLnBrk="0" hangingPunct="1">
        <a:defRPr sz="1795" kern="1200">
          <a:solidFill>
            <a:schemeClr val="tx1"/>
          </a:solidFill>
          <a:latin typeface="+mn-lt"/>
          <a:ea typeface="+mn-ea"/>
          <a:cs typeface="+mn-cs"/>
        </a:defRPr>
      </a:lvl3pPr>
      <a:lvl4pPr marL="1368171" algn="l" defTabSz="912114" rtl="0" eaLnBrk="1" latinLnBrk="0" hangingPunct="1">
        <a:defRPr sz="1795" kern="1200">
          <a:solidFill>
            <a:schemeClr val="tx1"/>
          </a:solidFill>
          <a:latin typeface="+mn-lt"/>
          <a:ea typeface="+mn-ea"/>
          <a:cs typeface="+mn-cs"/>
        </a:defRPr>
      </a:lvl4pPr>
      <a:lvl5pPr marL="1824228" algn="l" defTabSz="912114" rtl="0" eaLnBrk="1" latinLnBrk="0" hangingPunct="1">
        <a:defRPr sz="1795" kern="1200">
          <a:solidFill>
            <a:schemeClr val="tx1"/>
          </a:solidFill>
          <a:latin typeface="+mn-lt"/>
          <a:ea typeface="+mn-ea"/>
          <a:cs typeface="+mn-cs"/>
        </a:defRPr>
      </a:lvl5pPr>
      <a:lvl6pPr marL="2280285" algn="l" defTabSz="912114" rtl="0" eaLnBrk="1" latinLnBrk="0" hangingPunct="1">
        <a:defRPr sz="1795" kern="1200">
          <a:solidFill>
            <a:schemeClr val="tx1"/>
          </a:solidFill>
          <a:latin typeface="+mn-lt"/>
          <a:ea typeface="+mn-ea"/>
          <a:cs typeface="+mn-cs"/>
        </a:defRPr>
      </a:lvl6pPr>
      <a:lvl7pPr marL="2736342" algn="l" defTabSz="912114" rtl="0" eaLnBrk="1" latinLnBrk="0" hangingPunct="1">
        <a:defRPr sz="1795" kern="1200">
          <a:solidFill>
            <a:schemeClr val="tx1"/>
          </a:solidFill>
          <a:latin typeface="+mn-lt"/>
          <a:ea typeface="+mn-ea"/>
          <a:cs typeface="+mn-cs"/>
        </a:defRPr>
      </a:lvl7pPr>
      <a:lvl8pPr marL="3192399" algn="l" defTabSz="912114" rtl="0" eaLnBrk="1" latinLnBrk="0" hangingPunct="1">
        <a:defRPr sz="1795" kern="1200">
          <a:solidFill>
            <a:schemeClr val="tx1"/>
          </a:solidFill>
          <a:latin typeface="+mn-lt"/>
          <a:ea typeface="+mn-ea"/>
          <a:cs typeface="+mn-cs"/>
        </a:defRPr>
      </a:lvl8pPr>
      <a:lvl9pPr marL="3648456" algn="l" defTabSz="912114" rtl="0" eaLnBrk="1" latinLnBrk="0" hangingPunct="1">
        <a:defRPr sz="179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64500108-F45D-E66D-EF45-DF95D8F1DE3D}"/>
              </a:ext>
            </a:extLst>
          </p:cNvPr>
          <p:cNvSpPr>
            <a:spLocks noGrp="1"/>
          </p:cNvSpPr>
          <p:nvPr>
            <p:ph type="title"/>
          </p:nvPr>
        </p:nvSpPr>
        <p:spPr>
          <a:xfrm>
            <a:off x="836127" y="365126"/>
            <a:ext cx="10489585"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2E33B7F0-6142-3148-CCB7-6EAE36636D9D}"/>
              </a:ext>
            </a:extLst>
          </p:cNvPr>
          <p:cNvSpPr>
            <a:spLocks noGrp="1"/>
          </p:cNvSpPr>
          <p:nvPr>
            <p:ph type="body" idx="1"/>
          </p:nvPr>
        </p:nvSpPr>
        <p:spPr>
          <a:xfrm>
            <a:off x="836127" y="1825625"/>
            <a:ext cx="10489585"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AB25096-F419-9FA9-2D22-F577AB784B4B}"/>
              </a:ext>
            </a:extLst>
          </p:cNvPr>
          <p:cNvSpPr>
            <a:spLocks noGrp="1"/>
          </p:cNvSpPr>
          <p:nvPr>
            <p:ph type="dt" sz="half" idx="2"/>
          </p:nvPr>
        </p:nvSpPr>
        <p:spPr>
          <a:xfrm>
            <a:off x="836126" y="6356351"/>
            <a:ext cx="2736414" cy="365125"/>
          </a:xfrm>
          <a:prstGeom prst="rect">
            <a:avLst/>
          </a:prstGeom>
        </p:spPr>
        <p:txBody>
          <a:bodyPr vert="horz" lIns="91440" tIns="45720" rIns="91440" bIns="45720" rtlCol="0" anchor="ctr"/>
          <a:lstStyle>
            <a:lvl1pPr algn="l">
              <a:defRPr sz="1197">
                <a:solidFill>
                  <a:schemeClr val="tx1">
                    <a:tint val="82000"/>
                  </a:schemeClr>
                </a:solidFill>
              </a:defRPr>
            </a:lvl1pPr>
          </a:lstStyle>
          <a:p>
            <a:fld id="{6BE48996-CD14-44F7-92FB-DBD10A0346AA}" type="datetimeFigureOut">
              <a:rPr lang="de-DE" smtClean="0"/>
              <a:t>24.07.2026</a:t>
            </a:fld>
            <a:endParaRPr lang="de-DE"/>
          </a:p>
        </p:txBody>
      </p:sp>
      <p:sp>
        <p:nvSpPr>
          <p:cNvPr id="5" name="Fußzeilenplatzhalter 4">
            <a:extLst>
              <a:ext uri="{FF2B5EF4-FFF2-40B4-BE49-F238E27FC236}">
                <a16:creationId xmlns:a16="http://schemas.microsoft.com/office/drawing/2014/main" id="{D3C2DFBA-4CCA-979B-3EC9-CDB002CA4D4B}"/>
              </a:ext>
            </a:extLst>
          </p:cNvPr>
          <p:cNvSpPr>
            <a:spLocks noGrp="1"/>
          </p:cNvSpPr>
          <p:nvPr>
            <p:ph type="ftr" sz="quarter" idx="3"/>
          </p:nvPr>
        </p:nvSpPr>
        <p:spPr>
          <a:xfrm>
            <a:off x="4028609" y="6356351"/>
            <a:ext cx="4104620" cy="365125"/>
          </a:xfrm>
          <a:prstGeom prst="rect">
            <a:avLst/>
          </a:prstGeom>
        </p:spPr>
        <p:txBody>
          <a:bodyPr vert="horz" lIns="91440" tIns="45720" rIns="91440" bIns="45720" rtlCol="0" anchor="ctr"/>
          <a:lstStyle>
            <a:lvl1pPr algn="ctr">
              <a:defRPr sz="1197">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2EDE8F3A-3783-CAC6-92C7-EC249D8D431F}"/>
              </a:ext>
            </a:extLst>
          </p:cNvPr>
          <p:cNvSpPr>
            <a:spLocks noGrp="1"/>
          </p:cNvSpPr>
          <p:nvPr>
            <p:ph type="sldNum" sz="quarter" idx="4"/>
          </p:nvPr>
        </p:nvSpPr>
        <p:spPr>
          <a:xfrm>
            <a:off x="8589298" y="6356351"/>
            <a:ext cx="2736414" cy="365125"/>
          </a:xfrm>
          <a:prstGeom prst="rect">
            <a:avLst/>
          </a:prstGeom>
        </p:spPr>
        <p:txBody>
          <a:bodyPr vert="horz" lIns="91440" tIns="45720" rIns="91440" bIns="45720" rtlCol="0" anchor="ctr"/>
          <a:lstStyle>
            <a:lvl1pPr algn="r">
              <a:defRPr sz="1197">
                <a:solidFill>
                  <a:schemeClr val="tx1">
                    <a:tint val="82000"/>
                  </a:schemeClr>
                </a:solidFill>
              </a:defRPr>
            </a:lvl1pPr>
          </a:lstStyle>
          <a:p>
            <a:fld id="{04C44946-DCE4-4C28-9D83-5A3EB0BF1984}" type="slidenum">
              <a:rPr lang="de-DE" smtClean="0"/>
              <a:t>‹Nr.›</a:t>
            </a:fld>
            <a:endParaRPr lang="de-DE"/>
          </a:p>
        </p:txBody>
      </p:sp>
    </p:spTree>
    <p:extLst>
      <p:ext uri="{BB962C8B-B14F-4D97-AF65-F5344CB8AC3E}">
        <p14:creationId xmlns:p14="http://schemas.microsoft.com/office/powerpoint/2010/main" val="1708209195"/>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Lst>
  <p:txStyles>
    <p:titleStyle>
      <a:lvl1pPr algn="l" defTabSz="912114" rtl="0" eaLnBrk="1" latinLnBrk="0" hangingPunct="1">
        <a:lnSpc>
          <a:spcPct val="90000"/>
        </a:lnSpc>
        <a:spcBef>
          <a:spcPct val="0"/>
        </a:spcBef>
        <a:buNone/>
        <a:defRPr sz="4389" kern="1200">
          <a:solidFill>
            <a:schemeClr val="tx1"/>
          </a:solidFill>
          <a:latin typeface="+mj-lt"/>
          <a:ea typeface="+mj-ea"/>
          <a:cs typeface="+mj-cs"/>
        </a:defRPr>
      </a:lvl1pPr>
    </p:titleStyle>
    <p:bodyStyle>
      <a:lvl1pPr marL="228029" indent="-228029" algn="l" defTabSz="912114" rtl="0" eaLnBrk="1" latinLnBrk="0" hangingPunct="1">
        <a:lnSpc>
          <a:spcPct val="90000"/>
        </a:lnSpc>
        <a:spcBef>
          <a:spcPts val="998"/>
        </a:spcBef>
        <a:buFont typeface="Arial" panose="020B0604020202020204" pitchFamily="34" charset="0"/>
        <a:buChar char="•"/>
        <a:defRPr sz="2793" kern="1200">
          <a:solidFill>
            <a:schemeClr val="tx1"/>
          </a:solidFill>
          <a:latin typeface="+mn-lt"/>
          <a:ea typeface="+mn-ea"/>
          <a:cs typeface="+mn-cs"/>
        </a:defRPr>
      </a:lvl1pPr>
      <a:lvl2pPr marL="684086" indent="-228029" algn="l" defTabSz="912114" rtl="0" eaLnBrk="1" latinLnBrk="0" hangingPunct="1">
        <a:lnSpc>
          <a:spcPct val="90000"/>
        </a:lnSpc>
        <a:spcBef>
          <a:spcPts val="499"/>
        </a:spcBef>
        <a:buFont typeface="Arial" panose="020B0604020202020204" pitchFamily="34" charset="0"/>
        <a:buChar char="•"/>
        <a:defRPr sz="2394" kern="1200">
          <a:solidFill>
            <a:schemeClr val="tx1"/>
          </a:solidFill>
          <a:latin typeface="+mn-lt"/>
          <a:ea typeface="+mn-ea"/>
          <a:cs typeface="+mn-cs"/>
        </a:defRPr>
      </a:lvl2pPr>
      <a:lvl3pPr marL="1140143" indent="-228029" algn="l" defTabSz="912114" rtl="0" eaLnBrk="1" latinLnBrk="0" hangingPunct="1">
        <a:lnSpc>
          <a:spcPct val="90000"/>
        </a:lnSpc>
        <a:spcBef>
          <a:spcPts val="499"/>
        </a:spcBef>
        <a:buFont typeface="Arial" panose="020B0604020202020204" pitchFamily="34" charset="0"/>
        <a:buChar char="•"/>
        <a:defRPr sz="1995" kern="1200">
          <a:solidFill>
            <a:schemeClr val="tx1"/>
          </a:solidFill>
          <a:latin typeface="+mn-lt"/>
          <a:ea typeface="+mn-ea"/>
          <a:cs typeface="+mn-cs"/>
        </a:defRPr>
      </a:lvl3pPr>
      <a:lvl4pPr marL="1596200"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4pPr>
      <a:lvl5pPr marL="2052257"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5pPr>
      <a:lvl6pPr marL="2508314"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6pPr>
      <a:lvl7pPr marL="2964371"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7pPr>
      <a:lvl8pPr marL="3420428"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8pPr>
      <a:lvl9pPr marL="3876485"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9pPr>
    </p:bodyStyle>
    <p:otherStyle>
      <a:defPPr>
        <a:defRPr lang="de-DE"/>
      </a:defPPr>
      <a:lvl1pPr marL="0" algn="l" defTabSz="912114" rtl="0" eaLnBrk="1" latinLnBrk="0" hangingPunct="1">
        <a:defRPr sz="1795" kern="1200">
          <a:solidFill>
            <a:schemeClr val="tx1"/>
          </a:solidFill>
          <a:latin typeface="+mn-lt"/>
          <a:ea typeface="+mn-ea"/>
          <a:cs typeface="+mn-cs"/>
        </a:defRPr>
      </a:lvl1pPr>
      <a:lvl2pPr marL="456057" algn="l" defTabSz="912114" rtl="0" eaLnBrk="1" latinLnBrk="0" hangingPunct="1">
        <a:defRPr sz="1795" kern="1200">
          <a:solidFill>
            <a:schemeClr val="tx1"/>
          </a:solidFill>
          <a:latin typeface="+mn-lt"/>
          <a:ea typeface="+mn-ea"/>
          <a:cs typeface="+mn-cs"/>
        </a:defRPr>
      </a:lvl2pPr>
      <a:lvl3pPr marL="912114" algn="l" defTabSz="912114" rtl="0" eaLnBrk="1" latinLnBrk="0" hangingPunct="1">
        <a:defRPr sz="1795" kern="1200">
          <a:solidFill>
            <a:schemeClr val="tx1"/>
          </a:solidFill>
          <a:latin typeface="+mn-lt"/>
          <a:ea typeface="+mn-ea"/>
          <a:cs typeface="+mn-cs"/>
        </a:defRPr>
      </a:lvl3pPr>
      <a:lvl4pPr marL="1368171" algn="l" defTabSz="912114" rtl="0" eaLnBrk="1" latinLnBrk="0" hangingPunct="1">
        <a:defRPr sz="1795" kern="1200">
          <a:solidFill>
            <a:schemeClr val="tx1"/>
          </a:solidFill>
          <a:latin typeface="+mn-lt"/>
          <a:ea typeface="+mn-ea"/>
          <a:cs typeface="+mn-cs"/>
        </a:defRPr>
      </a:lvl4pPr>
      <a:lvl5pPr marL="1824228" algn="l" defTabSz="912114" rtl="0" eaLnBrk="1" latinLnBrk="0" hangingPunct="1">
        <a:defRPr sz="1795" kern="1200">
          <a:solidFill>
            <a:schemeClr val="tx1"/>
          </a:solidFill>
          <a:latin typeface="+mn-lt"/>
          <a:ea typeface="+mn-ea"/>
          <a:cs typeface="+mn-cs"/>
        </a:defRPr>
      </a:lvl5pPr>
      <a:lvl6pPr marL="2280285" algn="l" defTabSz="912114" rtl="0" eaLnBrk="1" latinLnBrk="0" hangingPunct="1">
        <a:defRPr sz="1795" kern="1200">
          <a:solidFill>
            <a:schemeClr val="tx1"/>
          </a:solidFill>
          <a:latin typeface="+mn-lt"/>
          <a:ea typeface="+mn-ea"/>
          <a:cs typeface="+mn-cs"/>
        </a:defRPr>
      </a:lvl6pPr>
      <a:lvl7pPr marL="2736342" algn="l" defTabSz="912114" rtl="0" eaLnBrk="1" latinLnBrk="0" hangingPunct="1">
        <a:defRPr sz="1795" kern="1200">
          <a:solidFill>
            <a:schemeClr val="tx1"/>
          </a:solidFill>
          <a:latin typeface="+mn-lt"/>
          <a:ea typeface="+mn-ea"/>
          <a:cs typeface="+mn-cs"/>
        </a:defRPr>
      </a:lvl7pPr>
      <a:lvl8pPr marL="3192399" algn="l" defTabSz="912114" rtl="0" eaLnBrk="1" latinLnBrk="0" hangingPunct="1">
        <a:defRPr sz="1795" kern="1200">
          <a:solidFill>
            <a:schemeClr val="tx1"/>
          </a:solidFill>
          <a:latin typeface="+mn-lt"/>
          <a:ea typeface="+mn-ea"/>
          <a:cs typeface="+mn-cs"/>
        </a:defRPr>
      </a:lvl8pPr>
      <a:lvl9pPr marL="3648456" algn="l" defTabSz="912114" rtl="0" eaLnBrk="1" latinLnBrk="0" hangingPunct="1">
        <a:defRPr sz="179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9.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hyperlink" Target="https://archive.ics.uci.edu/dataset/501/beijing+multi+site+air+quality+data" TargetMode="External"/><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6.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9.xml"/><Relationship Id="rId4" Type="http://schemas.openxmlformats.org/officeDocument/2006/relationships/image" Target="../media/image41.png"/></Relationships>
</file>

<file path=ppt/slides/_rels/slide4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hyperlink" Target="https://bettina2805.github.io/AIForBusinessPrognosis_fv/" TargetMode="Externa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1.xml"/></Relationships>
</file>

<file path=ppt/slides/_rels/slide5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0.xml"/></Relationships>
</file>

<file path=ppt/slides/_rels/slide5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1"/>
          <p:cNvPicPr/>
          <p:nvPr/>
        </p:nvPicPr>
        <p:blipFill>
          <a:blip r:embed="rId3"/>
          <a:stretch/>
        </p:blipFill>
        <p:spPr>
          <a:xfrm>
            <a:off x="360" y="11520"/>
            <a:ext cx="12161160" cy="6834240"/>
          </a:xfrm>
          <a:prstGeom prst="rect">
            <a:avLst/>
          </a:prstGeom>
          <a:noFill/>
          <a:ln w="0">
            <a:noFill/>
          </a:ln>
        </p:spPr>
      </p:pic>
      <p:sp>
        <p:nvSpPr>
          <p:cNvPr id="73" name="TextBox 2"/>
          <p:cNvSpPr/>
          <p:nvPr/>
        </p:nvSpPr>
        <p:spPr>
          <a:xfrm>
            <a:off x="511200" y="192960"/>
            <a:ext cx="10972440" cy="214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spc="300">
                <a:solidFill>
                  <a:srgbClr val="E9D9BE"/>
                </a:solidFill>
                <a:effectLst/>
                <a:uFillTx/>
                <a:latin typeface="Calibri"/>
              </a:rPr>
              <a:t>CAPSTONE-PROJEKT  ·  BUSINESS PROGNOSIS</a:t>
            </a:r>
            <a:r>
              <a:rPr lang="de-DE" sz="1400" b="1" u="none" strike="noStrike" spc="300">
                <a:solidFill>
                  <a:srgbClr val="E9D9BE"/>
                </a:solidFill>
                <a:effectLst/>
                <a:uFillTx/>
                <a:latin typeface="Calibri"/>
              </a:rPr>
              <a:t> SS 2026</a:t>
            </a:r>
            <a:endParaRPr lang="de-DE" sz="1400" b="0" u="none" strike="noStrike">
              <a:solidFill>
                <a:srgbClr val="000000"/>
              </a:solidFill>
              <a:effectLst/>
              <a:uFillTx/>
              <a:latin typeface="Arial"/>
            </a:endParaRPr>
          </a:p>
        </p:txBody>
      </p:sp>
      <p:sp>
        <p:nvSpPr>
          <p:cNvPr id="74" name="TextBox 3"/>
          <p:cNvSpPr/>
          <p:nvPr/>
        </p:nvSpPr>
        <p:spPr>
          <a:xfrm>
            <a:off x="640080" y="3229200"/>
            <a:ext cx="109724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5200" b="1" u="none" strike="noStrike" dirty="0" err="1">
                <a:solidFill>
                  <a:srgbClr val="FFFFFF"/>
                </a:solidFill>
                <a:effectLst/>
                <a:uFillTx/>
                <a:latin typeface="Cambria"/>
              </a:rPr>
              <a:t>Luftverschmutzung</a:t>
            </a:r>
            <a:r>
              <a:rPr lang="en-US" sz="5200" b="1" u="none" strike="noStrike" dirty="0">
                <a:solidFill>
                  <a:srgbClr val="FFFFFF"/>
                </a:solidFill>
                <a:effectLst/>
                <a:uFillTx/>
                <a:latin typeface="Cambria"/>
              </a:rPr>
              <a:t> in Beijing</a:t>
            </a:r>
            <a:endParaRPr lang="de-DE" sz="5200" b="0" u="none" strike="noStrike" dirty="0">
              <a:solidFill>
                <a:srgbClr val="000000"/>
              </a:solidFill>
              <a:effectLst/>
              <a:uFillTx/>
              <a:latin typeface="Arial"/>
            </a:endParaRPr>
          </a:p>
        </p:txBody>
      </p:sp>
      <p:sp>
        <p:nvSpPr>
          <p:cNvPr id="75" name="TextBox 4"/>
          <p:cNvSpPr/>
          <p:nvPr/>
        </p:nvSpPr>
        <p:spPr>
          <a:xfrm>
            <a:off x="640080" y="4318560"/>
            <a:ext cx="10972440" cy="369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400" b="0" u="none" strike="noStrike" dirty="0">
                <a:solidFill>
                  <a:srgbClr val="F0E4CE"/>
                </a:solidFill>
                <a:effectLst/>
                <a:uFillTx/>
                <a:latin typeface="Calibri"/>
              </a:rPr>
              <a:t>PM2.5-Prognose </a:t>
            </a:r>
            <a:r>
              <a:rPr lang="en-US" sz="2400" b="0" u="none" strike="noStrike" dirty="0" err="1">
                <a:solidFill>
                  <a:srgbClr val="F0E4CE"/>
                </a:solidFill>
                <a:effectLst/>
                <a:uFillTx/>
                <a:latin typeface="Calibri"/>
              </a:rPr>
              <a:t>mit</a:t>
            </a:r>
            <a:r>
              <a:rPr lang="en-US" sz="2400" b="0" u="none" strike="noStrike" dirty="0">
                <a:solidFill>
                  <a:srgbClr val="F0E4CE"/>
                </a:solidFill>
                <a:effectLst/>
                <a:uFillTx/>
                <a:latin typeface="Calibri"/>
              </a:rPr>
              <a:t> Prophet</a:t>
            </a:r>
            <a:r>
              <a:rPr lang="de-DE" sz="2400" b="0" u="none" strike="noStrike" dirty="0">
                <a:solidFill>
                  <a:srgbClr val="F0E4CE"/>
                </a:solidFill>
                <a:effectLst/>
                <a:uFillTx/>
                <a:latin typeface="Calibri"/>
              </a:rPr>
              <a:t>, </a:t>
            </a:r>
            <a:r>
              <a:rPr lang="en-US" sz="2400" b="0" u="none" strike="noStrike" dirty="0">
                <a:solidFill>
                  <a:srgbClr val="F0E4CE"/>
                </a:solidFill>
                <a:effectLst/>
                <a:uFillTx/>
                <a:latin typeface="Calibri"/>
              </a:rPr>
              <a:t>Chronos</a:t>
            </a:r>
            <a:r>
              <a:rPr lang="de-DE" sz="2400" b="0" u="none" strike="noStrike" dirty="0">
                <a:solidFill>
                  <a:srgbClr val="F0E4CE"/>
                </a:solidFill>
                <a:effectLst/>
                <a:uFillTx/>
                <a:latin typeface="Calibri"/>
              </a:rPr>
              <a:t> &amp; </a:t>
            </a:r>
            <a:r>
              <a:rPr lang="de-DE" sz="2400" dirty="0">
                <a:solidFill>
                  <a:srgbClr val="F0E4CE"/>
                </a:solidFill>
                <a:latin typeface="Calibri"/>
              </a:rPr>
              <a:t>TFT</a:t>
            </a:r>
            <a:endParaRPr lang="de-DE" sz="2400" b="0" u="none" strike="noStrike" dirty="0">
              <a:solidFill>
                <a:srgbClr val="000000"/>
              </a:solidFill>
              <a:effectLst/>
              <a:uFillTx/>
              <a:latin typeface="Arial"/>
            </a:endParaRPr>
          </a:p>
        </p:txBody>
      </p:sp>
      <p:sp>
        <p:nvSpPr>
          <p:cNvPr id="76" name="Rounded Rectangle 5"/>
          <p:cNvSpPr/>
          <p:nvPr/>
        </p:nvSpPr>
        <p:spPr>
          <a:xfrm>
            <a:off x="511200" y="5130000"/>
            <a:ext cx="3291480" cy="456840"/>
          </a:xfrm>
          <a:prstGeom prst="roundRect">
            <a:avLst>
              <a:gd name="adj" fmla="val 50000"/>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77" name="TextBox 6"/>
          <p:cNvSpPr/>
          <p:nvPr/>
        </p:nvSpPr>
        <p:spPr>
          <a:xfrm>
            <a:off x="466560" y="5130000"/>
            <a:ext cx="32914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22272B"/>
                </a:solidFill>
                <a:effectLst/>
                <a:uFillTx/>
                <a:latin typeface="Calibri"/>
              </a:rPr>
              <a:t>Strukturiert nach CRISP-DM</a:t>
            </a:r>
            <a:endParaRPr lang="de-DE" sz="1300" b="0" u="none" strike="noStrike">
              <a:solidFill>
                <a:srgbClr val="000000"/>
              </a:solidFill>
              <a:effectLst/>
              <a:uFillTx/>
              <a:latin typeface="Arial"/>
            </a:endParaRPr>
          </a:p>
        </p:txBody>
      </p:sp>
      <p:sp>
        <p:nvSpPr>
          <p:cNvPr id="78" name="TextBox 7"/>
          <p:cNvSpPr/>
          <p:nvPr/>
        </p:nvSpPr>
        <p:spPr>
          <a:xfrm>
            <a:off x="640080" y="5989320"/>
            <a:ext cx="10972440" cy="18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de-DE" sz="1200" b="0" u="none" strike="noStrike">
                <a:solidFill>
                  <a:srgbClr val="D7CBB6"/>
                </a:solidFill>
                <a:effectLst/>
                <a:uFillTx/>
                <a:latin typeface="Calibri"/>
              </a:rPr>
              <a:t>Bettina Gertjerenken   ·   Kai Steffen</a:t>
            </a:r>
            <a:endParaRPr lang="de-DE" sz="12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Rectangle 1"/>
          <p:cNvSpPr/>
          <p:nvPr/>
        </p:nvSpPr>
        <p:spPr>
          <a:xfrm>
            <a:off x="0" y="0"/>
            <a:ext cx="12161160" cy="6857640"/>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80" name="TextBox 2"/>
          <p:cNvSpPr/>
          <p:nvPr/>
        </p:nvSpPr>
        <p:spPr>
          <a:xfrm>
            <a:off x="457200" y="411480"/>
            <a:ext cx="91436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3400" b="1" u="none" strike="noStrike">
                <a:solidFill>
                  <a:srgbClr val="22272B"/>
                </a:solidFill>
                <a:effectLst/>
                <a:uFillTx/>
                <a:latin typeface="Cambria"/>
              </a:rPr>
              <a:t>Der CRISP-DM-Prozess</a:t>
            </a:r>
            <a:endParaRPr lang="de-DE" sz="3400" b="0" u="none" strike="noStrike">
              <a:solidFill>
                <a:srgbClr val="000000"/>
              </a:solidFill>
              <a:effectLst/>
              <a:uFillTx/>
              <a:latin typeface="Arial"/>
            </a:endParaRPr>
          </a:p>
        </p:txBody>
      </p:sp>
      <p:sp>
        <p:nvSpPr>
          <p:cNvPr id="81" name="TextBox 3"/>
          <p:cNvSpPr/>
          <p:nvPr/>
        </p:nvSpPr>
        <p:spPr>
          <a:xfrm>
            <a:off x="475560" y="105156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500" b="0" u="none" strike="noStrike">
                <a:solidFill>
                  <a:srgbClr val="6C7278"/>
                </a:solidFill>
                <a:effectLst/>
                <a:uFillTx/>
                <a:latin typeface="Calibri"/>
              </a:rPr>
              <a:t>Unser Projekt gliedert sich in die sechs Phasen von CRISP-DM.</a:t>
            </a:r>
            <a:endParaRPr lang="de-DE" sz="1500" b="0" u="none" strike="noStrike">
              <a:solidFill>
                <a:srgbClr val="000000"/>
              </a:solidFill>
              <a:effectLst/>
              <a:uFillTx/>
              <a:latin typeface="Arial"/>
            </a:endParaRPr>
          </a:p>
        </p:txBody>
      </p:sp>
      <p:sp>
        <p:nvSpPr>
          <p:cNvPr id="82" name="Rounded Rectangle 4"/>
          <p:cNvSpPr/>
          <p:nvPr/>
        </p:nvSpPr>
        <p:spPr>
          <a:xfrm>
            <a:off x="457200" y="1645920"/>
            <a:ext cx="3684600" cy="2194200"/>
          </a:xfrm>
          <a:prstGeom prst="roundRect">
            <a:avLst>
              <a:gd name="adj" fmla="val 6000"/>
            </a:avLst>
          </a:prstGeom>
          <a:solidFill>
            <a:srgbClr val="FFFFFF"/>
          </a:solidFill>
          <a:ln w="12700">
            <a:solidFill>
              <a:srgbClr val="E1E3E6"/>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83" name="Oval 5"/>
          <p:cNvSpPr/>
          <p:nvPr/>
        </p:nvSpPr>
        <p:spPr>
          <a:xfrm>
            <a:off x="731520" y="1920240"/>
            <a:ext cx="776880" cy="77688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84" name="TextBox 6"/>
          <p:cNvSpPr/>
          <p:nvPr/>
        </p:nvSpPr>
        <p:spPr>
          <a:xfrm>
            <a:off x="731520" y="2139403"/>
            <a:ext cx="776880" cy="33855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2200" b="1" u="none" strike="noStrike" dirty="0">
                <a:solidFill>
                  <a:srgbClr val="FFFFFF"/>
                </a:solidFill>
                <a:effectLst/>
                <a:uFillTx/>
                <a:latin typeface="Cambria"/>
              </a:rPr>
              <a:t>1</a:t>
            </a:r>
            <a:endParaRPr lang="de-DE" sz="2200" b="0" u="none" strike="noStrike" dirty="0">
              <a:solidFill>
                <a:srgbClr val="000000"/>
              </a:solidFill>
              <a:effectLst/>
              <a:uFillTx/>
              <a:latin typeface="Arial"/>
            </a:endParaRPr>
          </a:p>
        </p:txBody>
      </p:sp>
      <p:sp>
        <p:nvSpPr>
          <p:cNvPr id="85" name="TextBox 7"/>
          <p:cNvSpPr/>
          <p:nvPr/>
        </p:nvSpPr>
        <p:spPr>
          <a:xfrm>
            <a:off x="1664280" y="1956960"/>
            <a:ext cx="22672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700" b="1" u="none" strike="noStrike">
                <a:solidFill>
                  <a:srgbClr val="22272B"/>
                </a:solidFill>
                <a:effectLst/>
                <a:uFillTx/>
                <a:latin typeface="Cambria"/>
              </a:rPr>
              <a:t>Geschäftsverständnis</a:t>
            </a:r>
            <a:endParaRPr lang="de-DE" sz="1700" b="0" u="none" strike="noStrike">
              <a:solidFill>
                <a:srgbClr val="000000"/>
              </a:solidFill>
              <a:effectLst/>
              <a:uFillTx/>
              <a:latin typeface="Arial"/>
            </a:endParaRPr>
          </a:p>
        </p:txBody>
      </p:sp>
      <p:sp>
        <p:nvSpPr>
          <p:cNvPr id="86" name="TextBox 8"/>
          <p:cNvSpPr/>
          <p:nvPr/>
        </p:nvSpPr>
        <p:spPr>
          <a:xfrm>
            <a:off x="1664280" y="2377440"/>
            <a:ext cx="22672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00" b="1" u="none" strike="noStrike">
                <a:solidFill>
                  <a:srgbClr val="E0912F"/>
                </a:solidFill>
                <a:effectLst/>
                <a:uFillTx/>
                <a:latin typeface="Calibri"/>
              </a:rPr>
              <a:t>Business Understanding</a:t>
            </a:r>
            <a:endParaRPr lang="de-DE" sz="1100" b="0" u="none" strike="noStrike">
              <a:solidFill>
                <a:srgbClr val="000000"/>
              </a:solidFill>
              <a:effectLst/>
              <a:uFillTx/>
              <a:latin typeface="Arial"/>
            </a:endParaRPr>
          </a:p>
        </p:txBody>
      </p:sp>
      <p:sp>
        <p:nvSpPr>
          <p:cNvPr id="87" name="TextBox 9"/>
          <p:cNvSpPr/>
          <p:nvPr/>
        </p:nvSpPr>
        <p:spPr>
          <a:xfrm>
            <a:off x="749880" y="2880360"/>
            <a:ext cx="31359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0" i="1" u="none" strike="noStrike">
                <a:solidFill>
                  <a:srgbClr val="6C7278"/>
                </a:solidFill>
                <a:effectLst/>
                <a:uFillTx/>
                <a:latin typeface="Calibri"/>
              </a:rPr>
              <a:t>Welches Problem lösen wir?</a:t>
            </a:r>
            <a:endParaRPr lang="de-DE" sz="1250" b="0" u="none" strike="noStrike">
              <a:solidFill>
                <a:srgbClr val="000000"/>
              </a:solidFill>
              <a:effectLst/>
              <a:uFillTx/>
              <a:latin typeface="Arial"/>
            </a:endParaRPr>
          </a:p>
        </p:txBody>
      </p:sp>
      <p:sp>
        <p:nvSpPr>
          <p:cNvPr id="88" name="Rounded Rectangle 10"/>
          <p:cNvSpPr/>
          <p:nvPr/>
        </p:nvSpPr>
        <p:spPr>
          <a:xfrm>
            <a:off x="4270320" y="1645920"/>
            <a:ext cx="3684600" cy="2194200"/>
          </a:xfrm>
          <a:prstGeom prst="roundRect">
            <a:avLst>
              <a:gd name="adj" fmla="val 6000"/>
            </a:avLst>
          </a:prstGeom>
          <a:solidFill>
            <a:srgbClr val="FFFFFF"/>
          </a:solidFill>
          <a:ln w="12700">
            <a:solidFill>
              <a:srgbClr val="E1E3E6"/>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89" name="Oval 11"/>
          <p:cNvSpPr/>
          <p:nvPr/>
        </p:nvSpPr>
        <p:spPr>
          <a:xfrm>
            <a:off x="4544640" y="1920240"/>
            <a:ext cx="776880" cy="77688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90" name="TextBox 12"/>
          <p:cNvSpPr/>
          <p:nvPr/>
        </p:nvSpPr>
        <p:spPr>
          <a:xfrm>
            <a:off x="4544640" y="2139403"/>
            <a:ext cx="776880" cy="33855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2200" b="1" u="none" strike="noStrike" dirty="0">
                <a:solidFill>
                  <a:srgbClr val="FFFFFF"/>
                </a:solidFill>
                <a:effectLst/>
                <a:uFillTx/>
                <a:latin typeface="Cambria"/>
              </a:rPr>
              <a:t>2</a:t>
            </a:r>
            <a:endParaRPr lang="de-DE" sz="2200" b="0" u="none" strike="noStrike" dirty="0">
              <a:solidFill>
                <a:srgbClr val="000000"/>
              </a:solidFill>
              <a:effectLst/>
              <a:uFillTx/>
              <a:latin typeface="Arial"/>
            </a:endParaRPr>
          </a:p>
        </p:txBody>
      </p:sp>
      <p:sp>
        <p:nvSpPr>
          <p:cNvPr id="91" name="TextBox 13"/>
          <p:cNvSpPr/>
          <p:nvPr/>
        </p:nvSpPr>
        <p:spPr>
          <a:xfrm>
            <a:off x="5477400" y="1956960"/>
            <a:ext cx="22672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700" b="1" u="none" strike="noStrike">
                <a:solidFill>
                  <a:srgbClr val="22272B"/>
                </a:solidFill>
                <a:effectLst/>
                <a:uFillTx/>
                <a:latin typeface="Cambria"/>
              </a:rPr>
              <a:t>Datenverständnis</a:t>
            </a:r>
            <a:endParaRPr lang="de-DE" sz="1700" b="0" u="none" strike="noStrike">
              <a:solidFill>
                <a:srgbClr val="000000"/>
              </a:solidFill>
              <a:effectLst/>
              <a:uFillTx/>
              <a:latin typeface="Arial"/>
            </a:endParaRPr>
          </a:p>
        </p:txBody>
      </p:sp>
      <p:sp>
        <p:nvSpPr>
          <p:cNvPr id="92" name="TextBox 14"/>
          <p:cNvSpPr/>
          <p:nvPr/>
        </p:nvSpPr>
        <p:spPr>
          <a:xfrm>
            <a:off x="5477400" y="2377440"/>
            <a:ext cx="22672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00" b="1" u="none" strike="noStrike">
                <a:solidFill>
                  <a:srgbClr val="E0912F"/>
                </a:solidFill>
                <a:effectLst/>
                <a:uFillTx/>
                <a:latin typeface="Calibri"/>
              </a:rPr>
              <a:t>Data Understanding</a:t>
            </a:r>
            <a:endParaRPr lang="de-DE" sz="1100" b="0" u="none" strike="noStrike">
              <a:solidFill>
                <a:srgbClr val="000000"/>
              </a:solidFill>
              <a:effectLst/>
              <a:uFillTx/>
              <a:latin typeface="Arial"/>
            </a:endParaRPr>
          </a:p>
        </p:txBody>
      </p:sp>
      <p:sp>
        <p:nvSpPr>
          <p:cNvPr id="93" name="TextBox 15"/>
          <p:cNvSpPr/>
          <p:nvPr/>
        </p:nvSpPr>
        <p:spPr>
          <a:xfrm>
            <a:off x="4563000" y="2880360"/>
            <a:ext cx="31359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0" i="1" u="none" strike="noStrike">
                <a:solidFill>
                  <a:srgbClr val="6C7278"/>
                </a:solidFill>
                <a:effectLst/>
                <a:uFillTx/>
                <a:latin typeface="Calibri"/>
              </a:rPr>
              <a:t>Welche Daten liegen vor?</a:t>
            </a:r>
            <a:endParaRPr lang="de-DE" sz="1250" b="0" u="none" strike="noStrike">
              <a:solidFill>
                <a:srgbClr val="000000"/>
              </a:solidFill>
              <a:effectLst/>
              <a:uFillTx/>
              <a:latin typeface="Arial"/>
            </a:endParaRPr>
          </a:p>
        </p:txBody>
      </p:sp>
      <p:sp>
        <p:nvSpPr>
          <p:cNvPr id="94" name="Rounded Rectangle 16"/>
          <p:cNvSpPr/>
          <p:nvPr/>
        </p:nvSpPr>
        <p:spPr>
          <a:xfrm>
            <a:off x="8083440" y="1645920"/>
            <a:ext cx="3684600" cy="2194200"/>
          </a:xfrm>
          <a:prstGeom prst="roundRect">
            <a:avLst>
              <a:gd name="adj" fmla="val 6000"/>
            </a:avLst>
          </a:prstGeom>
          <a:solidFill>
            <a:srgbClr val="FFFFFF"/>
          </a:solidFill>
          <a:ln w="12700">
            <a:solidFill>
              <a:srgbClr val="E1E3E6"/>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95" name="Oval 17"/>
          <p:cNvSpPr/>
          <p:nvPr/>
        </p:nvSpPr>
        <p:spPr>
          <a:xfrm>
            <a:off x="8357760" y="1920240"/>
            <a:ext cx="776880" cy="77688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96" name="TextBox 18"/>
          <p:cNvSpPr/>
          <p:nvPr/>
        </p:nvSpPr>
        <p:spPr>
          <a:xfrm>
            <a:off x="8357760" y="2139403"/>
            <a:ext cx="776880" cy="33855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2200" b="1" u="none" strike="noStrike" dirty="0">
                <a:solidFill>
                  <a:srgbClr val="FFFFFF"/>
                </a:solidFill>
                <a:effectLst/>
                <a:uFillTx/>
                <a:latin typeface="Cambria"/>
              </a:rPr>
              <a:t>3</a:t>
            </a:r>
            <a:endParaRPr lang="de-DE" sz="2200" b="0" u="none" strike="noStrike" dirty="0">
              <a:solidFill>
                <a:srgbClr val="000000"/>
              </a:solidFill>
              <a:effectLst/>
              <a:uFillTx/>
              <a:latin typeface="Arial"/>
            </a:endParaRPr>
          </a:p>
        </p:txBody>
      </p:sp>
      <p:sp>
        <p:nvSpPr>
          <p:cNvPr id="97" name="TextBox 19"/>
          <p:cNvSpPr/>
          <p:nvPr/>
        </p:nvSpPr>
        <p:spPr>
          <a:xfrm>
            <a:off x="9290160" y="1956960"/>
            <a:ext cx="22672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700" b="1" u="none" strike="noStrike">
                <a:solidFill>
                  <a:srgbClr val="22272B"/>
                </a:solidFill>
                <a:effectLst/>
                <a:uFillTx/>
                <a:latin typeface="Cambria"/>
              </a:rPr>
              <a:t>Datenaufbereitung</a:t>
            </a:r>
            <a:endParaRPr lang="de-DE" sz="1700" b="0" u="none" strike="noStrike">
              <a:solidFill>
                <a:srgbClr val="000000"/>
              </a:solidFill>
              <a:effectLst/>
              <a:uFillTx/>
              <a:latin typeface="Arial"/>
            </a:endParaRPr>
          </a:p>
        </p:txBody>
      </p:sp>
      <p:sp>
        <p:nvSpPr>
          <p:cNvPr id="98" name="TextBox 20"/>
          <p:cNvSpPr/>
          <p:nvPr/>
        </p:nvSpPr>
        <p:spPr>
          <a:xfrm>
            <a:off x="9290160" y="2377440"/>
            <a:ext cx="22672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00" b="1" u="none" strike="noStrike">
                <a:solidFill>
                  <a:srgbClr val="E0912F"/>
                </a:solidFill>
                <a:effectLst/>
                <a:uFillTx/>
                <a:latin typeface="Calibri"/>
              </a:rPr>
              <a:t>Data Preparation</a:t>
            </a:r>
            <a:endParaRPr lang="de-DE" sz="1100" b="0" u="none" strike="noStrike">
              <a:solidFill>
                <a:srgbClr val="000000"/>
              </a:solidFill>
              <a:effectLst/>
              <a:uFillTx/>
              <a:latin typeface="Arial"/>
            </a:endParaRPr>
          </a:p>
        </p:txBody>
      </p:sp>
      <p:sp>
        <p:nvSpPr>
          <p:cNvPr id="99" name="TextBox 21"/>
          <p:cNvSpPr/>
          <p:nvPr/>
        </p:nvSpPr>
        <p:spPr>
          <a:xfrm>
            <a:off x="8375760" y="2880360"/>
            <a:ext cx="31359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0" i="1" u="none" strike="noStrike">
                <a:solidFill>
                  <a:srgbClr val="6C7278"/>
                </a:solidFill>
                <a:effectLst/>
                <a:uFillTx/>
                <a:latin typeface="Calibri"/>
              </a:rPr>
              <a:t>Wie werden die Daten modellfertig?</a:t>
            </a:r>
            <a:endParaRPr lang="de-DE" sz="1250" b="0" u="none" strike="noStrike">
              <a:solidFill>
                <a:srgbClr val="000000"/>
              </a:solidFill>
              <a:effectLst/>
              <a:uFillTx/>
              <a:latin typeface="Arial"/>
            </a:endParaRPr>
          </a:p>
        </p:txBody>
      </p:sp>
      <p:sp>
        <p:nvSpPr>
          <p:cNvPr id="100" name="Rounded Rectangle 22"/>
          <p:cNvSpPr/>
          <p:nvPr/>
        </p:nvSpPr>
        <p:spPr>
          <a:xfrm>
            <a:off x="457200" y="4041720"/>
            <a:ext cx="3684600" cy="2194200"/>
          </a:xfrm>
          <a:prstGeom prst="roundRect">
            <a:avLst>
              <a:gd name="adj" fmla="val 6000"/>
            </a:avLst>
          </a:prstGeom>
          <a:solidFill>
            <a:srgbClr val="FFFFFF"/>
          </a:solidFill>
          <a:ln w="12700">
            <a:solidFill>
              <a:srgbClr val="E1E3E6"/>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01" name="Oval 23"/>
          <p:cNvSpPr/>
          <p:nvPr/>
        </p:nvSpPr>
        <p:spPr>
          <a:xfrm>
            <a:off x="731520" y="4316040"/>
            <a:ext cx="776880" cy="776880"/>
          </a:xfrm>
          <a:prstGeom prst="ellipse">
            <a:avLst/>
          </a:prstGeom>
          <a:solidFill>
            <a:srgbClr val="C4471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02" name="TextBox 24"/>
          <p:cNvSpPr/>
          <p:nvPr/>
        </p:nvSpPr>
        <p:spPr>
          <a:xfrm>
            <a:off x="731520" y="4535203"/>
            <a:ext cx="776880" cy="33855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2200" b="1" u="none" strike="noStrike" dirty="0">
                <a:solidFill>
                  <a:srgbClr val="FFFFFF"/>
                </a:solidFill>
                <a:effectLst/>
                <a:uFillTx/>
                <a:latin typeface="Cambria"/>
              </a:rPr>
              <a:t>4</a:t>
            </a:r>
            <a:endParaRPr lang="de-DE" sz="2200" b="0" u="none" strike="noStrike" dirty="0">
              <a:solidFill>
                <a:srgbClr val="000000"/>
              </a:solidFill>
              <a:effectLst/>
              <a:uFillTx/>
              <a:latin typeface="Arial"/>
            </a:endParaRPr>
          </a:p>
        </p:txBody>
      </p:sp>
      <p:sp>
        <p:nvSpPr>
          <p:cNvPr id="103" name="TextBox 25"/>
          <p:cNvSpPr/>
          <p:nvPr/>
        </p:nvSpPr>
        <p:spPr>
          <a:xfrm>
            <a:off x="1664280" y="4352400"/>
            <a:ext cx="22672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700" b="1" u="none" strike="noStrike">
                <a:solidFill>
                  <a:srgbClr val="22272B"/>
                </a:solidFill>
                <a:effectLst/>
                <a:uFillTx/>
                <a:latin typeface="Cambria"/>
              </a:rPr>
              <a:t>Modellierung</a:t>
            </a:r>
            <a:endParaRPr lang="de-DE" sz="1700" b="0" u="none" strike="noStrike">
              <a:solidFill>
                <a:srgbClr val="000000"/>
              </a:solidFill>
              <a:effectLst/>
              <a:uFillTx/>
              <a:latin typeface="Arial"/>
            </a:endParaRPr>
          </a:p>
        </p:txBody>
      </p:sp>
      <p:sp>
        <p:nvSpPr>
          <p:cNvPr id="104" name="TextBox 26"/>
          <p:cNvSpPr/>
          <p:nvPr/>
        </p:nvSpPr>
        <p:spPr>
          <a:xfrm>
            <a:off x="1664280" y="4773240"/>
            <a:ext cx="22672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00" b="1" u="none" strike="noStrike">
                <a:solidFill>
                  <a:srgbClr val="E0912F"/>
                </a:solidFill>
                <a:effectLst/>
                <a:uFillTx/>
                <a:latin typeface="Calibri"/>
              </a:rPr>
              <a:t>Modeling</a:t>
            </a:r>
            <a:endParaRPr lang="de-DE" sz="1100" b="0" u="none" strike="noStrike">
              <a:solidFill>
                <a:srgbClr val="000000"/>
              </a:solidFill>
              <a:effectLst/>
              <a:uFillTx/>
              <a:latin typeface="Arial"/>
            </a:endParaRPr>
          </a:p>
        </p:txBody>
      </p:sp>
      <p:sp>
        <p:nvSpPr>
          <p:cNvPr id="105" name="TextBox 27"/>
          <p:cNvSpPr/>
          <p:nvPr/>
        </p:nvSpPr>
        <p:spPr>
          <a:xfrm>
            <a:off x="749880" y="5276160"/>
            <a:ext cx="31359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0" i="1" u="none" strike="noStrike">
                <a:solidFill>
                  <a:srgbClr val="6C7278"/>
                </a:solidFill>
                <a:effectLst/>
                <a:uFillTx/>
                <a:latin typeface="Calibri"/>
              </a:rPr>
              <a:t>Welche Modelle vergleichen wir?</a:t>
            </a:r>
            <a:endParaRPr lang="de-DE" sz="1250" b="0" u="none" strike="noStrike">
              <a:solidFill>
                <a:srgbClr val="000000"/>
              </a:solidFill>
              <a:effectLst/>
              <a:uFillTx/>
              <a:latin typeface="Arial"/>
            </a:endParaRPr>
          </a:p>
        </p:txBody>
      </p:sp>
      <p:sp>
        <p:nvSpPr>
          <p:cNvPr id="106" name="Rounded Rectangle 28"/>
          <p:cNvSpPr/>
          <p:nvPr/>
        </p:nvSpPr>
        <p:spPr>
          <a:xfrm>
            <a:off x="4270320" y="4041720"/>
            <a:ext cx="3684600" cy="2194200"/>
          </a:xfrm>
          <a:prstGeom prst="roundRect">
            <a:avLst>
              <a:gd name="adj" fmla="val 6000"/>
            </a:avLst>
          </a:prstGeom>
          <a:solidFill>
            <a:srgbClr val="FFFFFF"/>
          </a:solidFill>
          <a:ln w="12700">
            <a:solidFill>
              <a:srgbClr val="E1E3E6"/>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07" name="Oval 29"/>
          <p:cNvSpPr/>
          <p:nvPr/>
        </p:nvSpPr>
        <p:spPr>
          <a:xfrm>
            <a:off x="4544640" y="4316040"/>
            <a:ext cx="776880" cy="77688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08" name="TextBox 30"/>
          <p:cNvSpPr/>
          <p:nvPr/>
        </p:nvSpPr>
        <p:spPr>
          <a:xfrm>
            <a:off x="4544640" y="4535203"/>
            <a:ext cx="776880" cy="33855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2200" b="1" u="none" strike="noStrike" dirty="0">
                <a:solidFill>
                  <a:srgbClr val="FFFFFF"/>
                </a:solidFill>
                <a:effectLst/>
                <a:uFillTx/>
                <a:latin typeface="Cambria"/>
              </a:rPr>
              <a:t>5</a:t>
            </a:r>
            <a:endParaRPr lang="de-DE" sz="2200" b="0" u="none" strike="noStrike" dirty="0">
              <a:solidFill>
                <a:srgbClr val="000000"/>
              </a:solidFill>
              <a:effectLst/>
              <a:uFillTx/>
              <a:latin typeface="Arial"/>
            </a:endParaRPr>
          </a:p>
        </p:txBody>
      </p:sp>
      <p:sp>
        <p:nvSpPr>
          <p:cNvPr id="109" name="TextBox 31"/>
          <p:cNvSpPr/>
          <p:nvPr/>
        </p:nvSpPr>
        <p:spPr>
          <a:xfrm>
            <a:off x="5477400" y="4352400"/>
            <a:ext cx="22672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700" b="1" u="none" strike="noStrike">
                <a:solidFill>
                  <a:srgbClr val="22272B"/>
                </a:solidFill>
                <a:effectLst/>
                <a:uFillTx/>
                <a:latin typeface="Cambria"/>
              </a:rPr>
              <a:t>Evaluation</a:t>
            </a:r>
            <a:endParaRPr lang="de-DE" sz="1700" b="0" u="none" strike="noStrike">
              <a:solidFill>
                <a:srgbClr val="000000"/>
              </a:solidFill>
              <a:effectLst/>
              <a:uFillTx/>
              <a:latin typeface="Arial"/>
            </a:endParaRPr>
          </a:p>
        </p:txBody>
      </p:sp>
      <p:sp>
        <p:nvSpPr>
          <p:cNvPr id="110" name="TextBox 32"/>
          <p:cNvSpPr/>
          <p:nvPr/>
        </p:nvSpPr>
        <p:spPr>
          <a:xfrm>
            <a:off x="5477400" y="4773240"/>
            <a:ext cx="22672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00" b="1" u="none" strike="noStrike">
                <a:solidFill>
                  <a:srgbClr val="E0912F"/>
                </a:solidFill>
                <a:effectLst/>
                <a:uFillTx/>
                <a:latin typeface="Calibri"/>
              </a:rPr>
              <a:t>Evaluation</a:t>
            </a:r>
            <a:endParaRPr lang="de-DE" sz="1100" b="0" u="none" strike="noStrike">
              <a:solidFill>
                <a:srgbClr val="000000"/>
              </a:solidFill>
              <a:effectLst/>
              <a:uFillTx/>
              <a:latin typeface="Arial"/>
            </a:endParaRPr>
          </a:p>
        </p:txBody>
      </p:sp>
      <p:sp>
        <p:nvSpPr>
          <p:cNvPr id="111" name="TextBox 33"/>
          <p:cNvSpPr/>
          <p:nvPr/>
        </p:nvSpPr>
        <p:spPr>
          <a:xfrm>
            <a:off x="4563000" y="5276160"/>
            <a:ext cx="31359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0" i="1" u="none" strike="noStrike">
                <a:solidFill>
                  <a:srgbClr val="6C7278"/>
                </a:solidFill>
                <a:effectLst/>
                <a:uFillTx/>
                <a:latin typeface="Calibri"/>
              </a:rPr>
              <a:t>Erreichen wir die Projektziele?</a:t>
            </a:r>
            <a:endParaRPr lang="de-DE" sz="1250" b="0" u="none" strike="noStrike">
              <a:solidFill>
                <a:srgbClr val="000000"/>
              </a:solidFill>
              <a:effectLst/>
              <a:uFillTx/>
              <a:latin typeface="Arial"/>
            </a:endParaRPr>
          </a:p>
        </p:txBody>
      </p:sp>
      <p:sp>
        <p:nvSpPr>
          <p:cNvPr id="112" name="Rounded Rectangle 34"/>
          <p:cNvSpPr/>
          <p:nvPr/>
        </p:nvSpPr>
        <p:spPr>
          <a:xfrm>
            <a:off x="8083440" y="4041720"/>
            <a:ext cx="3684600" cy="2194200"/>
          </a:xfrm>
          <a:prstGeom prst="roundRect">
            <a:avLst>
              <a:gd name="adj" fmla="val 6000"/>
            </a:avLst>
          </a:prstGeom>
          <a:solidFill>
            <a:srgbClr val="FFFFFF"/>
          </a:solidFill>
          <a:ln w="12700">
            <a:solidFill>
              <a:srgbClr val="E1E3E6"/>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13" name="Oval 35"/>
          <p:cNvSpPr/>
          <p:nvPr/>
        </p:nvSpPr>
        <p:spPr>
          <a:xfrm>
            <a:off x="8357760" y="4316040"/>
            <a:ext cx="776880" cy="77688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14" name="TextBox 36"/>
          <p:cNvSpPr/>
          <p:nvPr/>
        </p:nvSpPr>
        <p:spPr>
          <a:xfrm>
            <a:off x="8357760" y="4535203"/>
            <a:ext cx="776880" cy="33855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2200" b="1" u="none" strike="noStrike" dirty="0">
                <a:solidFill>
                  <a:srgbClr val="FFFFFF"/>
                </a:solidFill>
                <a:effectLst/>
                <a:uFillTx/>
                <a:latin typeface="Cambria"/>
              </a:rPr>
              <a:t>6</a:t>
            </a:r>
            <a:endParaRPr lang="de-DE" sz="2200" b="0" u="none" strike="noStrike" dirty="0">
              <a:solidFill>
                <a:srgbClr val="000000"/>
              </a:solidFill>
              <a:effectLst/>
              <a:uFillTx/>
              <a:latin typeface="Arial"/>
            </a:endParaRPr>
          </a:p>
        </p:txBody>
      </p:sp>
      <p:sp>
        <p:nvSpPr>
          <p:cNvPr id="115" name="TextBox 37"/>
          <p:cNvSpPr/>
          <p:nvPr/>
        </p:nvSpPr>
        <p:spPr>
          <a:xfrm>
            <a:off x="9290160" y="4352400"/>
            <a:ext cx="22672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700" b="1" u="none" strike="noStrike">
                <a:solidFill>
                  <a:srgbClr val="22272B"/>
                </a:solidFill>
                <a:effectLst/>
                <a:uFillTx/>
                <a:latin typeface="Cambria"/>
              </a:rPr>
              <a:t>Bereitstellung</a:t>
            </a:r>
            <a:endParaRPr lang="de-DE" sz="1700" b="0" u="none" strike="noStrike">
              <a:solidFill>
                <a:srgbClr val="000000"/>
              </a:solidFill>
              <a:effectLst/>
              <a:uFillTx/>
              <a:latin typeface="Arial"/>
            </a:endParaRPr>
          </a:p>
        </p:txBody>
      </p:sp>
      <p:sp>
        <p:nvSpPr>
          <p:cNvPr id="116" name="TextBox 38"/>
          <p:cNvSpPr/>
          <p:nvPr/>
        </p:nvSpPr>
        <p:spPr>
          <a:xfrm>
            <a:off x="9290160" y="4773240"/>
            <a:ext cx="22672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00" b="1" u="none" strike="noStrike">
                <a:solidFill>
                  <a:srgbClr val="E0912F"/>
                </a:solidFill>
                <a:effectLst/>
                <a:uFillTx/>
                <a:latin typeface="Calibri"/>
              </a:rPr>
              <a:t>Deployment</a:t>
            </a:r>
            <a:endParaRPr lang="de-DE" sz="1100" b="0" u="none" strike="noStrike">
              <a:solidFill>
                <a:srgbClr val="000000"/>
              </a:solidFill>
              <a:effectLst/>
              <a:uFillTx/>
              <a:latin typeface="Arial"/>
            </a:endParaRPr>
          </a:p>
        </p:txBody>
      </p:sp>
      <p:sp>
        <p:nvSpPr>
          <p:cNvPr id="117" name="TextBox 39"/>
          <p:cNvSpPr/>
          <p:nvPr/>
        </p:nvSpPr>
        <p:spPr>
          <a:xfrm>
            <a:off x="8375760" y="5276160"/>
            <a:ext cx="31359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0" i="1" u="none" strike="noStrike">
                <a:solidFill>
                  <a:srgbClr val="6C7278"/>
                </a:solidFill>
                <a:effectLst/>
                <a:uFillTx/>
                <a:latin typeface="Calibri"/>
              </a:rPr>
              <a:t>Wie wird das Ergebnis nutzbar?</a:t>
            </a:r>
            <a:endParaRPr lang="de-DE" sz="1250" b="0" u="none" strike="noStrike">
              <a:solidFill>
                <a:srgbClr val="000000"/>
              </a:solidFill>
              <a:effectLst/>
              <a:uFillTx/>
              <a:latin typeface="Arial"/>
            </a:endParaRPr>
          </a:p>
        </p:txBody>
      </p:sp>
      <p:sp>
        <p:nvSpPr>
          <p:cNvPr id="118" name="TextBox 40"/>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900" b="0" u="none" strike="noStrike" dirty="0">
                <a:solidFill>
                  <a:srgbClr val="6C7278"/>
                </a:solidFill>
                <a:effectLst/>
                <a:uFillTx/>
                <a:latin typeface="Calibri"/>
              </a:rPr>
              <a:t>PM2.5-Prognose Beijing  ·  Prophet</a:t>
            </a:r>
            <a:r>
              <a:rPr lang="de-DE" sz="900" b="0" u="none" strike="noStrike" dirty="0">
                <a:solidFill>
                  <a:srgbClr val="6C7278"/>
                </a:solidFill>
                <a:effectLst/>
                <a:uFillTx/>
                <a:latin typeface="Calibri"/>
              </a:rPr>
              <a:t>, </a:t>
            </a:r>
            <a:r>
              <a:rPr lang="en-US" sz="900" b="0" u="none" strike="noStrike" dirty="0">
                <a:solidFill>
                  <a:srgbClr val="6C7278"/>
                </a:solidFill>
                <a:effectLst/>
                <a:uFillTx/>
                <a:latin typeface="Calibri"/>
              </a:rPr>
              <a:t>Chronos</a:t>
            </a:r>
            <a:r>
              <a:rPr lang="de-DE" sz="900" b="0" u="none" strike="noStrike" dirty="0">
                <a:solidFill>
                  <a:srgbClr val="6C7278"/>
                </a:solidFill>
                <a:effectLst/>
                <a:uFillTx/>
                <a:latin typeface="Calibri"/>
              </a:rPr>
              <a:t> &amp; </a:t>
            </a:r>
            <a:r>
              <a:rPr lang="de-DE" sz="900" dirty="0">
                <a:solidFill>
                  <a:srgbClr val="6C7278"/>
                </a:solidFill>
                <a:latin typeface="Calibri"/>
              </a:rPr>
              <a:t>TFT</a:t>
            </a:r>
            <a:r>
              <a:rPr lang="en-US" sz="900" b="0" u="none" strike="noStrike" dirty="0">
                <a:solidFill>
                  <a:srgbClr val="6C7278"/>
                </a:solidFill>
                <a:effectLst/>
                <a:uFillTx/>
                <a:latin typeface="Calibri"/>
              </a:rPr>
              <a:t>  ·  CRISP-DM</a:t>
            </a:r>
            <a:endParaRPr lang="de-DE" sz="900" b="0" u="none" strike="noStrike" dirty="0">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0262E"/>
        </a:solidFill>
        <a:effectLst/>
      </p:bgPr>
    </p:bg>
    <p:spTree>
      <p:nvGrpSpPr>
        <p:cNvPr id="1" name="">
          <a:extLst>
            <a:ext uri="{FF2B5EF4-FFF2-40B4-BE49-F238E27FC236}">
              <a16:creationId xmlns:a16="http://schemas.microsoft.com/office/drawing/2014/main" id="{BD4C503B-5189-92E0-453E-5F1CF9B6AE9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6EAE3FF-9326-6F8B-61D0-737F95A797DB}"/>
              </a:ext>
            </a:extLst>
          </p:cNvPr>
          <p:cNvSpPr/>
          <p:nvPr/>
        </p:nvSpPr>
        <p:spPr>
          <a:xfrm>
            <a:off x="729711" y="1376690"/>
            <a:ext cx="10672012" cy="547283"/>
          </a:xfrm>
          <a:prstGeom prst="rect">
            <a:avLst/>
          </a:prstGeom>
          <a:noFill/>
          <a:ln/>
        </p:spPr>
        <p:txBody>
          <a:bodyPr wrap="square" lIns="0" tIns="0" rIns="0" bIns="0" rtlCol="0" anchor="ct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lang="en-US" sz="1795" b="0" i="0" u="none" strike="noStrike" kern="1200" cap="none" spc="0" normalizeH="0" baseline="0" noProof="0" dirty="0">
                <a:ln>
                  <a:noFill/>
                </a:ln>
                <a:solidFill>
                  <a:srgbClr val="E0912F"/>
                </a:solidFill>
                <a:effectLst/>
                <a:uLnTx/>
                <a:uFillTx/>
                <a:latin typeface="Calibri" pitchFamily="34" charset="0"/>
                <a:ea typeface="Calibri" pitchFamily="34" charset="-122"/>
                <a:cs typeface="Calibri" pitchFamily="34" charset="-120"/>
              </a:rPr>
              <a:t>Das Ziel</a:t>
            </a:r>
            <a:endParaRPr kumimoji="0" lang="en-US" sz="179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5E9C32E1-19A8-74AB-E537-8DFAC9579E2E}"/>
              </a:ext>
            </a:extLst>
          </p:cNvPr>
          <p:cNvSpPr/>
          <p:nvPr/>
        </p:nvSpPr>
        <p:spPr>
          <a:xfrm>
            <a:off x="729711" y="2197614"/>
            <a:ext cx="10672012" cy="2736413"/>
          </a:xfrm>
          <a:prstGeom prst="rect">
            <a:avLst/>
          </a:prstGeom>
          <a:noFill/>
          <a:ln/>
        </p:spPr>
        <p:txBody>
          <a:bodyPr wrap="square" lIns="0" tIns="0" rIns="0" bIns="0" rtlCol="0" anchor="ctr"/>
          <a:lstStyle/>
          <a:p>
            <a:pPr marL="0" marR="0" lvl="0" indent="0" algn="l" defTabSz="912114" rtl="0" eaLnBrk="1" fontAlgn="auto" latinLnBrk="0" hangingPunct="1">
              <a:lnSpc>
                <a:spcPct val="115000"/>
              </a:lnSpc>
              <a:spcBef>
                <a:spcPts val="0"/>
              </a:spcBef>
              <a:spcAft>
                <a:spcPts val="0"/>
              </a:spcAft>
              <a:buClrTx/>
              <a:buSzTx/>
              <a:buFontTx/>
              <a:buNone/>
              <a:tabLst/>
              <a:defRPr/>
            </a:pP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mn-cs"/>
              </a:rPr>
              <a:t>Können</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mn-cs"/>
              </a:rPr>
              <a:t> </a:t>
            </a: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mn-cs"/>
              </a:rPr>
              <a:t>wir</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mn-cs"/>
              </a:rPr>
              <a:t> </a:t>
            </a: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mn-cs"/>
              </a:rPr>
              <a:t>anhand</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mn-cs"/>
              </a:rPr>
              <a:t> von </a:t>
            </a: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mn-cs"/>
              </a:rPr>
              <a:t>historischen</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mn-cs"/>
              </a:rPr>
              <a:t> </a:t>
            </a: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mn-cs"/>
              </a:rPr>
              <a:t>Daten</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mn-cs"/>
              </a:rPr>
              <a:t> von Wetter- und </a:t>
            </a: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mn-cs"/>
              </a:rPr>
              <a:t>Luftqualitäts-Messstationen</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mn-cs"/>
              </a:rPr>
              <a:t> die </a:t>
            </a:r>
            <a:r>
              <a:rPr kumimoji="0" lang="en-US" sz="2990" b="1" i="0" u="none" strike="noStrike" kern="1200" cap="none" spc="0" normalizeH="0" baseline="0" noProof="0" dirty="0" err="1">
                <a:ln>
                  <a:noFill/>
                </a:ln>
                <a:solidFill>
                  <a:srgbClr val="E0912F"/>
                </a:solidFill>
                <a:effectLst/>
                <a:uLnTx/>
                <a:uFillTx/>
                <a:latin typeface="Cambria" panose="02040503050406030204" pitchFamily="18" charset="0"/>
                <a:ea typeface="Cambria" panose="02040503050406030204" pitchFamily="18" charset="0"/>
                <a:cs typeface="Calibri" pitchFamily="34" charset="-120"/>
              </a:rPr>
              <a:t>Luftqualität</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mn-cs"/>
              </a:rPr>
              <a:t> </a:t>
            </a:r>
            <a:r>
              <a:rPr lang="en-US" sz="2990" b="1" dirty="0" err="1">
                <a:solidFill>
                  <a:srgbClr val="E0912F"/>
                </a:solidFill>
                <a:latin typeface="Cambria" panose="02040503050406030204" pitchFamily="18" charset="0"/>
                <a:ea typeface="Cambria" panose="02040503050406030204" pitchFamily="18" charset="0"/>
                <a:cs typeface="Calibri" pitchFamily="34" charset="-120"/>
              </a:rPr>
              <a:t>vorhersagen</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mn-cs"/>
              </a:rPr>
              <a:t>, so </a:t>
            </a: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mn-cs"/>
              </a:rPr>
              <a:t>dass</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mn-cs"/>
              </a:rPr>
              <a:t> </a:t>
            </a:r>
            <a:r>
              <a:rPr lang="en-US" sz="2993" b="1" dirty="0" err="1">
                <a:solidFill>
                  <a:srgbClr val="FFFFFF"/>
                </a:solidFill>
                <a:latin typeface="Cambria" pitchFamily="34" charset="0"/>
                <a:ea typeface="Cambria" pitchFamily="34" charset="-122"/>
              </a:rPr>
              <a:t>ein</a:t>
            </a:r>
            <a:r>
              <a:rPr lang="en-US" sz="2990" b="1" dirty="0">
                <a:solidFill>
                  <a:srgbClr val="E0912F"/>
                </a:solidFill>
                <a:latin typeface="Cambria" panose="02040503050406030204" pitchFamily="18" charset="0"/>
                <a:ea typeface="Cambria" panose="02040503050406030204" pitchFamily="18" charset="0"/>
                <a:cs typeface="Calibri" pitchFamily="34" charset="-120"/>
              </a:rPr>
              <a:t> Smog-</a:t>
            </a:r>
            <a:r>
              <a:rPr lang="en-US" sz="2990" b="1" dirty="0" err="1">
                <a:solidFill>
                  <a:srgbClr val="E0912F"/>
                </a:solidFill>
                <a:latin typeface="Cambria" panose="02040503050406030204" pitchFamily="18" charset="0"/>
                <a:ea typeface="Cambria" panose="02040503050406030204" pitchFamily="18" charset="0"/>
                <a:cs typeface="Calibri" pitchFamily="34" charset="-120"/>
              </a:rPr>
              <a:t>Frühwarnsystem</a:t>
            </a:r>
            <a:r>
              <a:rPr lang="en-US" sz="2990" b="1" dirty="0">
                <a:solidFill>
                  <a:srgbClr val="E0912F"/>
                </a:solidFill>
                <a:latin typeface="Cambria" panose="02040503050406030204" pitchFamily="18" charset="0"/>
                <a:ea typeface="Cambria" panose="02040503050406030204" pitchFamily="18" charset="0"/>
                <a:cs typeface="Calibri" pitchFamily="34" charset="-120"/>
              </a:rPr>
              <a:t> </a:t>
            </a: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mn-cs"/>
              </a:rPr>
              <a:t>etabliert</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mn-cs"/>
              </a:rPr>
              <a:t> </a:t>
            </a: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mn-cs"/>
              </a:rPr>
              <a:t>werden</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mn-cs"/>
              </a:rPr>
              <a:t> </a:t>
            </a: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mn-cs"/>
              </a:rPr>
              <a:t>kann</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mn-cs"/>
              </a:rPr>
              <a:t>?</a:t>
            </a:r>
            <a:endParaRPr kumimoji="0" lang="en-US" sz="299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Oval 34">
            <a:extLst>
              <a:ext uri="{FF2B5EF4-FFF2-40B4-BE49-F238E27FC236}">
                <a16:creationId xmlns:a16="http://schemas.microsoft.com/office/drawing/2014/main" id="{0E127CAE-7351-4C09-C6ED-FD81AF9746F3}"/>
              </a:ext>
            </a:extLst>
          </p:cNvPr>
          <p:cNvSpPr/>
          <p:nvPr/>
        </p:nvSpPr>
        <p:spPr>
          <a:xfrm>
            <a:off x="457200" y="246247"/>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7" name="TextBox 60">
            <a:extLst>
              <a:ext uri="{FF2B5EF4-FFF2-40B4-BE49-F238E27FC236}">
                <a16:creationId xmlns:a16="http://schemas.microsoft.com/office/drawing/2014/main" id="{370E4FAA-13B5-368B-E4D7-86D189C45EEF}"/>
              </a:ext>
            </a:extLst>
          </p:cNvPr>
          <p:cNvSpPr/>
          <p:nvPr/>
        </p:nvSpPr>
        <p:spPr>
          <a:xfrm>
            <a:off x="457200" y="553560"/>
            <a:ext cx="1051200" cy="45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dirty="0">
                <a:solidFill>
                  <a:srgbClr val="FFFFFF"/>
                </a:solidFill>
                <a:effectLst/>
                <a:uFillTx/>
                <a:latin typeface="Cambria"/>
              </a:rPr>
              <a:t>1</a:t>
            </a:r>
            <a:endParaRPr lang="de-DE" sz="3000" b="0" u="none" strike="noStrike" dirty="0">
              <a:solidFill>
                <a:srgbClr val="000000"/>
              </a:solidFill>
              <a:effectLst/>
              <a:uFillTx/>
              <a:latin typeface="Arial"/>
            </a:endParaRPr>
          </a:p>
        </p:txBody>
      </p:sp>
    </p:spTree>
    <p:extLst>
      <p:ext uri="{BB962C8B-B14F-4D97-AF65-F5344CB8AC3E}">
        <p14:creationId xmlns:p14="http://schemas.microsoft.com/office/powerpoint/2010/main" val="1987447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9CEF6-F2C1-1ECA-B8A9-9C8B5BA1C8A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7F76297-565E-8499-F4F9-5F9426ADBB77}"/>
              </a:ext>
            </a:extLst>
          </p:cNvPr>
          <p:cNvSpPr txBox="1"/>
          <p:nvPr/>
        </p:nvSpPr>
        <p:spPr>
          <a:xfrm>
            <a:off x="658368" y="816155"/>
            <a:ext cx="1051560" cy="461665"/>
          </a:xfrm>
          <a:prstGeom prst="rect">
            <a:avLst/>
          </a:prstGeom>
          <a:noFill/>
        </p:spPr>
        <p:txBody>
          <a:bodyPr wrap="square" lIns="0" tIns="0" rIns="0" bIns="0" anchor="ctr">
            <a:spAutoFit/>
          </a:bodyPr>
          <a:lstStyle/>
          <a:p>
            <a:pPr algn="ctr"/>
            <a:r>
              <a:rPr sz="3000" b="1" i="0" dirty="0">
                <a:solidFill>
                  <a:srgbClr val="FFFFFF"/>
                </a:solidFill>
                <a:latin typeface="Cambria"/>
              </a:rPr>
              <a:t>1</a:t>
            </a:r>
          </a:p>
        </p:txBody>
      </p:sp>
      <p:sp>
        <p:nvSpPr>
          <p:cNvPr id="5" name="TextBox 4">
            <a:extLst>
              <a:ext uri="{FF2B5EF4-FFF2-40B4-BE49-F238E27FC236}">
                <a16:creationId xmlns:a16="http://schemas.microsoft.com/office/drawing/2014/main" id="{9FBD7F0F-3FDA-9354-0406-341B25E11404}"/>
              </a:ext>
            </a:extLst>
          </p:cNvPr>
          <p:cNvSpPr txBox="1"/>
          <p:nvPr/>
        </p:nvSpPr>
        <p:spPr>
          <a:xfrm>
            <a:off x="1709928" y="515591"/>
            <a:ext cx="10058400" cy="492443"/>
          </a:xfrm>
          <a:prstGeom prst="rect">
            <a:avLst/>
          </a:prstGeom>
          <a:noFill/>
        </p:spPr>
        <p:txBody>
          <a:bodyPr wrap="square" lIns="0" tIns="0" rIns="0" bIns="0" anchor="ctr">
            <a:spAutoFit/>
          </a:bodyPr>
          <a:lstStyle/>
          <a:p>
            <a:pPr algn="l"/>
            <a:r>
              <a:rPr lang="de-DE" sz="3200" b="1" i="0" dirty="0">
                <a:solidFill>
                  <a:srgbClr val="22272B"/>
                </a:solidFill>
                <a:latin typeface="Cambria"/>
              </a:rPr>
              <a:t>Luftverschmutzung in </a:t>
            </a:r>
            <a:r>
              <a:rPr sz="3200" b="1" i="0" dirty="0">
                <a:solidFill>
                  <a:srgbClr val="22272B"/>
                </a:solidFill>
                <a:latin typeface="Cambria"/>
              </a:rPr>
              <a:t>Beijing</a:t>
            </a:r>
          </a:p>
        </p:txBody>
      </p:sp>
      <p:sp>
        <p:nvSpPr>
          <p:cNvPr id="6" name="TextBox 5">
            <a:extLst>
              <a:ext uri="{FF2B5EF4-FFF2-40B4-BE49-F238E27FC236}">
                <a16:creationId xmlns:a16="http://schemas.microsoft.com/office/drawing/2014/main" id="{8F863798-43EA-ADC2-45E8-A86916366A60}"/>
              </a:ext>
            </a:extLst>
          </p:cNvPr>
          <p:cNvSpPr txBox="1"/>
          <p:nvPr/>
        </p:nvSpPr>
        <p:spPr>
          <a:xfrm>
            <a:off x="1709928" y="1045647"/>
            <a:ext cx="10058400" cy="365760"/>
          </a:xfrm>
          <a:prstGeom prst="rect">
            <a:avLst/>
          </a:prstGeom>
          <a:noFill/>
        </p:spPr>
        <p:txBody>
          <a:bodyPr wrap="square" lIns="0" tIns="0" rIns="0" bIns="0" anchor="t">
            <a:spAutoFit/>
          </a:bodyPr>
          <a:lstStyle/>
          <a:p>
            <a:pPr algn="l"/>
            <a:r>
              <a:rPr sz="1400" b="1" i="0" dirty="0">
                <a:solidFill>
                  <a:srgbClr val="E0912F"/>
                </a:solidFill>
                <a:latin typeface="Calibri"/>
              </a:rPr>
              <a:t>CRISP-DM  ·  Business Understanding  ·  </a:t>
            </a:r>
            <a:r>
              <a:rPr sz="1400" b="1" i="0" dirty="0" err="1">
                <a:solidFill>
                  <a:srgbClr val="E0912F"/>
                </a:solidFill>
                <a:latin typeface="Calibri"/>
              </a:rPr>
              <a:t>Hintergrund</a:t>
            </a:r>
            <a:endParaRPr sz="1400" b="1" i="0" dirty="0">
              <a:solidFill>
                <a:srgbClr val="E0912F"/>
              </a:solidFill>
              <a:latin typeface="Calibri"/>
            </a:endParaRPr>
          </a:p>
        </p:txBody>
      </p:sp>
      <p:sp>
        <p:nvSpPr>
          <p:cNvPr id="31" name="TextBox 30">
            <a:extLst>
              <a:ext uri="{FF2B5EF4-FFF2-40B4-BE49-F238E27FC236}">
                <a16:creationId xmlns:a16="http://schemas.microsoft.com/office/drawing/2014/main" id="{27B26264-C1F8-39FB-9E70-2778A34DFD58}"/>
              </a:ext>
            </a:extLst>
          </p:cNvPr>
          <p:cNvSpPr txBox="1"/>
          <p:nvPr/>
        </p:nvSpPr>
        <p:spPr>
          <a:xfrm>
            <a:off x="457200" y="6497303"/>
            <a:ext cx="8229600" cy="138499"/>
          </a:xfrm>
          <a:prstGeom prst="rect">
            <a:avLst/>
          </a:prstGeom>
          <a:noFill/>
        </p:spPr>
        <p:txBody>
          <a:bodyPr wrap="square" lIns="0" tIns="0" rIns="0" bIns="0" anchor="t">
            <a:spAutoFit/>
          </a:bodyPr>
          <a:lstStyle/>
          <a:p>
            <a:pPr algn="l"/>
            <a:r>
              <a:rPr sz="900" b="0" i="0" dirty="0">
                <a:solidFill>
                  <a:srgbClr val="6C7278"/>
                </a:solidFill>
                <a:latin typeface="Calibri"/>
              </a:rPr>
              <a:t>PM2.5-Prognose Beijing  ·  Prophet, Chronos &amp; TFT  ·  CRISP-DM</a:t>
            </a:r>
          </a:p>
        </p:txBody>
      </p:sp>
      <p:grpSp>
        <p:nvGrpSpPr>
          <p:cNvPr id="32" name="Gruppieren 31">
            <a:extLst>
              <a:ext uri="{FF2B5EF4-FFF2-40B4-BE49-F238E27FC236}">
                <a16:creationId xmlns:a16="http://schemas.microsoft.com/office/drawing/2014/main" id="{A5836F28-DE86-6849-9CF8-819C4BC3FBF3}"/>
              </a:ext>
            </a:extLst>
          </p:cNvPr>
          <p:cNvGrpSpPr/>
          <p:nvPr/>
        </p:nvGrpSpPr>
        <p:grpSpPr>
          <a:xfrm>
            <a:off x="457200" y="457200"/>
            <a:ext cx="1051200" cy="1051200"/>
            <a:chOff x="457200" y="457200"/>
            <a:chExt cx="1051200" cy="1051200"/>
          </a:xfrm>
        </p:grpSpPr>
        <p:sp>
          <p:nvSpPr>
            <p:cNvPr id="41" name="Oval 34">
              <a:extLst>
                <a:ext uri="{FF2B5EF4-FFF2-40B4-BE49-F238E27FC236}">
                  <a16:creationId xmlns:a16="http://schemas.microsoft.com/office/drawing/2014/main" id="{14696776-56FB-068C-CDCF-835D76DCA8C9}"/>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3" name="TextBox 60">
              <a:extLst>
                <a:ext uri="{FF2B5EF4-FFF2-40B4-BE49-F238E27FC236}">
                  <a16:creationId xmlns:a16="http://schemas.microsoft.com/office/drawing/2014/main" id="{F0B18BAE-75D2-ECB7-48C1-D593D847EF3B}"/>
                </a:ext>
              </a:extLst>
            </p:cNvPr>
            <p:cNvSpPr/>
            <p:nvPr/>
          </p:nvSpPr>
          <p:spPr>
            <a:xfrm>
              <a:off x="457200" y="760284"/>
              <a:ext cx="1051200" cy="45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dirty="0">
                  <a:solidFill>
                    <a:srgbClr val="FFFFFF"/>
                  </a:solidFill>
                  <a:effectLst/>
                  <a:uFillTx/>
                  <a:latin typeface="Cambria"/>
                </a:rPr>
                <a:t>1</a:t>
              </a:r>
              <a:endParaRPr lang="de-DE" sz="3000" b="0" u="none" strike="noStrike" dirty="0">
                <a:solidFill>
                  <a:srgbClr val="000000"/>
                </a:solidFill>
                <a:effectLst/>
                <a:uFillTx/>
                <a:latin typeface="Arial"/>
              </a:endParaRPr>
            </a:p>
          </p:txBody>
        </p:sp>
      </p:grpSp>
      <p:pic>
        <p:nvPicPr>
          <p:cNvPr id="23" name="Grafik 22">
            <a:extLst>
              <a:ext uri="{FF2B5EF4-FFF2-40B4-BE49-F238E27FC236}">
                <a16:creationId xmlns:a16="http://schemas.microsoft.com/office/drawing/2014/main" id="{180F7C43-188E-61A3-D54B-6091DA789C7E}"/>
              </a:ext>
            </a:extLst>
          </p:cNvPr>
          <p:cNvPicPr>
            <a:picLocks noChangeAspect="1"/>
          </p:cNvPicPr>
          <p:nvPr/>
        </p:nvPicPr>
        <p:blipFill>
          <a:blip r:embed="rId2"/>
          <a:stretch>
            <a:fillRect/>
          </a:stretch>
        </p:blipFill>
        <p:spPr>
          <a:xfrm>
            <a:off x="291880" y="1577159"/>
            <a:ext cx="8560240" cy="4369025"/>
          </a:xfrm>
          <a:prstGeom prst="rect">
            <a:avLst/>
          </a:prstGeom>
          <a:effectLst>
            <a:outerShdw blurRad="50800" dist="38100" dir="2700000" algn="tl" rotWithShape="0">
              <a:prstClr val="black">
                <a:alpha val="40000"/>
              </a:prstClr>
            </a:outerShdw>
          </a:effectLst>
        </p:spPr>
      </p:pic>
      <p:pic>
        <p:nvPicPr>
          <p:cNvPr id="27" name="Grafik 26">
            <a:extLst>
              <a:ext uri="{FF2B5EF4-FFF2-40B4-BE49-F238E27FC236}">
                <a16:creationId xmlns:a16="http://schemas.microsoft.com/office/drawing/2014/main" id="{94573F01-C7FA-FBB0-8FE6-9803A79FDEAD}"/>
              </a:ext>
            </a:extLst>
          </p:cNvPr>
          <p:cNvPicPr>
            <a:picLocks noChangeAspect="1"/>
          </p:cNvPicPr>
          <p:nvPr/>
        </p:nvPicPr>
        <p:blipFill>
          <a:blip r:embed="rId3"/>
          <a:stretch>
            <a:fillRect/>
          </a:stretch>
        </p:blipFill>
        <p:spPr>
          <a:xfrm rot="510244">
            <a:off x="4937246" y="1990468"/>
            <a:ext cx="6745393" cy="3034907"/>
          </a:xfrm>
          <a:prstGeom prst="rect">
            <a:avLst/>
          </a:prstGeom>
          <a:effectLst>
            <a:outerShdw blurRad="50800" dist="38100" dir="2700000" algn="tl" rotWithShape="0">
              <a:prstClr val="black">
                <a:alpha val="40000"/>
              </a:prstClr>
            </a:outerShdw>
          </a:effectLst>
        </p:spPr>
      </p:pic>
      <p:pic>
        <p:nvPicPr>
          <p:cNvPr id="25" name="Grafik 24">
            <a:extLst>
              <a:ext uri="{FF2B5EF4-FFF2-40B4-BE49-F238E27FC236}">
                <a16:creationId xmlns:a16="http://schemas.microsoft.com/office/drawing/2014/main" id="{DF187B89-BABF-C106-CD16-52ACD10E3B75}"/>
              </a:ext>
            </a:extLst>
          </p:cNvPr>
          <p:cNvPicPr>
            <a:picLocks noChangeAspect="1"/>
          </p:cNvPicPr>
          <p:nvPr/>
        </p:nvPicPr>
        <p:blipFill>
          <a:blip r:embed="rId4"/>
          <a:stretch>
            <a:fillRect/>
          </a:stretch>
        </p:blipFill>
        <p:spPr>
          <a:xfrm>
            <a:off x="2636003" y="3659237"/>
            <a:ext cx="7725036" cy="2452699"/>
          </a:xfrm>
          <a:prstGeom prst="rect">
            <a:avLst/>
          </a:prstGeom>
          <a:effectLst>
            <a:outerShdw blurRad="50800" dist="38100" dir="2700000" algn="tl" rotWithShape="0">
              <a:prstClr val="black">
                <a:alpha val="40000"/>
              </a:prstClr>
            </a:outerShdw>
          </a:effectLst>
        </p:spPr>
      </p:pic>
      <p:sp>
        <p:nvSpPr>
          <p:cNvPr id="29" name="TextBox 29">
            <a:extLst>
              <a:ext uri="{FF2B5EF4-FFF2-40B4-BE49-F238E27FC236}">
                <a16:creationId xmlns:a16="http://schemas.microsoft.com/office/drawing/2014/main" id="{B3B13D84-9D3C-41A8-4725-3E19907F8C23}"/>
              </a:ext>
            </a:extLst>
          </p:cNvPr>
          <p:cNvSpPr txBox="1"/>
          <p:nvPr/>
        </p:nvSpPr>
        <p:spPr>
          <a:xfrm>
            <a:off x="457200" y="6277689"/>
            <a:ext cx="8686800" cy="123111"/>
          </a:xfrm>
          <a:prstGeom prst="rect">
            <a:avLst/>
          </a:prstGeom>
          <a:noFill/>
        </p:spPr>
        <p:txBody>
          <a:bodyPr wrap="square" lIns="0" tIns="0" rIns="0" bIns="0" anchor="t">
            <a:spAutoFit/>
          </a:bodyPr>
          <a:lstStyle/>
          <a:p>
            <a:r>
              <a:rPr sz="800" b="0" i="0" dirty="0" err="1">
                <a:solidFill>
                  <a:srgbClr val="8A8F94"/>
                </a:solidFill>
                <a:latin typeface="Calibri"/>
              </a:rPr>
              <a:t>Quellen</a:t>
            </a:r>
            <a:r>
              <a:rPr sz="800" dirty="0">
                <a:solidFill>
                  <a:srgbClr val="8A8F94"/>
                </a:solidFill>
                <a:latin typeface="Calibri"/>
              </a:rPr>
              <a:t>: </a:t>
            </a:r>
            <a:r>
              <a:rPr lang="de-DE" sz="800" dirty="0">
                <a:solidFill>
                  <a:srgbClr val="8A8F94"/>
                </a:solidFill>
                <a:latin typeface="Calibri"/>
              </a:rPr>
              <a:t>ZEIT ONLINE (dpa), 12.01.2013 · </a:t>
            </a:r>
            <a:r>
              <a:rPr lang="de-DE" sz="800" dirty="0" err="1">
                <a:solidFill>
                  <a:srgbClr val="8A8F94"/>
                </a:solidFill>
                <a:latin typeface="Calibri"/>
              </a:rPr>
              <a:t>L'essentiel</a:t>
            </a:r>
            <a:r>
              <a:rPr lang="de-DE" sz="800" dirty="0">
                <a:solidFill>
                  <a:srgbClr val="8A8F94"/>
                </a:solidFill>
                <a:latin typeface="Calibri"/>
              </a:rPr>
              <a:t>, 01.12.2015</a:t>
            </a:r>
            <a:endParaRPr sz="800" dirty="0">
              <a:solidFill>
                <a:srgbClr val="8A8F94"/>
              </a:solidFill>
              <a:latin typeface="Calibri"/>
            </a:endParaRPr>
          </a:p>
        </p:txBody>
      </p:sp>
    </p:spTree>
    <p:extLst>
      <p:ext uri="{BB962C8B-B14F-4D97-AF65-F5344CB8AC3E}">
        <p14:creationId xmlns:p14="http://schemas.microsoft.com/office/powerpoint/2010/main" val="2800275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7"/>
                                        </p:tgtEl>
                                        <p:attrNameLst>
                                          <p:attrName>style.visibility</p:attrName>
                                        </p:attrNameLst>
                                      </p:cBhvr>
                                      <p:to>
                                        <p:strVal val="visible"/>
                                      </p:to>
                                    </p:set>
                                    <p:anim calcmode="lin" valueType="num">
                                      <p:cBhvr additive="base">
                                        <p:cTn id="13" dur="500" fill="hold"/>
                                        <p:tgtEl>
                                          <p:spTgt spid="27"/>
                                        </p:tgtEl>
                                        <p:attrNameLst>
                                          <p:attrName>ppt_x</p:attrName>
                                        </p:attrNameLst>
                                      </p:cBhvr>
                                      <p:tavLst>
                                        <p:tav tm="0">
                                          <p:val>
                                            <p:strVal val="#ppt_x"/>
                                          </p:val>
                                        </p:tav>
                                        <p:tav tm="100000">
                                          <p:val>
                                            <p:strVal val="#ppt_x"/>
                                          </p:val>
                                        </p:tav>
                                      </p:tavLst>
                                    </p:anim>
                                    <p:anim calcmode="lin" valueType="num">
                                      <p:cBhvr additive="base">
                                        <p:cTn id="14"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500" fill="hold"/>
                                        <p:tgtEl>
                                          <p:spTgt spid="25"/>
                                        </p:tgtEl>
                                        <p:attrNameLst>
                                          <p:attrName>ppt_x</p:attrName>
                                        </p:attrNameLst>
                                      </p:cBhvr>
                                      <p:tavLst>
                                        <p:tav tm="0">
                                          <p:val>
                                            <p:strVal val="#ppt_x"/>
                                          </p:val>
                                        </p:tav>
                                        <p:tav tm="100000">
                                          <p:val>
                                            <p:strVal val="#ppt_x"/>
                                          </p:val>
                                        </p:tav>
                                      </p:tavLst>
                                    </p:anim>
                                    <p:anim calcmode="lin" valueType="num">
                                      <p:cBhvr additive="base">
                                        <p:cTn id="2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8" y="0"/>
            <a:ext cx="12198096" cy="6858000"/>
          </a:xfrm>
          <a:prstGeom prst="rect">
            <a:avLst/>
          </a:prstGeom>
          <a:solidFill>
            <a:srgbClr val="F5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816155"/>
            <a:ext cx="1051560" cy="461665"/>
          </a:xfrm>
          <a:prstGeom prst="rect">
            <a:avLst/>
          </a:prstGeom>
          <a:noFill/>
        </p:spPr>
        <p:txBody>
          <a:bodyPr wrap="square" lIns="0" tIns="0" rIns="0" bIns="0" anchor="ctr">
            <a:spAutoFit/>
          </a:bodyPr>
          <a:lstStyle/>
          <a:p>
            <a:pPr algn="ctr"/>
            <a:r>
              <a:rPr sz="3000" b="1" i="0" dirty="0">
                <a:solidFill>
                  <a:srgbClr val="FFFFFF"/>
                </a:solidFill>
                <a:latin typeface="Cambria"/>
              </a:rPr>
              <a:t>1</a:t>
            </a:r>
          </a:p>
        </p:txBody>
      </p:sp>
      <p:sp>
        <p:nvSpPr>
          <p:cNvPr id="5" name="TextBox 4"/>
          <p:cNvSpPr txBox="1"/>
          <p:nvPr/>
        </p:nvSpPr>
        <p:spPr>
          <a:xfrm>
            <a:off x="1691640" y="553879"/>
            <a:ext cx="10058400" cy="492443"/>
          </a:xfrm>
          <a:prstGeom prst="rect">
            <a:avLst/>
          </a:prstGeom>
          <a:noFill/>
        </p:spPr>
        <p:txBody>
          <a:bodyPr wrap="square" lIns="0" tIns="0" rIns="0" bIns="0" anchor="ctr">
            <a:spAutoFit/>
          </a:bodyPr>
          <a:lstStyle/>
          <a:p>
            <a:pPr algn="l"/>
            <a:r>
              <a:rPr lang="de-DE" sz="3200" b="1" i="0" dirty="0">
                <a:solidFill>
                  <a:srgbClr val="22272B"/>
                </a:solidFill>
                <a:latin typeface="Cambria"/>
              </a:rPr>
              <a:t>Luftverschmutzung in </a:t>
            </a:r>
            <a:r>
              <a:rPr sz="3200" b="1" i="0" dirty="0">
                <a:solidFill>
                  <a:srgbClr val="22272B"/>
                </a:solidFill>
                <a:latin typeface="Cambria"/>
              </a:rPr>
              <a:t>Beijing</a:t>
            </a:r>
          </a:p>
        </p:txBody>
      </p:sp>
      <p:sp>
        <p:nvSpPr>
          <p:cNvPr id="6" name="TextBox 5"/>
          <p:cNvSpPr txBox="1"/>
          <p:nvPr/>
        </p:nvSpPr>
        <p:spPr>
          <a:xfrm>
            <a:off x="1709928" y="1170432"/>
            <a:ext cx="10058400" cy="365760"/>
          </a:xfrm>
          <a:prstGeom prst="rect">
            <a:avLst/>
          </a:prstGeom>
          <a:noFill/>
        </p:spPr>
        <p:txBody>
          <a:bodyPr wrap="square" lIns="0" tIns="0" rIns="0" bIns="0" anchor="t">
            <a:spAutoFit/>
          </a:bodyPr>
          <a:lstStyle/>
          <a:p>
            <a:pPr algn="l"/>
            <a:r>
              <a:rPr sz="1400" b="1" i="0">
                <a:solidFill>
                  <a:srgbClr val="E0912F"/>
                </a:solidFill>
                <a:latin typeface="Calibri"/>
              </a:rPr>
              <a:t>CRISP-DM  ·  Business Understanding  ·  Hintergrund</a:t>
            </a:r>
          </a:p>
        </p:txBody>
      </p:sp>
      <p:sp>
        <p:nvSpPr>
          <p:cNvPr id="7" name="TextBox 6"/>
          <p:cNvSpPr txBox="1"/>
          <p:nvPr/>
        </p:nvSpPr>
        <p:spPr>
          <a:xfrm>
            <a:off x="502920" y="1847088"/>
            <a:ext cx="11155680" cy="492443"/>
          </a:xfrm>
          <a:prstGeom prst="rect">
            <a:avLst/>
          </a:prstGeom>
          <a:noFill/>
        </p:spPr>
        <p:txBody>
          <a:bodyPr wrap="square" lIns="0" tIns="0" rIns="0" bIns="0" anchor="t">
            <a:spAutoFit/>
          </a:bodyPr>
          <a:lstStyle/>
          <a:p>
            <a:pPr algn="l"/>
            <a:r>
              <a:rPr sz="1600" b="1" i="0" dirty="0" err="1">
                <a:solidFill>
                  <a:srgbClr val="22272B"/>
                </a:solidFill>
                <a:latin typeface="Calibri"/>
              </a:rPr>
              <a:t>Feinstaub</a:t>
            </a:r>
            <a:r>
              <a:rPr sz="1600" b="1" i="0" dirty="0">
                <a:solidFill>
                  <a:srgbClr val="22272B"/>
                </a:solidFill>
                <a:latin typeface="Calibri"/>
              </a:rPr>
              <a:t> (PM2.5, </a:t>
            </a:r>
            <a:r>
              <a:rPr sz="1600" b="1" i="0" dirty="0" err="1">
                <a:solidFill>
                  <a:srgbClr val="22272B"/>
                </a:solidFill>
                <a:latin typeface="Calibri"/>
              </a:rPr>
              <a:t>Partikel</a:t>
            </a:r>
            <a:r>
              <a:rPr sz="1600" b="1" i="0" dirty="0">
                <a:solidFill>
                  <a:srgbClr val="22272B"/>
                </a:solidFill>
                <a:latin typeface="Calibri"/>
              </a:rPr>
              <a:t> &lt; 2,5 µm) </a:t>
            </a:r>
            <a:r>
              <a:rPr sz="1600" b="1" i="0" dirty="0" err="1">
                <a:solidFill>
                  <a:srgbClr val="22272B"/>
                </a:solidFill>
                <a:latin typeface="Calibri"/>
              </a:rPr>
              <a:t>dringt</a:t>
            </a:r>
            <a:r>
              <a:rPr sz="1600" b="1" i="0" dirty="0">
                <a:solidFill>
                  <a:srgbClr val="22272B"/>
                </a:solidFill>
                <a:latin typeface="Calibri"/>
              </a:rPr>
              <a:t> </a:t>
            </a:r>
            <a:r>
              <a:rPr sz="1600" b="1" i="0" dirty="0" err="1">
                <a:solidFill>
                  <a:srgbClr val="22272B"/>
                </a:solidFill>
                <a:latin typeface="Calibri"/>
              </a:rPr>
              <a:t>tief</a:t>
            </a:r>
            <a:r>
              <a:rPr sz="1600" b="1" i="0" dirty="0">
                <a:solidFill>
                  <a:srgbClr val="22272B"/>
                </a:solidFill>
                <a:latin typeface="Calibri"/>
              </a:rPr>
              <a:t> in Lunge und </a:t>
            </a:r>
            <a:r>
              <a:rPr sz="1600" b="1" i="0" dirty="0" err="1">
                <a:solidFill>
                  <a:srgbClr val="22272B"/>
                </a:solidFill>
                <a:latin typeface="Calibri"/>
              </a:rPr>
              <a:t>Blutbahn</a:t>
            </a:r>
            <a:r>
              <a:rPr sz="1600" b="1" i="0" dirty="0">
                <a:solidFill>
                  <a:srgbClr val="22272B"/>
                </a:solidFill>
                <a:latin typeface="Calibri"/>
              </a:rPr>
              <a:t> </a:t>
            </a:r>
            <a:r>
              <a:rPr sz="1600" b="1" i="0" dirty="0" err="1">
                <a:solidFill>
                  <a:srgbClr val="22272B"/>
                </a:solidFill>
                <a:latin typeface="Calibri"/>
              </a:rPr>
              <a:t>ein</a:t>
            </a:r>
            <a:r>
              <a:rPr sz="1600" b="1" i="0" dirty="0">
                <a:solidFill>
                  <a:srgbClr val="22272B"/>
                </a:solidFill>
                <a:latin typeface="Calibri"/>
              </a:rPr>
              <a:t>. In Beijing </a:t>
            </a:r>
            <a:r>
              <a:rPr sz="1600" b="1" i="0" dirty="0" err="1">
                <a:solidFill>
                  <a:srgbClr val="22272B"/>
                </a:solidFill>
                <a:latin typeface="Calibri"/>
              </a:rPr>
              <a:t>zählt</a:t>
            </a:r>
            <a:r>
              <a:rPr sz="1600" b="1" i="0" dirty="0">
                <a:solidFill>
                  <a:srgbClr val="22272B"/>
                </a:solidFill>
                <a:latin typeface="Calibri"/>
              </a:rPr>
              <a:t> er </a:t>
            </a:r>
            <a:r>
              <a:rPr sz="1600" b="1" i="0" dirty="0" err="1">
                <a:solidFill>
                  <a:srgbClr val="22272B"/>
                </a:solidFill>
                <a:latin typeface="Calibri"/>
              </a:rPr>
              <a:t>seit</a:t>
            </a:r>
            <a:r>
              <a:rPr sz="1600" b="1" i="0" dirty="0">
                <a:solidFill>
                  <a:srgbClr val="22272B"/>
                </a:solidFill>
                <a:latin typeface="Calibri"/>
              </a:rPr>
              <a:t> Jahren </a:t>
            </a:r>
            <a:r>
              <a:rPr sz="1600" b="1" i="0" dirty="0" err="1">
                <a:solidFill>
                  <a:srgbClr val="22272B"/>
                </a:solidFill>
                <a:latin typeface="Calibri"/>
              </a:rPr>
              <a:t>zu</a:t>
            </a:r>
            <a:r>
              <a:rPr sz="1600" b="1" i="0" dirty="0">
                <a:solidFill>
                  <a:srgbClr val="22272B"/>
                </a:solidFill>
                <a:latin typeface="Calibri"/>
              </a:rPr>
              <a:t> den </a:t>
            </a:r>
            <a:r>
              <a:rPr sz="1600" b="1" i="0" dirty="0" err="1">
                <a:solidFill>
                  <a:srgbClr val="22272B"/>
                </a:solidFill>
                <a:latin typeface="Calibri"/>
              </a:rPr>
              <a:t>größten</a:t>
            </a:r>
            <a:r>
              <a:rPr sz="1600" b="1" i="0" dirty="0">
                <a:solidFill>
                  <a:srgbClr val="22272B"/>
                </a:solidFill>
                <a:latin typeface="Calibri"/>
              </a:rPr>
              <a:t> </a:t>
            </a:r>
            <a:r>
              <a:rPr sz="1600" b="1" i="0" dirty="0" err="1">
                <a:solidFill>
                  <a:srgbClr val="22272B"/>
                </a:solidFill>
                <a:latin typeface="Calibri"/>
              </a:rPr>
              <a:t>Gesundheitsrisiken</a:t>
            </a:r>
            <a:r>
              <a:rPr sz="1600" b="1" i="0" dirty="0">
                <a:solidFill>
                  <a:srgbClr val="22272B"/>
                </a:solidFill>
                <a:latin typeface="Calibri"/>
              </a:rPr>
              <a:t> – und </a:t>
            </a:r>
            <a:r>
              <a:rPr sz="1600" b="1" i="0" dirty="0" err="1">
                <a:solidFill>
                  <a:srgbClr val="22272B"/>
                </a:solidFill>
                <a:latin typeface="Calibri"/>
              </a:rPr>
              <a:t>schwankt</a:t>
            </a:r>
            <a:r>
              <a:rPr sz="1600" b="1" i="0" dirty="0">
                <a:solidFill>
                  <a:srgbClr val="22272B"/>
                </a:solidFill>
                <a:latin typeface="Calibri"/>
              </a:rPr>
              <a:t> </a:t>
            </a:r>
            <a:r>
              <a:rPr lang="de-DE" sz="1600" b="1" i="0" dirty="0">
                <a:solidFill>
                  <a:srgbClr val="22272B"/>
                </a:solidFill>
                <a:latin typeface="Calibri"/>
              </a:rPr>
              <a:t>dort </a:t>
            </a:r>
            <a:r>
              <a:rPr sz="1600" b="1" i="0" dirty="0">
                <a:solidFill>
                  <a:srgbClr val="22272B"/>
                </a:solidFill>
                <a:latin typeface="Calibri"/>
              </a:rPr>
              <a:t>stark von </a:t>
            </a:r>
            <a:r>
              <a:rPr sz="1600" b="1" i="0" dirty="0" err="1">
                <a:solidFill>
                  <a:srgbClr val="22272B"/>
                </a:solidFill>
                <a:latin typeface="Calibri"/>
              </a:rPr>
              <a:t>Stunde</a:t>
            </a:r>
            <a:r>
              <a:rPr sz="1600" b="1" i="0" dirty="0">
                <a:solidFill>
                  <a:srgbClr val="22272B"/>
                </a:solidFill>
                <a:latin typeface="Calibri"/>
              </a:rPr>
              <a:t> </a:t>
            </a:r>
            <a:r>
              <a:rPr sz="1600" b="1" i="0" dirty="0" err="1">
                <a:solidFill>
                  <a:srgbClr val="22272B"/>
                </a:solidFill>
                <a:latin typeface="Calibri"/>
              </a:rPr>
              <a:t>zu</a:t>
            </a:r>
            <a:r>
              <a:rPr sz="1600" b="1" i="0" dirty="0">
                <a:solidFill>
                  <a:srgbClr val="22272B"/>
                </a:solidFill>
                <a:latin typeface="Calibri"/>
              </a:rPr>
              <a:t> </a:t>
            </a:r>
            <a:r>
              <a:rPr sz="1600" b="1" i="0" dirty="0" err="1">
                <a:solidFill>
                  <a:srgbClr val="22272B"/>
                </a:solidFill>
                <a:latin typeface="Calibri"/>
              </a:rPr>
              <a:t>Stunde</a:t>
            </a:r>
            <a:r>
              <a:rPr sz="1600" b="1" i="0" dirty="0">
                <a:solidFill>
                  <a:srgbClr val="22272B"/>
                </a:solidFill>
                <a:latin typeface="Calibri"/>
              </a:rPr>
              <a:t>.</a:t>
            </a:r>
          </a:p>
        </p:txBody>
      </p:sp>
      <p:sp>
        <p:nvSpPr>
          <p:cNvPr id="8" name="Rounded Rectangle 7"/>
          <p:cNvSpPr/>
          <p:nvPr/>
        </p:nvSpPr>
        <p:spPr>
          <a:xfrm>
            <a:off x="1225296" y="2754576"/>
            <a:ext cx="2615184" cy="2331720"/>
          </a:xfrm>
          <a:prstGeom prst="roundRect">
            <a:avLst>
              <a:gd name="adj" fmla="val 6000"/>
            </a:avLst>
          </a:prstGeom>
          <a:solidFill>
            <a:srgbClr val="FFFFFF"/>
          </a:solidFill>
          <a:ln w="12700">
            <a:solidFill>
              <a:srgbClr val="E1E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44" name="Gruppieren 43">
            <a:extLst>
              <a:ext uri="{FF2B5EF4-FFF2-40B4-BE49-F238E27FC236}">
                <a16:creationId xmlns:a16="http://schemas.microsoft.com/office/drawing/2014/main" id="{6B310143-0541-E3C5-663E-F6B357292002}"/>
              </a:ext>
            </a:extLst>
          </p:cNvPr>
          <p:cNvGrpSpPr/>
          <p:nvPr/>
        </p:nvGrpSpPr>
        <p:grpSpPr>
          <a:xfrm>
            <a:off x="1514761" y="2935584"/>
            <a:ext cx="2212848" cy="2057400"/>
            <a:chOff x="658368" y="2990088"/>
            <a:chExt cx="2212848" cy="2057400"/>
          </a:xfrm>
        </p:grpSpPr>
        <p:sp>
          <p:nvSpPr>
            <p:cNvPr id="9" name="TextBox 8"/>
            <p:cNvSpPr txBox="1"/>
            <p:nvPr/>
          </p:nvSpPr>
          <p:spPr>
            <a:xfrm>
              <a:off x="658368" y="2990088"/>
              <a:ext cx="2212848" cy="822960"/>
            </a:xfrm>
            <a:prstGeom prst="rect">
              <a:avLst/>
            </a:prstGeom>
            <a:noFill/>
          </p:spPr>
          <p:txBody>
            <a:bodyPr wrap="square" lIns="0" tIns="0" rIns="0" bIns="0" anchor="ctr">
              <a:spAutoFit/>
            </a:bodyPr>
            <a:lstStyle/>
            <a:p>
              <a:pPr algn="l"/>
              <a:r>
                <a:rPr sz="4800" b="1" i="0" dirty="0">
                  <a:solidFill>
                    <a:srgbClr val="E0912F"/>
                  </a:solidFill>
                  <a:latin typeface="Cambria"/>
                </a:rPr>
                <a:t>89,5</a:t>
              </a:r>
            </a:p>
          </p:txBody>
        </p:sp>
        <p:sp>
          <p:nvSpPr>
            <p:cNvPr id="10" name="TextBox 9"/>
            <p:cNvSpPr txBox="1"/>
            <p:nvPr/>
          </p:nvSpPr>
          <p:spPr>
            <a:xfrm>
              <a:off x="676656" y="3721608"/>
              <a:ext cx="2176272" cy="274320"/>
            </a:xfrm>
            <a:prstGeom prst="rect">
              <a:avLst/>
            </a:prstGeom>
            <a:noFill/>
          </p:spPr>
          <p:txBody>
            <a:bodyPr wrap="square" lIns="0" tIns="0" rIns="0" bIns="0" anchor="t">
              <a:spAutoFit/>
            </a:bodyPr>
            <a:lstStyle/>
            <a:p>
              <a:pPr algn="l"/>
              <a:r>
                <a:rPr sz="1200" b="1" i="0">
                  <a:solidFill>
                    <a:srgbClr val="8A8F94"/>
                  </a:solidFill>
                  <a:latin typeface="Calibri"/>
                </a:rPr>
                <a:t>µg/m³</a:t>
              </a:r>
            </a:p>
          </p:txBody>
        </p:sp>
        <p:sp>
          <p:nvSpPr>
            <p:cNvPr id="11" name="TextBox 10"/>
            <p:cNvSpPr txBox="1"/>
            <p:nvPr/>
          </p:nvSpPr>
          <p:spPr>
            <a:xfrm>
              <a:off x="676656" y="4014215"/>
              <a:ext cx="2176272" cy="320040"/>
            </a:xfrm>
            <a:prstGeom prst="rect">
              <a:avLst/>
            </a:prstGeom>
            <a:noFill/>
          </p:spPr>
          <p:txBody>
            <a:bodyPr wrap="square" lIns="0" tIns="0" rIns="0" bIns="0" anchor="t">
              <a:spAutoFit/>
            </a:bodyPr>
            <a:lstStyle/>
            <a:p>
              <a:pPr algn="l"/>
              <a:r>
                <a:rPr sz="1400" b="1" i="0">
                  <a:solidFill>
                    <a:srgbClr val="22272B"/>
                  </a:solidFill>
                  <a:latin typeface="Calibri"/>
                </a:rPr>
                <a:t>Beijing 2013</a:t>
              </a:r>
            </a:p>
          </p:txBody>
        </p:sp>
        <p:sp>
          <p:nvSpPr>
            <p:cNvPr id="12" name="TextBox 11"/>
            <p:cNvSpPr txBox="1"/>
            <p:nvPr/>
          </p:nvSpPr>
          <p:spPr>
            <a:xfrm>
              <a:off x="676656" y="4361688"/>
              <a:ext cx="2176272" cy="685800"/>
            </a:xfrm>
            <a:prstGeom prst="rect">
              <a:avLst/>
            </a:prstGeom>
            <a:noFill/>
          </p:spPr>
          <p:txBody>
            <a:bodyPr wrap="square" lIns="0" tIns="0" rIns="0" bIns="0" anchor="t">
              <a:spAutoFit/>
            </a:bodyPr>
            <a:lstStyle/>
            <a:p>
              <a:pPr algn="l"/>
              <a:r>
                <a:rPr sz="1100" b="0" i="0">
                  <a:solidFill>
                    <a:srgbClr val="6C7278"/>
                  </a:solidFill>
                  <a:latin typeface="Calibri"/>
                </a:rPr>
                <a:t>Jahresmittel PM2.5 – Ausgangslage des Datensatzes.</a:t>
              </a:r>
            </a:p>
          </p:txBody>
        </p:sp>
      </p:grpSp>
      <p:sp>
        <p:nvSpPr>
          <p:cNvPr id="13" name="Rounded Rectangle 12"/>
          <p:cNvSpPr/>
          <p:nvPr/>
        </p:nvSpPr>
        <p:spPr>
          <a:xfrm>
            <a:off x="4483132" y="2741867"/>
            <a:ext cx="2615184" cy="2331720"/>
          </a:xfrm>
          <a:prstGeom prst="roundRect">
            <a:avLst>
              <a:gd name="adj" fmla="val 6000"/>
            </a:avLst>
          </a:prstGeom>
          <a:solidFill>
            <a:srgbClr val="FFFFFF"/>
          </a:solidFill>
          <a:ln w="12700">
            <a:solidFill>
              <a:srgbClr val="E1E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45" name="Gruppieren 44">
            <a:extLst>
              <a:ext uri="{FF2B5EF4-FFF2-40B4-BE49-F238E27FC236}">
                <a16:creationId xmlns:a16="http://schemas.microsoft.com/office/drawing/2014/main" id="{9D570C1B-718A-013A-9FF0-68307F08A5AB}"/>
              </a:ext>
            </a:extLst>
          </p:cNvPr>
          <p:cNvGrpSpPr/>
          <p:nvPr/>
        </p:nvGrpSpPr>
        <p:grpSpPr>
          <a:xfrm>
            <a:off x="4703445" y="2835212"/>
            <a:ext cx="2212848" cy="2057400"/>
            <a:chOff x="3559759" y="2990088"/>
            <a:chExt cx="2212848" cy="2057400"/>
          </a:xfrm>
        </p:grpSpPr>
        <p:sp>
          <p:nvSpPr>
            <p:cNvPr id="14" name="TextBox 13"/>
            <p:cNvSpPr txBox="1"/>
            <p:nvPr/>
          </p:nvSpPr>
          <p:spPr>
            <a:xfrm>
              <a:off x="3559759" y="2990088"/>
              <a:ext cx="2212848" cy="822960"/>
            </a:xfrm>
            <a:prstGeom prst="rect">
              <a:avLst/>
            </a:prstGeom>
            <a:noFill/>
          </p:spPr>
          <p:txBody>
            <a:bodyPr wrap="square" lIns="0" tIns="0" rIns="0" bIns="0" anchor="ctr">
              <a:spAutoFit/>
            </a:bodyPr>
            <a:lstStyle/>
            <a:p>
              <a:pPr algn="l"/>
              <a:r>
                <a:rPr sz="4800" b="1" i="0" dirty="0">
                  <a:solidFill>
                    <a:srgbClr val="E0912F"/>
                  </a:solidFill>
                  <a:latin typeface="Cambria"/>
                </a:rPr>
                <a:t>18×</a:t>
              </a:r>
            </a:p>
          </p:txBody>
        </p:sp>
        <p:sp>
          <p:nvSpPr>
            <p:cNvPr id="15" name="TextBox 14"/>
            <p:cNvSpPr txBox="1"/>
            <p:nvPr/>
          </p:nvSpPr>
          <p:spPr>
            <a:xfrm>
              <a:off x="3578047" y="3721608"/>
              <a:ext cx="2176272" cy="274320"/>
            </a:xfrm>
            <a:prstGeom prst="rect">
              <a:avLst/>
            </a:prstGeom>
            <a:noFill/>
          </p:spPr>
          <p:txBody>
            <a:bodyPr wrap="square" lIns="0" tIns="0" rIns="0" bIns="0" anchor="t">
              <a:spAutoFit/>
            </a:bodyPr>
            <a:lstStyle/>
            <a:p>
              <a:pPr algn="l"/>
              <a:r>
                <a:rPr sz="1200" b="1" i="0" dirty="0" err="1">
                  <a:solidFill>
                    <a:srgbClr val="8A8F94"/>
                  </a:solidFill>
                  <a:latin typeface="Calibri"/>
                </a:rPr>
                <a:t>über</a:t>
              </a:r>
              <a:r>
                <a:rPr sz="1200" b="1" i="0" dirty="0">
                  <a:solidFill>
                    <a:srgbClr val="8A8F94"/>
                  </a:solidFill>
                  <a:latin typeface="Calibri"/>
                </a:rPr>
                <a:t> WHO</a:t>
              </a:r>
            </a:p>
          </p:txBody>
        </p:sp>
        <p:sp>
          <p:nvSpPr>
            <p:cNvPr id="16" name="TextBox 15"/>
            <p:cNvSpPr txBox="1"/>
            <p:nvPr/>
          </p:nvSpPr>
          <p:spPr>
            <a:xfrm>
              <a:off x="3578047" y="4014215"/>
              <a:ext cx="2176272" cy="320040"/>
            </a:xfrm>
            <a:prstGeom prst="rect">
              <a:avLst/>
            </a:prstGeom>
            <a:noFill/>
          </p:spPr>
          <p:txBody>
            <a:bodyPr wrap="square" lIns="0" tIns="0" rIns="0" bIns="0" anchor="t">
              <a:spAutoFit/>
            </a:bodyPr>
            <a:lstStyle/>
            <a:p>
              <a:pPr algn="l"/>
              <a:r>
                <a:rPr sz="1400" b="1" i="0" dirty="0">
                  <a:solidFill>
                    <a:srgbClr val="22272B"/>
                  </a:solidFill>
                  <a:latin typeface="Calibri"/>
                </a:rPr>
                <a:t>WHO-</a:t>
              </a:r>
              <a:r>
                <a:rPr sz="1400" b="1" i="0" dirty="0" err="1">
                  <a:solidFill>
                    <a:srgbClr val="22272B"/>
                  </a:solidFill>
                  <a:latin typeface="Calibri"/>
                </a:rPr>
                <a:t>Richtwert</a:t>
              </a:r>
              <a:endParaRPr sz="1400" b="1" i="0" dirty="0">
                <a:solidFill>
                  <a:srgbClr val="22272B"/>
                </a:solidFill>
                <a:latin typeface="Calibri"/>
              </a:endParaRPr>
            </a:p>
          </p:txBody>
        </p:sp>
        <p:sp>
          <p:nvSpPr>
            <p:cNvPr id="17" name="TextBox 16"/>
            <p:cNvSpPr txBox="1"/>
            <p:nvPr/>
          </p:nvSpPr>
          <p:spPr>
            <a:xfrm>
              <a:off x="3578047" y="4361688"/>
              <a:ext cx="2176272" cy="685800"/>
            </a:xfrm>
            <a:prstGeom prst="rect">
              <a:avLst/>
            </a:prstGeom>
            <a:noFill/>
          </p:spPr>
          <p:txBody>
            <a:bodyPr wrap="square" lIns="0" tIns="0" rIns="0" bIns="0" anchor="t">
              <a:spAutoFit/>
            </a:bodyPr>
            <a:lstStyle/>
            <a:p>
              <a:pPr algn="l"/>
              <a:r>
                <a:rPr sz="1100" b="0" i="0" dirty="0">
                  <a:solidFill>
                    <a:srgbClr val="6C7278"/>
                  </a:solidFill>
                  <a:latin typeface="Calibri"/>
                </a:rPr>
                <a:t>Der WHO-</a:t>
              </a:r>
              <a:r>
                <a:rPr sz="1100" b="0" i="0" dirty="0" err="1">
                  <a:solidFill>
                    <a:srgbClr val="6C7278"/>
                  </a:solidFill>
                  <a:latin typeface="Calibri"/>
                </a:rPr>
                <a:t>Jahresrichtwert</a:t>
              </a:r>
              <a:r>
                <a:rPr sz="1100" b="0" i="0" dirty="0">
                  <a:solidFill>
                    <a:srgbClr val="6C7278"/>
                  </a:solidFill>
                  <a:latin typeface="Calibri"/>
                </a:rPr>
                <a:t> </a:t>
              </a:r>
              <a:r>
                <a:rPr sz="1100" b="0" i="0" dirty="0" err="1">
                  <a:solidFill>
                    <a:srgbClr val="6C7278"/>
                  </a:solidFill>
                  <a:latin typeface="Calibri"/>
                </a:rPr>
                <a:t>liegt</a:t>
              </a:r>
              <a:r>
                <a:rPr sz="1100" b="0" i="0" dirty="0">
                  <a:solidFill>
                    <a:srgbClr val="6C7278"/>
                  </a:solidFill>
                  <a:latin typeface="Calibri"/>
                </a:rPr>
                <a:t> </a:t>
              </a:r>
              <a:r>
                <a:rPr sz="1100" b="0" i="0" dirty="0" err="1">
                  <a:solidFill>
                    <a:srgbClr val="6C7278"/>
                  </a:solidFill>
                  <a:latin typeface="Calibri"/>
                </a:rPr>
                <a:t>bei</a:t>
              </a:r>
              <a:r>
                <a:rPr sz="1100" b="0" i="0" dirty="0">
                  <a:solidFill>
                    <a:srgbClr val="6C7278"/>
                  </a:solidFill>
                  <a:latin typeface="Calibri"/>
                </a:rPr>
                <a:t> </a:t>
              </a:r>
              <a:r>
                <a:rPr sz="1100" b="0" i="0" dirty="0" err="1">
                  <a:solidFill>
                    <a:srgbClr val="6C7278"/>
                  </a:solidFill>
                  <a:latin typeface="Calibri"/>
                </a:rPr>
                <a:t>nur</a:t>
              </a:r>
              <a:r>
                <a:rPr sz="1100" b="0" i="0" dirty="0">
                  <a:solidFill>
                    <a:srgbClr val="6C7278"/>
                  </a:solidFill>
                  <a:latin typeface="Calibri"/>
                </a:rPr>
                <a:t> 5 µg/m³.</a:t>
              </a:r>
            </a:p>
          </p:txBody>
        </p:sp>
      </p:grpSp>
      <p:sp>
        <p:nvSpPr>
          <p:cNvPr id="18" name="Rounded Rectangle 17"/>
          <p:cNvSpPr/>
          <p:nvPr/>
        </p:nvSpPr>
        <p:spPr>
          <a:xfrm>
            <a:off x="7589520" y="2754576"/>
            <a:ext cx="2615184" cy="2331720"/>
          </a:xfrm>
          <a:prstGeom prst="roundRect">
            <a:avLst>
              <a:gd name="adj" fmla="val 6000"/>
            </a:avLst>
          </a:prstGeom>
          <a:solidFill>
            <a:srgbClr val="FFFFFF"/>
          </a:solidFill>
          <a:ln w="12700">
            <a:solidFill>
              <a:srgbClr val="E1E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47" name="Gruppieren 46">
            <a:extLst>
              <a:ext uri="{FF2B5EF4-FFF2-40B4-BE49-F238E27FC236}">
                <a16:creationId xmlns:a16="http://schemas.microsoft.com/office/drawing/2014/main" id="{D0EE3C7D-E7C6-F1F2-FF8B-B0A814663BA4}"/>
              </a:ext>
            </a:extLst>
          </p:cNvPr>
          <p:cNvGrpSpPr/>
          <p:nvPr/>
        </p:nvGrpSpPr>
        <p:grpSpPr>
          <a:xfrm>
            <a:off x="7857697" y="2808494"/>
            <a:ext cx="2212848" cy="2080927"/>
            <a:chOff x="6479438" y="2966561"/>
            <a:chExt cx="2212848" cy="2080927"/>
          </a:xfrm>
        </p:grpSpPr>
        <p:sp>
          <p:nvSpPr>
            <p:cNvPr id="19" name="TextBox 18"/>
            <p:cNvSpPr txBox="1"/>
            <p:nvPr/>
          </p:nvSpPr>
          <p:spPr>
            <a:xfrm>
              <a:off x="6479438" y="2966561"/>
              <a:ext cx="2212848" cy="822960"/>
            </a:xfrm>
            <a:prstGeom prst="rect">
              <a:avLst/>
            </a:prstGeom>
            <a:noFill/>
          </p:spPr>
          <p:txBody>
            <a:bodyPr wrap="square" lIns="0" tIns="0" rIns="0" bIns="0" anchor="ctr">
              <a:spAutoFit/>
            </a:bodyPr>
            <a:lstStyle/>
            <a:p>
              <a:pPr algn="l"/>
              <a:r>
                <a:rPr sz="4800" b="1" i="0" dirty="0">
                  <a:solidFill>
                    <a:srgbClr val="E0912F"/>
                  </a:solidFill>
                  <a:latin typeface="Cambria"/>
                </a:rPr>
                <a:t>7 Mio.</a:t>
              </a:r>
            </a:p>
          </p:txBody>
        </p:sp>
        <p:sp>
          <p:nvSpPr>
            <p:cNvPr id="20" name="TextBox 19"/>
            <p:cNvSpPr txBox="1"/>
            <p:nvPr/>
          </p:nvSpPr>
          <p:spPr>
            <a:xfrm>
              <a:off x="6479438" y="3721608"/>
              <a:ext cx="2176272" cy="274320"/>
            </a:xfrm>
            <a:prstGeom prst="rect">
              <a:avLst/>
            </a:prstGeom>
            <a:noFill/>
          </p:spPr>
          <p:txBody>
            <a:bodyPr wrap="square" lIns="0" tIns="0" rIns="0" bIns="0" anchor="t">
              <a:spAutoFit/>
            </a:bodyPr>
            <a:lstStyle/>
            <a:p>
              <a:pPr algn="l"/>
              <a:r>
                <a:rPr sz="1200" b="1" i="0">
                  <a:solidFill>
                    <a:srgbClr val="8A8F94"/>
                  </a:solidFill>
                  <a:latin typeface="Calibri"/>
                </a:rPr>
                <a:t>pro Jahr</a:t>
              </a:r>
            </a:p>
          </p:txBody>
        </p:sp>
        <p:sp>
          <p:nvSpPr>
            <p:cNvPr id="21" name="TextBox 20"/>
            <p:cNvSpPr txBox="1"/>
            <p:nvPr/>
          </p:nvSpPr>
          <p:spPr>
            <a:xfrm>
              <a:off x="6479438" y="4014215"/>
              <a:ext cx="2176272" cy="320040"/>
            </a:xfrm>
            <a:prstGeom prst="rect">
              <a:avLst/>
            </a:prstGeom>
            <a:noFill/>
          </p:spPr>
          <p:txBody>
            <a:bodyPr wrap="square" lIns="0" tIns="0" rIns="0" bIns="0" anchor="t">
              <a:spAutoFit/>
            </a:bodyPr>
            <a:lstStyle/>
            <a:p>
              <a:pPr algn="l"/>
              <a:r>
                <a:rPr sz="1400" b="1" i="0">
                  <a:solidFill>
                    <a:srgbClr val="22272B"/>
                  </a:solidFill>
                  <a:latin typeface="Calibri"/>
                </a:rPr>
                <a:t>Todesfälle weltweit</a:t>
              </a:r>
            </a:p>
          </p:txBody>
        </p:sp>
        <p:sp>
          <p:nvSpPr>
            <p:cNvPr id="22" name="TextBox 21"/>
            <p:cNvSpPr txBox="1"/>
            <p:nvPr/>
          </p:nvSpPr>
          <p:spPr>
            <a:xfrm>
              <a:off x="6479438" y="4361688"/>
              <a:ext cx="2176272" cy="685800"/>
            </a:xfrm>
            <a:prstGeom prst="rect">
              <a:avLst/>
            </a:prstGeom>
            <a:noFill/>
          </p:spPr>
          <p:txBody>
            <a:bodyPr wrap="square" lIns="0" tIns="0" rIns="0" bIns="0" anchor="t">
              <a:spAutoFit/>
            </a:bodyPr>
            <a:lstStyle/>
            <a:p>
              <a:pPr algn="l"/>
              <a:r>
                <a:rPr sz="1100" b="0" i="0">
                  <a:solidFill>
                    <a:srgbClr val="6C7278"/>
                  </a:solidFill>
                  <a:latin typeface="Calibri"/>
                </a:rPr>
                <a:t>Schätzung der WHO zu vorzeitigen Todesfällen durch Feinstaub.</a:t>
              </a:r>
            </a:p>
          </p:txBody>
        </p:sp>
      </p:grpSp>
      <p:sp>
        <p:nvSpPr>
          <p:cNvPr id="30" name="TextBox 29"/>
          <p:cNvSpPr txBox="1"/>
          <p:nvPr/>
        </p:nvSpPr>
        <p:spPr>
          <a:xfrm>
            <a:off x="502920" y="6108192"/>
            <a:ext cx="8686800" cy="228600"/>
          </a:xfrm>
          <a:prstGeom prst="rect">
            <a:avLst/>
          </a:prstGeom>
          <a:noFill/>
        </p:spPr>
        <p:txBody>
          <a:bodyPr wrap="square" lIns="0" tIns="0" rIns="0" bIns="0" anchor="t">
            <a:spAutoFit/>
          </a:bodyPr>
          <a:lstStyle/>
          <a:p>
            <a:pPr algn="l"/>
            <a:r>
              <a:rPr sz="800" b="0" i="0" dirty="0" err="1">
                <a:solidFill>
                  <a:srgbClr val="8A8F94"/>
                </a:solidFill>
                <a:latin typeface="Calibri"/>
              </a:rPr>
              <a:t>Quellen</a:t>
            </a:r>
            <a:r>
              <a:rPr sz="800" b="0" i="0" dirty="0">
                <a:solidFill>
                  <a:srgbClr val="8A8F94"/>
                </a:solidFill>
                <a:latin typeface="Calibri"/>
              </a:rPr>
              <a:t>: WHO Air Quality Guidelines 2021; WHO Ambient Air Pollution 2019; Zhang et al. 2019 (PM2.5 Beijing 2013–2017).</a:t>
            </a:r>
          </a:p>
        </p:txBody>
      </p:sp>
      <p:sp>
        <p:nvSpPr>
          <p:cNvPr id="31" name="TextBox 30"/>
          <p:cNvSpPr txBox="1"/>
          <p:nvPr/>
        </p:nvSpPr>
        <p:spPr>
          <a:xfrm>
            <a:off x="457200" y="6419088"/>
            <a:ext cx="8229600" cy="138499"/>
          </a:xfrm>
          <a:prstGeom prst="rect">
            <a:avLst/>
          </a:prstGeom>
          <a:noFill/>
        </p:spPr>
        <p:txBody>
          <a:bodyPr wrap="square" lIns="0" tIns="0" rIns="0" bIns="0" anchor="t">
            <a:spAutoFit/>
          </a:bodyPr>
          <a:lstStyle/>
          <a:p>
            <a:pPr algn="l"/>
            <a:r>
              <a:rPr sz="900" b="0" i="0" dirty="0">
                <a:solidFill>
                  <a:srgbClr val="6C7278"/>
                </a:solidFill>
                <a:latin typeface="Calibri"/>
              </a:rPr>
              <a:t>PM2.5-Prognose Beijing  ·  Prophet, Chronos &amp; TFT  ·  CRISP-DM</a:t>
            </a:r>
          </a:p>
        </p:txBody>
      </p:sp>
      <p:sp>
        <p:nvSpPr>
          <p:cNvPr id="41" name="Oval 34">
            <a:extLst>
              <a:ext uri="{FF2B5EF4-FFF2-40B4-BE49-F238E27FC236}">
                <a16:creationId xmlns:a16="http://schemas.microsoft.com/office/drawing/2014/main" id="{E04841FC-37F3-1845-69A6-6FB57B95ED86}"/>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3" name="TextBox 60">
            <a:extLst>
              <a:ext uri="{FF2B5EF4-FFF2-40B4-BE49-F238E27FC236}">
                <a16:creationId xmlns:a16="http://schemas.microsoft.com/office/drawing/2014/main" id="{1F5276DA-1FCE-FC3F-47D9-2A503ECFEE23}"/>
              </a:ext>
            </a:extLst>
          </p:cNvPr>
          <p:cNvSpPr/>
          <p:nvPr/>
        </p:nvSpPr>
        <p:spPr>
          <a:xfrm>
            <a:off x="457200" y="760284"/>
            <a:ext cx="1051200" cy="45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dirty="0">
                <a:solidFill>
                  <a:srgbClr val="FFFFFF"/>
                </a:solidFill>
                <a:effectLst/>
                <a:uFillTx/>
                <a:latin typeface="Cambria"/>
              </a:rPr>
              <a:t>1</a:t>
            </a:r>
            <a:endParaRPr lang="de-DE" sz="3000" b="0" u="none" strike="noStrike" dirty="0">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1676" y="482795"/>
            <a:ext cx="145942" cy="145942"/>
          </a:xfrm>
          <a:prstGeom prst="ellipse">
            <a:avLst/>
          </a:prstGeom>
          <a:solidFill>
            <a:srgbClr val="1C7293"/>
          </a:solidFill>
          <a:ln/>
        </p:spPr>
        <p:txBody>
          <a:bodyPr/>
          <a:lstStyle/>
          <a:p>
            <a:endParaRPr lang="de-DE" sz="1795"/>
          </a:p>
        </p:txBody>
      </p:sp>
      <p:sp>
        <p:nvSpPr>
          <p:cNvPr id="3" name="Text 1"/>
          <p:cNvSpPr/>
          <p:nvPr/>
        </p:nvSpPr>
        <p:spPr>
          <a:xfrm>
            <a:off x="1552876" y="213715"/>
            <a:ext cx="10945654" cy="638496"/>
          </a:xfrm>
          <a:prstGeom prst="rect">
            <a:avLst/>
          </a:prstGeom>
          <a:noFill/>
          <a:ln/>
        </p:spPr>
        <p:txBody>
          <a:bodyPr wrap="square" lIns="0" tIns="0" rIns="0" bIns="0" rtlCol="0" anchor="ctr"/>
          <a:lstStyle/>
          <a:p>
            <a:r>
              <a:rPr lang="en-US" sz="2993" b="1" dirty="0">
                <a:solidFill>
                  <a:srgbClr val="242A31"/>
                </a:solidFill>
                <a:latin typeface="Cambria" pitchFamily="34" charset="0"/>
                <a:ea typeface="Cambria" pitchFamily="34" charset="-122"/>
                <a:cs typeface="Cambria" pitchFamily="34" charset="-120"/>
              </a:rPr>
              <a:t>Warum ist Feinstaub (PM2.5) gefährlich?</a:t>
            </a:r>
            <a:endParaRPr lang="en-US" sz="2993" dirty="0"/>
          </a:p>
        </p:txBody>
      </p:sp>
      <p:sp>
        <p:nvSpPr>
          <p:cNvPr id="4" name="Text 2"/>
          <p:cNvSpPr/>
          <p:nvPr/>
        </p:nvSpPr>
        <p:spPr>
          <a:xfrm>
            <a:off x="729711" y="1331083"/>
            <a:ext cx="4834330" cy="364855"/>
          </a:xfrm>
          <a:prstGeom prst="rect">
            <a:avLst/>
          </a:prstGeom>
          <a:noFill/>
          <a:ln/>
        </p:spPr>
        <p:txBody>
          <a:bodyPr wrap="square" lIns="0" tIns="0" rIns="0" bIns="0" rtlCol="0" anchor="ctr"/>
          <a:lstStyle/>
          <a:p>
            <a:r>
              <a:rPr lang="en-US" sz="1696" b="1" dirty="0">
                <a:solidFill>
                  <a:srgbClr val="242A31"/>
                </a:solidFill>
                <a:latin typeface="Calibri" pitchFamily="34" charset="0"/>
                <a:ea typeface="Calibri" pitchFamily="34" charset="-122"/>
                <a:cs typeface="Calibri" pitchFamily="34" charset="-120"/>
              </a:rPr>
              <a:t>So tief dringt PM2.5 ein</a:t>
            </a:r>
            <a:endParaRPr lang="en-US" sz="1696" dirty="0"/>
          </a:p>
        </p:txBody>
      </p:sp>
      <p:sp>
        <p:nvSpPr>
          <p:cNvPr id="5" name="Shape 3"/>
          <p:cNvSpPr/>
          <p:nvPr/>
        </p:nvSpPr>
        <p:spPr>
          <a:xfrm>
            <a:off x="729710" y="1787152"/>
            <a:ext cx="866531" cy="866531"/>
          </a:xfrm>
          <a:prstGeom prst="ellipse">
            <a:avLst/>
          </a:prstGeom>
          <a:solidFill>
            <a:srgbClr val="E0912F"/>
          </a:solidFill>
          <a:ln/>
        </p:spPr>
        <p:txBody>
          <a:bodyPr/>
          <a:lstStyle/>
          <a:p>
            <a:endParaRPr lang="de-DE" sz="1795"/>
          </a:p>
        </p:txBody>
      </p:sp>
      <p:pic>
        <p:nvPicPr>
          <p:cNvPr id="6" name="Image 0" descr="/tmp/ih_airways.png"/>
          <p:cNvPicPr>
            <a:picLocks noChangeAspect="1"/>
          </p:cNvPicPr>
          <p:nvPr/>
        </p:nvPicPr>
        <p:blipFill>
          <a:blip r:embed="rId3"/>
          <a:stretch>
            <a:fillRect/>
          </a:stretch>
        </p:blipFill>
        <p:spPr>
          <a:xfrm>
            <a:off x="939502" y="2006065"/>
            <a:ext cx="437826" cy="437826"/>
          </a:xfrm>
          <a:prstGeom prst="rect">
            <a:avLst/>
          </a:prstGeom>
        </p:spPr>
      </p:pic>
      <p:sp>
        <p:nvSpPr>
          <p:cNvPr id="7" name="Text 4"/>
          <p:cNvSpPr/>
          <p:nvPr/>
        </p:nvSpPr>
        <p:spPr>
          <a:xfrm>
            <a:off x="1778669" y="1841880"/>
            <a:ext cx="3648551" cy="410462"/>
          </a:xfrm>
          <a:prstGeom prst="rect">
            <a:avLst/>
          </a:prstGeom>
          <a:noFill/>
          <a:ln/>
        </p:spPr>
        <p:txBody>
          <a:bodyPr wrap="square" lIns="0" tIns="0" rIns="0" bIns="0" rtlCol="0" anchor="ctr"/>
          <a:lstStyle/>
          <a:p>
            <a:r>
              <a:rPr lang="en-US" sz="1596" b="1" dirty="0">
                <a:solidFill>
                  <a:srgbClr val="242A31"/>
                </a:solidFill>
                <a:latin typeface="Calibri" pitchFamily="34" charset="0"/>
                <a:ea typeface="Calibri" pitchFamily="34" charset="-122"/>
                <a:cs typeface="Calibri" pitchFamily="34" charset="-120"/>
              </a:rPr>
              <a:t>Nase &amp; obere Atemwege</a:t>
            </a:r>
            <a:endParaRPr lang="en-US" sz="1596" dirty="0"/>
          </a:p>
        </p:txBody>
      </p:sp>
      <p:sp>
        <p:nvSpPr>
          <p:cNvPr id="8" name="Text 5"/>
          <p:cNvSpPr/>
          <p:nvPr/>
        </p:nvSpPr>
        <p:spPr>
          <a:xfrm>
            <a:off x="1778669" y="2243221"/>
            <a:ext cx="3648551" cy="456069"/>
          </a:xfrm>
          <a:prstGeom prst="rect">
            <a:avLst/>
          </a:prstGeom>
          <a:noFill/>
          <a:ln/>
        </p:spPr>
        <p:txBody>
          <a:bodyPr wrap="square" lIns="0" tIns="0" rIns="0" bIns="0" rtlCol="0" anchor="ctr"/>
          <a:lstStyle/>
          <a:p>
            <a:r>
              <a:rPr lang="en-US" sz="1297" dirty="0">
                <a:solidFill>
                  <a:srgbClr val="6B7684"/>
                </a:solidFill>
                <a:latin typeface="Calibri" pitchFamily="34" charset="0"/>
                <a:ea typeface="Calibri" pitchFamily="34" charset="-122"/>
                <a:cs typeface="Calibri" pitchFamily="34" charset="-120"/>
              </a:rPr>
              <a:t>Grober Staub (PM10) bleibt hier hängen.</a:t>
            </a:r>
            <a:endParaRPr lang="en-US" sz="1297" dirty="0"/>
          </a:p>
        </p:txBody>
      </p:sp>
      <p:sp>
        <p:nvSpPr>
          <p:cNvPr id="9" name="Text 6"/>
          <p:cNvSpPr/>
          <p:nvPr/>
        </p:nvSpPr>
        <p:spPr>
          <a:xfrm>
            <a:off x="884774" y="2653683"/>
            <a:ext cx="547283" cy="410462"/>
          </a:xfrm>
          <a:prstGeom prst="rect">
            <a:avLst/>
          </a:prstGeom>
          <a:noFill/>
          <a:ln/>
        </p:spPr>
        <p:txBody>
          <a:bodyPr wrap="square" lIns="0" tIns="0" rIns="0" bIns="0" rtlCol="0" anchor="ctr"/>
          <a:lstStyle/>
          <a:p>
            <a:pPr algn="ctr"/>
            <a:r>
              <a:rPr lang="en-US" sz="1596" dirty="0">
                <a:solidFill>
                  <a:srgbClr val="BBBBBB"/>
                </a:solidFill>
                <a:latin typeface="Calibri" pitchFamily="34" charset="0"/>
                <a:ea typeface="Calibri" pitchFamily="34" charset="-122"/>
                <a:cs typeface="Calibri" pitchFamily="34" charset="-120"/>
              </a:rPr>
              <a:t>▼</a:t>
            </a:r>
            <a:endParaRPr lang="en-US" sz="1596" dirty="0"/>
          </a:p>
        </p:txBody>
      </p:sp>
      <p:sp>
        <p:nvSpPr>
          <p:cNvPr id="10" name="Shape 7"/>
          <p:cNvSpPr/>
          <p:nvPr/>
        </p:nvSpPr>
        <p:spPr>
          <a:xfrm>
            <a:off x="729710" y="3082388"/>
            <a:ext cx="866531" cy="866531"/>
          </a:xfrm>
          <a:prstGeom prst="ellipse">
            <a:avLst/>
          </a:prstGeom>
          <a:solidFill>
            <a:srgbClr val="C4471C"/>
          </a:solidFill>
          <a:ln/>
        </p:spPr>
        <p:txBody>
          <a:bodyPr/>
          <a:lstStyle/>
          <a:p>
            <a:endParaRPr lang="de-DE" sz="1795"/>
          </a:p>
        </p:txBody>
      </p:sp>
      <p:pic>
        <p:nvPicPr>
          <p:cNvPr id="11" name="Image 1" descr="/tmp/ih_lungs.png"/>
          <p:cNvPicPr>
            <a:picLocks noChangeAspect="1"/>
          </p:cNvPicPr>
          <p:nvPr/>
        </p:nvPicPr>
        <p:blipFill>
          <a:blip r:embed="rId4"/>
          <a:stretch>
            <a:fillRect/>
          </a:stretch>
        </p:blipFill>
        <p:spPr>
          <a:xfrm>
            <a:off x="939502" y="3301301"/>
            <a:ext cx="437826" cy="437826"/>
          </a:xfrm>
          <a:prstGeom prst="rect">
            <a:avLst/>
          </a:prstGeom>
        </p:spPr>
      </p:pic>
      <p:sp>
        <p:nvSpPr>
          <p:cNvPr id="12" name="Text 8"/>
          <p:cNvSpPr/>
          <p:nvPr/>
        </p:nvSpPr>
        <p:spPr>
          <a:xfrm>
            <a:off x="1778669" y="3137116"/>
            <a:ext cx="3648551" cy="410462"/>
          </a:xfrm>
          <a:prstGeom prst="rect">
            <a:avLst/>
          </a:prstGeom>
          <a:noFill/>
          <a:ln/>
        </p:spPr>
        <p:txBody>
          <a:bodyPr wrap="square" lIns="0" tIns="0" rIns="0" bIns="0" rtlCol="0" anchor="ctr"/>
          <a:lstStyle/>
          <a:p>
            <a:r>
              <a:rPr lang="en-US" sz="1596" b="1" dirty="0">
                <a:solidFill>
                  <a:srgbClr val="242A31"/>
                </a:solidFill>
                <a:latin typeface="Calibri" pitchFamily="34" charset="0"/>
                <a:ea typeface="Calibri" pitchFamily="34" charset="-122"/>
                <a:cs typeface="Calibri" pitchFamily="34" charset="-120"/>
              </a:rPr>
              <a:t>Lunge &amp; Lungenbläschen</a:t>
            </a:r>
            <a:endParaRPr lang="en-US" sz="1596" dirty="0"/>
          </a:p>
        </p:txBody>
      </p:sp>
      <p:sp>
        <p:nvSpPr>
          <p:cNvPr id="13" name="Text 9"/>
          <p:cNvSpPr/>
          <p:nvPr/>
        </p:nvSpPr>
        <p:spPr>
          <a:xfrm>
            <a:off x="1778669" y="3538456"/>
            <a:ext cx="3648551" cy="456069"/>
          </a:xfrm>
          <a:prstGeom prst="rect">
            <a:avLst/>
          </a:prstGeom>
          <a:noFill/>
          <a:ln/>
        </p:spPr>
        <p:txBody>
          <a:bodyPr wrap="square" lIns="0" tIns="0" rIns="0" bIns="0" rtlCol="0" anchor="ctr"/>
          <a:lstStyle/>
          <a:p>
            <a:r>
              <a:rPr lang="en-US" sz="1297" dirty="0">
                <a:solidFill>
                  <a:srgbClr val="6B7684"/>
                </a:solidFill>
                <a:latin typeface="Calibri" pitchFamily="34" charset="0"/>
                <a:ea typeface="Calibri" pitchFamily="34" charset="-122"/>
                <a:cs typeface="Calibri" pitchFamily="34" charset="-120"/>
              </a:rPr>
              <a:t>PM2.5 dringt bis in die Alveolen vor.</a:t>
            </a:r>
            <a:endParaRPr lang="en-US" sz="1297" dirty="0"/>
          </a:p>
        </p:txBody>
      </p:sp>
      <p:sp>
        <p:nvSpPr>
          <p:cNvPr id="14" name="Text 10"/>
          <p:cNvSpPr/>
          <p:nvPr/>
        </p:nvSpPr>
        <p:spPr>
          <a:xfrm>
            <a:off x="884774" y="3948919"/>
            <a:ext cx="547283" cy="410462"/>
          </a:xfrm>
          <a:prstGeom prst="rect">
            <a:avLst/>
          </a:prstGeom>
          <a:noFill/>
          <a:ln/>
        </p:spPr>
        <p:txBody>
          <a:bodyPr wrap="square" lIns="0" tIns="0" rIns="0" bIns="0" rtlCol="0" anchor="ctr"/>
          <a:lstStyle/>
          <a:p>
            <a:pPr algn="ctr"/>
            <a:r>
              <a:rPr lang="en-US" sz="1596" dirty="0">
                <a:solidFill>
                  <a:srgbClr val="BBBBBB"/>
                </a:solidFill>
                <a:latin typeface="Calibri" pitchFamily="34" charset="0"/>
                <a:ea typeface="Calibri" pitchFamily="34" charset="-122"/>
                <a:cs typeface="Calibri" pitchFamily="34" charset="-120"/>
              </a:rPr>
              <a:t>▼</a:t>
            </a:r>
            <a:endParaRPr lang="en-US" sz="1596" dirty="0"/>
          </a:p>
        </p:txBody>
      </p:sp>
      <p:sp>
        <p:nvSpPr>
          <p:cNvPr id="15" name="Shape 11"/>
          <p:cNvSpPr/>
          <p:nvPr/>
        </p:nvSpPr>
        <p:spPr>
          <a:xfrm>
            <a:off x="729710" y="4377623"/>
            <a:ext cx="866531" cy="866531"/>
          </a:xfrm>
          <a:prstGeom prst="ellipse">
            <a:avLst/>
          </a:prstGeom>
          <a:solidFill>
            <a:srgbClr val="8B1A1A"/>
          </a:solidFill>
          <a:ln/>
        </p:spPr>
        <p:txBody>
          <a:bodyPr/>
          <a:lstStyle/>
          <a:p>
            <a:endParaRPr lang="de-DE" sz="1795"/>
          </a:p>
        </p:txBody>
      </p:sp>
      <p:pic>
        <p:nvPicPr>
          <p:cNvPr id="16" name="Image 2" descr="/tmp/ih_heart.png"/>
          <p:cNvPicPr>
            <a:picLocks noChangeAspect="1"/>
          </p:cNvPicPr>
          <p:nvPr/>
        </p:nvPicPr>
        <p:blipFill>
          <a:blip r:embed="rId5"/>
          <a:stretch>
            <a:fillRect/>
          </a:stretch>
        </p:blipFill>
        <p:spPr>
          <a:xfrm>
            <a:off x="939502" y="4596536"/>
            <a:ext cx="437826" cy="437826"/>
          </a:xfrm>
          <a:prstGeom prst="rect">
            <a:avLst/>
          </a:prstGeom>
        </p:spPr>
      </p:pic>
      <p:sp>
        <p:nvSpPr>
          <p:cNvPr id="17" name="Text 12"/>
          <p:cNvSpPr/>
          <p:nvPr/>
        </p:nvSpPr>
        <p:spPr>
          <a:xfrm>
            <a:off x="1778669" y="4432352"/>
            <a:ext cx="3648551" cy="410462"/>
          </a:xfrm>
          <a:prstGeom prst="rect">
            <a:avLst/>
          </a:prstGeom>
          <a:noFill/>
          <a:ln/>
        </p:spPr>
        <p:txBody>
          <a:bodyPr wrap="square" lIns="0" tIns="0" rIns="0" bIns="0" rtlCol="0" anchor="ctr"/>
          <a:lstStyle/>
          <a:p>
            <a:r>
              <a:rPr lang="en-US" sz="1596" b="1" dirty="0">
                <a:solidFill>
                  <a:srgbClr val="242A31"/>
                </a:solidFill>
                <a:latin typeface="Calibri" pitchFamily="34" charset="0"/>
                <a:ea typeface="Calibri" pitchFamily="34" charset="-122"/>
                <a:cs typeface="Calibri" pitchFamily="34" charset="-120"/>
              </a:rPr>
              <a:t>Blutbahn &amp; Herz-Kreislauf</a:t>
            </a:r>
            <a:endParaRPr lang="en-US" sz="1596" dirty="0"/>
          </a:p>
        </p:txBody>
      </p:sp>
      <p:sp>
        <p:nvSpPr>
          <p:cNvPr id="18" name="Text 13"/>
          <p:cNvSpPr/>
          <p:nvPr/>
        </p:nvSpPr>
        <p:spPr>
          <a:xfrm>
            <a:off x="1778669" y="4833692"/>
            <a:ext cx="3648551" cy="456069"/>
          </a:xfrm>
          <a:prstGeom prst="rect">
            <a:avLst/>
          </a:prstGeom>
          <a:noFill/>
          <a:ln/>
        </p:spPr>
        <p:txBody>
          <a:bodyPr wrap="square" lIns="0" tIns="0" rIns="0" bIns="0" rtlCol="0" anchor="ctr"/>
          <a:lstStyle/>
          <a:p>
            <a:r>
              <a:rPr lang="en-US" sz="1297" dirty="0">
                <a:solidFill>
                  <a:srgbClr val="6B7684"/>
                </a:solidFill>
                <a:latin typeface="Calibri" pitchFamily="34" charset="0"/>
                <a:ea typeface="Calibri" pitchFamily="34" charset="-122"/>
                <a:cs typeface="Calibri" pitchFamily="34" charset="-120"/>
              </a:rPr>
              <a:t>Ultrafeine Partikel gehen ins Blut über.</a:t>
            </a:r>
            <a:endParaRPr lang="en-US" sz="1297" dirty="0"/>
          </a:p>
        </p:txBody>
      </p:sp>
      <p:sp>
        <p:nvSpPr>
          <p:cNvPr id="19" name="Text 14"/>
          <p:cNvSpPr/>
          <p:nvPr/>
        </p:nvSpPr>
        <p:spPr>
          <a:xfrm>
            <a:off x="6020110" y="1331083"/>
            <a:ext cx="5472827" cy="364855"/>
          </a:xfrm>
          <a:prstGeom prst="rect">
            <a:avLst/>
          </a:prstGeom>
          <a:noFill/>
          <a:ln/>
        </p:spPr>
        <p:txBody>
          <a:bodyPr wrap="square" lIns="0" tIns="0" rIns="0" bIns="0" rtlCol="0" anchor="ctr"/>
          <a:lstStyle/>
          <a:p>
            <a:r>
              <a:rPr lang="en-US" sz="1696" b="1" dirty="0">
                <a:solidFill>
                  <a:srgbClr val="242A31"/>
                </a:solidFill>
                <a:latin typeface="Calibri" pitchFamily="34" charset="0"/>
                <a:ea typeface="Calibri" pitchFamily="34" charset="-122"/>
                <a:cs typeface="Calibri" pitchFamily="34" charset="-120"/>
              </a:rPr>
              <a:t>Gesundheitsfolgen</a:t>
            </a:r>
            <a:endParaRPr lang="en-US" sz="1696" dirty="0"/>
          </a:p>
        </p:txBody>
      </p:sp>
      <p:sp>
        <p:nvSpPr>
          <p:cNvPr id="20" name="Shape 15"/>
          <p:cNvSpPr/>
          <p:nvPr/>
        </p:nvSpPr>
        <p:spPr>
          <a:xfrm>
            <a:off x="6020110" y="1787152"/>
            <a:ext cx="565525" cy="565525"/>
          </a:xfrm>
          <a:prstGeom prst="ellipse">
            <a:avLst/>
          </a:prstGeom>
          <a:solidFill>
            <a:srgbClr val="C4471C"/>
          </a:solidFill>
          <a:ln/>
        </p:spPr>
        <p:txBody>
          <a:bodyPr/>
          <a:lstStyle/>
          <a:p>
            <a:endParaRPr lang="de-DE" sz="1795"/>
          </a:p>
        </p:txBody>
      </p:sp>
      <p:pic>
        <p:nvPicPr>
          <p:cNvPr id="21" name="Image 3" descr="/tmp/ih_heart.png"/>
          <p:cNvPicPr>
            <a:picLocks noChangeAspect="1"/>
          </p:cNvPicPr>
          <p:nvPr/>
        </p:nvPicPr>
        <p:blipFill>
          <a:blip r:embed="rId5"/>
          <a:stretch>
            <a:fillRect/>
          </a:stretch>
        </p:blipFill>
        <p:spPr>
          <a:xfrm>
            <a:off x="6156931" y="1933094"/>
            <a:ext cx="291884" cy="291884"/>
          </a:xfrm>
          <a:prstGeom prst="rect">
            <a:avLst/>
          </a:prstGeom>
        </p:spPr>
      </p:pic>
      <p:sp>
        <p:nvSpPr>
          <p:cNvPr id="22" name="Text 16"/>
          <p:cNvSpPr/>
          <p:nvPr/>
        </p:nvSpPr>
        <p:spPr>
          <a:xfrm>
            <a:off x="6749820" y="1787152"/>
            <a:ext cx="4651903" cy="364855"/>
          </a:xfrm>
          <a:prstGeom prst="rect">
            <a:avLst/>
          </a:prstGeom>
          <a:noFill/>
          <a:ln/>
        </p:spPr>
        <p:txBody>
          <a:bodyPr wrap="square" lIns="0" tIns="0" rIns="0" bIns="0" rtlCol="0" anchor="ctr"/>
          <a:lstStyle/>
          <a:p>
            <a:r>
              <a:rPr lang="en-US" sz="1496" b="1" dirty="0">
                <a:solidFill>
                  <a:srgbClr val="242A31"/>
                </a:solidFill>
                <a:latin typeface="Calibri" pitchFamily="34" charset="0"/>
                <a:ea typeface="Calibri" pitchFamily="34" charset="-122"/>
                <a:cs typeface="Calibri" pitchFamily="34" charset="-120"/>
              </a:rPr>
              <a:t>Herz-Kreislauf</a:t>
            </a:r>
            <a:endParaRPr lang="en-US" sz="1496" dirty="0"/>
          </a:p>
        </p:txBody>
      </p:sp>
      <p:sp>
        <p:nvSpPr>
          <p:cNvPr id="23" name="Text 17"/>
          <p:cNvSpPr/>
          <p:nvPr/>
        </p:nvSpPr>
        <p:spPr>
          <a:xfrm>
            <a:off x="6749820" y="2115522"/>
            <a:ext cx="4651903" cy="319248"/>
          </a:xfrm>
          <a:prstGeom prst="rect">
            <a:avLst/>
          </a:prstGeom>
          <a:noFill/>
          <a:ln/>
        </p:spPr>
        <p:txBody>
          <a:bodyPr wrap="square" lIns="0" tIns="0" rIns="0" bIns="0" rtlCol="0" anchor="ctr"/>
          <a:lstStyle/>
          <a:p>
            <a:r>
              <a:rPr lang="en-US" sz="1247" dirty="0">
                <a:solidFill>
                  <a:srgbClr val="6B7684"/>
                </a:solidFill>
                <a:latin typeface="Calibri" pitchFamily="34" charset="0"/>
                <a:ea typeface="Calibri" pitchFamily="34" charset="-122"/>
                <a:cs typeface="Calibri" pitchFamily="34" charset="-120"/>
              </a:rPr>
              <a:t>Infarkt, Schlaganfall, Bluthochdruck</a:t>
            </a:r>
            <a:endParaRPr lang="en-US" sz="1247" dirty="0"/>
          </a:p>
        </p:txBody>
      </p:sp>
      <p:sp>
        <p:nvSpPr>
          <p:cNvPr id="24" name="Shape 18"/>
          <p:cNvSpPr/>
          <p:nvPr/>
        </p:nvSpPr>
        <p:spPr>
          <a:xfrm>
            <a:off x="6020110" y="2626319"/>
            <a:ext cx="565525" cy="565525"/>
          </a:xfrm>
          <a:prstGeom prst="ellipse">
            <a:avLst/>
          </a:prstGeom>
          <a:solidFill>
            <a:srgbClr val="1C7293"/>
          </a:solidFill>
          <a:ln/>
        </p:spPr>
        <p:txBody>
          <a:bodyPr/>
          <a:lstStyle/>
          <a:p>
            <a:endParaRPr lang="de-DE" sz="1795"/>
          </a:p>
        </p:txBody>
      </p:sp>
      <p:pic>
        <p:nvPicPr>
          <p:cNvPr id="25" name="Image 4" descr="/tmp/ih_lungs.png"/>
          <p:cNvPicPr>
            <a:picLocks noChangeAspect="1"/>
          </p:cNvPicPr>
          <p:nvPr/>
        </p:nvPicPr>
        <p:blipFill>
          <a:blip r:embed="rId4"/>
          <a:stretch>
            <a:fillRect/>
          </a:stretch>
        </p:blipFill>
        <p:spPr>
          <a:xfrm>
            <a:off x="6156931" y="2772261"/>
            <a:ext cx="291884" cy="291884"/>
          </a:xfrm>
          <a:prstGeom prst="rect">
            <a:avLst/>
          </a:prstGeom>
        </p:spPr>
      </p:pic>
      <p:sp>
        <p:nvSpPr>
          <p:cNvPr id="26" name="Text 19"/>
          <p:cNvSpPr/>
          <p:nvPr/>
        </p:nvSpPr>
        <p:spPr>
          <a:xfrm>
            <a:off x="6749820" y="2626319"/>
            <a:ext cx="4651903" cy="364855"/>
          </a:xfrm>
          <a:prstGeom prst="rect">
            <a:avLst/>
          </a:prstGeom>
          <a:noFill/>
          <a:ln/>
        </p:spPr>
        <p:txBody>
          <a:bodyPr wrap="square" lIns="0" tIns="0" rIns="0" bIns="0" rtlCol="0" anchor="ctr"/>
          <a:lstStyle/>
          <a:p>
            <a:r>
              <a:rPr lang="en-US" sz="1496" b="1" dirty="0">
                <a:solidFill>
                  <a:srgbClr val="242A31"/>
                </a:solidFill>
                <a:latin typeface="Calibri" pitchFamily="34" charset="0"/>
                <a:ea typeface="Calibri" pitchFamily="34" charset="-122"/>
                <a:cs typeface="Calibri" pitchFamily="34" charset="-120"/>
              </a:rPr>
              <a:t>Atemwege</a:t>
            </a:r>
            <a:endParaRPr lang="en-US" sz="1496" dirty="0"/>
          </a:p>
        </p:txBody>
      </p:sp>
      <p:sp>
        <p:nvSpPr>
          <p:cNvPr id="27" name="Text 20"/>
          <p:cNvSpPr/>
          <p:nvPr/>
        </p:nvSpPr>
        <p:spPr>
          <a:xfrm>
            <a:off x="6749820" y="2954688"/>
            <a:ext cx="4651903" cy="319248"/>
          </a:xfrm>
          <a:prstGeom prst="rect">
            <a:avLst/>
          </a:prstGeom>
          <a:noFill/>
          <a:ln/>
        </p:spPr>
        <p:txBody>
          <a:bodyPr wrap="square" lIns="0" tIns="0" rIns="0" bIns="0" rtlCol="0" anchor="ctr"/>
          <a:lstStyle/>
          <a:p>
            <a:r>
              <a:rPr lang="en-US" sz="1247" dirty="0">
                <a:solidFill>
                  <a:srgbClr val="6B7684"/>
                </a:solidFill>
                <a:latin typeface="Calibri" pitchFamily="34" charset="0"/>
                <a:ea typeface="Calibri" pitchFamily="34" charset="-122"/>
                <a:cs typeface="Calibri" pitchFamily="34" charset="-120"/>
              </a:rPr>
              <a:t>Asthma/COPD, geringere Lungenfunktion</a:t>
            </a:r>
            <a:endParaRPr lang="en-US" sz="1247" dirty="0"/>
          </a:p>
        </p:txBody>
      </p:sp>
      <p:sp>
        <p:nvSpPr>
          <p:cNvPr id="28" name="Shape 21"/>
          <p:cNvSpPr/>
          <p:nvPr/>
        </p:nvSpPr>
        <p:spPr>
          <a:xfrm>
            <a:off x="6020110" y="3465486"/>
            <a:ext cx="565525" cy="565525"/>
          </a:xfrm>
          <a:prstGeom prst="ellipse">
            <a:avLst/>
          </a:prstGeom>
          <a:solidFill>
            <a:srgbClr val="7B2CBF"/>
          </a:solidFill>
          <a:ln/>
        </p:spPr>
        <p:txBody>
          <a:bodyPr/>
          <a:lstStyle/>
          <a:p>
            <a:endParaRPr lang="de-DE" sz="1795"/>
          </a:p>
        </p:txBody>
      </p:sp>
      <p:pic>
        <p:nvPicPr>
          <p:cNvPr id="29" name="Image 5" descr="/tmp/ih_dna.png"/>
          <p:cNvPicPr>
            <a:picLocks noChangeAspect="1"/>
          </p:cNvPicPr>
          <p:nvPr/>
        </p:nvPicPr>
        <p:blipFill>
          <a:blip r:embed="rId6"/>
          <a:stretch>
            <a:fillRect/>
          </a:stretch>
        </p:blipFill>
        <p:spPr>
          <a:xfrm>
            <a:off x="6156931" y="3611428"/>
            <a:ext cx="291884" cy="291884"/>
          </a:xfrm>
          <a:prstGeom prst="rect">
            <a:avLst/>
          </a:prstGeom>
        </p:spPr>
      </p:pic>
      <p:sp>
        <p:nvSpPr>
          <p:cNvPr id="30" name="Text 22"/>
          <p:cNvSpPr/>
          <p:nvPr/>
        </p:nvSpPr>
        <p:spPr>
          <a:xfrm>
            <a:off x="6749820" y="3465486"/>
            <a:ext cx="4651903" cy="364855"/>
          </a:xfrm>
          <a:prstGeom prst="rect">
            <a:avLst/>
          </a:prstGeom>
          <a:noFill/>
          <a:ln/>
        </p:spPr>
        <p:txBody>
          <a:bodyPr wrap="square" lIns="0" tIns="0" rIns="0" bIns="0" rtlCol="0" anchor="ctr"/>
          <a:lstStyle/>
          <a:p>
            <a:r>
              <a:rPr lang="en-US" sz="1496" b="1" dirty="0">
                <a:solidFill>
                  <a:srgbClr val="242A31"/>
                </a:solidFill>
                <a:latin typeface="Calibri" pitchFamily="34" charset="0"/>
                <a:ea typeface="Calibri" pitchFamily="34" charset="-122"/>
                <a:cs typeface="Calibri" pitchFamily="34" charset="-120"/>
              </a:rPr>
              <a:t>Krebs</a:t>
            </a:r>
            <a:endParaRPr lang="en-US" sz="1496" dirty="0"/>
          </a:p>
        </p:txBody>
      </p:sp>
      <p:sp>
        <p:nvSpPr>
          <p:cNvPr id="31" name="Text 23"/>
          <p:cNvSpPr/>
          <p:nvPr/>
        </p:nvSpPr>
        <p:spPr>
          <a:xfrm>
            <a:off x="6749820" y="3793855"/>
            <a:ext cx="4651903" cy="319248"/>
          </a:xfrm>
          <a:prstGeom prst="rect">
            <a:avLst/>
          </a:prstGeom>
          <a:noFill/>
          <a:ln/>
        </p:spPr>
        <p:txBody>
          <a:bodyPr wrap="square" lIns="0" tIns="0" rIns="0" bIns="0" rtlCol="0" anchor="ctr"/>
          <a:lstStyle/>
          <a:p>
            <a:r>
              <a:rPr lang="en-US" sz="1247" dirty="0">
                <a:solidFill>
                  <a:srgbClr val="6B7684"/>
                </a:solidFill>
                <a:latin typeface="Calibri" pitchFamily="34" charset="0"/>
                <a:ea typeface="Calibri" pitchFamily="34" charset="-122"/>
                <a:cs typeface="Calibri" pitchFamily="34" charset="-120"/>
              </a:rPr>
              <a:t>Lungenkrebs – WHO/IARC Gruppe 1</a:t>
            </a:r>
            <a:endParaRPr lang="en-US" sz="1247" dirty="0"/>
          </a:p>
        </p:txBody>
      </p:sp>
      <p:sp>
        <p:nvSpPr>
          <p:cNvPr id="32" name="Shape 24"/>
          <p:cNvSpPr/>
          <p:nvPr/>
        </p:nvSpPr>
        <p:spPr>
          <a:xfrm>
            <a:off x="6020110" y="4304653"/>
            <a:ext cx="565525" cy="565525"/>
          </a:xfrm>
          <a:prstGeom prst="ellipse">
            <a:avLst/>
          </a:prstGeom>
          <a:solidFill>
            <a:srgbClr val="6B7684"/>
          </a:solidFill>
          <a:ln/>
        </p:spPr>
        <p:txBody>
          <a:bodyPr/>
          <a:lstStyle/>
          <a:p>
            <a:endParaRPr lang="de-DE" sz="1795"/>
          </a:p>
        </p:txBody>
      </p:sp>
      <p:pic>
        <p:nvPicPr>
          <p:cNvPr id="33" name="Image 6" descr="/tmp/ih_ban.png"/>
          <p:cNvPicPr>
            <a:picLocks noChangeAspect="1"/>
          </p:cNvPicPr>
          <p:nvPr/>
        </p:nvPicPr>
        <p:blipFill>
          <a:blip r:embed="rId7"/>
          <a:stretch>
            <a:fillRect/>
          </a:stretch>
        </p:blipFill>
        <p:spPr>
          <a:xfrm>
            <a:off x="6156931" y="4450594"/>
            <a:ext cx="291884" cy="291884"/>
          </a:xfrm>
          <a:prstGeom prst="rect">
            <a:avLst/>
          </a:prstGeom>
        </p:spPr>
      </p:pic>
      <p:sp>
        <p:nvSpPr>
          <p:cNvPr id="34" name="Text 25"/>
          <p:cNvSpPr/>
          <p:nvPr/>
        </p:nvSpPr>
        <p:spPr>
          <a:xfrm>
            <a:off x="6749820" y="4304652"/>
            <a:ext cx="4651903" cy="364855"/>
          </a:xfrm>
          <a:prstGeom prst="rect">
            <a:avLst/>
          </a:prstGeom>
          <a:noFill/>
          <a:ln/>
        </p:spPr>
        <p:txBody>
          <a:bodyPr wrap="square" lIns="0" tIns="0" rIns="0" bIns="0" rtlCol="0" anchor="ctr"/>
          <a:lstStyle/>
          <a:p>
            <a:r>
              <a:rPr lang="en-US" sz="1496" b="1" dirty="0">
                <a:solidFill>
                  <a:srgbClr val="242A31"/>
                </a:solidFill>
                <a:latin typeface="Calibri" pitchFamily="34" charset="0"/>
                <a:ea typeface="Calibri" pitchFamily="34" charset="-122"/>
                <a:cs typeface="Calibri" pitchFamily="34" charset="-120"/>
              </a:rPr>
              <a:t>Kein sicherer Schwellenwert</a:t>
            </a:r>
            <a:endParaRPr lang="en-US" sz="1496" dirty="0"/>
          </a:p>
        </p:txBody>
      </p:sp>
      <p:sp>
        <p:nvSpPr>
          <p:cNvPr id="35" name="Text 26"/>
          <p:cNvSpPr/>
          <p:nvPr/>
        </p:nvSpPr>
        <p:spPr>
          <a:xfrm>
            <a:off x="6749820" y="4633022"/>
            <a:ext cx="4651903" cy="319248"/>
          </a:xfrm>
          <a:prstGeom prst="rect">
            <a:avLst/>
          </a:prstGeom>
          <a:noFill/>
          <a:ln/>
        </p:spPr>
        <p:txBody>
          <a:bodyPr wrap="square" lIns="0" tIns="0" rIns="0" bIns="0" rtlCol="0" anchor="ctr"/>
          <a:lstStyle/>
          <a:p>
            <a:r>
              <a:rPr lang="en-US" sz="1247" dirty="0">
                <a:solidFill>
                  <a:srgbClr val="6B7684"/>
                </a:solidFill>
                <a:latin typeface="Calibri" pitchFamily="34" charset="0"/>
                <a:ea typeface="Calibri" pitchFamily="34" charset="-122"/>
                <a:cs typeface="Calibri" pitchFamily="34" charset="-120"/>
              </a:rPr>
              <a:t>WHO-Richtwert nur 5 µg/m³</a:t>
            </a:r>
            <a:endParaRPr lang="en-US" sz="1247" dirty="0"/>
          </a:p>
        </p:txBody>
      </p:sp>
      <p:sp>
        <p:nvSpPr>
          <p:cNvPr id="36" name="Text 27"/>
          <p:cNvSpPr/>
          <p:nvPr/>
        </p:nvSpPr>
        <p:spPr>
          <a:xfrm>
            <a:off x="729711" y="5322033"/>
            <a:ext cx="10672012" cy="319248"/>
          </a:xfrm>
          <a:prstGeom prst="rect">
            <a:avLst/>
          </a:prstGeom>
          <a:noFill/>
          <a:ln/>
        </p:spPr>
        <p:txBody>
          <a:bodyPr wrap="square" lIns="0" tIns="0" rIns="0" bIns="0" rtlCol="0" anchor="ctr"/>
          <a:lstStyle/>
          <a:p>
            <a:r>
              <a:rPr lang="en-US" sz="1297" b="1" dirty="0">
                <a:solidFill>
                  <a:srgbClr val="242A31"/>
                </a:solidFill>
                <a:latin typeface="Calibri" pitchFamily="34" charset="0"/>
                <a:ea typeface="Calibri" pitchFamily="34" charset="-122"/>
                <a:cs typeface="Calibri" pitchFamily="34" charset="-120"/>
              </a:rPr>
              <a:t>Woraus PM2.5 besteht (Massenanteil, grob):</a:t>
            </a:r>
            <a:endParaRPr lang="en-US" sz="1297" dirty="0"/>
          </a:p>
        </p:txBody>
      </p:sp>
      <p:sp>
        <p:nvSpPr>
          <p:cNvPr id="37" name="Shape 28"/>
          <p:cNvSpPr/>
          <p:nvPr/>
        </p:nvSpPr>
        <p:spPr>
          <a:xfrm>
            <a:off x="750232" y="5648696"/>
            <a:ext cx="4279751" cy="456069"/>
          </a:xfrm>
          <a:prstGeom prst="rect">
            <a:avLst/>
          </a:prstGeom>
          <a:solidFill>
            <a:srgbClr val="7B2CBF"/>
          </a:solidFill>
          <a:ln/>
        </p:spPr>
        <p:txBody>
          <a:bodyPr/>
          <a:lstStyle/>
          <a:p>
            <a:endParaRPr lang="de-DE" sz="1795"/>
          </a:p>
        </p:txBody>
      </p:sp>
      <p:sp>
        <p:nvSpPr>
          <p:cNvPr id="38" name="Text 29"/>
          <p:cNvSpPr/>
          <p:nvPr/>
        </p:nvSpPr>
        <p:spPr>
          <a:xfrm>
            <a:off x="729709" y="5667671"/>
            <a:ext cx="4279751" cy="456069"/>
          </a:xfrm>
          <a:prstGeom prst="rect">
            <a:avLst/>
          </a:prstGeom>
          <a:noFill/>
          <a:ln/>
        </p:spPr>
        <p:txBody>
          <a:bodyPr wrap="square" lIns="0" tIns="0" rIns="0" bIns="0" rtlCol="0" anchor="ctr"/>
          <a:lstStyle/>
          <a:p>
            <a:pPr algn="ctr"/>
            <a:r>
              <a:rPr lang="en-US" sz="1197" b="1" dirty="0">
                <a:solidFill>
                  <a:srgbClr val="FFFFFF"/>
                </a:solidFill>
                <a:latin typeface="Calibri" pitchFamily="34" charset="0"/>
                <a:ea typeface="Calibri" pitchFamily="34" charset="-122"/>
                <a:cs typeface="Calibri" pitchFamily="34" charset="-120"/>
              </a:rPr>
              <a:t>40%</a:t>
            </a:r>
            <a:endParaRPr lang="en-US" sz="1197" dirty="0"/>
          </a:p>
        </p:txBody>
      </p:sp>
      <p:sp>
        <p:nvSpPr>
          <p:cNvPr id="39" name="Shape 30"/>
          <p:cNvSpPr/>
          <p:nvPr/>
        </p:nvSpPr>
        <p:spPr>
          <a:xfrm>
            <a:off x="5009459" y="5647141"/>
            <a:ext cx="2674844" cy="456069"/>
          </a:xfrm>
          <a:prstGeom prst="rect">
            <a:avLst/>
          </a:prstGeom>
          <a:solidFill>
            <a:srgbClr val="1C7293"/>
          </a:solidFill>
          <a:ln/>
        </p:spPr>
        <p:txBody>
          <a:bodyPr/>
          <a:lstStyle/>
          <a:p>
            <a:endParaRPr lang="de-DE" sz="1795"/>
          </a:p>
        </p:txBody>
      </p:sp>
      <p:sp>
        <p:nvSpPr>
          <p:cNvPr id="40" name="Text 31"/>
          <p:cNvSpPr/>
          <p:nvPr/>
        </p:nvSpPr>
        <p:spPr>
          <a:xfrm>
            <a:off x="5009461" y="5676699"/>
            <a:ext cx="2674844" cy="456069"/>
          </a:xfrm>
          <a:prstGeom prst="rect">
            <a:avLst/>
          </a:prstGeom>
          <a:noFill/>
          <a:ln/>
        </p:spPr>
        <p:txBody>
          <a:bodyPr wrap="square" lIns="0" tIns="0" rIns="0" bIns="0" rtlCol="0" anchor="ctr"/>
          <a:lstStyle/>
          <a:p>
            <a:pPr algn="ctr"/>
            <a:r>
              <a:rPr lang="en-US" sz="1197" b="1" dirty="0">
                <a:solidFill>
                  <a:srgbClr val="FFFFFF"/>
                </a:solidFill>
                <a:latin typeface="Calibri" pitchFamily="34" charset="0"/>
                <a:ea typeface="Calibri" pitchFamily="34" charset="-122"/>
                <a:cs typeface="Calibri" pitchFamily="34" charset="-120"/>
              </a:rPr>
              <a:t>25%</a:t>
            </a:r>
            <a:endParaRPr lang="en-US" sz="1197" dirty="0"/>
          </a:p>
        </p:txBody>
      </p:sp>
      <p:sp>
        <p:nvSpPr>
          <p:cNvPr id="41" name="Shape 32"/>
          <p:cNvSpPr/>
          <p:nvPr/>
        </p:nvSpPr>
        <p:spPr>
          <a:xfrm>
            <a:off x="7684305" y="5648458"/>
            <a:ext cx="1604907" cy="456069"/>
          </a:xfrm>
          <a:prstGeom prst="rect">
            <a:avLst/>
          </a:prstGeom>
          <a:solidFill>
            <a:srgbClr val="E0912F"/>
          </a:solidFill>
          <a:ln/>
        </p:spPr>
        <p:txBody>
          <a:bodyPr/>
          <a:lstStyle/>
          <a:p>
            <a:endParaRPr lang="de-DE" sz="1795"/>
          </a:p>
        </p:txBody>
      </p:sp>
      <p:sp>
        <p:nvSpPr>
          <p:cNvPr id="42" name="Text 33"/>
          <p:cNvSpPr/>
          <p:nvPr/>
        </p:nvSpPr>
        <p:spPr>
          <a:xfrm>
            <a:off x="7684304" y="5657979"/>
            <a:ext cx="1604907" cy="456069"/>
          </a:xfrm>
          <a:prstGeom prst="rect">
            <a:avLst/>
          </a:prstGeom>
          <a:noFill/>
          <a:ln/>
        </p:spPr>
        <p:txBody>
          <a:bodyPr wrap="square" lIns="0" tIns="0" rIns="0" bIns="0" rtlCol="0" anchor="ctr"/>
          <a:lstStyle/>
          <a:p>
            <a:pPr algn="ctr"/>
            <a:r>
              <a:rPr lang="en-US" sz="1197" b="1" dirty="0">
                <a:solidFill>
                  <a:srgbClr val="FFFFFF"/>
                </a:solidFill>
                <a:latin typeface="Calibri" pitchFamily="34" charset="0"/>
                <a:ea typeface="Calibri" pitchFamily="34" charset="-122"/>
                <a:cs typeface="Calibri" pitchFamily="34" charset="-120"/>
              </a:rPr>
              <a:t>15%</a:t>
            </a:r>
            <a:endParaRPr lang="en-US" sz="1197" dirty="0"/>
          </a:p>
        </p:txBody>
      </p:sp>
      <p:sp>
        <p:nvSpPr>
          <p:cNvPr id="43" name="Shape 34"/>
          <p:cNvSpPr/>
          <p:nvPr/>
        </p:nvSpPr>
        <p:spPr>
          <a:xfrm>
            <a:off x="9285789" y="5647142"/>
            <a:ext cx="1283925" cy="456069"/>
          </a:xfrm>
          <a:prstGeom prst="rect">
            <a:avLst/>
          </a:prstGeom>
          <a:solidFill>
            <a:srgbClr val="2C3E50"/>
          </a:solidFill>
          <a:ln/>
        </p:spPr>
        <p:txBody>
          <a:bodyPr/>
          <a:lstStyle/>
          <a:p>
            <a:endParaRPr lang="de-DE" sz="1795"/>
          </a:p>
        </p:txBody>
      </p:sp>
      <p:sp>
        <p:nvSpPr>
          <p:cNvPr id="44" name="Text 35"/>
          <p:cNvSpPr/>
          <p:nvPr/>
        </p:nvSpPr>
        <p:spPr>
          <a:xfrm>
            <a:off x="9268688" y="5611029"/>
            <a:ext cx="1283925" cy="456069"/>
          </a:xfrm>
          <a:prstGeom prst="rect">
            <a:avLst/>
          </a:prstGeom>
          <a:noFill/>
          <a:ln/>
        </p:spPr>
        <p:txBody>
          <a:bodyPr wrap="square" lIns="0" tIns="0" rIns="0" bIns="0" rtlCol="0" anchor="ctr"/>
          <a:lstStyle/>
          <a:p>
            <a:pPr algn="ctr"/>
            <a:r>
              <a:rPr lang="en-US" sz="1197" b="1" dirty="0">
                <a:solidFill>
                  <a:srgbClr val="FFFFFF"/>
                </a:solidFill>
                <a:latin typeface="Calibri" pitchFamily="34" charset="0"/>
                <a:ea typeface="Calibri" pitchFamily="34" charset="-122"/>
                <a:cs typeface="Calibri" pitchFamily="34" charset="-120"/>
              </a:rPr>
              <a:t>12%</a:t>
            </a:r>
            <a:endParaRPr lang="en-US" sz="1197" dirty="0"/>
          </a:p>
        </p:txBody>
      </p:sp>
      <p:sp>
        <p:nvSpPr>
          <p:cNvPr id="45" name="Shape 36"/>
          <p:cNvSpPr/>
          <p:nvPr/>
        </p:nvSpPr>
        <p:spPr>
          <a:xfrm>
            <a:off x="10566292" y="5638932"/>
            <a:ext cx="855950" cy="456069"/>
          </a:xfrm>
          <a:prstGeom prst="rect">
            <a:avLst/>
          </a:prstGeom>
          <a:solidFill>
            <a:srgbClr val="6B7684"/>
          </a:solidFill>
          <a:ln/>
        </p:spPr>
        <p:txBody>
          <a:bodyPr/>
          <a:lstStyle/>
          <a:p>
            <a:endParaRPr lang="de-DE" sz="1795"/>
          </a:p>
        </p:txBody>
      </p:sp>
      <p:sp>
        <p:nvSpPr>
          <p:cNvPr id="46" name="Text 37"/>
          <p:cNvSpPr/>
          <p:nvPr/>
        </p:nvSpPr>
        <p:spPr>
          <a:xfrm>
            <a:off x="729709" y="6090022"/>
            <a:ext cx="10672012" cy="319248"/>
          </a:xfrm>
          <a:prstGeom prst="rect">
            <a:avLst/>
          </a:prstGeom>
          <a:noFill/>
          <a:ln/>
        </p:spPr>
        <p:txBody>
          <a:bodyPr wrap="square" lIns="0" tIns="0" rIns="0" bIns="0" rtlCol="0" anchor="ctr"/>
          <a:lstStyle/>
          <a:p>
            <a:r>
              <a:rPr lang="en-US" sz="1097" b="1" dirty="0">
                <a:solidFill>
                  <a:srgbClr val="7B2CBF"/>
                </a:solidFill>
                <a:latin typeface="Calibri" pitchFamily="34" charset="0"/>
                <a:ea typeface="Calibri" pitchFamily="34" charset="-122"/>
                <a:cs typeface="Calibri" pitchFamily="34" charset="-120"/>
              </a:rPr>
              <a:t>■ Sekundär (Sulfat/Nitrat/Ammonium)</a:t>
            </a:r>
            <a:r>
              <a:rPr lang="en-US" sz="1097" b="1" dirty="0">
                <a:solidFill>
                  <a:srgbClr val="1C7293"/>
                </a:solidFill>
                <a:latin typeface="Calibri" pitchFamily="34" charset="0"/>
                <a:ea typeface="Calibri" pitchFamily="34" charset="-122"/>
                <a:cs typeface="Calibri" pitchFamily="34" charset="-120"/>
              </a:rPr>
              <a:t>   ■ Organik</a:t>
            </a:r>
            <a:r>
              <a:rPr lang="en-US" sz="1097" b="1" dirty="0">
                <a:solidFill>
                  <a:srgbClr val="E0912F"/>
                </a:solidFill>
                <a:latin typeface="Calibri" pitchFamily="34" charset="0"/>
                <a:ea typeface="Calibri" pitchFamily="34" charset="-122"/>
                <a:cs typeface="Calibri" pitchFamily="34" charset="-120"/>
              </a:rPr>
              <a:t>   ■ Mineralstaub</a:t>
            </a:r>
            <a:r>
              <a:rPr lang="en-US" sz="1097" b="1" dirty="0">
                <a:solidFill>
                  <a:srgbClr val="2C3E50"/>
                </a:solidFill>
                <a:latin typeface="Calibri" pitchFamily="34" charset="0"/>
                <a:ea typeface="Calibri" pitchFamily="34" charset="-122"/>
                <a:cs typeface="Calibri" pitchFamily="34" charset="-120"/>
              </a:rPr>
              <a:t>   ■ Ruß</a:t>
            </a:r>
            <a:r>
              <a:rPr lang="en-US" sz="1097" b="1" dirty="0">
                <a:solidFill>
                  <a:srgbClr val="6B7684"/>
                </a:solidFill>
                <a:latin typeface="Calibri" pitchFamily="34" charset="0"/>
                <a:ea typeface="Calibri" pitchFamily="34" charset="-122"/>
                <a:cs typeface="Calibri" pitchFamily="34" charset="-120"/>
              </a:rPr>
              <a:t>   ■ Metalle/Sonstige</a:t>
            </a:r>
            <a:endParaRPr lang="en-US" sz="1097" dirty="0"/>
          </a:p>
        </p:txBody>
      </p:sp>
      <p:sp>
        <p:nvSpPr>
          <p:cNvPr id="48" name="Oval 34">
            <a:extLst>
              <a:ext uri="{FF2B5EF4-FFF2-40B4-BE49-F238E27FC236}">
                <a16:creationId xmlns:a16="http://schemas.microsoft.com/office/drawing/2014/main" id="{2E5A201F-6AA4-35B0-A28D-C0E07997F0E7}"/>
              </a:ext>
            </a:extLst>
          </p:cNvPr>
          <p:cNvSpPr/>
          <p:nvPr/>
        </p:nvSpPr>
        <p:spPr>
          <a:xfrm>
            <a:off x="326128" y="161306"/>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50" name="TextBox 60">
            <a:extLst>
              <a:ext uri="{FF2B5EF4-FFF2-40B4-BE49-F238E27FC236}">
                <a16:creationId xmlns:a16="http://schemas.microsoft.com/office/drawing/2014/main" id="{C10D4681-6F40-DFC8-75AB-BAA37FF6821A}"/>
              </a:ext>
            </a:extLst>
          </p:cNvPr>
          <p:cNvSpPr/>
          <p:nvPr/>
        </p:nvSpPr>
        <p:spPr>
          <a:xfrm>
            <a:off x="326128" y="408899"/>
            <a:ext cx="1051200" cy="45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dirty="0">
                <a:solidFill>
                  <a:srgbClr val="FFFFFF"/>
                </a:solidFill>
                <a:effectLst/>
                <a:uFillTx/>
                <a:latin typeface="Cambria"/>
              </a:rPr>
              <a:t>1</a:t>
            </a:r>
            <a:endParaRPr lang="de-DE" sz="3000" b="0" u="none" strike="noStrike" dirty="0">
              <a:solidFill>
                <a:srgbClr val="000000"/>
              </a:solidFill>
              <a:effectLst/>
              <a:uFillTx/>
              <a:latin typeface="Arial"/>
            </a:endParaRPr>
          </a:p>
        </p:txBody>
      </p:sp>
      <p:sp>
        <p:nvSpPr>
          <p:cNvPr id="52" name="TextBox 5">
            <a:extLst>
              <a:ext uri="{FF2B5EF4-FFF2-40B4-BE49-F238E27FC236}">
                <a16:creationId xmlns:a16="http://schemas.microsoft.com/office/drawing/2014/main" id="{F1DBA19E-C87E-AB31-A020-82A115DAFBF5}"/>
              </a:ext>
            </a:extLst>
          </p:cNvPr>
          <p:cNvSpPr txBox="1"/>
          <p:nvPr/>
        </p:nvSpPr>
        <p:spPr>
          <a:xfrm>
            <a:off x="1596241" y="837961"/>
            <a:ext cx="10058400" cy="365760"/>
          </a:xfrm>
          <a:prstGeom prst="rect">
            <a:avLst/>
          </a:prstGeom>
          <a:noFill/>
        </p:spPr>
        <p:txBody>
          <a:bodyPr wrap="square" lIns="0" tIns="0" rIns="0" bIns="0" anchor="t">
            <a:spAutoFit/>
          </a:bodyPr>
          <a:lstStyle/>
          <a:p>
            <a:pPr algn="l"/>
            <a:r>
              <a:rPr sz="1400" b="1" i="0" dirty="0">
                <a:solidFill>
                  <a:srgbClr val="E0912F"/>
                </a:solidFill>
                <a:latin typeface="Calibri"/>
              </a:rPr>
              <a:t>CRISP-DM  ·  Business Understanding  ·  </a:t>
            </a:r>
            <a:r>
              <a:rPr sz="1400" b="1" i="0" dirty="0" err="1">
                <a:solidFill>
                  <a:srgbClr val="E0912F"/>
                </a:solidFill>
                <a:latin typeface="Calibri"/>
              </a:rPr>
              <a:t>Hintergrund</a:t>
            </a:r>
            <a:endParaRPr sz="1400" b="1" i="0" dirty="0">
              <a:solidFill>
                <a:srgbClr val="E0912F"/>
              </a:solidFill>
              <a:latin typeface="Calibri"/>
            </a:endParaRPr>
          </a:p>
        </p:txBody>
      </p:sp>
      <p:sp>
        <p:nvSpPr>
          <p:cNvPr id="54" name="TextBox 30">
            <a:extLst>
              <a:ext uri="{FF2B5EF4-FFF2-40B4-BE49-F238E27FC236}">
                <a16:creationId xmlns:a16="http://schemas.microsoft.com/office/drawing/2014/main" id="{9FB35B7C-E3EA-99E2-8E33-2648D47D475F}"/>
              </a:ext>
            </a:extLst>
          </p:cNvPr>
          <p:cNvSpPr txBox="1"/>
          <p:nvPr/>
        </p:nvSpPr>
        <p:spPr>
          <a:xfrm>
            <a:off x="729710" y="6694800"/>
            <a:ext cx="8229600" cy="138499"/>
          </a:xfrm>
          <a:prstGeom prst="rect">
            <a:avLst/>
          </a:prstGeom>
          <a:noFill/>
        </p:spPr>
        <p:txBody>
          <a:bodyPr wrap="square" lIns="0" tIns="0" rIns="0" bIns="0" anchor="t">
            <a:spAutoFit/>
          </a:bodyPr>
          <a:lstStyle/>
          <a:p>
            <a:pPr algn="l"/>
            <a:r>
              <a:rPr sz="900" b="0" i="0" dirty="0">
                <a:solidFill>
                  <a:srgbClr val="6C7278"/>
                </a:solidFill>
                <a:latin typeface="Calibri"/>
              </a:rPr>
              <a:t>PM2.5-Prognose Beijing  ·  Prophet, Chronos</a:t>
            </a:r>
            <a:r>
              <a:rPr lang="de-DE" sz="900" b="0" i="0" dirty="0">
                <a:solidFill>
                  <a:srgbClr val="6C7278"/>
                </a:solidFill>
                <a:latin typeface="Calibri"/>
              </a:rPr>
              <a:t> </a:t>
            </a:r>
            <a:r>
              <a:rPr sz="900" b="0" i="0" dirty="0">
                <a:solidFill>
                  <a:srgbClr val="6C7278"/>
                </a:solidFill>
                <a:latin typeface="Calibri"/>
              </a:rPr>
              <a:t>&amp; TFT  ·  CRISP-DM</a:t>
            </a:r>
          </a:p>
        </p:txBody>
      </p:sp>
      <p:sp>
        <p:nvSpPr>
          <p:cNvPr id="56" name="TextBox 29">
            <a:extLst>
              <a:ext uri="{FF2B5EF4-FFF2-40B4-BE49-F238E27FC236}">
                <a16:creationId xmlns:a16="http://schemas.microsoft.com/office/drawing/2014/main" id="{A5760AB2-9882-1D42-BEAE-692178F43C90}"/>
              </a:ext>
            </a:extLst>
          </p:cNvPr>
          <p:cNvSpPr txBox="1"/>
          <p:nvPr/>
        </p:nvSpPr>
        <p:spPr>
          <a:xfrm>
            <a:off x="729709" y="6399294"/>
            <a:ext cx="10685696" cy="246221"/>
          </a:xfrm>
          <a:prstGeom prst="rect">
            <a:avLst/>
          </a:prstGeom>
          <a:noFill/>
        </p:spPr>
        <p:txBody>
          <a:bodyPr wrap="square" lIns="0" tIns="0" rIns="0" bIns="0" anchor="t">
            <a:spAutoFit/>
          </a:bodyPr>
          <a:lstStyle/>
          <a:p>
            <a:r>
              <a:rPr sz="800" b="0" i="0" dirty="0" err="1">
                <a:solidFill>
                  <a:srgbClr val="8A8F94"/>
                </a:solidFill>
                <a:latin typeface="Calibri"/>
              </a:rPr>
              <a:t>Quellen</a:t>
            </a:r>
            <a:r>
              <a:rPr sz="800" dirty="0">
                <a:solidFill>
                  <a:srgbClr val="8A8F94"/>
                </a:solidFill>
                <a:latin typeface="Calibri"/>
              </a:rPr>
              <a:t>: </a:t>
            </a:r>
            <a:r>
              <a:rPr lang="de-DE" sz="800" dirty="0">
                <a:solidFill>
                  <a:srgbClr val="8A8F94"/>
                </a:solidFill>
                <a:latin typeface="Calibri"/>
              </a:rPr>
              <a:t>WHO – Ambient (</a:t>
            </a:r>
            <a:r>
              <a:rPr lang="de-DE" sz="800" dirty="0" err="1">
                <a:solidFill>
                  <a:srgbClr val="8A8F94"/>
                </a:solidFill>
                <a:latin typeface="Calibri"/>
              </a:rPr>
              <a:t>outdoor</a:t>
            </a:r>
            <a:r>
              <a:rPr lang="de-DE" sz="800" dirty="0">
                <a:solidFill>
                  <a:srgbClr val="8A8F94"/>
                </a:solidFill>
                <a:latin typeface="Calibri"/>
              </a:rPr>
              <a:t>) </a:t>
            </a:r>
            <a:r>
              <a:rPr lang="de-DE" sz="800" dirty="0" err="1">
                <a:solidFill>
                  <a:srgbClr val="8A8F94"/>
                </a:solidFill>
                <a:latin typeface="Calibri"/>
              </a:rPr>
              <a:t>air</a:t>
            </a:r>
            <a:r>
              <a:rPr lang="de-DE" sz="800" dirty="0">
                <a:solidFill>
                  <a:srgbClr val="8A8F94"/>
                </a:solidFill>
                <a:latin typeface="Calibri"/>
              </a:rPr>
              <a:t> </a:t>
            </a:r>
            <a:r>
              <a:rPr lang="de-DE" sz="800" dirty="0" err="1">
                <a:solidFill>
                  <a:srgbClr val="8A8F94"/>
                </a:solidFill>
                <a:latin typeface="Calibri"/>
              </a:rPr>
              <a:t>pollution</a:t>
            </a:r>
            <a:r>
              <a:rPr lang="de-DE" sz="800" dirty="0">
                <a:solidFill>
                  <a:srgbClr val="8A8F94"/>
                </a:solidFill>
                <a:latin typeface="Calibri"/>
              </a:rPr>
              <a:t>, Fact Sheet; WHO Global Air Quality Guidelines (2021); IARC (2013) – Außenluftverschmutzung als Gruppe‑1‑Karzinogen. PM2.5‑Zusammensetzung: grobe Anhaltswerte nach Huang et al. (2014, Nature) u. Zhang et al. (2013, ACP).</a:t>
            </a:r>
            <a:endParaRPr sz="800" dirty="0">
              <a:solidFill>
                <a:srgbClr val="8A8F94"/>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891760" y="320533"/>
            <a:ext cx="10945654" cy="638496"/>
          </a:xfrm>
          <a:prstGeom prst="rect">
            <a:avLst/>
          </a:prstGeom>
          <a:noFill/>
          <a:ln/>
        </p:spPr>
        <p:txBody>
          <a:bodyPr wrap="square" lIns="0" tIns="0" rIns="0" bIns="0" rtlCol="0" anchor="ctr"/>
          <a:lstStyle/>
          <a:p>
            <a:r>
              <a:rPr lang="en-US" sz="2993" b="1" dirty="0" err="1">
                <a:solidFill>
                  <a:srgbClr val="242A31"/>
                </a:solidFill>
                <a:latin typeface="Cambria" pitchFamily="34" charset="0"/>
                <a:ea typeface="Cambria" pitchFamily="34" charset="-122"/>
                <a:cs typeface="Cambria" pitchFamily="34" charset="-120"/>
              </a:rPr>
              <a:t>Ursachen</a:t>
            </a:r>
            <a:r>
              <a:rPr lang="en-US" sz="2993" b="1" dirty="0">
                <a:solidFill>
                  <a:srgbClr val="242A31"/>
                </a:solidFill>
                <a:latin typeface="Cambria" pitchFamily="34" charset="0"/>
                <a:ea typeface="Cambria" pitchFamily="34" charset="-122"/>
                <a:cs typeface="Cambria" pitchFamily="34" charset="-120"/>
              </a:rPr>
              <a:t> der </a:t>
            </a:r>
            <a:r>
              <a:rPr lang="en-US" sz="2993" b="1" dirty="0" err="1">
                <a:solidFill>
                  <a:srgbClr val="242A31"/>
                </a:solidFill>
                <a:latin typeface="Cambria" pitchFamily="34" charset="0"/>
                <a:ea typeface="Cambria" pitchFamily="34" charset="-122"/>
                <a:cs typeface="Cambria" pitchFamily="34" charset="-120"/>
              </a:rPr>
              <a:t>Luftverschmutzung</a:t>
            </a:r>
            <a:r>
              <a:rPr lang="en-US" sz="2993" b="1" dirty="0">
                <a:solidFill>
                  <a:srgbClr val="242A31"/>
                </a:solidFill>
                <a:latin typeface="Cambria" pitchFamily="34" charset="0"/>
                <a:ea typeface="Cambria" pitchFamily="34" charset="-122"/>
                <a:cs typeface="Cambria" pitchFamily="34" charset="-120"/>
              </a:rPr>
              <a:t> (2013–2017)</a:t>
            </a:r>
            <a:endParaRPr lang="en-US" sz="2993" dirty="0"/>
          </a:p>
        </p:txBody>
      </p:sp>
      <p:sp>
        <p:nvSpPr>
          <p:cNvPr id="4" name="Shape 2"/>
          <p:cNvSpPr/>
          <p:nvPr/>
        </p:nvSpPr>
        <p:spPr>
          <a:xfrm>
            <a:off x="729711" y="1513511"/>
            <a:ext cx="656739" cy="656739"/>
          </a:xfrm>
          <a:prstGeom prst="ellipse">
            <a:avLst/>
          </a:prstGeom>
          <a:solidFill>
            <a:srgbClr val="2C3E50"/>
          </a:solidFill>
          <a:ln/>
        </p:spPr>
        <p:txBody>
          <a:bodyPr/>
          <a:lstStyle/>
          <a:p>
            <a:endParaRPr lang="de-DE" sz="1795"/>
          </a:p>
        </p:txBody>
      </p:sp>
      <p:pic>
        <p:nvPicPr>
          <p:cNvPr id="5" name="Image 0" descr="/tmp/ic_coal.png"/>
          <p:cNvPicPr>
            <a:picLocks noChangeAspect="1"/>
          </p:cNvPicPr>
          <p:nvPr/>
        </p:nvPicPr>
        <p:blipFill>
          <a:blip r:embed="rId3"/>
          <a:stretch>
            <a:fillRect/>
          </a:stretch>
        </p:blipFill>
        <p:spPr>
          <a:xfrm>
            <a:off x="875653" y="1659453"/>
            <a:ext cx="364855" cy="364855"/>
          </a:xfrm>
          <a:prstGeom prst="rect">
            <a:avLst/>
          </a:prstGeom>
        </p:spPr>
      </p:pic>
      <p:sp>
        <p:nvSpPr>
          <p:cNvPr id="6" name="Text 3"/>
          <p:cNvSpPr/>
          <p:nvPr/>
        </p:nvSpPr>
        <p:spPr>
          <a:xfrm>
            <a:off x="1596241" y="1495268"/>
            <a:ext cx="5107972" cy="410462"/>
          </a:xfrm>
          <a:prstGeom prst="rect">
            <a:avLst/>
          </a:prstGeom>
          <a:noFill/>
          <a:ln/>
        </p:spPr>
        <p:txBody>
          <a:bodyPr wrap="square" lIns="0" tIns="0" rIns="0" bIns="0" rtlCol="0" anchor="ctr"/>
          <a:lstStyle/>
          <a:p>
            <a:r>
              <a:rPr lang="en-US" sz="1696" b="1" dirty="0">
                <a:solidFill>
                  <a:srgbClr val="242A31"/>
                </a:solidFill>
                <a:latin typeface="Calibri" pitchFamily="34" charset="0"/>
                <a:ea typeface="Calibri" pitchFamily="34" charset="-122"/>
                <a:cs typeface="Calibri" pitchFamily="34" charset="-120"/>
              </a:rPr>
              <a:t>Kohle &amp; Heizung</a:t>
            </a:r>
            <a:endParaRPr lang="en-US" sz="1696" dirty="0"/>
          </a:p>
        </p:txBody>
      </p:sp>
      <p:sp>
        <p:nvSpPr>
          <p:cNvPr id="7" name="Text 4"/>
          <p:cNvSpPr/>
          <p:nvPr/>
        </p:nvSpPr>
        <p:spPr>
          <a:xfrm>
            <a:off x="1596241" y="1878366"/>
            <a:ext cx="5107972" cy="501676"/>
          </a:xfrm>
          <a:prstGeom prst="rect">
            <a:avLst/>
          </a:prstGeom>
          <a:noFill/>
          <a:ln/>
        </p:spPr>
        <p:txBody>
          <a:bodyPr wrap="square" lIns="0" tIns="0" rIns="0" bIns="0" rtlCol="0" anchor="ctr"/>
          <a:lstStyle/>
          <a:p>
            <a:r>
              <a:rPr lang="en-US" sz="1297" dirty="0">
                <a:solidFill>
                  <a:srgbClr val="6B7684"/>
                </a:solidFill>
                <a:latin typeface="Calibri" pitchFamily="34" charset="0"/>
                <a:ea typeface="Calibri" pitchFamily="34" charset="-122"/>
                <a:cs typeface="Calibri" pitchFamily="34" charset="-120"/>
              </a:rPr>
              <a:t>Winterheizung, Kraftwerke, Industrie – größter Einzeltreiber (~20 %).</a:t>
            </a:r>
            <a:endParaRPr lang="en-US" sz="1297" dirty="0"/>
          </a:p>
        </p:txBody>
      </p:sp>
      <p:sp>
        <p:nvSpPr>
          <p:cNvPr id="8" name="Shape 5"/>
          <p:cNvSpPr/>
          <p:nvPr/>
        </p:nvSpPr>
        <p:spPr>
          <a:xfrm>
            <a:off x="729711" y="2471255"/>
            <a:ext cx="656739" cy="656739"/>
          </a:xfrm>
          <a:prstGeom prst="ellipse">
            <a:avLst/>
          </a:prstGeom>
          <a:solidFill>
            <a:srgbClr val="1C7293"/>
          </a:solidFill>
          <a:ln/>
        </p:spPr>
        <p:txBody>
          <a:bodyPr/>
          <a:lstStyle/>
          <a:p>
            <a:endParaRPr lang="de-DE" sz="1795"/>
          </a:p>
        </p:txBody>
      </p:sp>
      <p:pic>
        <p:nvPicPr>
          <p:cNvPr id="9" name="Image 1" descr="/tmp/ic_verkehr.png"/>
          <p:cNvPicPr>
            <a:picLocks noChangeAspect="1"/>
          </p:cNvPicPr>
          <p:nvPr/>
        </p:nvPicPr>
        <p:blipFill>
          <a:blip r:embed="rId4"/>
          <a:stretch>
            <a:fillRect/>
          </a:stretch>
        </p:blipFill>
        <p:spPr>
          <a:xfrm>
            <a:off x="875653" y="2617197"/>
            <a:ext cx="364855" cy="364855"/>
          </a:xfrm>
          <a:prstGeom prst="rect">
            <a:avLst/>
          </a:prstGeom>
        </p:spPr>
      </p:pic>
      <p:sp>
        <p:nvSpPr>
          <p:cNvPr id="10" name="Text 6"/>
          <p:cNvSpPr/>
          <p:nvPr/>
        </p:nvSpPr>
        <p:spPr>
          <a:xfrm>
            <a:off x="1596241" y="2453013"/>
            <a:ext cx="5107972" cy="410462"/>
          </a:xfrm>
          <a:prstGeom prst="rect">
            <a:avLst/>
          </a:prstGeom>
          <a:noFill/>
          <a:ln/>
        </p:spPr>
        <p:txBody>
          <a:bodyPr wrap="square" lIns="0" tIns="0" rIns="0" bIns="0" rtlCol="0" anchor="ctr"/>
          <a:lstStyle/>
          <a:p>
            <a:r>
              <a:rPr lang="en-US" sz="1696" b="1" dirty="0">
                <a:solidFill>
                  <a:srgbClr val="242A31"/>
                </a:solidFill>
                <a:latin typeface="Calibri" pitchFamily="34" charset="0"/>
                <a:ea typeface="Calibri" pitchFamily="34" charset="-122"/>
                <a:cs typeface="Calibri" pitchFamily="34" charset="-120"/>
              </a:rPr>
              <a:t>Verkehr</a:t>
            </a:r>
            <a:endParaRPr lang="en-US" sz="1696" dirty="0"/>
          </a:p>
        </p:txBody>
      </p:sp>
      <p:sp>
        <p:nvSpPr>
          <p:cNvPr id="11" name="Text 7"/>
          <p:cNvSpPr/>
          <p:nvPr/>
        </p:nvSpPr>
        <p:spPr>
          <a:xfrm>
            <a:off x="1596241" y="2836110"/>
            <a:ext cx="5107972" cy="501676"/>
          </a:xfrm>
          <a:prstGeom prst="rect">
            <a:avLst/>
          </a:prstGeom>
          <a:noFill/>
          <a:ln/>
        </p:spPr>
        <p:txBody>
          <a:bodyPr wrap="square" lIns="0" tIns="0" rIns="0" bIns="0" rtlCol="0" anchor="ctr"/>
          <a:lstStyle/>
          <a:p>
            <a:r>
              <a:rPr lang="en-US" sz="1297" dirty="0">
                <a:solidFill>
                  <a:srgbClr val="6B7684"/>
                </a:solidFill>
                <a:latin typeface="Calibri" pitchFamily="34" charset="0"/>
                <a:ea typeface="Calibri" pitchFamily="34" charset="-122"/>
                <a:cs typeface="Calibri" pitchFamily="34" charset="-120"/>
              </a:rPr>
              <a:t>Millionen Fahrzeuge: Stickoxide, Ruß, Partikel.</a:t>
            </a:r>
            <a:endParaRPr lang="en-US" sz="1297" dirty="0"/>
          </a:p>
        </p:txBody>
      </p:sp>
      <p:sp>
        <p:nvSpPr>
          <p:cNvPr id="12" name="Shape 8"/>
          <p:cNvSpPr/>
          <p:nvPr/>
        </p:nvSpPr>
        <p:spPr>
          <a:xfrm>
            <a:off x="729711" y="3429000"/>
            <a:ext cx="656739" cy="656739"/>
          </a:xfrm>
          <a:prstGeom prst="ellipse">
            <a:avLst/>
          </a:prstGeom>
          <a:solidFill>
            <a:srgbClr val="6B7684"/>
          </a:solidFill>
          <a:ln/>
        </p:spPr>
        <p:txBody>
          <a:bodyPr/>
          <a:lstStyle/>
          <a:p>
            <a:endParaRPr lang="de-DE" sz="1795"/>
          </a:p>
        </p:txBody>
      </p:sp>
      <p:pic>
        <p:nvPicPr>
          <p:cNvPr id="13" name="Image 2" descr="/tmp/ic_industrie.png"/>
          <p:cNvPicPr>
            <a:picLocks noChangeAspect="1"/>
          </p:cNvPicPr>
          <p:nvPr/>
        </p:nvPicPr>
        <p:blipFill>
          <a:blip r:embed="rId5"/>
          <a:stretch>
            <a:fillRect/>
          </a:stretch>
        </p:blipFill>
        <p:spPr>
          <a:xfrm>
            <a:off x="875653" y="3574942"/>
            <a:ext cx="364855" cy="364855"/>
          </a:xfrm>
          <a:prstGeom prst="rect">
            <a:avLst/>
          </a:prstGeom>
        </p:spPr>
      </p:pic>
      <p:sp>
        <p:nvSpPr>
          <p:cNvPr id="14" name="Text 9"/>
          <p:cNvSpPr/>
          <p:nvPr/>
        </p:nvSpPr>
        <p:spPr>
          <a:xfrm>
            <a:off x="1596241" y="3410757"/>
            <a:ext cx="5107972" cy="410462"/>
          </a:xfrm>
          <a:prstGeom prst="rect">
            <a:avLst/>
          </a:prstGeom>
          <a:noFill/>
          <a:ln/>
        </p:spPr>
        <p:txBody>
          <a:bodyPr wrap="square" lIns="0" tIns="0" rIns="0" bIns="0" rtlCol="0" anchor="ctr"/>
          <a:lstStyle/>
          <a:p>
            <a:r>
              <a:rPr lang="en-US" sz="1696" b="1" dirty="0">
                <a:solidFill>
                  <a:srgbClr val="242A31"/>
                </a:solidFill>
                <a:latin typeface="Calibri" pitchFamily="34" charset="0"/>
                <a:ea typeface="Calibri" pitchFamily="34" charset="-122"/>
                <a:cs typeface="Calibri" pitchFamily="34" charset="-120"/>
              </a:rPr>
              <a:t>Industrie (Umland Hebei)</a:t>
            </a:r>
            <a:endParaRPr lang="en-US" sz="1696" dirty="0"/>
          </a:p>
        </p:txBody>
      </p:sp>
      <p:sp>
        <p:nvSpPr>
          <p:cNvPr id="15" name="Text 10"/>
          <p:cNvSpPr/>
          <p:nvPr/>
        </p:nvSpPr>
        <p:spPr>
          <a:xfrm>
            <a:off x="1596241" y="3793855"/>
            <a:ext cx="5107972" cy="501676"/>
          </a:xfrm>
          <a:prstGeom prst="rect">
            <a:avLst/>
          </a:prstGeom>
          <a:noFill/>
          <a:ln/>
        </p:spPr>
        <p:txBody>
          <a:bodyPr wrap="square" lIns="0" tIns="0" rIns="0" bIns="0" rtlCol="0" anchor="ctr"/>
          <a:lstStyle/>
          <a:p>
            <a:r>
              <a:rPr lang="en-US" sz="1297" dirty="0">
                <a:solidFill>
                  <a:srgbClr val="6B7684"/>
                </a:solidFill>
                <a:latin typeface="Calibri" pitchFamily="34" charset="0"/>
                <a:ea typeface="Calibri" pitchFamily="34" charset="-122"/>
                <a:cs typeface="Calibri" pitchFamily="34" charset="-120"/>
              </a:rPr>
              <a:t>Stahl, Zement, Chemie – regionaler Transport nach Beijing.</a:t>
            </a:r>
            <a:endParaRPr lang="en-US" sz="1297" dirty="0"/>
          </a:p>
        </p:txBody>
      </p:sp>
      <p:sp>
        <p:nvSpPr>
          <p:cNvPr id="16" name="Shape 11"/>
          <p:cNvSpPr/>
          <p:nvPr/>
        </p:nvSpPr>
        <p:spPr>
          <a:xfrm>
            <a:off x="729711" y="4386745"/>
            <a:ext cx="656739" cy="656739"/>
          </a:xfrm>
          <a:prstGeom prst="ellipse">
            <a:avLst/>
          </a:prstGeom>
          <a:solidFill>
            <a:srgbClr val="C4471C"/>
          </a:solidFill>
          <a:ln/>
        </p:spPr>
        <p:txBody>
          <a:bodyPr/>
          <a:lstStyle/>
          <a:p>
            <a:endParaRPr lang="de-DE" sz="1795"/>
          </a:p>
        </p:txBody>
      </p:sp>
      <p:pic>
        <p:nvPicPr>
          <p:cNvPr id="17" name="Image 3" descr="/tmp/ic_biomasse.png"/>
          <p:cNvPicPr>
            <a:picLocks noChangeAspect="1"/>
          </p:cNvPicPr>
          <p:nvPr/>
        </p:nvPicPr>
        <p:blipFill>
          <a:blip r:embed="rId6"/>
          <a:stretch>
            <a:fillRect/>
          </a:stretch>
        </p:blipFill>
        <p:spPr>
          <a:xfrm>
            <a:off x="875653" y="4532687"/>
            <a:ext cx="364855" cy="364855"/>
          </a:xfrm>
          <a:prstGeom prst="rect">
            <a:avLst/>
          </a:prstGeom>
        </p:spPr>
      </p:pic>
      <p:sp>
        <p:nvSpPr>
          <p:cNvPr id="18" name="Text 12"/>
          <p:cNvSpPr/>
          <p:nvPr/>
        </p:nvSpPr>
        <p:spPr>
          <a:xfrm>
            <a:off x="1596241" y="4368502"/>
            <a:ext cx="5107972" cy="410462"/>
          </a:xfrm>
          <a:prstGeom prst="rect">
            <a:avLst/>
          </a:prstGeom>
          <a:noFill/>
          <a:ln/>
        </p:spPr>
        <p:txBody>
          <a:bodyPr wrap="square" lIns="0" tIns="0" rIns="0" bIns="0" rtlCol="0" anchor="ctr"/>
          <a:lstStyle/>
          <a:p>
            <a:r>
              <a:rPr lang="en-US" sz="1696" b="1" dirty="0">
                <a:solidFill>
                  <a:srgbClr val="242A31"/>
                </a:solidFill>
                <a:latin typeface="Calibri" pitchFamily="34" charset="0"/>
                <a:ea typeface="Calibri" pitchFamily="34" charset="-122"/>
                <a:cs typeface="Calibri" pitchFamily="34" charset="-120"/>
              </a:rPr>
              <a:t>Biomasse &amp; Feuerwerk</a:t>
            </a:r>
            <a:endParaRPr lang="en-US" sz="1696" dirty="0"/>
          </a:p>
        </p:txBody>
      </p:sp>
      <p:sp>
        <p:nvSpPr>
          <p:cNvPr id="19" name="Text 13"/>
          <p:cNvSpPr/>
          <p:nvPr/>
        </p:nvSpPr>
        <p:spPr>
          <a:xfrm>
            <a:off x="1596241" y="4751600"/>
            <a:ext cx="5107972" cy="501676"/>
          </a:xfrm>
          <a:prstGeom prst="rect">
            <a:avLst/>
          </a:prstGeom>
          <a:noFill/>
          <a:ln/>
        </p:spPr>
        <p:txBody>
          <a:bodyPr wrap="square" lIns="0" tIns="0" rIns="0" bIns="0" rtlCol="0" anchor="ctr"/>
          <a:lstStyle/>
          <a:p>
            <a:r>
              <a:rPr lang="en-US" sz="1297" dirty="0">
                <a:solidFill>
                  <a:srgbClr val="6B7684"/>
                </a:solidFill>
                <a:latin typeface="Calibri" pitchFamily="34" charset="0"/>
                <a:ea typeface="Calibri" pitchFamily="34" charset="-122"/>
                <a:cs typeface="Calibri" pitchFamily="34" charset="-120"/>
              </a:rPr>
              <a:t>Ernteverbrennung; Frühlingsfest-Feuerwerk (Extrempeaks).</a:t>
            </a:r>
            <a:endParaRPr lang="en-US" sz="1297" dirty="0"/>
          </a:p>
        </p:txBody>
      </p:sp>
      <p:sp>
        <p:nvSpPr>
          <p:cNvPr id="20" name="Shape 14"/>
          <p:cNvSpPr/>
          <p:nvPr/>
        </p:nvSpPr>
        <p:spPr>
          <a:xfrm>
            <a:off x="729711" y="5344490"/>
            <a:ext cx="656739" cy="656739"/>
          </a:xfrm>
          <a:prstGeom prst="ellipse">
            <a:avLst/>
          </a:prstGeom>
          <a:solidFill>
            <a:srgbClr val="E0912F"/>
          </a:solidFill>
          <a:ln/>
        </p:spPr>
        <p:txBody>
          <a:bodyPr/>
          <a:lstStyle/>
          <a:p>
            <a:endParaRPr lang="de-DE" sz="1795"/>
          </a:p>
        </p:txBody>
      </p:sp>
      <p:pic>
        <p:nvPicPr>
          <p:cNvPr id="21" name="Image 4" descr="/tmp/ic_wetter.png"/>
          <p:cNvPicPr>
            <a:picLocks noChangeAspect="1"/>
          </p:cNvPicPr>
          <p:nvPr/>
        </p:nvPicPr>
        <p:blipFill>
          <a:blip r:embed="rId7"/>
          <a:stretch>
            <a:fillRect/>
          </a:stretch>
        </p:blipFill>
        <p:spPr>
          <a:xfrm>
            <a:off x="875653" y="5490432"/>
            <a:ext cx="364855" cy="364855"/>
          </a:xfrm>
          <a:prstGeom prst="rect">
            <a:avLst/>
          </a:prstGeom>
        </p:spPr>
      </p:pic>
      <p:sp>
        <p:nvSpPr>
          <p:cNvPr id="22" name="Text 15"/>
          <p:cNvSpPr/>
          <p:nvPr/>
        </p:nvSpPr>
        <p:spPr>
          <a:xfrm>
            <a:off x="1596241" y="5326247"/>
            <a:ext cx="5107972" cy="410462"/>
          </a:xfrm>
          <a:prstGeom prst="rect">
            <a:avLst/>
          </a:prstGeom>
          <a:noFill/>
          <a:ln/>
        </p:spPr>
        <p:txBody>
          <a:bodyPr wrap="square" lIns="0" tIns="0" rIns="0" bIns="0" rtlCol="0" anchor="ctr"/>
          <a:lstStyle/>
          <a:p>
            <a:r>
              <a:rPr lang="en-US" sz="1696" b="1" dirty="0">
                <a:solidFill>
                  <a:srgbClr val="242A31"/>
                </a:solidFill>
                <a:latin typeface="Calibri" pitchFamily="34" charset="0"/>
                <a:ea typeface="Calibri" pitchFamily="34" charset="-122"/>
                <a:cs typeface="Calibri" pitchFamily="34" charset="-120"/>
              </a:rPr>
              <a:t>Wetterlage</a:t>
            </a:r>
            <a:endParaRPr lang="en-US" sz="1696" dirty="0"/>
          </a:p>
        </p:txBody>
      </p:sp>
      <p:sp>
        <p:nvSpPr>
          <p:cNvPr id="23" name="Text 16"/>
          <p:cNvSpPr/>
          <p:nvPr/>
        </p:nvSpPr>
        <p:spPr>
          <a:xfrm>
            <a:off x="1596241" y="5709344"/>
            <a:ext cx="5107972" cy="501676"/>
          </a:xfrm>
          <a:prstGeom prst="rect">
            <a:avLst/>
          </a:prstGeom>
          <a:noFill/>
          <a:ln/>
        </p:spPr>
        <p:txBody>
          <a:bodyPr wrap="square" lIns="0" tIns="0" rIns="0" bIns="0" rtlCol="0" anchor="ctr"/>
          <a:lstStyle/>
          <a:p>
            <a:r>
              <a:rPr lang="en-US" sz="1297" dirty="0">
                <a:solidFill>
                  <a:srgbClr val="6B7684"/>
                </a:solidFill>
                <a:latin typeface="Calibri" pitchFamily="34" charset="0"/>
                <a:ea typeface="Calibri" pitchFamily="34" charset="-122"/>
                <a:cs typeface="Calibri" pitchFamily="34" charset="-120"/>
              </a:rPr>
              <a:t>Beckenlage, Winter-Inversion, wenig Wind → Stau statt Abzug.</a:t>
            </a:r>
            <a:endParaRPr lang="en-US" sz="1297" dirty="0"/>
          </a:p>
        </p:txBody>
      </p:sp>
      <p:graphicFrame>
        <p:nvGraphicFramePr>
          <p:cNvPr id="24" name="Chart 0"/>
          <p:cNvGraphicFramePr/>
          <p:nvPr/>
        </p:nvGraphicFramePr>
        <p:xfrm>
          <a:off x="7023462" y="1604724"/>
          <a:ext cx="4469475" cy="3466124"/>
        </p:xfrm>
        <a:graphic>
          <a:graphicData uri="http://schemas.openxmlformats.org/drawingml/2006/chart">
            <c:chart xmlns:c="http://schemas.openxmlformats.org/drawingml/2006/chart" xmlns:r="http://schemas.openxmlformats.org/officeDocument/2006/relationships" r:id="rId8"/>
          </a:graphicData>
        </a:graphic>
      </p:graphicFrame>
      <p:sp>
        <p:nvSpPr>
          <p:cNvPr id="25" name="Text 17"/>
          <p:cNvSpPr/>
          <p:nvPr/>
        </p:nvSpPr>
        <p:spPr>
          <a:xfrm>
            <a:off x="7023462" y="5162062"/>
            <a:ext cx="4469475" cy="820924"/>
          </a:xfrm>
          <a:prstGeom prst="rect">
            <a:avLst/>
          </a:prstGeom>
          <a:noFill/>
          <a:ln/>
        </p:spPr>
        <p:txBody>
          <a:bodyPr wrap="square" lIns="0" tIns="0" rIns="0" bIns="0" rtlCol="0" anchor="t"/>
          <a:lstStyle/>
          <a:p>
            <a:r>
              <a:rPr lang="en-US" sz="1197" i="1" dirty="0">
                <a:solidFill>
                  <a:srgbClr val="6B7684"/>
                </a:solidFill>
                <a:latin typeface="Calibri" pitchFamily="34" charset="0"/>
                <a:ea typeface="Calibri" pitchFamily="34" charset="-122"/>
                <a:cs typeface="Calibri" pitchFamily="34" charset="-120"/>
              </a:rPr>
              <a:t>Ein großer Teil ist „sekundär“: Sulfat/Nitrat/Ammonium bilden sich erst in der Luft aus SO₂, NOx, NH₃.</a:t>
            </a:r>
            <a:endParaRPr lang="en-US" sz="1197" dirty="0"/>
          </a:p>
        </p:txBody>
      </p:sp>
      <p:sp>
        <p:nvSpPr>
          <p:cNvPr id="26" name="Text 18"/>
          <p:cNvSpPr/>
          <p:nvPr/>
        </p:nvSpPr>
        <p:spPr>
          <a:xfrm>
            <a:off x="729711" y="6347841"/>
            <a:ext cx="10672012" cy="319248"/>
          </a:xfrm>
          <a:prstGeom prst="rect">
            <a:avLst/>
          </a:prstGeom>
          <a:noFill/>
          <a:ln/>
        </p:spPr>
        <p:txBody>
          <a:bodyPr wrap="square" lIns="0" tIns="0" rIns="0" bIns="0" rtlCol="0" anchor="ctr"/>
          <a:lstStyle/>
          <a:p>
            <a:r>
              <a:rPr lang="en-US" sz="998" i="1" dirty="0">
                <a:solidFill>
                  <a:srgbClr val="6B7684"/>
                </a:solidFill>
                <a:latin typeface="Calibri" pitchFamily="34" charset="0"/>
                <a:ea typeface="Calibri" pitchFamily="34" charset="-122"/>
                <a:cs typeface="Calibri" pitchFamily="34" charset="-120"/>
              </a:rPr>
              <a:t>Anteile grob, variieren je Studie/Saison. Quellen: ACP 2013/2019; Zheng et al. 2016 (Beijing PM2.5-Quellenanalyse).</a:t>
            </a:r>
            <a:endParaRPr lang="en-US" sz="998" dirty="0"/>
          </a:p>
        </p:txBody>
      </p:sp>
      <p:grpSp>
        <p:nvGrpSpPr>
          <p:cNvPr id="27" name="Gruppieren 26">
            <a:extLst>
              <a:ext uri="{FF2B5EF4-FFF2-40B4-BE49-F238E27FC236}">
                <a16:creationId xmlns:a16="http://schemas.microsoft.com/office/drawing/2014/main" id="{32773E1F-65B8-48A1-38B1-B7D1B3B3B52F}"/>
              </a:ext>
            </a:extLst>
          </p:cNvPr>
          <p:cNvGrpSpPr/>
          <p:nvPr/>
        </p:nvGrpSpPr>
        <p:grpSpPr>
          <a:xfrm>
            <a:off x="528249" y="156744"/>
            <a:ext cx="1051200" cy="1051200"/>
            <a:chOff x="457200" y="457200"/>
            <a:chExt cx="1051200" cy="1051200"/>
          </a:xfrm>
        </p:grpSpPr>
        <p:sp>
          <p:nvSpPr>
            <p:cNvPr id="28" name="Oval 34">
              <a:extLst>
                <a:ext uri="{FF2B5EF4-FFF2-40B4-BE49-F238E27FC236}">
                  <a16:creationId xmlns:a16="http://schemas.microsoft.com/office/drawing/2014/main" id="{576C20BD-FB85-9EC3-BF06-A81459E76886}"/>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9" name="TextBox 60">
              <a:extLst>
                <a:ext uri="{FF2B5EF4-FFF2-40B4-BE49-F238E27FC236}">
                  <a16:creationId xmlns:a16="http://schemas.microsoft.com/office/drawing/2014/main" id="{72F9FD9E-FE28-2F14-DF86-B93660D8E618}"/>
                </a:ext>
              </a:extLst>
            </p:cNvPr>
            <p:cNvSpPr/>
            <p:nvPr/>
          </p:nvSpPr>
          <p:spPr>
            <a:xfrm>
              <a:off x="457200" y="760284"/>
              <a:ext cx="1051200" cy="45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dirty="0">
                  <a:solidFill>
                    <a:srgbClr val="FFFFFF"/>
                  </a:solidFill>
                  <a:effectLst/>
                  <a:uFillTx/>
                  <a:latin typeface="Cambria"/>
                </a:rPr>
                <a:t>1</a:t>
              </a:r>
              <a:endParaRPr lang="de-DE" sz="3000" b="0" u="none" strike="noStrike" dirty="0">
                <a:solidFill>
                  <a:srgbClr val="000000"/>
                </a:solidFill>
                <a:effectLst/>
                <a:uFillTx/>
                <a:latin typeface="Arial"/>
              </a:endParaRPr>
            </a:p>
          </p:txBody>
        </p:sp>
      </p:grpSp>
      <p:sp>
        <p:nvSpPr>
          <p:cNvPr id="31" name="TextBox 5">
            <a:extLst>
              <a:ext uri="{FF2B5EF4-FFF2-40B4-BE49-F238E27FC236}">
                <a16:creationId xmlns:a16="http://schemas.microsoft.com/office/drawing/2014/main" id="{5355067B-F9E0-1915-F1D1-C0B46FA0A591}"/>
              </a:ext>
            </a:extLst>
          </p:cNvPr>
          <p:cNvSpPr txBox="1"/>
          <p:nvPr/>
        </p:nvSpPr>
        <p:spPr>
          <a:xfrm>
            <a:off x="1994262" y="987674"/>
            <a:ext cx="10058400" cy="365760"/>
          </a:xfrm>
          <a:prstGeom prst="rect">
            <a:avLst/>
          </a:prstGeom>
          <a:noFill/>
        </p:spPr>
        <p:txBody>
          <a:bodyPr wrap="square" lIns="0" tIns="0" rIns="0" bIns="0" anchor="t">
            <a:spAutoFit/>
          </a:bodyPr>
          <a:lstStyle/>
          <a:p>
            <a:pPr algn="l"/>
            <a:r>
              <a:rPr sz="1400" b="1" i="0" dirty="0">
                <a:solidFill>
                  <a:srgbClr val="E0912F"/>
                </a:solidFill>
                <a:latin typeface="Calibri"/>
              </a:rPr>
              <a:t>CRISP-DM  ·  Business Understanding  ·  </a:t>
            </a:r>
            <a:r>
              <a:rPr sz="1400" b="1" i="0" dirty="0" err="1">
                <a:solidFill>
                  <a:srgbClr val="E0912F"/>
                </a:solidFill>
                <a:latin typeface="Calibri"/>
              </a:rPr>
              <a:t>Hintergrund</a:t>
            </a:r>
            <a:endParaRPr sz="1400" b="1" i="0" dirty="0">
              <a:solidFill>
                <a:srgbClr val="E0912F"/>
              </a:solidFill>
              <a:latin typeface="Calibri"/>
            </a:endParaRPr>
          </a:p>
        </p:txBody>
      </p:sp>
      <p:sp>
        <p:nvSpPr>
          <p:cNvPr id="33" name="TextBox 30">
            <a:extLst>
              <a:ext uri="{FF2B5EF4-FFF2-40B4-BE49-F238E27FC236}">
                <a16:creationId xmlns:a16="http://schemas.microsoft.com/office/drawing/2014/main" id="{9B26E7E7-2772-7C28-8572-673AD7317CD0}"/>
              </a:ext>
            </a:extLst>
          </p:cNvPr>
          <p:cNvSpPr txBox="1"/>
          <p:nvPr/>
        </p:nvSpPr>
        <p:spPr>
          <a:xfrm>
            <a:off x="729711" y="6638037"/>
            <a:ext cx="8229600" cy="182880"/>
          </a:xfrm>
          <a:prstGeom prst="rect">
            <a:avLst/>
          </a:prstGeom>
          <a:noFill/>
        </p:spPr>
        <p:txBody>
          <a:bodyPr wrap="square" lIns="0" tIns="0" rIns="0" bIns="0" anchor="t">
            <a:spAutoFit/>
          </a:bodyPr>
          <a:lstStyle/>
          <a:p>
            <a:pPr algn="l"/>
            <a:r>
              <a:rPr sz="900" b="0" i="0" dirty="0">
                <a:solidFill>
                  <a:srgbClr val="6C7278"/>
                </a:solidFill>
                <a:latin typeface="Calibri"/>
              </a:rPr>
              <a:t>PM2.5-Prognose Beijing  ·  Seasonal Naive, Prophet, Chronos-2 &amp; TFT  ·  CRISP-DM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752147"/>
            <a:ext cx="1051560" cy="461665"/>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3000" b="1" i="0" u="none" strike="noStrike" kern="1200" cap="none" spc="0" normalizeH="0" baseline="0" noProof="0" dirty="0">
                <a:ln>
                  <a:noFill/>
                </a:ln>
                <a:solidFill>
                  <a:srgbClr val="FFFFFF"/>
                </a:solidFill>
                <a:effectLst/>
                <a:uLnTx/>
                <a:uFillTx/>
                <a:latin typeface="Cambria"/>
                <a:ea typeface="+mn-ea"/>
                <a:cs typeface="+mn-cs"/>
              </a:rPr>
              <a:t>1</a:t>
            </a:r>
          </a:p>
        </p:txBody>
      </p:sp>
      <p:sp>
        <p:nvSpPr>
          <p:cNvPr id="5" name="TextBox 4"/>
          <p:cNvSpPr txBox="1"/>
          <p:nvPr/>
        </p:nvSpPr>
        <p:spPr>
          <a:xfrm>
            <a:off x="1691640" y="457200"/>
            <a:ext cx="10058400" cy="6858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a:ln>
                  <a:noFill/>
                </a:ln>
                <a:solidFill>
                  <a:srgbClr val="22272B"/>
                </a:solidFill>
                <a:effectLst/>
                <a:uLnTx/>
                <a:uFillTx/>
                <a:latin typeface="Cambria"/>
                <a:ea typeface="+mn-ea"/>
                <a:cs typeface="+mn-cs"/>
              </a:rPr>
              <a:t>Business Need &amp; Zielsetzung</a:t>
            </a:r>
          </a:p>
        </p:txBody>
      </p:sp>
      <p:sp>
        <p:nvSpPr>
          <p:cNvPr id="6" name="TextBox 5"/>
          <p:cNvSpPr txBox="1"/>
          <p:nvPr/>
        </p:nvSpPr>
        <p:spPr>
          <a:xfrm>
            <a:off x="1709928" y="1170432"/>
            <a:ext cx="10058400"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E0912F"/>
                </a:solidFill>
                <a:effectLst/>
                <a:uLnTx/>
                <a:uFillTx/>
                <a:latin typeface="Calibri"/>
                <a:ea typeface="+mn-ea"/>
                <a:cs typeface="+mn-cs"/>
              </a:rPr>
              <a:t>CRISP-DM  ·  Business Understanding  ·  Ziel · Nutzen · Stakeholder</a:t>
            </a:r>
          </a:p>
        </p:txBody>
      </p:sp>
      <p:sp>
        <p:nvSpPr>
          <p:cNvPr id="7" name="TextBox 6"/>
          <p:cNvSpPr txBox="1"/>
          <p:nvPr/>
        </p:nvSpPr>
        <p:spPr>
          <a:xfrm>
            <a:off x="502920" y="1847088"/>
            <a:ext cx="11155680" cy="54864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22272B"/>
                </a:solidFill>
                <a:effectLst/>
                <a:uLnTx/>
                <a:uFillTx/>
                <a:latin typeface="Calibri"/>
                <a:ea typeface="+mn-ea"/>
                <a:cs typeface="+mn-cs"/>
              </a:rPr>
              <a:t>Ziel:  </a:t>
            </a:r>
            <a:r>
              <a:rPr kumimoji="0" sz="1600" b="0" i="0" u="none" strike="noStrike" kern="1200" cap="none" spc="0" normalizeH="0" baseline="0" noProof="0" dirty="0">
                <a:ln>
                  <a:noFill/>
                </a:ln>
                <a:solidFill>
                  <a:srgbClr val="22272B"/>
                </a:solidFill>
                <a:effectLst/>
                <a:uLnTx/>
                <a:uFillTx/>
                <a:latin typeface="Calibri"/>
                <a:ea typeface="+mn-ea"/>
                <a:cs typeface="+mn-cs"/>
              </a:rPr>
              <a:t>die </a:t>
            </a:r>
            <a:r>
              <a:rPr kumimoji="0" sz="1600" b="0" i="0" u="none" strike="noStrike" kern="1200" cap="none" spc="0" normalizeH="0" baseline="0" noProof="0" dirty="0" err="1">
                <a:ln>
                  <a:noFill/>
                </a:ln>
                <a:solidFill>
                  <a:srgbClr val="22272B"/>
                </a:solidFill>
                <a:effectLst/>
                <a:uLnTx/>
                <a:uFillTx/>
                <a:latin typeface="Calibri"/>
                <a:ea typeface="+mn-ea"/>
                <a:cs typeface="+mn-cs"/>
              </a:rPr>
              <a:t>stündliche</a:t>
            </a:r>
            <a:r>
              <a:rPr kumimoji="0" sz="1600" b="0" i="0" u="none" strike="noStrike" kern="1200" cap="none" spc="0" normalizeH="0" baseline="0" noProof="0" dirty="0">
                <a:ln>
                  <a:noFill/>
                </a:ln>
                <a:solidFill>
                  <a:srgbClr val="22272B"/>
                </a:solidFill>
                <a:effectLst/>
                <a:uLnTx/>
                <a:uFillTx/>
                <a:latin typeface="Calibri"/>
                <a:ea typeface="+mn-ea"/>
                <a:cs typeface="+mn-cs"/>
              </a:rPr>
              <a:t> PM2.5-Konzentration an </a:t>
            </a:r>
            <a:r>
              <a:rPr kumimoji="0" sz="1600" b="0" i="0" u="none" strike="noStrike" kern="1200" cap="none" spc="0" normalizeH="0" baseline="0" noProof="0" dirty="0" err="1">
                <a:ln>
                  <a:noFill/>
                </a:ln>
                <a:solidFill>
                  <a:srgbClr val="22272B"/>
                </a:solidFill>
                <a:effectLst/>
                <a:uLnTx/>
                <a:uFillTx/>
                <a:latin typeface="Calibri"/>
                <a:ea typeface="+mn-ea"/>
                <a:cs typeface="+mn-cs"/>
              </a:rPr>
              <a:t>Beijings</a:t>
            </a:r>
            <a:r>
              <a:rPr kumimoji="0" sz="1600" b="0" i="0" u="none" strike="noStrike" kern="1200" cap="none" spc="0" normalizeH="0" baseline="0" noProof="0" dirty="0">
                <a:ln>
                  <a:noFill/>
                </a:ln>
                <a:solidFill>
                  <a:srgbClr val="22272B"/>
                </a:solidFill>
                <a:effectLst/>
                <a:uLnTx/>
                <a:uFillTx/>
                <a:latin typeface="Calibri"/>
                <a:ea typeface="+mn-ea"/>
                <a:cs typeface="+mn-cs"/>
              </a:rPr>
              <a:t> </a:t>
            </a:r>
            <a:r>
              <a:rPr kumimoji="0" sz="1600" b="0" i="0" u="none" strike="noStrike" kern="1200" cap="none" spc="0" normalizeH="0" baseline="0" noProof="0" dirty="0" err="1">
                <a:ln>
                  <a:noFill/>
                </a:ln>
                <a:solidFill>
                  <a:srgbClr val="22272B"/>
                </a:solidFill>
                <a:effectLst/>
                <a:uLnTx/>
                <a:uFillTx/>
                <a:latin typeface="Calibri"/>
                <a:ea typeface="+mn-ea"/>
                <a:cs typeface="+mn-cs"/>
              </a:rPr>
              <a:t>Messstationen</a:t>
            </a:r>
            <a:r>
              <a:rPr kumimoji="0" sz="1600" b="0" i="0" u="none" strike="noStrike" kern="1200" cap="none" spc="0" normalizeH="0" baseline="0" noProof="0" dirty="0">
                <a:ln>
                  <a:noFill/>
                </a:ln>
                <a:solidFill>
                  <a:srgbClr val="22272B"/>
                </a:solidFill>
                <a:effectLst/>
                <a:uLnTx/>
                <a:uFillTx/>
                <a:latin typeface="Calibri"/>
                <a:ea typeface="+mn-ea"/>
                <a:cs typeface="+mn-cs"/>
              </a:rPr>
              <a:t> </a:t>
            </a:r>
            <a:r>
              <a:rPr kumimoji="0" sz="1600" b="0" i="0" u="none" strike="noStrike" kern="1200" cap="none" spc="0" normalizeH="0" baseline="0" noProof="0" dirty="0" err="1">
                <a:ln>
                  <a:noFill/>
                </a:ln>
                <a:solidFill>
                  <a:srgbClr val="22272B"/>
                </a:solidFill>
                <a:effectLst/>
                <a:uLnTx/>
                <a:uFillTx/>
                <a:latin typeface="Calibri"/>
                <a:ea typeface="+mn-ea"/>
                <a:cs typeface="+mn-cs"/>
              </a:rPr>
              <a:t>zuverlässig</a:t>
            </a:r>
            <a:r>
              <a:rPr kumimoji="0" sz="1600" b="0" i="0" u="none" strike="noStrike" kern="1200" cap="none" spc="0" normalizeH="0" baseline="0" noProof="0" dirty="0">
                <a:ln>
                  <a:noFill/>
                </a:ln>
                <a:solidFill>
                  <a:srgbClr val="22272B"/>
                </a:solidFill>
                <a:effectLst/>
                <a:uLnTx/>
                <a:uFillTx/>
                <a:latin typeface="Calibri"/>
                <a:ea typeface="+mn-ea"/>
                <a:cs typeface="+mn-cs"/>
              </a:rPr>
              <a:t> </a:t>
            </a:r>
            <a:r>
              <a:rPr kumimoji="0" sz="1600" b="0" i="0" u="none" strike="noStrike" kern="1200" cap="none" spc="0" normalizeH="0" baseline="0" noProof="0" dirty="0" err="1">
                <a:ln>
                  <a:noFill/>
                </a:ln>
                <a:solidFill>
                  <a:srgbClr val="22272B"/>
                </a:solidFill>
                <a:effectLst/>
                <a:uLnTx/>
                <a:uFillTx/>
                <a:latin typeface="Calibri"/>
                <a:ea typeface="+mn-ea"/>
                <a:cs typeface="+mn-cs"/>
              </a:rPr>
              <a:t>vorhersagen</a:t>
            </a:r>
            <a:r>
              <a:rPr kumimoji="0" sz="1600" b="0" i="0" u="none" strike="noStrike" kern="1200" cap="none" spc="0" normalizeH="0" baseline="0" noProof="0" dirty="0">
                <a:ln>
                  <a:noFill/>
                </a:ln>
                <a:solidFill>
                  <a:srgbClr val="22272B"/>
                </a:solidFill>
                <a:effectLst/>
                <a:uLnTx/>
                <a:uFillTx/>
                <a:latin typeface="Calibri"/>
                <a:ea typeface="+mn-ea"/>
                <a:cs typeface="+mn-cs"/>
              </a:rPr>
              <a:t> – bevor die </a:t>
            </a:r>
            <a:r>
              <a:rPr kumimoji="0" sz="1600" b="0" i="0" u="none" strike="noStrike" kern="1200" cap="none" spc="0" normalizeH="0" baseline="0" noProof="0" dirty="0" err="1">
                <a:ln>
                  <a:noFill/>
                </a:ln>
                <a:solidFill>
                  <a:srgbClr val="22272B"/>
                </a:solidFill>
                <a:effectLst/>
                <a:uLnTx/>
                <a:uFillTx/>
                <a:latin typeface="Calibri"/>
                <a:ea typeface="+mn-ea"/>
                <a:cs typeface="+mn-cs"/>
              </a:rPr>
              <a:t>Belastung</a:t>
            </a:r>
            <a:r>
              <a:rPr kumimoji="0" sz="1600" b="0" i="0" u="none" strike="noStrike" kern="1200" cap="none" spc="0" normalizeH="0" baseline="0" noProof="0" dirty="0">
                <a:ln>
                  <a:noFill/>
                </a:ln>
                <a:solidFill>
                  <a:srgbClr val="22272B"/>
                </a:solidFill>
                <a:effectLst/>
                <a:uLnTx/>
                <a:uFillTx/>
                <a:latin typeface="Calibri"/>
                <a:ea typeface="+mn-ea"/>
                <a:cs typeface="+mn-cs"/>
              </a:rPr>
              <a:t> </a:t>
            </a:r>
            <a:r>
              <a:rPr kumimoji="0" sz="1600" b="0" i="0" u="none" strike="noStrike" kern="1200" cap="none" spc="0" normalizeH="0" baseline="0" noProof="0" dirty="0" err="1">
                <a:ln>
                  <a:noFill/>
                </a:ln>
                <a:solidFill>
                  <a:srgbClr val="22272B"/>
                </a:solidFill>
                <a:effectLst/>
                <a:uLnTx/>
                <a:uFillTx/>
                <a:latin typeface="Calibri"/>
                <a:ea typeface="+mn-ea"/>
                <a:cs typeface="+mn-cs"/>
              </a:rPr>
              <a:t>eintritt</a:t>
            </a:r>
            <a:r>
              <a:rPr kumimoji="0" sz="1600" b="0" i="0" u="none" strike="noStrike" kern="1200" cap="none" spc="0" normalizeH="0" baseline="0" noProof="0" dirty="0">
                <a:ln>
                  <a:noFill/>
                </a:ln>
                <a:solidFill>
                  <a:srgbClr val="22272B"/>
                </a:solidFill>
                <a:effectLst/>
                <a:uLnTx/>
                <a:uFillTx/>
                <a:latin typeface="Calibri"/>
                <a:ea typeface="+mn-ea"/>
                <a:cs typeface="+mn-cs"/>
              </a:rPr>
              <a:t>.</a:t>
            </a:r>
          </a:p>
        </p:txBody>
      </p:sp>
      <p:sp>
        <p:nvSpPr>
          <p:cNvPr id="8" name="Oval 7"/>
          <p:cNvSpPr/>
          <p:nvPr/>
        </p:nvSpPr>
        <p:spPr>
          <a:xfrm>
            <a:off x="502920" y="2743200"/>
            <a:ext cx="566928" cy="566928"/>
          </a:xfrm>
          <a:prstGeom prst="ellipse">
            <a:avLst/>
          </a:prstGeom>
          <a:solidFill>
            <a:srgbClr val="E09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9" name="TextBox 8"/>
          <p:cNvSpPr txBox="1"/>
          <p:nvPr/>
        </p:nvSpPr>
        <p:spPr>
          <a:xfrm>
            <a:off x="502920" y="2743200"/>
            <a:ext cx="566928" cy="56692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Cambria"/>
                <a:ea typeface="+mn-ea"/>
                <a:cs typeface="+mn-cs"/>
              </a:rPr>
              <a:t>1</a:t>
            </a:r>
          </a:p>
        </p:txBody>
      </p:sp>
      <p:sp>
        <p:nvSpPr>
          <p:cNvPr id="10" name="TextBox 9"/>
          <p:cNvSpPr txBox="1"/>
          <p:nvPr/>
        </p:nvSpPr>
        <p:spPr>
          <a:xfrm>
            <a:off x="1280160" y="2697480"/>
            <a:ext cx="6309360"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22272B"/>
                </a:solidFill>
                <a:effectLst/>
                <a:uLnTx/>
                <a:uFillTx/>
                <a:latin typeface="Cambria"/>
                <a:ea typeface="+mn-ea"/>
                <a:cs typeface="+mn-cs"/>
              </a:rPr>
              <a:t>Fragestellung</a:t>
            </a:r>
          </a:p>
        </p:txBody>
      </p:sp>
      <p:sp>
        <p:nvSpPr>
          <p:cNvPr id="11" name="TextBox 10"/>
          <p:cNvSpPr txBox="1"/>
          <p:nvPr/>
        </p:nvSpPr>
        <p:spPr>
          <a:xfrm>
            <a:off x="1280160" y="3081528"/>
            <a:ext cx="6309360" cy="6400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6C7278"/>
                </a:solidFill>
                <a:effectLst/>
                <a:uLnTx/>
                <a:uFillTx/>
                <a:latin typeface="Calibri"/>
                <a:ea typeface="+mn-ea"/>
                <a:cs typeface="+mn-cs"/>
              </a:rPr>
              <a:t>Wie hoch wird PM2.5 in den nächsten Stunden je Messstation? Eine kurzfristige, stationsgenaue Prognose.</a:t>
            </a:r>
          </a:p>
        </p:txBody>
      </p:sp>
      <p:sp>
        <p:nvSpPr>
          <p:cNvPr id="12" name="Oval 11"/>
          <p:cNvSpPr/>
          <p:nvPr/>
        </p:nvSpPr>
        <p:spPr>
          <a:xfrm>
            <a:off x="502920" y="3794759"/>
            <a:ext cx="566928" cy="566928"/>
          </a:xfrm>
          <a:prstGeom prst="ellipse">
            <a:avLst/>
          </a:prstGeom>
          <a:solidFill>
            <a:srgbClr val="E09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13" name="TextBox 12"/>
          <p:cNvSpPr txBox="1"/>
          <p:nvPr/>
        </p:nvSpPr>
        <p:spPr>
          <a:xfrm>
            <a:off x="502920" y="3794759"/>
            <a:ext cx="566928" cy="56692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Cambria"/>
                <a:ea typeface="+mn-ea"/>
                <a:cs typeface="+mn-cs"/>
              </a:rPr>
              <a:t>2</a:t>
            </a:r>
          </a:p>
        </p:txBody>
      </p:sp>
      <p:sp>
        <p:nvSpPr>
          <p:cNvPr id="14" name="TextBox 13"/>
          <p:cNvSpPr txBox="1"/>
          <p:nvPr/>
        </p:nvSpPr>
        <p:spPr>
          <a:xfrm>
            <a:off x="1280160" y="3749039"/>
            <a:ext cx="6309360"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22272B"/>
                </a:solidFill>
                <a:effectLst/>
                <a:uLnTx/>
                <a:uFillTx/>
                <a:latin typeface="Cambria"/>
                <a:ea typeface="+mn-ea"/>
                <a:cs typeface="+mn-cs"/>
              </a:rPr>
              <a:t>Nutzen</a:t>
            </a:r>
          </a:p>
        </p:txBody>
      </p:sp>
      <p:sp>
        <p:nvSpPr>
          <p:cNvPr id="15" name="TextBox 14"/>
          <p:cNvSpPr txBox="1"/>
          <p:nvPr/>
        </p:nvSpPr>
        <p:spPr>
          <a:xfrm>
            <a:off x="1280160" y="4133087"/>
            <a:ext cx="6309360" cy="6400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6C7278"/>
                </a:solidFill>
                <a:effectLst/>
                <a:uLnTx/>
                <a:uFillTx/>
                <a:latin typeface="Calibri"/>
                <a:ea typeface="+mn-ea"/>
                <a:cs typeface="+mn-cs"/>
              </a:rPr>
              <a:t>Frühwarnung für Risikogruppen, Grundlage für Verkehrs- und Industriemaßnahmen, planbare Gesundheitsvorsorge.</a:t>
            </a:r>
          </a:p>
        </p:txBody>
      </p:sp>
      <p:sp>
        <p:nvSpPr>
          <p:cNvPr id="16" name="Oval 15"/>
          <p:cNvSpPr/>
          <p:nvPr/>
        </p:nvSpPr>
        <p:spPr>
          <a:xfrm>
            <a:off x="502920" y="4846320"/>
            <a:ext cx="566928" cy="566928"/>
          </a:xfrm>
          <a:prstGeom prst="ellipse">
            <a:avLst/>
          </a:prstGeom>
          <a:solidFill>
            <a:srgbClr val="E09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17" name="TextBox 16"/>
          <p:cNvSpPr txBox="1"/>
          <p:nvPr/>
        </p:nvSpPr>
        <p:spPr>
          <a:xfrm>
            <a:off x="502920" y="4846320"/>
            <a:ext cx="566928" cy="56692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Cambria"/>
                <a:ea typeface="+mn-ea"/>
                <a:cs typeface="+mn-cs"/>
              </a:rPr>
              <a:t>3</a:t>
            </a:r>
          </a:p>
        </p:txBody>
      </p:sp>
      <p:sp>
        <p:nvSpPr>
          <p:cNvPr id="18" name="TextBox 17"/>
          <p:cNvSpPr txBox="1"/>
          <p:nvPr/>
        </p:nvSpPr>
        <p:spPr>
          <a:xfrm>
            <a:off x="1280160" y="4800600"/>
            <a:ext cx="6309360"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22272B"/>
                </a:solidFill>
                <a:effectLst/>
                <a:uLnTx/>
                <a:uFillTx/>
                <a:latin typeface="Cambria"/>
                <a:ea typeface="+mn-ea"/>
                <a:cs typeface="+mn-cs"/>
              </a:rPr>
              <a:t>Stakeholder</a:t>
            </a:r>
          </a:p>
        </p:txBody>
      </p:sp>
      <p:sp>
        <p:nvSpPr>
          <p:cNvPr id="19" name="TextBox 18"/>
          <p:cNvSpPr txBox="1"/>
          <p:nvPr/>
        </p:nvSpPr>
        <p:spPr>
          <a:xfrm>
            <a:off x="1280160" y="5184648"/>
            <a:ext cx="6309360" cy="40011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dirty="0">
                <a:ln>
                  <a:noFill/>
                </a:ln>
                <a:solidFill>
                  <a:srgbClr val="6C7278"/>
                </a:solidFill>
                <a:effectLst/>
                <a:uLnTx/>
                <a:uFillTx/>
                <a:latin typeface="Calibri"/>
                <a:ea typeface="+mn-ea"/>
                <a:cs typeface="+mn-cs"/>
              </a:rPr>
              <a:t>Bürger</a:t>
            </a:r>
            <a:r>
              <a:rPr kumimoji="0" lang="de-DE" sz="1300" b="0" i="0" u="none" strike="noStrike" kern="1200" cap="none" spc="0" normalizeH="0" baseline="0" noProof="0" dirty="0">
                <a:ln>
                  <a:noFill/>
                </a:ln>
                <a:solidFill>
                  <a:srgbClr val="6C7278"/>
                </a:solidFill>
                <a:effectLst/>
                <a:uLnTx/>
                <a:uFillTx/>
                <a:latin typeface="Calibri"/>
                <a:ea typeface="+mn-ea"/>
                <a:cs typeface="+mn-cs"/>
              </a:rPr>
              <a:t>*</a:t>
            </a:r>
            <a:r>
              <a:rPr kumimoji="0" sz="1300" b="0" i="0" u="none" strike="noStrike" kern="1200" cap="none" spc="0" normalizeH="0" baseline="0" noProof="0" dirty="0" err="1">
                <a:ln>
                  <a:noFill/>
                </a:ln>
                <a:solidFill>
                  <a:srgbClr val="6C7278"/>
                </a:solidFill>
                <a:effectLst/>
                <a:uLnTx/>
                <a:uFillTx/>
                <a:latin typeface="Calibri"/>
                <a:ea typeface="+mn-ea"/>
                <a:cs typeface="+mn-cs"/>
              </a:rPr>
              <a:t>innen</a:t>
            </a:r>
            <a:r>
              <a:rPr kumimoji="0" sz="1300" b="0" i="0" u="none" strike="noStrike" kern="1200" cap="none" spc="0" normalizeH="0" baseline="0" noProof="0" dirty="0">
                <a:ln>
                  <a:noFill/>
                </a:ln>
                <a:solidFill>
                  <a:srgbClr val="6C7278"/>
                </a:solidFill>
                <a:effectLst/>
                <a:uLnTx/>
                <a:uFillTx/>
                <a:latin typeface="Calibri"/>
                <a:ea typeface="+mn-ea"/>
                <a:cs typeface="+mn-cs"/>
              </a:rPr>
              <a:t> &amp; </a:t>
            </a:r>
            <a:r>
              <a:rPr kumimoji="0" sz="1300" b="0" i="0" u="none" strike="noStrike" kern="1200" cap="none" spc="0" normalizeH="0" baseline="0" noProof="0" dirty="0" err="1">
                <a:ln>
                  <a:noFill/>
                </a:ln>
                <a:solidFill>
                  <a:srgbClr val="6C7278"/>
                </a:solidFill>
                <a:effectLst/>
                <a:uLnTx/>
                <a:uFillTx/>
                <a:latin typeface="Calibri"/>
                <a:ea typeface="+mn-ea"/>
                <a:cs typeface="+mn-cs"/>
              </a:rPr>
              <a:t>Risikogruppen</a:t>
            </a:r>
            <a:r>
              <a:rPr kumimoji="0" sz="1300" b="0" i="0" u="none" strike="noStrike" kern="1200" cap="none" spc="0" normalizeH="0" baseline="0" noProof="0" dirty="0">
                <a:ln>
                  <a:noFill/>
                </a:ln>
                <a:solidFill>
                  <a:srgbClr val="6C7278"/>
                </a:solidFill>
                <a:effectLst/>
                <a:uLnTx/>
                <a:uFillTx/>
                <a:latin typeface="Calibri"/>
                <a:ea typeface="+mn-ea"/>
                <a:cs typeface="+mn-cs"/>
              </a:rPr>
              <a:t> · Umwelt- und </a:t>
            </a:r>
            <a:r>
              <a:rPr kumimoji="0" sz="1300" b="0" i="0" u="none" strike="noStrike" kern="1200" cap="none" spc="0" normalizeH="0" baseline="0" noProof="0" dirty="0" err="1">
                <a:ln>
                  <a:noFill/>
                </a:ln>
                <a:solidFill>
                  <a:srgbClr val="6C7278"/>
                </a:solidFill>
                <a:effectLst/>
                <a:uLnTx/>
                <a:uFillTx/>
                <a:latin typeface="Calibri"/>
                <a:ea typeface="+mn-ea"/>
                <a:cs typeface="+mn-cs"/>
              </a:rPr>
              <a:t>Stadtbehörden</a:t>
            </a:r>
            <a:r>
              <a:rPr kumimoji="0" sz="1300" b="0" i="0" u="none" strike="noStrike" kern="1200" cap="none" spc="0" normalizeH="0" baseline="0" noProof="0" dirty="0">
                <a:ln>
                  <a:noFill/>
                </a:ln>
                <a:solidFill>
                  <a:srgbClr val="6C7278"/>
                </a:solidFill>
                <a:effectLst/>
                <a:uLnTx/>
                <a:uFillTx/>
                <a:latin typeface="Calibri"/>
                <a:ea typeface="+mn-ea"/>
                <a:cs typeface="+mn-cs"/>
              </a:rPr>
              <a:t> · </a:t>
            </a:r>
            <a:r>
              <a:rPr kumimoji="0" sz="1300" b="0" i="0" u="none" strike="noStrike" kern="1200" cap="none" spc="0" normalizeH="0" baseline="0" noProof="0" dirty="0" err="1">
                <a:ln>
                  <a:noFill/>
                </a:ln>
                <a:solidFill>
                  <a:srgbClr val="6C7278"/>
                </a:solidFill>
                <a:effectLst/>
                <a:uLnTx/>
                <a:uFillTx/>
                <a:latin typeface="Calibri"/>
                <a:ea typeface="+mn-ea"/>
                <a:cs typeface="+mn-cs"/>
              </a:rPr>
              <a:t>Gesundheitswesen</a:t>
            </a:r>
            <a:r>
              <a:rPr kumimoji="0" sz="1300" b="0" i="0" u="none" strike="noStrike" kern="1200" cap="none" spc="0" normalizeH="0" baseline="0" noProof="0" dirty="0">
                <a:ln>
                  <a:noFill/>
                </a:ln>
                <a:solidFill>
                  <a:srgbClr val="6C7278"/>
                </a:solidFill>
                <a:effectLst/>
                <a:uLnTx/>
                <a:uFillTx/>
                <a:latin typeface="Calibri"/>
                <a:ea typeface="+mn-ea"/>
                <a:cs typeface="+mn-cs"/>
              </a:rPr>
              <a:t> &amp; Forschung.</a:t>
            </a:r>
          </a:p>
        </p:txBody>
      </p:sp>
      <p:sp>
        <p:nvSpPr>
          <p:cNvPr id="20" name="Rounded Rectangle 19"/>
          <p:cNvSpPr/>
          <p:nvPr/>
        </p:nvSpPr>
        <p:spPr>
          <a:xfrm>
            <a:off x="7818120" y="2697480"/>
            <a:ext cx="3941063" cy="3246120"/>
          </a:xfrm>
          <a:prstGeom prst="roundRect">
            <a:avLst>
              <a:gd name="adj" fmla="val 5000"/>
            </a:avLst>
          </a:prstGeom>
          <a:solidFill>
            <a:srgbClr val="F3E4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21" name="TextBox 20"/>
          <p:cNvSpPr txBox="1"/>
          <p:nvPr/>
        </p:nvSpPr>
        <p:spPr>
          <a:xfrm>
            <a:off x="8138160" y="2971800"/>
            <a:ext cx="3300983"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E0912F"/>
                </a:solidFill>
                <a:effectLst/>
                <a:uLnTx/>
                <a:uFillTx/>
                <a:latin typeface="Calibri"/>
                <a:ea typeface="+mn-ea"/>
                <a:cs typeface="+mn-cs"/>
              </a:rPr>
              <a:t>ERFOLGSKRITERIEN</a:t>
            </a:r>
          </a:p>
        </p:txBody>
      </p:sp>
      <p:sp>
        <p:nvSpPr>
          <p:cNvPr id="22" name="Oval 21"/>
          <p:cNvSpPr/>
          <p:nvPr/>
        </p:nvSpPr>
        <p:spPr>
          <a:xfrm>
            <a:off x="8138160" y="3584448"/>
            <a:ext cx="128016" cy="128016"/>
          </a:xfrm>
          <a:prstGeom prst="ellipse">
            <a:avLst/>
          </a:prstGeom>
          <a:solidFill>
            <a:srgbClr val="E09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23" name="TextBox 22"/>
          <p:cNvSpPr txBox="1"/>
          <p:nvPr/>
        </p:nvSpPr>
        <p:spPr>
          <a:xfrm>
            <a:off x="8385048" y="3474720"/>
            <a:ext cx="3072383" cy="103874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dirty="0" err="1">
                <a:ln>
                  <a:noFill/>
                </a:ln>
                <a:solidFill>
                  <a:srgbClr val="22272B"/>
                </a:solidFill>
                <a:effectLst/>
                <a:uLnTx/>
                <a:uFillTx/>
                <a:latin typeface="Calibri"/>
                <a:ea typeface="+mn-ea"/>
                <a:cs typeface="+mn-cs"/>
              </a:rPr>
              <a:t>Geringere</a:t>
            </a:r>
            <a:r>
              <a:rPr kumimoji="0" sz="1350" b="0" i="0" u="none" strike="noStrike" kern="1200" cap="none" spc="0" normalizeH="0" baseline="0" noProof="0" dirty="0">
                <a:ln>
                  <a:noFill/>
                </a:ln>
                <a:solidFill>
                  <a:srgbClr val="22272B"/>
                </a:solidFill>
                <a:effectLst/>
                <a:uLnTx/>
                <a:uFillTx/>
                <a:latin typeface="Calibri"/>
                <a:ea typeface="+mn-ea"/>
                <a:cs typeface="+mn-cs"/>
              </a:rPr>
              <a:t> </a:t>
            </a:r>
            <a:r>
              <a:rPr kumimoji="0" lang="de-DE" sz="1350" b="0" i="0" u="none" strike="noStrike" kern="1200" cap="none" spc="0" normalizeH="0" baseline="0" noProof="0" dirty="0">
                <a:ln>
                  <a:noFill/>
                </a:ln>
                <a:solidFill>
                  <a:srgbClr val="22272B"/>
                </a:solidFill>
                <a:effectLst/>
                <a:uLnTx/>
                <a:uFillTx/>
                <a:latin typeface="Calibri"/>
                <a:ea typeface="+mn-ea"/>
                <a:cs typeface="+mn-cs"/>
              </a:rPr>
              <a:t>Fehler und bessere Vorhersagegüte </a:t>
            </a:r>
            <a:r>
              <a:rPr kumimoji="0" sz="1350" b="0" i="0" u="none" strike="noStrike" kern="1200" cap="none" spc="0" normalizeH="0" baseline="0" noProof="0" dirty="0" err="1">
                <a:ln>
                  <a:noFill/>
                </a:ln>
                <a:solidFill>
                  <a:srgbClr val="22272B"/>
                </a:solidFill>
                <a:effectLst/>
                <a:uLnTx/>
                <a:uFillTx/>
                <a:latin typeface="Calibri"/>
                <a:ea typeface="+mn-ea"/>
                <a:cs typeface="+mn-cs"/>
              </a:rPr>
              <a:t>als</a:t>
            </a:r>
            <a:r>
              <a:rPr kumimoji="0" sz="1350" b="0" i="0" u="none" strike="noStrike" kern="1200" cap="none" spc="0" normalizeH="0" baseline="0" noProof="0" dirty="0">
                <a:ln>
                  <a:noFill/>
                </a:ln>
                <a:solidFill>
                  <a:srgbClr val="22272B"/>
                </a:solidFill>
                <a:effectLst/>
                <a:uLnTx/>
                <a:uFillTx/>
                <a:latin typeface="Calibri"/>
                <a:ea typeface="+mn-ea"/>
                <a:cs typeface="+mn-cs"/>
              </a:rPr>
              <a:t> die Seasonal-Naive-Baseline</a:t>
            </a:r>
            <a:endParaRPr kumimoji="0" lang="de-DE" sz="1350" b="0" i="0" u="none" strike="noStrike" kern="1200" cap="none" spc="0" normalizeH="0" baseline="0" noProof="0" dirty="0">
              <a:ln>
                <a:noFill/>
              </a:ln>
              <a:solidFill>
                <a:srgbClr val="22272B"/>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1350" dirty="0">
              <a:solidFill>
                <a:srgbClr val="22272B"/>
              </a:solidFill>
              <a:latin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dirty="0">
              <a:ln>
                <a:noFill/>
              </a:ln>
              <a:solidFill>
                <a:srgbClr val="22272B"/>
              </a:solidFill>
              <a:effectLst/>
              <a:uLnTx/>
              <a:uFillTx/>
              <a:latin typeface="Calibri"/>
              <a:ea typeface="+mn-ea"/>
              <a:cs typeface="+mn-cs"/>
            </a:endParaRPr>
          </a:p>
        </p:txBody>
      </p:sp>
      <p:sp>
        <p:nvSpPr>
          <p:cNvPr id="24" name="Oval 23"/>
          <p:cNvSpPr/>
          <p:nvPr/>
        </p:nvSpPr>
        <p:spPr>
          <a:xfrm>
            <a:off x="8138160" y="4346182"/>
            <a:ext cx="128016" cy="128016"/>
          </a:xfrm>
          <a:prstGeom prst="ellipse">
            <a:avLst/>
          </a:prstGeom>
          <a:solidFill>
            <a:srgbClr val="E09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25" name="TextBox 24"/>
          <p:cNvSpPr txBox="1"/>
          <p:nvPr/>
        </p:nvSpPr>
        <p:spPr>
          <a:xfrm>
            <a:off x="8385048" y="4311991"/>
            <a:ext cx="3072383" cy="54864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dirty="0">
                <a:ln>
                  <a:noFill/>
                </a:ln>
                <a:solidFill>
                  <a:srgbClr val="22272B"/>
                </a:solidFill>
                <a:effectLst/>
                <a:uLnTx/>
                <a:uFillTx/>
                <a:latin typeface="Calibri"/>
                <a:ea typeface="+mn-ea"/>
                <a:cs typeface="+mn-cs"/>
              </a:rPr>
              <a:t>Prognose </a:t>
            </a:r>
            <a:r>
              <a:rPr kumimoji="0" sz="1350" b="0" i="0" u="none" strike="noStrike" kern="1200" cap="none" spc="0" normalizeH="0" baseline="0" noProof="0" dirty="0" err="1">
                <a:ln>
                  <a:noFill/>
                </a:ln>
                <a:solidFill>
                  <a:srgbClr val="22272B"/>
                </a:solidFill>
                <a:effectLst/>
                <a:uLnTx/>
                <a:uFillTx/>
                <a:latin typeface="Calibri"/>
                <a:ea typeface="+mn-ea"/>
                <a:cs typeface="+mn-cs"/>
              </a:rPr>
              <a:t>interpretierbar</a:t>
            </a:r>
            <a:r>
              <a:rPr kumimoji="0" sz="1350" b="0" i="0" u="none" strike="noStrike" kern="1200" cap="none" spc="0" normalizeH="0" baseline="0" noProof="0" dirty="0">
                <a:ln>
                  <a:noFill/>
                </a:ln>
                <a:solidFill>
                  <a:srgbClr val="22272B"/>
                </a:solidFill>
                <a:effectLst/>
                <a:uLnTx/>
                <a:uFillTx/>
                <a:latin typeface="Calibri"/>
                <a:ea typeface="+mn-ea"/>
                <a:cs typeface="+mn-cs"/>
              </a:rPr>
              <a:t> &amp; </a:t>
            </a:r>
            <a:r>
              <a:rPr kumimoji="0" sz="1350" b="0" i="0" u="none" strike="noStrike" kern="1200" cap="none" spc="0" normalizeH="0" baseline="0" noProof="0" dirty="0" err="1">
                <a:ln>
                  <a:noFill/>
                </a:ln>
                <a:solidFill>
                  <a:srgbClr val="22272B"/>
                </a:solidFill>
                <a:effectLst/>
                <a:uLnTx/>
                <a:uFillTx/>
                <a:latin typeface="Calibri"/>
                <a:ea typeface="+mn-ea"/>
                <a:cs typeface="+mn-cs"/>
              </a:rPr>
              <a:t>nachvollziehbar</a:t>
            </a:r>
            <a:endParaRPr kumimoji="0" sz="1350" b="0" i="0" u="none" strike="noStrike" kern="1200" cap="none" spc="0" normalizeH="0" baseline="0" noProof="0" dirty="0">
              <a:ln>
                <a:noFill/>
              </a:ln>
              <a:solidFill>
                <a:srgbClr val="22272B"/>
              </a:solidFill>
              <a:effectLst/>
              <a:uLnTx/>
              <a:uFillTx/>
              <a:latin typeface="Calibri"/>
              <a:ea typeface="+mn-ea"/>
              <a:cs typeface="+mn-cs"/>
            </a:endParaRPr>
          </a:p>
        </p:txBody>
      </p:sp>
      <p:sp>
        <p:nvSpPr>
          <p:cNvPr id="26" name="Oval 25"/>
          <p:cNvSpPr/>
          <p:nvPr/>
        </p:nvSpPr>
        <p:spPr>
          <a:xfrm>
            <a:off x="8138160" y="4901184"/>
            <a:ext cx="128016" cy="128016"/>
          </a:xfrm>
          <a:prstGeom prst="ellipse">
            <a:avLst/>
          </a:prstGeom>
          <a:solidFill>
            <a:srgbClr val="E09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27" name="TextBox 26"/>
          <p:cNvSpPr txBox="1"/>
          <p:nvPr/>
        </p:nvSpPr>
        <p:spPr>
          <a:xfrm>
            <a:off x="8385048" y="4791456"/>
            <a:ext cx="3072383" cy="54864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22272B"/>
                </a:solidFill>
                <a:effectLst/>
                <a:uLnTx/>
                <a:uFillTx/>
                <a:latin typeface="Calibri"/>
                <a:ea typeface="+mn-ea"/>
                <a:cs typeface="+mn-cs"/>
              </a:rPr>
              <a:t>Reproduzierbar über Notebook / Skript</a:t>
            </a:r>
          </a:p>
        </p:txBody>
      </p:sp>
      <p:sp>
        <p:nvSpPr>
          <p:cNvPr id="28" name="Rectangle 27"/>
          <p:cNvSpPr/>
          <p:nvPr/>
        </p:nvSpPr>
        <p:spPr>
          <a:xfrm>
            <a:off x="8138160" y="5468112"/>
            <a:ext cx="3300983" cy="5486"/>
          </a:xfrm>
          <a:prstGeom prst="rect">
            <a:avLst/>
          </a:prstGeom>
          <a:solidFill>
            <a:srgbClr val="D8C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30" name="TextBox 29"/>
          <p:cNvSpPr txBox="1"/>
          <p:nvPr/>
        </p:nvSpPr>
        <p:spPr>
          <a:xfrm>
            <a:off x="457200" y="6419088"/>
            <a:ext cx="822960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dirty="0">
                <a:ln>
                  <a:noFill/>
                </a:ln>
                <a:solidFill>
                  <a:srgbClr val="6C7278"/>
                </a:solidFill>
                <a:effectLst/>
                <a:uLnTx/>
                <a:uFillTx/>
                <a:latin typeface="Calibri"/>
                <a:ea typeface="+mn-ea"/>
                <a:cs typeface="+mn-cs"/>
              </a:rPr>
              <a:t>PM2.5-Prognose Beijing  ·  Seasonal Naive, Prophet, Chronos-2 &amp; TFT  ·  CRISP-DM</a:t>
            </a:r>
          </a:p>
        </p:txBody>
      </p:sp>
      <p:sp>
        <p:nvSpPr>
          <p:cNvPr id="38" name="Oval 34">
            <a:extLst>
              <a:ext uri="{FF2B5EF4-FFF2-40B4-BE49-F238E27FC236}">
                <a16:creationId xmlns:a16="http://schemas.microsoft.com/office/drawing/2014/main" id="{50458056-F967-42A3-7B40-DF887A42E4EE}"/>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2" name="TextBox 60">
            <a:extLst>
              <a:ext uri="{FF2B5EF4-FFF2-40B4-BE49-F238E27FC236}">
                <a16:creationId xmlns:a16="http://schemas.microsoft.com/office/drawing/2014/main" id="{D2C96E08-6C4D-40C3-F284-50B5B1962A41}"/>
              </a:ext>
            </a:extLst>
          </p:cNvPr>
          <p:cNvSpPr/>
          <p:nvPr/>
        </p:nvSpPr>
        <p:spPr>
          <a:xfrm>
            <a:off x="457200" y="760284"/>
            <a:ext cx="1051200" cy="45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Cambria"/>
                <a:ea typeface="+mn-ea"/>
                <a:cs typeface="+mn-cs"/>
              </a:rPr>
              <a:t>1</a:t>
            </a:r>
            <a:endParaRPr kumimoji="0" lang="de-DE" sz="3000" b="0" i="0" u="none" strike="noStrike" kern="1200" cap="none" spc="0" normalizeH="0" baseline="0" noProof="0" dirty="0">
              <a:ln>
                <a:noFill/>
              </a:ln>
              <a:solidFill>
                <a:srgbClr val="000000"/>
              </a:solidFill>
              <a:effectLst/>
              <a:uLnTx/>
              <a:uFillTx/>
              <a:latin typeface="Arial"/>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0262E"/>
        </a:solidFill>
        <a:effectLst/>
      </p:bgPr>
    </p:bg>
    <p:spTree>
      <p:nvGrpSpPr>
        <p:cNvPr id="1" name="">
          <a:extLst>
            <a:ext uri="{FF2B5EF4-FFF2-40B4-BE49-F238E27FC236}">
              <a16:creationId xmlns:a16="http://schemas.microsoft.com/office/drawing/2014/main" id="{BC2E6310-DCE6-1078-90FF-3F41B6EF6CA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7B74DF6-4AD8-D2A9-2EA9-53C78A52A6DF}"/>
              </a:ext>
            </a:extLst>
          </p:cNvPr>
          <p:cNvSpPr/>
          <p:nvPr/>
        </p:nvSpPr>
        <p:spPr>
          <a:xfrm>
            <a:off x="729711" y="1376690"/>
            <a:ext cx="10672012" cy="547283"/>
          </a:xfrm>
          <a:prstGeom prst="rect">
            <a:avLst/>
          </a:prstGeom>
          <a:noFill/>
          <a:ln/>
        </p:spPr>
        <p:txBody>
          <a:bodyPr wrap="square" lIns="0" tIns="0" rIns="0" bIns="0" rtlCol="0" anchor="ct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lang="en-US" sz="1795" b="0" i="0" u="none" strike="noStrike" kern="1200" cap="none" spc="0" normalizeH="0" baseline="0" noProof="0" dirty="0" err="1">
                <a:ln>
                  <a:noFill/>
                </a:ln>
                <a:solidFill>
                  <a:srgbClr val="E0912F"/>
                </a:solidFill>
                <a:effectLst/>
                <a:uLnTx/>
                <a:uFillTx/>
                <a:latin typeface="Calibri" pitchFamily="34" charset="0"/>
                <a:ea typeface="Calibri" pitchFamily="34" charset="-122"/>
                <a:cs typeface="Calibri" pitchFamily="34" charset="-120"/>
              </a:rPr>
              <a:t>Welche</a:t>
            </a:r>
            <a:r>
              <a:rPr kumimoji="0" lang="en-US" sz="1795" b="0" i="0" u="none" strike="noStrike" kern="1200" cap="none" spc="0" normalizeH="0" baseline="0" noProof="0" dirty="0">
                <a:ln>
                  <a:noFill/>
                </a:ln>
                <a:solidFill>
                  <a:srgbClr val="E0912F"/>
                </a:solidFill>
                <a:effectLst/>
                <a:uLnTx/>
                <a:uFillTx/>
                <a:latin typeface="Calibri" pitchFamily="34" charset="0"/>
                <a:ea typeface="Calibri" pitchFamily="34" charset="-122"/>
                <a:cs typeface="Calibri" pitchFamily="34" charset="-120"/>
              </a:rPr>
              <a:t> </a:t>
            </a:r>
            <a:r>
              <a:rPr kumimoji="0" lang="en-US" sz="1795" b="0" i="0" u="none" strike="noStrike" kern="1200" cap="none" spc="0" normalizeH="0" baseline="0" noProof="0" dirty="0" err="1">
                <a:ln>
                  <a:noFill/>
                </a:ln>
                <a:solidFill>
                  <a:srgbClr val="E0912F"/>
                </a:solidFill>
                <a:effectLst/>
                <a:uLnTx/>
                <a:uFillTx/>
                <a:latin typeface="Calibri" pitchFamily="34" charset="0"/>
                <a:ea typeface="Calibri" pitchFamily="34" charset="-122"/>
                <a:cs typeface="Calibri" pitchFamily="34" charset="-120"/>
              </a:rPr>
              <a:t>Daten</a:t>
            </a:r>
            <a:r>
              <a:rPr kumimoji="0" lang="en-US" sz="1795" b="0" i="0" u="none" strike="noStrike" kern="1200" cap="none" spc="0" normalizeH="0" baseline="0" noProof="0" dirty="0">
                <a:ln>
                  <a:noFill/>
                </a:ln>
                <a:solidFill>
                  <a:srgbClr val="E0912F"/>
                </a:solidFill>
                <a:effectLst/>
                <a:uLnTx/>
                <a:uFillTx/>
                <a:latin typeface="Calibri" pitchFamily="34" charset="0"/>
                <a:ea typeface="Calibri" pitchFamily="34" charset="-122"/>
                <a:cs typeface="Calibri" pitchFamily="34" charset="-120"/>
              </a:rPr>
              <a:t> </a:t>
            </a:r>
            <a:r>
              <a:rPr kumimoji="0" lang="en-US" sz="1795" b="0" i="0" u="none" strike="noStrike" kern="1200" cap="none" spc="0" normalizeH="0" baseline="0" noProof="0" dirty="0" err="1">
                <a:ln>
                  <a:noFill/>
                </a:ln>
                <a:solidFill>
                  <a:srgbClr val="E0912F"/>
                </a:solidFill>
                <a:effectLst/>
                <a:uLnTx/>
                <a:uFillTx/>
                <a:latin typeface="Calibri" pitchFamily="34" charset="0"/>
                <a:ea typeface="Calibri" pitchFamily="34" charset="-122"/>
                <a:cs typeface="Calibri" pitchFamily="34" charset="-120"/>
              </a:rPr>
              <a:t>haben</a:t>
            </a:r>
            <a:r>
              <a:rPr kumimoji="0" lang="en-US" sz="1795" b="0" i="0" u="none" strike="noStrike" kern="1200" cap="none" spc="0" normalizeH="0" baseline="0" noProof="0" dirty="0">
                <a:ln>
                  <a:noFill/>
                </a:ln>
                <a:solidFill>
                  <a:srgbClr val="E0912F"/>
                </a:solidFill>
                <a:effectLst/>
                <a:uLnTx/>
                <a:uFillTx/>
                <a:latin typeface="Calibri" pitchFamily="34" charset="0"/>
                <a:ea typeface="Calibri" pitchFamily="34" charset="-122"/>
                <a:cs typeface="Calibri" pitchFamily="34" charset="-120"/>
              </a:rPr>
              <a:t> </a:t>
            </a:r>
            <a:r>
              <a:rPr kumimoji="0" lang="en-US" sz="1795" b="0" i="0" u="none" strike="noStrike" kern="1200" cap="none" spc="0" normalizeH="0" baseline="0" noProof="0" dirty="0" err="1">
                <a:ln>
                  <a:noFill/>
                </a:ln>
                <a:solidFill>
                  <a:srgbClr val="E0912F"/>
                </a:solidFill>
                <a:effectLst/>
                <a:uLnTx/>
                <a:uFillTx/>
                <a:latin typeface="Calibri" pitchFamily="34" charset="0"/>
                <a:ea typeface="Calibri" pitchFamily="34" charset="-122"/>
                <a:cs typeface="Calibri" pitchFamily="34" charset="-120"/>
              </a:rPr>
              <a:t>wir</a:t>
            </a:r>
            <a:r>
              <a:rPr kumimoji="0" lang="en-US" sz="1795" b="0" i="0" u="none" strike="noStrike" kern="1200" cap="none" spc="0" normalizeH="0" baseline="0" noProof="0" dirty="0">
                <a:ln>
                  <a:noFill/>
                </a:ln>
                <a:solidFill>
                  <a:srgbClr val="E0912F"/>
                </a:solidFill>
                <a:effectLst/>
                <a:uLnTx/>
                <a:uFillTx/>
                <a:latin typeface="Calibri" pitchFamily="34" charset="0"/>
                <a:ea typeface="Calibri" pitchFamily="34" charset="-122"/>
                <a:cs typeface="Calibri" pitchFamily="34" charset="-120"/>
              </a:rPr>
              <a:t>?</a:t>
            </a:r>
            <a:endParaRPr kumimoji="0" lang="en-US" sz="179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4EA31AEF-F42F-395B-255F-0BDB19E265AD}"/>
              </a:ext>
            </a:extLst>
          </p:cNvPr>
          <p:cNvSpPr/>
          <p:nvPr/>
        </p:nvSpPr>
        <p:spPr>
          <a:xfrm>
            <a:off x="729711" y="2197614"/>
            <a:ext cx="10672012" cy="2736413"/>
          </a:xfrm>
          <a:prstGeom prst="rect">
            <a:avLst/>
          </a:prstGeom>
          <a:noFill/>
          <a:ln/>
        </p:spPr>
        <p:txBody>
          <a:bodyPr wrap="square" lIns="0" tIns="0" rIns="0" bIns="0" rtlCol="0" anchor="ctr"/>
          <a:lstStyle/>
          <a:p>
            <a:pPr lvl="0" defTabSz="912114">
              <a:lnSpc>
                <a:spcPct val="115000"/>
              </a:lnSpc>
              <a:defRPr/>
            </a:pP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mn-cs"/>
              </a:rPr>
              <a:t>Öffentlicher</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mn-cs"/>
              </a:rPr>
              <a:t> </a:t>
            </a: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mn-cs"/>
              </a:rPr>
              <a:t>Datensatz</a:t>
            </a:r>
            <a:r>
              <a:rPr lang="en-US" sz="2993" b="1" dirty="0">
                <a:solidFill>
                  <a:srgbClr val="FFFFFF"/>
                </a:solidFill>
                <a:latin typeface="Cambria" pitchFamily="34" charset="0"/>
                <a:ea typeface="Cambria" pitchFamily="34" charset="-122"/>
              </a:rPr>
              <a:t>: </a:t>
            </a:r>
            <a:r>
              <a:rPr lang="en-US" sz="2990" b="1" dirty="0">
                <a:solidFill>
                  <a:srgbClr val="E0912F"/>
                </a:solidFill>
                <a:latin typeface="Cambria" panose="02040503050406030204" pitchFamily="18" charset="0"/>
                <a:ea typeface="Cambria" panose="02040503050406030204" pitchFamily="18" charset="0"/>
                <a:cs typeface="Calibri" pitchFamily="34" charset="-120"/>
              </a:rPr>
              <a:t>Beijing Multi-Site Air-Quality Data </a:t>
            </a:r>
            <a:r>
              <a:rPr lang="en-US" sz="2993" b="1" dirty="0">
                <a:solidFill>
                  <a:srgbClr val="FFFFFF"/>
                </a:solidFill>
                <a:latin typeface="Cambria" pitchFamily="34" charset="0"/>
                <a:ea typeface="Cambria" pitchFamily="34" charset="-122"/>
              </a:rPr>
              <a:t>(PRSA), 12 </a:t>
            </a:r>
            <a:r>
              <a:rPr lang="en-US" sz="2993" b="1" dirty="0" err="1">
                <a:solidFill>
                  <a:srgbClr val="FFFFFF"/>
                </a:solidFill>
                <a:latin typeface="Cambria" pitchFamily="34" charset="0"/>
                <a:ea typeface="Cambria" pitchFamily="34" charset="-122"/>
              </a:rPr>
              <a:t>Messstationen</a:t>
            </a:r>
            <a:r>
              <a:rPr lang="en-US" sz="2993" b="1" dirty="0">
                <a:solidFill>
                  <a:srgbClr val="FFFFFF"/>
                </a:solidFill>
                <a:latin typeface="Cambria" pitchFamily="34" charset="0"/>
                <a:ea typeface="Cambria" pitchFamily="34" charset="-122"/>
              </a:rPr>
              <a:t>, </a:t>
            </a:r>
            <a:r>
              <a:rPr lang="en-US" sz="2993" b="1" dirty="0" err="1">
                <a:solidFill>
                  <a:srgbClr val="FFFFFF"/>
                </a:solidFill>
                <a:latin typeface="Cambria" pitchFamily="34" charset="0"/>
                <a:ea typeface="Cambria" pitchFamily="34" charset="-122"/>
              </a:rPr>
              <a:t>stündliche</a:t>
            </a:r>
            <a:r>
              <a:rPr lang="en-US" sz="2993" b="1" dirty="0">
                <a:solidFill>
                  <a:srgbClr val="FFFFFF"/>
                </a:solidFill>
                <a:latin typeface="Cambria" pitchFamily="34" charset="0"/>
                <a:ea typeface="Cambria" pitchFamily="34" charset="-122"/>
              </a:rPr>
              <a:t> </a:t>
            </a:r>
            <a:r>
              <a:rPr lang="en-US" sz="2993" b="1" dirty="0" err="1">
                <a:solidFill>
                  <a:srgbClr val="FFFFFF"/>
                </a:solidFill>
                <a:latin typeface="Cambria" pitchFamily="34" charset="0"/>
                <a:ea typeface="Cambria" pitchFamily="34" charset="-122"/>
              </a:rPr>
              <a:t>Messungen</a:t>
            </a:r>
            <a:r>
              <a:rPr lang="en-US" sz="2993" b="1" dirty="0">
                <a:solidFill>
                  <a:srgbClr val="FFFFFF"/>
                </a:solidFill>
                <a:latin typeface="Cambria" pitchFamily="34" charset="0"/>
                <a:ea typeface="Cambria" pitchFamily="34" charset="-122"/>
              </a:rPr>
              <a:t> von März 2013 bis </a:t>
            </a:r>
            <a:r>
              <a:rPr lang="en-US" sz="2993" b="1" dirty="0" err="1">
                <a:solidFill>
                  <a:srgbClr val="FFFFFF"/>
                </a:solidFill>
                <a:latin typeface="Cambria" pitchFamily="34" charset="0"/>
                <a:ea typeface="Cambria" pitchFamily="34" charset="-122"/>
              </a:rPr>
              <a:t>Februar</a:t>
            </a:r>
            <a:r>
              <a:rPr lang="en-US" sz="2993" b="1" dirty="0">
                <a:solidFill>
                  <a:srgbClr val="FFFFFF"/>
                </a:solidFill>
                <a:latin typeface="Cambria" pitchFamily="34" charset="0"/>
                <a:ea typeface="Cambria" pitchFamily="34" charset="-122"/>
              </a:rPr>
              <a:t> 2017</a:t>
            </a:r>
          </a:p>
          <a:p>
            <a:pPr lvl="0" defTabSz="912114">
              <a:lnSpc>
                <a:spcPct val="115000"/>
              </a:lnSpc>
              <a:defRPr/>
            </a:pPr>
            <a:r>
              <a:rPr lang="de-DE" sz="2000" dirty="0">
                <a:hlinkClick r:id="rId3"/>
              </a:rPr>
              <a:t>Beijing Multi-Site Air Quality - UCI </a:t>
            </a:r>
            <a:r>
              <a:rPr lang="de-DE" sz="2000" dirty="0" err="1">
                <a:hlinkClick r:id="rId3"/>
              </a:rPr>
              <a:t>Machine</a:t>
            </a:r>
            <a:r>
              <a:rPr lang="de-DE" sz="2000" dirty="0">
                <a:hlinkClick r:id="rId3"/>
              </a:rPr>
              <a:t> Learning Repository</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Oval 34">
            <a:extLst>
              <a:ext uri="{FF2B5EF4-FFF2-40B4-BE49-F238E27FC236}">
                <a16:creationId xmlns:a16="http://schemas.microsoft.com/office/drawing/2014/main" id="{B060FC2D-6D37-5BBB-F491-8DFD9BDBE30E}"/>
              </a:ext>
            </a:extLst>
          </p:cNvPr>
          <p:cNvSpPr/>
          <p:nvPr/>
        </p:nvSpPr>
        <p:spPr>
          <a:xfrm>
            <a:off x="457200" y="246247"/>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0">
            <a:extLst>
              <a:ext uri="{FF2B5EF4-FFF2-40B4-BE49-F238E27FC236}">
                <a16:creationId xmlns:a16="http://schemas.microsoft.com/office/drawing/2014/main" id="{C2CF804D-C3A1-5264-EC6B-1064706D050C}"/>
              </a:ext>
            </a:extLst>
          </p:cNvPr>
          <p:cNvSpPr/>
          <p:nvPr/>
        </p:nvSpPr>
        <p:spPr>
          <a:xfrm>
            <a:off x="457200" y="553560"/>
            <a:ext cx="1051200" cy="45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Cambria"/>
                <a:ea typeface="+mn-ea"/>
                <a:cs typeface="+mn-cs"/>
              </a:rPr>
              <a:t>2</a:t>
            </a:r>
            <a:endParaRPr kumimoji="0" lang="de-DE" sz="30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143224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A8EA1-DA97-9F1E-599C-9B81E050A7A8}"/>
            </a:ext>
          </a:extLst>
        </p:cNvPr>
        <p:cNvGrpSpPr/>
        <p:nvPr/>
      </p:nvGrpSpPr>
      <p:grpSpPr>
        <a:xfrm>
          <a:off x="0" y="0"/>
          <a:ext cx="0" cy="0"/>
          <a:chOff x="0" y="0"/>
          <a:chExt cx="0" cy="0"/>
        </a:xfrm>
      </p:grpSpPr>
      <p:sp>
        <p:nvSpPr>
          <p:cNvPr id="141" name="Rectangle 1">
            <a:extLst>
              <a:ext uri="{FF2B5EF4-FFF2-40B4-BE49-F238E27FC236}">
                <a16:creationId xmlns:a16="http://schemas.microsoft.com/office/drawing/2014/main" id="{01840D46-BA58-4AC3-32AD-8CC5417BA7FA}"/>
              </a:ext>
            </a:extLst>
          </p:cNvPr>
          <p:cNvSpPr/>
          <p:nvPr/>
        </p:nvSpPr>
        <p:spPr>
          <a:xfrm>
            <a:off x="0" y="52446"/>
            <a:ext cx="12161160" cy="6857640"/>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42" name="Oval 2">
            <a:extLst>
              <a:ext uri="{FF2B5EF4-FFF2-40B4-BE49-F238E27FC236}">
                <a16:creationId xmlns:a16="http://schemas.microsoft.com/office/drawing/2014/main" id="{54911AF3-617F-F27E-86ED-4A50B5BBB8DC}"/>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43" name="TextBox 3">
            <a:extLst>
              <a:ext uri="{FF2B5EF4-FFF2-40B4-BE49-F238E27FC236}">
                <a16:creationId xmlns:a16="http://schemas.microsoft.com/office/drawing/2014/main" id="{FFD937B0-A219-74AC-BC55-6E39B3C40405}"/>
              </a:ext>
            </a:extLst>
          </p:cNvPr>
          <p:cNvSpPr/>
          <p:nvPr/>
        </p:nvSpPr>
        <p:spPr>
          <a:xfrm>
            <a:off x="457200" y="751967"/>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dirty="0">
                <a:solidFill>
                  <a:srgbClr val="FFFFFF"/>
                </a:solidFill>
                <a:effectLst/>
                <a:uFillTx/>
                <a:latin typeface="Cambria"/>
              </a:rPr>
              <a:t>2</a:t>
            </a:r>
            <a:endParaRPr lang="de-DE" sz="3000" b="0" u="none" strike="noStrike" dirty="0">
              <a:solidFill>
                <a:srgbClr val="000000"/>
              </a:solidFill>
              <a:effectLst/>
              <a:uFillTx/>
              <a:latin typeface="Arial"/>
            </a:endParaRPr>
          </a:p>
        </p:txBody>
      </p:sp>
      <p:sp>
        <p:nvSpPr>
          <p:cNvPr id="144" name="TextBox 4">
            <a:extLst>
              <a:ext uri="{FF2B5EF4-FFF2-40B4-BE49-F238E27FC236}">
                <a16:creationId xmlns:a16="http://schemas.microsoft.com/office/drawing/2014/main" id="{0E64F6F8-4334-785B-4564-7D5D55742EC3}"/>
              </a:ext>
            </a:extLst>
          </p:cNvPr>
          <p:cNvSpPr/>
          <p:nvPr/>
        </p:nvSpPr>
        <p:spPr>
          <a:xfrm>
            <a:off x="1691640" y="307478"/>
            <a:ext cx="9852660" cy="984885"/>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ctr">
            <a:spAutoFit/>
          </a:bodyPr>
          <a:lstStyle/>
          <a:p>
            <a:pPr defTabSz="457200">
              <a:lnSpc>
                <a:spcPct val="100000"/>
              </a:lnSpc>
            </a:pPr>
            <a:r>
              <a:rPr lang="en-US" sz="3200" b="1" u="none" strike="noStrike" dirty="0" err="1">
                <a:solidFill>
                  <a:srgbClr val="22272B"/>
                </a:solidFill>
                <a:effectLst/>
                <a:uFillTx/>
                <a:latin typeface="Cambria"/>
              </a:rPr>
              <a:t>Räumliche</a:t>
            </a:r>
            <a:r>
              <a:rPr lang="en-US" sz="3200" b="1" u="none" strike="noStrike" dirty="0">
                <a:solidFill>
                  <a:srgbClr val="22272B"/>
                </a:solidFill>
                <a:effectLst/>
                <a:uFillTx/>
                <a:latin typeface="Cambria"/>
              </a:rPr>
              <a:t> </a:t>
            </a:r>
            <a:r>
              <a:rPr lang="en-US" sz="3200" b="1" u="none" strike="noStrike" dirty="0" err="1">
                <a:solidFill>
                  <a:srgbClr val="22272B"/>
                </a:solidFill>
                <a:effectLst/>
                <a:uFillTx/>
                <a:latin typeface="Cambria"/>
              </a:rPr>
              <a:t>Verteilung</a:t>
            </a:r>
            <a:r>
              <a:rPr lang="en-US" sz="3200" b="1" u="none" strike="noStrike" dirty="0">
                <a:solidFill>
                  <a:srgbClr val="22272B"/>
                </a:solidFill>
                <a:effectLst/>
                <a:uFillTx/>
                <a:latin typeface="Cambria"/>
              </a:rPr>
              <a:t> der </a:t>
            </a:r>
            <a:r>
              <a:rPr lang="en-US" sz="3200" b="1" u="none" strike="noStrike" dirty="0" err="1">
                <a:solidFill>
                  <a:srgbClr val="22272B"/>
                </a:solidFill>
                <a:effectLst/>
                <a:uFillTx/>
                <a:latin typeface="Cambria"/>
              </a:rPr>
              <a:t>durchschnittlichen</a:t>
            </a:r>
            <a:r>
              <a:rPr lang="en-US" sz="3200" b="1" u="none" strike="noStrike" dirty="0">
                <a:solidFill>
                  <a:srgbClr val="22272B"/>
                </a:solidFill>
                <a:effectLst/>
                <a:uFillTx/>
                <a:latin typeface="Cambria"/>
              </a:rPr>
              <a:t> PM2.5 </a:t>
            </a:r>
            <a:r>
              <a:rPr lang="en-US" sz="3200" b="1" u="none" strike="noStrike" dirty="0" err="1">
                <a:solidFill>
                  <a:srgbClr val="22272B"/>
                </a:solidFill>
                <a:effectLst/>
                <a:uFillTx/>
                <a:latin typeface="Cambria"/>
              </a:rPr>
              <a:t>Konzentration</a:t>
            </a:r>
            <a:r>
              <a:rPr lang="en-US" sz="3200" b="1" u="none" strike="noStrike" dirty="0">
                <a:solidFill>
                  <a:srgbClr val="22272B"/>
                </a:solidFill>
                <a:effectLst/>
                <a:uFillTx/>
                <a:latin typeface="Cambria"/>
              </a:rPr>
              <a:t> und der </a:t>
            </a:r>
            <a:r>
              <a:rPr lang="en-US" sz="3200" b="1" u="none" strike="noStrike" dirty="0" err="1">
                <a:solidFill>
                  <a:srgbClr val="22272B"/>
                </a:solidFill>
                <a:effectLst/>
                <a:uFillTx/>
                <a:latin typeface="Cambria"/>
              </a:rPr>
              <a:t>Messstationen</a:t>
            </a:r>
            <a:r>
              <a:rPr lang="en-US" sz="3200" b="1" u="none" strike="noStrike" dirty="0">
                <a:solidFill>
                  <a:srgbClr val="22272B"/>
                </a:solidFill>
                <a:effectLst/>
                <a:uFillTx/>
                <a:latin typeface="Cambria"/>
              </a:rPr>
              <a:t> in Beijing</a:t>
            </a:r>
            <a:endParaRPr lang="de-DE" sz="3200" b="0" u="none" strike="noStrike" dirty="0">
              <a:solidFill>
                <a:srgbClr val="000000"/>
              </a:solidFill>
              <a:effectLst/>
              <a:uFillTx/>
              <a:latin typeface="Arial"/>
            </a:endParaRPr>
          </a:p>
        </p:txBody>
      </p:sp>
      <p:sp>
        <p:nvSpPr>
          <p:cNvPr id="145" name="TextBox 5">
            <a:extLst>
              <a:ext uri="{FF2B5EF4-FFF2-40B4-BE49-F238E27FC236}">
                <a16:creationId xmlns:a16="http://schemas.microsoft.com/office/drawing/2014/main" id="{490F2377-4C19-11B8-7D11-CE54182DB7EB}"/>
              </a:ext>
            </a:extLst>
          </p:cNvPr>
          <p:cNvSpPr/>
          <p:nvPr/>
        </p:nvSpPr>
        <p:spPr>
          <a:xfrm>
            <a:off x="1691640" y="1407779"/>
            <a:ext cx="9143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dirty="0">
                <a:solidFill>
                  <a:srgbClr val="E0912F"/>
                </a:solidFill>
                <a:effectLst/>
                <a:uFillTx/>
                <a:latin typeface="Calibri"/>
              </a:rPr>
              <a:t>CRISP-DM  ·  Data Understanding</a:t>
            </a:r>
            <a:endParaRPr lang="de-DE" sz="1400" b="0" u="none" strike="noStrike" dirty="0">
              <a:solidFill>
                <a:srgbClr val="000000"/>
              </a:solidFill>
              <a:effectLst/>
              <a:uFillTx/>
              <a:latin typeface="Arial"/>
            </a:endParaRPr>
          </a:p>
        </p:txBody>
      </p:sp>
      <p:sp>
        <p:nvSpPr>
          <p:cNvPr id="156" name="TextBox 16">
            <a:extLst>
              <a:ext uri="{FF2B5EF4-FFF2-40B4-BE49-F238E27FC236}">
                <a16:creationId xmlns:a16="http://schemas.microsoft.com/office/drawing/2014/main" id="{DDDAA9FF-41B7-52DD-09FD-122B066BCBC1}"/>
              </a:ext>
            </a:extLst>
          </p:cNvP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de-DE" sz="900" b="0" u="none" strike="noStrike" dirty="0">
                <a:solidFill>
                  <a:srgbClr val="6C7278"/>
                </a:solidFill>
                <a:effectLst/>
                <a:uFillTx/>
                <a:latin typeface="Calibri"/>
              </a:rPr>
              <a:t>PM2.5-Prognose Beijing  ·  Prophet, Chronos &amp; </a:t>
            </a:r>
            <a:r>
              <a:rPr lang="de-DE" sz="900" dirty="0">
                <a:solidFill>
                  <a:srgbClr val="6C7278"/>
                </a:solidFill>
                <a:latin typeface="Calibri"/>
              </a:rPr>
              <a:t>TFT</a:t>
            </a:r>
            <a:r>
              <a:rPr lang="de-DE" sz="900" b="0" u="none" strike="noStrike" dirty="0">
                <a:solidFill>
                  <a:srgbClr val="6C7278"/>
                </a:solidFill>
                <a:effectLst/>
                <a:uFillTx/>
                <a:latin typeface="Calibri"/>
              </a:rPr>
              <a:t>  ·  CRISP-DM</a:t>
            </a:r>
            <a:endParaRPr lang="de-DE" sz="900" b="0" u="none" strike="noStrike" dirty="0">
              <a:solidFill>
                <a:srgbClr val="000000"/>
              </a:solidFill>
              <a:effectLst/>
              <a:uFillTx/>
              <a:latin typeface="Arial"/>
            </a:endParaRPr>
          </a:p>
        </p:txBody>
      </p:sp>
      <p:pic>
        <p:nvPicPr>
          <p:cNvPr id="4" name="Grafik 3">
            <a:extLst>
              <a:ext uri="{FF2B5EF4-FFF2-40B4-BE49-F238E27FC236}">
                <a16:creationId xmlns:a16="http://schemas.microsoft.com/office/drawing/2014/main" id="{F6D74D00-CBDB-1C2C-B13D-44D8FC6EEED0}"/>
              </a:ext>
            </a:extLst>
          </p:cNvPr>
          <p:cNvPicPr>
            <a:picLocks noChangeAspect="1"/>
          </p:cNvPicPr>
          <p:nvPr/>
        </p:nvPicPr>
        <p:blipFill>
          <a:blip r:embed="rId3"/>
          <a:stretch>
            <a:fillRect/>
          </a:stretch>
        </p:blipFill>
        <p:spPr>
          <a:xfrm>
            <a:off x="8229239" y="2219564"/>
            <a:ext cx="3801656" cy="3763320"/>
          </a:xfrm>
          <a:prstGeom prst="rect">
            <a:avLst/>
          </a:prstGeom>
        </p:spPr>
      </p:pic>
      <p:pic>
        <p:nvPicPr>
          <p:cNvPr id="6" name="Grafik 5">
            <a:extLst>
              <a:ext uri="{FF2B5EF4-FFF2-40B4-BE49-F238E27FC236}">
                <a16:creationId xmlns:a16="http://schemas.microsoft.com/office/drawing/2014/main" id="{ABFF6B6F-A8BD-F879-E468-71CFBFAE89D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307" y="1885005"/>
            <a:ext cx="8048625" cy="4383697"/>
          </a:xfrm>
          <a:prstGeom prst="rect">
            <a:avLst/>
          </a:prstGeom>
        </p:spPr>
      </p:pic>
    </p:spTree>
    <p:extLst>
      <p:ext uri="{BB962C8B-B14F-4D97-AF65-F5344CB8AC3E}">
        <p14:creationId xmlns:p14="http://schemas.microsoft.com/office/powerpoint/2010/main" val="1252337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B5CC5-1080-5DD6-2A67-805AFB000268}"/>
            </a:ext>
          </a:extLst>
        </p:cNvPr>
        <p:cNvGrpSpPr/>
        <p:nvPr/>
      </p:nvGrpSpPr>
      <p:grpSpPr>
        <a:xfrm>
          <a:off x="0" y="0"/>
          <a:ext cx="0" cy="0"/>
          <a:chOff x="0" y="0"/>
          <a:chExt cx="0" cy="0"/>
        </a:xfrm>
      </p:grpSpPr>
      <p:sp>
        <p:nvSpPr>
          <p:cNvPr id="142" name="Oval 2">
            <a:extLst>
              <a:ext uri="{FF2B5EF4-FFF2-40B4-BE49-F238E27FC236}">
                <a16:creationId xmlns:a16="http://schemas.microsoft.com/office/drawing/2014/main" id="{327DF016-AC4F-3A50-7857-5E4D850689D3}"/>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43" name="TextBox 3">
            <a:extLst>
              <a:ext uri="{FF2B5EF4-FFF2-40B4-BE49-F238E27FC236}">
                <a16:creationId xmlns:a16="http://schemas.microsoft.com/office/drawing/2014/main" id="{941ED02D-3B66-B46D-47EC-CFF92D49E6D4}"/>
              </a:ext>
            </a:extLst>
          </p:cNvPr>
          <p:cNvSpPr/>
          <p:nvPr/>
        </p:nvSpPr>
        <p:spPr>
          <a:xfrm>
            <a:off x="457200" y="751967"/>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dirty="0">
                <a:solidFill>
                  <a:srgbClr val="FFFFFF"/>
                </a:solidFill>
                <a:effectLst/>
                <a:uFillTx/>
                <a:latin typeface="Cambria"/>
              </a:rPr>
              <a:t>2</a:t>
            </a:r>
            <a:endParaRPr lang="de-DE" sz="3000" b="0" u="none" strike="noStrike" dirty="0">
              <a:solidFill>
                <a:srgbClr val="000000"/>
              </a:solidFill>
              <a:effectLst/>
              <a:uFillTx/>
              <a:latin typeface="Arial"/>
            </a:endParaRPr>
          </a:p>
        </p:txBody>
      </p:sp>
      <p:sp>
        <p:nvSpPr>
          <p:cNvPr id="144" name="TextBox 4">
            <a:extLst>
              <a:ext uri="{FF2B5EF4-FFF2-40B4-BE49-F238E27FC236}">
                <a16:creationId xmlns:a16="http://schemas.microsoft.com/office/drawing/2014/main" id="{7F475C3A-309B-6DEE-CD99-D2A39529176C}"/>
              </a:ext>
            </a:extLst>
          </p:cNvPr>
          <p:cNvSpPr/>
          <p:nvPr/>
        </p:nvSpPr>
        <p:spPr>
          <a:xfrm>
            <a:off x="1691640" y="457200"/>
            <a:ext cx="914364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22272B"/>
                </a:solidFill>
                <a:effectLst/>
                <a:uFillTx/>
                <a:latin typeface="Cambria"/>
              </a:rPr>
              <a:t>Datenverständnis</a:t>
            </a:r>
            <a:endParaRPr lang="de-DE" sz="3200" b="0" u="none" strike="noStrike">
              <a:solidFill>
                <a:srgbClr val="000000"/>
              </a:solidFill>
              <a:effectLst/>
              <a:uFillTx/>
              <a:latin typeface="Arial"/>
            </a:endParaRPr>
          </a:p>
        </p:txBody>
      </p:sp>
      <p:sp>
        <p:nvSpPr>
          <p:cNvPr id="145" name="TextBox 5">
            <a:extLst>
              <a:ext uri="{FF2B5EF4-FFF2-40B4-BE49-F238E27FC236}">
                <a16:creationId xmlns:a16="http://schemas.microsoft.com/office/drawing/2014/main" id="{E7985676-C5FA-028A-00A8-233E4903BE4B}"/>
              </a:ext>
            </a:extLst>
          </p:cNvPr>
          <p:cNvSpPr/>
          <p:nvPr/>
        </p:nvSpPr>
        <p:spPr>
          <a:xfrm>
            <a:off x="1710000" y="1115640"/>
            <a:ext cx="9143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E0912F"/>
                </a:solidFill>
                <a:effectLst/>
                <a:uFillTx/>
                <a:latin typeface="Calibri"/>
              </a:rPr>
              <a:t>CRISP-DM  ·  Data Understanding</a:t>
            </a:r>
            <a:endParaRPr lang="de-DE" sz="1400" b="0" u="none" strike="noStrike">
              <a:solidFill>
                <a:srgbClr val="000000"/>
              </a:solidFill>
              <a:effectLst/>
              <a:uFillTx/>
              <a:latin typeface="Arial"/>
            </a:endParaRPr>
          </a:p>
        </p:txBody>
      </p:sp>
      <p:sp>
        <p:nvSpPr>
          <p:cNvPr id="146" name="TextBox 6">
            <a:extLst>
              <a:ext uri="{FF2B5EF4-FFF2-40B4-BE49-F238E27FC236}">
                <a16:creationId xmlns:a16="http://schemas.microsoft.com/office/drawing/2014/main" id="{62B3DAF2-8AEE-2B10-B5C4-2AC4689A2182}"/>
              </a:ext>
            </a:extLst>
          </p:cNvPr>
          <p:cNvSpPr/>
          <p:nvPr/>
        </p:nvSpPr>
        <p:spPr>
          <a:xfrm>
            <a:off x="502920" y="1828800"/>
            <a:ext cx="6400440" cy="18466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1" u="none" strike="noStrike" spc="150" dirty="0">
                <a:solidFill>
                  <a:srgbClr val="6C7278"/>
                </a:solidFill>
                <a:effectLst/>
                <a:uFillTx/>
                <a:latin typeface="Calibri"/>
              </a:rPr>
              <a:t>WELCHE DATEN GIBT ES:</a:t>
            </a:r>
            <a:endParaRPr lang="de-DE" sz="1200" b="0" u="none" strike="noStrike" dirty="0">
              <a:solidFill>
                <a:srgbClr val="000000"/>
              </a:solidFill>
              <a:effectLst/>
              <a:uFillTx/>
              <a:latin typeface="Arial"/>
            </a:endParaRPr>
          </a:p>
        </p:txBody>
      </p:sp>
      <p:sp>
        <p:nvSpPr>
          <p:cNvPr id="156" name="TextBox 16">
            <a:extLst>
              <a:ext uri="{FF2B5EF4-FFF2-40B4-BE49-F238E27FC236}">
                <a16:creationId xmlns:a16="http://schemas.microsoft.com/office/drawing/2014/main" id="{F72973B1-A6A1-4D34-2953-23A9FBC4A26F}"/>
              </a:ext>
            </a:extLst>
          </p:cNvP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de-DE" sz="900" b="0" u="none" strike="noStrike" dirty="0">
                <a:solidFill>
                  <a:srgbClr val="6C7278"/>
                </a:solidFill>
                <a:effectLst/>
                <a:uFillTx/>
                <a:latin typeface="Calibri"/>
              </a:rPr>
              <a:t>PM2.5-Prognose Beijing  ·  Prophet, Chronos &amp; </a:t>
            </a:r>
            <a:r>
              <a:rPr lang="de-DE" sz="900" dirty="0">
                <a:solidFill>
                  <a:srgbClr val="6C7278"/>
                </a:solidFill>
                <a:latin typeface="Calibri"/>
              </a:rPr>
              <a:t>TFT</a:t>
            </a:r>
            <a:r>
              <a:rPr lang="de-DE" sz="900" b="0" u="none" strike="noStrike" dirty="0">
                <a:solidFill>
                  <a:srgbClr val="6C7278"/>
                </a:solidFill>
                <a:effectLst/>
                <a:uFillTx/>
                <a:latin typeface="Calibri"/>
              </a:rPr>
              <a:t>  ·  CRISP-DM</a:t>
            </a:r>
            <a:endParaRPr lang="de-DE" sz="900" b="0" u="none" strike="noStrike" dirty="0">
              <a:solidFill>
                <a:srgbClr val="000000"/>
              </a:solidFill>
              <a:effectLst/>
              <a:uFillTx/>
              <a:latin typeface="Arial"/>
            </a:endParaRPr>
          </a:p>
        </p:txBody>
      </p:sp>
      <p:pic>
        <p:nvPicPr>
          <p:cNvPr id="3" name="Grafik 2">
            <a:extLst>
              <a:ext uri="{FF2B5EF4-FFF2-40B4-BE49-F238E27FC236}">
                <a16:creationId xmlns:a16="http://schemas.microsoft.com/office/drawing/2014/main" id="{5340045C-3975-A8AA-9EB7-7028A86E191E}"/>
              </a:ext>
            </a:extLst>
          </p:cNvPr>
          <p:cNvPicPr>
            <a:picLocks noChangeAspect="1"/>
          </p:cNvPicPr>
          <p:nvPr/>
        </p:nvPicPr>
        <p:blipFill>
          <a:blip r:embed="rId3"/>
          <a:stretch>
            <a:fillRect/>
          </a:stretch>
        </p:blipFill>
        <p:spPr>
          <a:xfrm>
            <a:off x="332307" y="2123568"/>
            <a:ext cx="4126439" cy="4121400"/>
          </a:xfrm>
          <a:prstGeom prst="rect">
            <a:avLst/>
          </a:prstGeom>
        </p:spPr>
      </p:pic>
      <p:pic>
        <p:nvPicPr>
          <p:cNvPr id="5" name="Grafik 4">
            <a:extLst>
              <a:ext uri="{FF2B5EF4-FFF2-40B4-BE49-F238E27FC236}">
                <a16:creationId xmlns:a16="http://schemas.microsoft.com/office/drawing/2014/main" id="{4F41C17A-F742-A726-015E-B06B701FF958}"/>
              </a:ext>
            </a:extLst>
          </p:cNvPr>
          <p:cNvPicPr>
            <a:picLocks noChangeAspect="1"/>
          </p:cNvPicPr>
          <p:nvPr/>
        </p:nvPicPr>
        <p:blipFill>
          <a:blip r:embed="rId4"/>
          <a:stretch>
            <a:fillRect/>
          </a:stretch>
        </p:blipFill>
        <p:spPr>
          <a:xfrm>
            <a:off x="6281820" y="300960"/>
            <a:ext cx="4267419" cy="2533780"/>
          </a:xfrm>
          <a:prstGeom prst="rect">
            <a:avLst/>
          </a:prstGeom>
        </p:spPr>
      </p:pic>
      <p:pic>
        <p:nvPicPr>
          <p:cNvPr id="7" name="Grafik 6">
            <a:extLst>
              <a:ext uri="{FF2B5EF4-FFF2-40B4-BE49-F238E27FC236}">
                <a16:creationId xmlns:a16="http://schemas.microsoft.com/office/drawing/2014/main" id="{DB08FC92-DB78-40C6-083C-E1DD56331FC5}"/>
              </a:ext>
            </a:extLst>
          </p:cNvPr>
          <p:cNvPicPr>
            <a:picLocks noChangeAspect="1"/>
          </p:cNvPicPr>
          <p:nvPr/>
        </p:nvPicPr>
        <p:blipFill>
          <a:blip r:embed="rId5"/>
          <a:stretch>
            <a:fillRect/>
          </a:stretch>
        </p:blipFill>
        <p:spPr>
          <a:xfrm>
            <a:off x="6000002" y="3040491"/>
            <a:ext cx="4986558" cy="3378669"/>
          </a:xfrm>
          <a:prstGeom prst="rect">
            <a:avLst/>
          </a:prstGeom>
        </p:spPr>
      </p:pic>
    </p:spTree>
    <p:extLst>
      <p:ext uri="{BB962C8B-B14F-4D97-AF65-F5344CB8AC3E}">
        <p14:creationId xmlns:p14="http://schemas.microsoft.com/office/powerpoint/2010/main" val="486509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F4E48D57-3F51-7EF1-9C8B-81197B7FC2B3}"/>
              </a:ext>
            </a:extLst>
          </p:cNvPr>
          <p:cNvSpPr/>
          <p:nvPr/>
        </p:nvSpPr>
        <p:spPr>
          <a:xfrm>
            <a:off x="0" y="0"/>
            <a:ext cx="12161160" cy="6857640"/>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 name="Textplatzhalter 2">
            <a:extLst>
              <a:ext uri="{FF2B5EF4-FFF2-40B4-BE49-F238E27FC236}">
                <a16:creationId xmlns:a16="http://schemas.microsoft.com/office/drawing/2014/main" id="{37D2B2C2-9822-D9BF-572C-5602E9E1F86C}"/>
              </a:ext>
            </a:extLst>
          </p:cNvPr>
          <p:cNvSpPr>
            <a:spLocks noGrp="1"/>
          </p:cNvSpPr>
          <p:nvPr>
            <p:ph type="body"/>
          </p:nvPr>
        </p:nvSpPr>
        <p:spPr>
          <a:xfrm>
            <a:off x="1738789" y="178350"/>
            <a:ext cx="10945080" cy="1144800"/>
          </a:xfrm>
        </p:spPr>
        <p:txBody>
          <a:bodyPr/>
          <a:lstStyle/>
          <a:p>
            <a:r>
              <a:rPr lang="de-DE" sz="3600" dirty="0"/>
              <a:t>Zeitlicher Verlauf der PM2.5 Konzentration in Beijing</a:t>
            </a:r>
          </a:p>
        </p:txBody>
      </p:sp>
      <p:pic>
        <p:nvPicPr>
          <p:cNvPr id="5" name="Grafik 4">
            <a:extLst>
              <a:ext uri="{FF2B5EF4-FFF2-40B4-BE49-F238E27FC236}">
                <a16:creationId xmlns:a16="http://schemas.microsoft.com/office/drawing/2014/main" id="{C6DA1763-0728-F5D7-D44B-1EFAD25995E1}"/>
              </a:ext>
            </a:extLst>
          </p:cNvPr>
          <p:cNvPicPr>
            <a:picLocks noChangeAspect="1"/>
          </p:cNvPicPr>
          <p:nvPr/>
        </p:nvPicPr>
        <p:blipFill>
          <a:blip r:embed="rId2"/>
          <a:stretch>
            <a:fillRect/>
          </a:stretch>
        </p:blipFill>
        <p:spPr>
          <a:xfrm>
            <a:off x="439135" y="1323150"/>
            <a:ext cx="10381265" cy="4659825"/>
          </a:xfrm>
          <a:prstGeom prst="rect">
            <a:avLst/>
          </a:prstGeom>
        </p:spPr>
      </p:pic>
      <p:sp>
        <p:nvSpPr>
          <p:cNvPr id="43" name="Foote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900" b="0" u="none" strike="noStrike" dirty="0">
                <a:solidFill>
                  <a:srgbClr val="6C7278"/>
                </a:solidFill>
                <a:effectLst/>
                <a:uFillTx/>
                <a:latin typeface="Calibri"/>
              </a:rPr>
              <a:t>PM2.5-Prognose Beijing  ·  Prophet</a:t>
            </a:r>
            <a:r>
              <a:rPr lang="de-DE" sz="900" b="0" u="none" strike="noStrike" dirty="0">
                <a:solidFill>
                  <a:srgbClr val="6C7278"/>
                </a:solidFill>
                <a:effectLst/>
                <a:uFillTx/>
                <a:latin typeface="Calibri"/>
              </a:rPr>
              <a:t>, </a:t>
            </a:r>
            <a:r>
              <a:rPr lang="en-US" sz="900" b="0" u="none" strike="noStrike" dirty="0">
                <a:solidFill>
                  <a:srgbClr val="6C7278"/>
                </a:solidFill>
                <a:effectLst/>
                <a:uFillTx/>
                <a:latin typeface="Calibri"/>
              </a:rPr>
              <a:t>Chronos</a:t>
            </a:r>
            <a:r>
              <a:rPr lang="de-DE" sz="900" b="0" u="none" strike="noStrike" dirty="0">
                <a:solidFill>
                  <a:srgbClr val="6C7278"/>
                </a:solidFill>
                <a:effectLst/>
                <a:uFillTx/>
                <a:latin typeface="Calibri"/>
              </a:rPr>
              <a:t> &amp; </a:t>
            </a:r>
            <a:r>
              <a:rPr lang="de-DE" sz="900" dirty="0">
                <a:solidFill>
                  <a:srgbClr val="6C7278"/>
                </a:solidFill>
                <a:latin typeface="Calibri"/>
              </a:rPr>
              <a:t>TFT</a:t>
            </a:r>
            <a:r>
              <a:rPr lang="en-US" sz="900" b="0" u="none" strike="noStrike" dirty="0">
                <a:solidFill>
                  <a:srgbClr val="6C7278"/>
                </a:solidFill>
                <a:effectLst/>
                <a:uFillTx/>
                <a:latin typeface="Calibri"/>
              </a:rPr>
              <a:t>  ·  CRISP-DM</a:t>
            </a:r>
            <a:endParaRPr lang="de-DE" sz="900" b="0" u="none" strike="noStrike" dirty="0">
              <a:solidFill>
                <a:srgbClr val="000000"/>
              </a:solidFill>
              <a:effectLst/>
              <a:uFillTx/>
              <a:latin typeface="Arial"/>
            </a:endParaRPr>
          </a:p>
        </p:txBody>
      </p:sp>
      <p:sp>
        <p:nvSpPr>
          <p:cNvPr id="4" name="Oval 2">
            <a:extLst>
              <a:ext uri="{FF2B5EF4-FFF2-40B4-BE49-F238E27FC236}">
                <a16:creationId xmlns:a16="http://schemas.microsoft.com/office/drawing/2014/main" id="{83B1B6BD-036A-4580-0160-8C89745E558C}"/>
              </a:ext>
            </a:extLst>
          </p:cNvPr>
          <p:cNvSpPr/>
          <p:nvPr/>
        </p:nvSpPr>
        <p:spPr>
          <a:xfrm>
            <a:off x="248454" y="22515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8" name="TextBox 3">
            <a:extLst>
              <a:ext uri="{FF2B5EF4-FFF2-40B4-BE49-F238E27FC236}">
                <a16:creationId xmlns:a16="http://schemas.microsoft.com/office/drawing/2014/main" id="{E2BB1BD9-F63C-E955-572F-EB8748DD4892}"/>
              </a:ext>
            </a:extLst>
          </p:cNvPr>
          <p:cNvSpPr/>
          <p:nvPr/>
        </p:nvSpPr>
        <p:spPr>
          <a:xfrm>
            <a:off x="248454" y="519917"/>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dirty="0">
                <a:solidFill>
                  <a:srgbClr val="FFFFFF"/>
                </a:solidFill>
                <a:effectLst/>
                <a:uFillTx/>
                <a:latin typeface="Cambria"/>
              </a:rPr>
              <a:t>2</a:t>
            </a:r>
            <a:endParaRPr lang="de-DE" sz="3000" b="0" u="none" strike="noStrike" dirty="0">
              <a:solidFill>
                <a:srgbClr val="000000"/>
              </a:solidFill>
              <a:effectLst/>
              <a:uFillTx/>
              <a:latin typeface="Arial"/>
            </a:endParaRPr>
          </a:p>
        </p:txBody>
      </p:sp>
    </p:spTree>
    <p:extLst>
      <p:ext uri="{BB962C8B-B14F-4D97-AF65-F5344CB8AC3E}">
        <p14:creationId xmlns:p14="http://schemas.microsoft.com/office/powerpoint/2010/main" val="2118989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AD8EB-4311-A4AB-E26D-4E7715245A4F}"/>
            </a:ext>
          </a:extLst>
        </p:cNvPr>
        <p:cNvGrpSpPr/>
        <p:nvPr/>
      </p:nvGrpSpPr>
      <p:grpSpPr>
        <a:xfrm>
          <a:off x="0" y="0"/>
          <a:ext cx="0" cy="0"/>
          <a:chOff x="0" y="0"/>
          <a:chExt cx="0" cy="0"/>
        </a:xfrm>
      </p:grpSpPr>
      <p:sp>
        <p:nvSpPr>
          <p:cNvPr id="142" name="Oval 2">
            <a:extLst>
              <a:ext uri="{FF2B5EF4-FFF2-40B4-BE49-F238E27FC236}">
                <a16:creationId xmlns:a16="http://schemas.microsoft.com/office/drawing/2014/main" id="{CC206A91-BEAC-9A0A-0831-D37530E888FC}"/>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43" name="TextBox 3">
            <a:extLst>
              <a:ext uri="{FF2B5EF4-FFF2-40B4-BE49-F238E27FC236}">
                <a16:creationId xmlns:a16="http://schemas.microsoft.com/office/drawing/2014/main" id="{70884BF5-DCC5-B2DB-0F40-3C828742C0EC}"/>
              </a:ext>
            </a:extLst>
          </p:cNvPr>
          <p:cNvSpPr/>
          <p:nvPr/>
        </p:nvSpPr>
        <p:spPr>
          <a:xfrm>
            <a:off x="457200" y="751967"/>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dirty="0">
                <a:solidFill>
                  <a:srgbClr val="FFFFFF"/>
                </a:solidFill>
                <a:effectLst/>
                <a:uFillTx/>
                <a:latin typeface="Cambria"/>
              </a:rPr>
              <a:t>2</a:t>
            </a:r>
            <a:endParaRPr lang="de-DE" sz="3000" b="0" u="none" strike="noStrike" dirty="0">
              <a:solidFill>
                <a:srgbClr val="000000"/>
              </a:solidFill>
              <a:effectLst/>
              <a:uFillTx/>
              <a:latin typeface="Arial"/>
            </a:endParaRPr>
          </a:p>
        </p:txBody>
      </p:sp>
      <p:sp>
        <p:nvSpPr>
          <p:cNvPr id="144" name="TextBox 4">
            <a:extLst>
              <a:ext uri="{FF2B5EF4-FFF2-40B4-BE49-F238E27FC236}">
                <a16:creationId xmlns:a16="http://schemas.microsoft.com/office/drawing/2014/main" id="{5DA53285-3EA4-4E16-972E-8EAA3E9B90F6}"/>
              </a:ext>
            </a:extLst>
          </p:cNvPr>
          <p:cNvSpPr/>
          <p:nvPr/>
        </p:nvSpPr>
        <p:spPr>
          <a:xfrm>
            <a:off x="1691640" y="457200"/>
            <a:ext cx="914364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22272B"/>
                </a:solidFill>
                <a:effectLst/>
                <a:uFillTx/>
                <a:latin typeface="Cambria"/>
              </a:rPr>
              <a:t>Datenverständnis</a:t>
            </a:r>
            <a:endParaRPr lang="de-DE" sz="3200" b="0" u="none" strike="noStrike">
              <a:solidFill>
                <a:srgbClr val="000000"/>
              </a:solidFill>
              <a:effectLst/>
              <a:uFillTx/>
              <a:latin typeface="Arial"/>
            </a:endParaRPr>
          </a:p>
        </p:txBody>
      </p:sp>
      <p:sp>
        <p:nvSpPr>
          <p:cNvPr id="145" name="TextBox 5">
            <a:extLst>
              <a:ext uri="{FF2B5EF4-FFF2-40B4-BE49-F238E27FC236}">
                <a16:creationId xmlns:a16="http://schemas.microsoft.com/office/drawing/2014/main" id="{2F1D4595-4385-F820-6072-9435203F000C}"/>
              </a:ext>
            </a:extLst>
          </p:cNvPr>
          <p:cNvSpPr/>
          <p:nvPr/>
        </p:nvSpPr>
        <p:spPr>
          <a:xfrm>
            <a:off x="1710000" y="1115640"/>
            <a:ext cx="9143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E0912F"/>
                </a:solidFill>
                <a:effectLst/>
                <a:uFillTx/>
                <a:latin typeface="Calibri"/>
              </a:rPr>
              <a:t>CRISP-DM  ·  Data Understanding</a:t>
            </a:r>
            <a:endParaRPr lang="de-DE" sz="1400" b="0" u="none" strike="noStrike">
              <a:solidFill>
                <a:srgbClr val="000000"/>
              </a:solidFill>
              <a:effectLst/>
              <a:uFillTx/>
              <a:latin typeface="Arial"/>
            </a:endParaRPr>
          </a:p>
        </p:txBody>
      </p:sp>
      <p:sp>
        <p:nvSpPr>
          <p:cNvPr id="156" name="TextBox 16">
            <a:extLst>
              <a:ext uri="{FF2B5EF4-FFF2-40B4-BE49-F238E27FC236}">
                <a16:creationId xmlns:a16="http://schemas.microsoft.com/office/drawing/2014/main" id="{0CCA1049-1179-277B-2929-86AA67E895C3}"/>
              </a:ext>
            </a:extLst>
          </p:cNvP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de-DE" sz="900" b="0" u="none" strike="noStrike" dirty="0">
                <a:solidFill>
                  <a:srgbClr val="6C7278"/>
                </a:solidFill>
                <a:effectLst/>
                <a:uFillTx/>
                <a:latin typeface="Calibri"/>
              </a:rPr>
              <a:t>PM2.5-Prognose Beijing  ·  Prophet, Chronos &amp; </a:t>
            </a:r>
            <a:r>
              <a:rPr lang="de-DE" sz="900" dirty="0">
                <a:solidFill>
                  <a:srgbClr val="6C7278"/>
                </a:solidFill>
                <a:latin typeface="Calibri"/>
              </a:rPr>
              <a:t>TFT</a:t>
            </a:r>
            <a:r>
              <a:rPr lang="de-DE" sz="900" b="0" u="none" strike="noStrike" dirty="0">
                <a:solidFill>
                  <a:srgbClr val="6C7278"/>
                </a:solidFill>
                <a:effectLst/>
                <a:uFillTx/>
                <a:latin typeface="Calibri"/>
              </a:rPr>
              <a:t>  ·  CRISP-DM</a:t>
            </a:r>
            <a:endParaRPr lang="de-DE" sz="900" b="0" u="none" strike="noStrike" dirty="0">
              <a:solidFill>
                <a:srgbClr val="000000"/>
              </a:solidFill>
              <a:effectLst/>
              <a:uFillTx/>
              <a:latin typeface="Arial"/>
            </a:endParaRPr>
          </a:p>
        </p:txBody>
      </p:sp>
      <p:pic>
        <p:nvPicPr>
          <p:cNvPr id="3" name="Grafik 2">
            <a:extLst>
              <a:ext uri="{FF2B5EF4-FFF2-40B4-BE49-F238E27FC236}">
                <a16:creationId xmlns:a16="http://schemas.microsoft.com/office/drawing/2014/main" id="{B528DAD7-4FE1-E94C-3E43-796B207328EB}"/>
              </a:ext>
            </a:extLst>
          </p:cNvPr>
          <p:cNvPicPr>
            <a:picLocks noChangeAspect="1"/>
          </p:cNvPicPr>
          <p:nvPr/>
        </p:nvPicPr>
        <p:blipFill>
          <a:blip r:embed="rId3"/>
          <a:stretch>
            <a:fillRect/>
          </a:stretch>
        </p:blipFill>
        <p:spPr>
          <a:xfrm>
            <a:off x="1147470" y="1791798"/>
            <a:ext cx="10127480" cy="4197161"/>
          </a:xfrm>
          <a:prstGeom prst="rect">
            <a:avLst/>
          </a:prstGeom>
        </p:spPr>
      </p:pic>
    </p:spTree>
    <p:extLst>
      <p:ext uri="{BB962C8B-B14F-4D97-AF65-F5344CB8AC3E}">
        <p14:creationId xmlns:p14="http://schemas.microsoft.com/office/powerpoint/2010/main" val="40174075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Oval 2"/>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43" name="TextBox 3"/>
          <p:cNvSpPr/>
          <p:nvPr/>
        </p:nvSpPr>
        <p:spPr>
          <a:xfrm>
            <a:off x="457200" y="751967"/>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dirty="0">
                <a:solidFill>
                  <a:srgbClr val="FFFFFF"/>
                </a:solidFill>
                <a:effectLst/>
                <a:uFillTx/>
                <a:latin typeface="Cambria"/>
              </a:rPr>
              <a:t>2</a:t>
            </a:r>
            <a:endParaRPr lang="de-DE" sz="3000" b="0" u="none" strike="noStrike" dirty="0">
              <a:solidFill>
                <a:srgbClr val="000000"/>
              </a:solidFill>
              <a:effectLst/>
              <a:uFillTx/>
              <a:latin typeface="Arial"/>
            </a:endParaRPr>
          </a:p>
        </p:txBody>
      </p:sp>
      <p:sp>
        <p:nvSpPr>
          <p:cNvPr id="144" name="TextBox 4"/>
          <p:cNvSpPr/>
          <p:nvPr/>
        </p:nvSpPr>
        <p:spPr>
          <a:xfrm>
            <a:off x="1691640" y="457200"/>
            <a:ext cx="914364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22272B"/>
                </a:solidFill>
                <a:effectLst/>
                <a:uFillTx/>
                <a:latin typeface="Cambria"/>
              </a:rPr>
              <a:t>Datenverständnis</a:t>
            </a:r>
            <a:endParaRPr lang="de-DE" sz="3200" b="0" u="none" strike="noStrike">
              <a:solidFill>
                <a:srgbClr val="000000"/>
              </a:solidFill>
              <a:effectLst/>
              <a:uFillTx/>
              <a:latin typeface="Arial"/>
            </a:endParaRPr>
          </a:p>
        </p:txBody>
      </p:sp>
      <p:sp>
        <p:nvSpPr>
          <p:cNvPr id="145" name="TextBox 5"/>
          <p:cNvSpPr/>
          <p:nvPr/>
        </p:nvSpPr>
        <p:spPr>
          <a:xfrm>
            <a:off x="1710000" y="1115640"/>
            <a:ext cx="9143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E0912F"/>
                </a:solidFill>
                <a:effectLst/>
                <a:uFillTx/>
                <a:latin typeface="Calibri"/>
              </a:rPr>
              <a:t>CRISP-DM  ·  Data Understanding</a:t>
            </a:r>
            <a:endParaRPr lang="de-DE" sz="1400" b="0" u="none" strike="noStrike">
              <a:solidFill>
                <a:srgbClr val="000000"/>
              </a:solidFill>
              <a:effectLst/>
              <a:uFillTx/>
              <a:latin typeface="Arial"/>
            </a:endParaRPr>
          </a:p>
        </p:txBody>
      </p:sp>
      <p:sp>
        <p:nvSpPr>
          <p:cNvPr id="146" name="TextBox 6"/>
          <p:cNvSpPr/>
          <p:nvPr/>
        </p:nvSpPr>
        <p:spPr>
          <a:xfrm>
            <a:off x="502920" y="1828800"/>
            <a:ext cx="6400440" cy="184666"/>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lang="en-US" sz="1200" b="1" spc="150" dirty="0">
                <a:solidFill>
                  <a:srgbClr val="6C7278"/>
                </a:solidFill>
                <a:latin typeface="Calibri"/>
              </a:rPr>
              <a:t>PM2.5 KONZENTRATION: RECHTSSCHIEF</a:t>
            </a:r>
            <a:endParaRPr lang="de-DE" sz="1200" b="0" u="none" strike="noStrike" dirty="0">
              <a:solidFill>
                <a:srgbClr val="000000"/>
              </a:solidFill>
              <a:effectLst/>
              <a:uFillTx/>
              <a:latin typeface="Arial"/>
            </a:endParaRPr>
          </a:p>
        </p:txBody>
      </p:sp>
      <p:sp>
        <p:nvSpPr>
          <p:cNvPr id="156" name="TextBox 16"/>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de-DE" sz="900" b="0" u="none" strike="noStrike" dirty="0">
                <a:solidFill>
                  <a:srgbClr val="6C7278"/>
                </a:solidFill>
                <a:effectLst/>
                <a:uFillTx/>
                <a:latin typeface="Calibri"/>
              </a:rPr>
              <a:t>PM2.5-Prognose Beijing  ·  Prophet, Chronos &amp; </a:t>
            </a:r>
            <a:r>
              <a:rPr lang="de-DE" sz="900" dirty="0">
                <a:solidFill>
                  <a:srgbClr val="6C7278"/>
                </a:solidFill>
                <a:latin typeface="Calibri"/>
              </a:rPr>
              <a:t>TFT</a:t>
            </a:r>
            <a:r>
              <a:rPr lang="de-DE" sz="900" b="0" u="none" strike="noStrike" dirty="0">
                <a:solidFill>
                  <a:srgbClr val="6C7278"/>
                </a:solidFill>
                <a:effectLst/>
                <a:uFillTx/>
                <a:latin typeface="Calibri"/>
              </a:rPr>
              <a:t>  ·  CRISP-DM</a:t>
            </a:r>
            <a:endParaRPr lang="de-DE" sz="900" b="0" u="none" strike="noStrike" dirty="0">
              <a:solidFill>
                <a:srgbClr val="000000"/>
              </a:solidFill>
              <a:effectLst/>
              <a:uFillTx/>
              <a:latin typeface="Arial"/>
            </a:endParaRPr>
          </a:p>
        </p:txBody>
      </p:sp>
      <p:pic>
        <p:nvPicPr>
          <p:cNvPr id="3" name="Grafik 2">
            <a:extLst>
              <a:ext uri="{FF2B5EF4-FFF2-40B4-BE49-F238E27FC236}">
                <a16:creationId xmlns:a16="http://schemas.microsoft.com/office/drawing/2014/main" id="{9C4192AD-42D0-B5E5-69A1-34078A1E343C}"/>
              </a:ext>
            </a:extLst>
          </p:cNvPr>
          <p:cNvPicPr>
            <a:picLocks noChangeAspect="1"/>
          </p:cNvPicPr>
          <p:nvPr/>
        </p:nvPicPr>
        <p:blipFill>
          <a:blip r:embed="rId3"/>
          <a:stretch>
            <a:fillRect/>
          </a:stretch>
        </p:blipFill>
        <p:spPr>
          <a:xfrm>
            <a:off x="320632" y="2194560"/>
            <a:ext cx="7760525" cy="405951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BF806-EA6E-4DFE-652F-12C9489626DE}"/>
            </a:ext>
          </a:extLst>
        </p:cNvPr>
        <p:cNvGrpSpPr/>
        <p:nvPr/>
      </p:nvGrpSpPr>
      <p:grpSpPr>
        <a:xfrm>
          <a:off x="0" y="0"/>
          <a:ext cx="0" cy="0"/>
          <a:chOff x="0" y="0"/>
          <a:chExt cx="0" cy="0"/>
        </a:xfrm>
      </p:grpSpPr>
      <p:sp>
        <p:nvSpPr>
          <p:cNvPr id="142" name="Oval 2">
            <a:extLst>
              <a:ext uri="{FF2B5EF4-FFF2-40B4-BE49-F238E27FC236}">
                <a16:creationId xmlns:a16="http://schemas.microsoft.com/office/drawing/2014/main" id="{33D5BD51-6D36-F014-8FB4-9DAE446FCC7E}"/>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43" name="TextBox 3">
            <a:extLst>
              <a:ext uri="{FF2B5EF4-FFF2-40B4-BE49-F238E27FC236}">
                <a16:creationId xmlns:a16="http://schemas.microsoft.com/office/drawing/2014/main" id="{13FA8A56-D0CB-902B-9CA2-1CF6CDDA7F51}"/>
              </a:ext>
            </a:extLst>
          </p:cNvPr>
          <p:cNvSpPr/>
          <p:nvPr/>
        </p:nvSpPr>
        <p:spPr>
          <a:xfrm>
            <a:off x="457200" y="751967"/>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dirty="0">
                <a:solidFill>
                  <a:srgbClr val="FFFFFF"/>
                </a:solidFill>
                <a:effectLst/>
                <a:uFillTx/>
                <a:latin typeface="Cambria"/>
              </a:rPr>
              <a:t>2</a:t>
            </a:r>
            <a:endParaRPr lang="de-DE" sz="3000" b="0" u="none" strike="noStrike" dirty="0">
              <a:solidFill>
                <a:srgbClr val="000000"/>
              </a:solidFill>
              <a:effectLst/>
              <a:uFillTx/>
              <a:latin typeface="Arial"/>
            </a:endParaRPr>
          </a:p>
        </p:txBody>
      </p:sp>
      <p:sp>
        <p:nvSpPr>
          <p:cNvPr id="144" name="TextBox 4">
            <a:extLst>
              <a:ext uri="{FF2B5EF4-FFF2-40B4-BE49-F238E27FC236}">
                <a16:creationId xmlns:a16="http://schemas.microsoft.com/office/drawing/2014/main" id="{3BD04225-C7F7-E18E-C7E3-8BB5B327486C}"/>
              </a:ext>
            </a:extLst>
          </p:cNvPr>
          <p:cNvSpPr/>
          <p:nvPr/>
        </p:nvSpPr>
        <p:spPr>
          <a:xfrm>
            <a:off x="1691640" y="457200"/>
            <a:ext cx="914364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22272B"/>
                </a:solidFill>
                <a:effectLst/>
                <a:uFillTx/>
                <a:latin typeface="Cambria"/>
              </a:rPr>
              <a:t>Datenverständnis</a:t>
            </a:r>
            <a:endParaRPr lang="de-DE" sz="3200" b="0" u="none" strike="noStrike">
              <a:solidFill>
                <a:srgbClr val="000000"/>
              </a:solidFill>
              <a:effectLst/>
              <a:uFillTx/>
              <a:latin typeface="Arial"/>
            </a:endParaRPr>
          </a:p>
        </p:txBody>
      </p:sp>
      <p:sp>
        <p:nvSpPr>
          <p:cNvPr id="145" name="TextBox 5">
            <a:extLst>
              <a:ext uri="{FF2B5EF4-FFF2-40B4-BE49-F238E27FC236}">
                <a16:creationId xmlns:a16="http://schemas.microsoft.com/office/drawing/2014/main" id="{A781E54F-BD5C-7889-7970-0BBE101ADB7C}"/>
              </a:ext>
            </a:extLst>
          </p:cNvPr>
          <p:cNvSpPr/>
          <p:nvPr/>
        </p:nvSpPr>
        <p:spPr>
          <a:xfrm>
            <a:off x="1710000" y="1115640"/>
            <a:ext cx="9143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E0912F"/>
                </a:solidFill>
                <a:effectLst/>
                <a:uFillTx/>
                <a:latin typeface="Calibri"/>
              </a:rPr>
              <a:t>CRISP-DM  ·  Data Understanding</a:t>
            </a:r>
            <a:endParaRPr lang="de-DE" sz="1400" b="0" u="none" strike="noStrike">
              <a:solidFill>
                <a:srgbClr val="000000"/>
              </a:solidFill>
              <a:effectLst/>
              <a:uFillTx/>
              <a:latin typeface="Arial"/>
            </a:endParaRPr>
          </a:p>
        </p:txBody>
      </p:sp>
      <p:sp>
        <p:nvSpPr>
          <p:cNvPr id="146" name="TextBox 6">
            <a:extLst>
              <a:ext uri="{FF2B5EF4-FFF2-40B4-BE49-F238E27FC236}">
                <a16:creationId xmlns:a16="http://schemas.microsoft.com/office/drawing/2014/main" id="{49AA6563-FF17-7342-A68A-849D2884BE68}"/>
              </a:ext>
            </a:extLst>
          </p:cNvPr>
          <p:cNvSpPr/>
          <p:nvPr/>
        </p:nvSpPr>
        <p:spPr>
          <a:xfrm>
            <a:off x="502920" y="1828800"/>
            <a:ext cx="6400440" cy="18466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1" u="none" strike="noStrike" spc="150" dirty="0">
                <a:solidFill>
                  <a:srgbClr val="6C7278"/>
                </a:solidFill>
                <a:effectLst/>
                <a:uFillTx/>
                <a:latin typeface="Calibri"/>
              </a:rPr>
              <a:t>WIND und WETTER</a:t>
            </a:r>
            <a:endParaRPr lang="de-DE" sz="1200" b="0" u="none" strike="noStrike" dirty="0">
              <a:solidFill>
                <a:srgbClr val="000000"/>
              </a:solidFill>
              <a:effectLst/>
              <a:uFillTx/>
              <a:latin typeface="Arial"/>
            </a:endParaRPr>
          </a:p>
        </p:txBody>
      </p:sp>
      <p:sp>
        <p:nvSpPr>
          <p:cNvPr id="156" name="TextBox 16">
            <a:extLst>
              <a:ext uri="{FF2B5EF4-FFF2-40B4-BE49-F238E27FC236}">
                <a16:creationId xmlns:a16="http://schemas.microsoft.com/office/drawing/2014/main" id="{AA79264E-1DF5-03D2-883C-1BAA5E488BF3}"/>
              </a:ext>
            </a:extLst>
          </p:cNvP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de-DE" sz="900" b="0" u="none" strike="noStrike" dirty="0">
                <a:solidFill>
                  <a:srgbClr val="6C7278"/>
                </a:solidFill>
                <a:effectLst/>
                <a:uFillTx/>
                <a:latin typeface="Calibri"/>
              </a:rPr>
              <a:t>PM2.5-Prognose Beijing  ·  Prophet, Chronos &amp; </a:t>
            </a:r>
            <a:r>
              <a:rPr lang="de-DE" sz="900" dirty="0">
                <a:solidFill>
                  <a:srgbClr val="6C7278"/>
                </a:solidFill>
                <a:latin typeface="Calibri"/>
              </a:rPr>
              <a:t>TFT</a:t>
            </a:r>
            <a:r>
              <a:rPr lang="de-DE" sz="900" b="0" u="none" strike="noStrike" dirty="0">
                <a:solidFill>
                  <a:srgbClr val="6C7278"/>
                </a:solidFill>
                <a:effectLst/>
                <a:uFillTx/>
                <a:latin typeface="Calibri"/>
              </a:rPr>
              <a:t>  ·  CRISP-DM</a:t>
            </a:r>
            <a:endParaRPr lang="de-DE" sz="900" b="0" u="none" strike="noStrike" dirty="0">
              <a:solidFill>
                <a:srgbClr val="000000"/>
              </a:solidFill>
              <a:effectLst/>
              <a:uFillTx/>
              <a:latin typeface="Arial"/>
            </a:endParaRPr>
          </a:p>
        </p:txBody>
      </p:sp>
      <p:pic>
        <p:nvPicPr>
          <p:cNvPr id="3" name="Grafik 2">
            <a:extLst>
              <a:ext uri="{FF2B5EF4-FFF2-40B4-BE49-F238E27FC236}">
                <a16:creationId xmlns:a16="http://schemas.microsoft.com/office/drawing/2014/main" id="{7D474FDA-F9A6-8AFE-5436-5FBF3EF52705}"/>
              </a:ext>
            </a:extLst>
          </p:cNvPr>
          <p:cNvPicPr>
            <a:picLocks noChangeAspect="1"/>
          </p:cNvPicPr>
          <p:nvPr/>
        </p:nvPicPr>
        <p:blipFill>
          <a:blip r:embed="rId3"/>
          <a:stretch>
            <a:fillRect/>
          </a:stretch>
        </p:blipFill>
        <p:spPr>
          <a:xfrm>
            <a:off x="2339438" y="1569627"/>
            <a:ext cx="8104222" cy="4654502"/>
          </a:xfrm>
          <a:prstGeom prst="rect">
            <a:avLst/>
          </a:prstGeom>
        </p:spPr>
      </p:pic>
      <p:pic>
        <p:nvPicPr>
          <p:cNvPr id="5" name="Grafik 4">
            <a:extLst>
              <a:ext uri="{FF2B5EF4-FFF2-40B4-BE49-F238E27FC236}">
                <a16:creationId xmlns:a16="http://schemas.microsoft.com/office/drawing/2014/main" id="{3D6BAEFC-339F-26D3-2CAE-DE604C5DA948}"/>
              </a:ext>
            </a:extLst>
          </p:cNvPr>
          <p:cNvPicPr>
            <a:picLocks noChangeAspect="1"/>
          </p:cNvPicPr>
          <p:nvPr/>
        </p:nvPicPr>
        <p:blipFill>
          <a:blip r:embed="rId4"/>
          <a:stretch>
            <a:fillRect/>
          </a:stretch>
        </p:blipFill>
        <p:spPr>
          <a:xfrm>
            <a:off x="7682975" y="2553195"/>
            <a:ext cx="4145123" cy="2152973"/>
          </a:xfrm>
          <a:prstGeom prst="rect">
            <a:avLst/>
          </a:prstGeom>
        </p:spPr>
      </p:pic>
    </p:spTree>
    <p:extLst>
      <p:ext uri="{BB962C8B-B14F-4D97-AF65-F5344CB8AC3E}">
        <p14:creationId xmlns:p14="http://schemas.microsoft.com/office/powerpoint/2010/main" val="2830173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30605-B4AF-AACA-FC17-590090CF1653}"/>
            </a:ext>
          </a:extLst>
        </p:cNvPr>
        <p:cNvGrpSpPr/>
        <p:nvPr/>
      </p:nvGrpSpPr>
      <p:grpSpPr>
        <a:xfrm>
          <a:off x="0" y="0"/>
          <a:ext cx="0" cy="0"/>
          <a:chOff x="0" y="0"/>
          <a:chExt cx="0" cy="0"/>
        </a:xfrm>
      </p:grpSpPr>
      <p:sp>
        <p:nvSpPr>
          <p:cNvPr id="142" name="Oval 2">
            <a:extLst>
              <a:ext uri="{FF2B5EF4-FFF2-40B4-BE49-F238E27FC236}">
                <a16:creationId xmlns:a16="http://schemas.microsoft.com/office/drawing/2014/main" id="{BF16603A-1F95-8632-A976-9FD09E7E94EC}"/>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43" name="TextBox 3">
            <a:extLst>
              <a:ext uri="{FF2B5EF4-FFF2-40B4-BE49-F238E27FC236}">
                <a16:creationId xmlns:a16="http://schemas.microsoft.com/office/drawing/2014/main" id="{ECA987DC-5119-614A-E9D4-1610556C186B}"/>
              </a:ext>
            </a:extLst>
          </p:cNvPr>
          <p:cNvSpPr/>
          <p:nvPr/>
        </p:nvSpPr>
        <p:spPr>
          <a:xfrm>
            <a:off x="457200" y="751967"/>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dirty="0">
                <a:solidFill>
                  <a:srgbClr val="FFFFFF"/>
                </a:solidFill>
                <a:effectLst/>
                <a:uFillTx/>
                <a:latin typeface="Cambria"/>
              </a:rPr>
              <a:t>2</a:t>
            </a:r>
            <a:endParaRPr lang="de-DE" sz="3000" b="0" u="none" strike="noStrike" dirty="0">
              <a:solidFill>
                <a:srgbClr val="000000"/>
              </a:solidFill>
              <a:effectLst/>
              <a:uFillTx/>
              <a:latin typeface="Arial"/>
            </a:endParaRPr>
          </a:p>
        </p:txBody>
      </p:sp>
      <p:sp>
        <p:nvSpPr>
          <p:cNvPr id="144" name="TextBox 4">
            <a:extLst>
              <a:ext uri="{FF2B5EF4-FFF2-40B4-BE49-F238E27FC236}">
                <a16:creationId xmlns:a16="http://schemas.microsoft.com/office/drawing/2014/main" id="{38C3B7A3-C801-8095-1139-B96F284C229B}"/>
              </a:ext>
            </a:extLst>
          </p:cNvPr>
          <p:cNvSpPr/>
          <p:nvPr/>
        </p:nvSpPr>
        <p:spPr>
          <a:xfrm>
            <a:off x="1691640" y="457200"/>
            <a:ext cx="914364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22272B"/>
                </a:solidFill>
                <a:effectLst/>
                <a:uFillTx/>
                <a:latin typeface="Cambria"/>
              </a:rPr>
              <a:t>Datenverständnis</a:t>
            </a:r>
            <a:endParaRPr lang="de-DE" sz="3200" b="0" u="none" strike="noStrike">
              <a:solidFill>
                <a:srgbClr val="000000"/>
              </a:solidFill>
              <a:effectLst/>
              <a:uFillTx/>
              <a:latin typeface="Arial"/>
            </a:endParaRPr>
          </a:p>
        </p:txBody>
      </p:sp>
      <p:sp>
        <p:nvSpPr>
          <p:cNvPr id="145" name="TextBox 5">
            <a:extLst>
              <a:ext uri="{FF2B5EF4-FFF2-40B4-BE49-F238E27FC236}">
                <a16:creationId xmlns:a16="http://schemas.microsoft.com/office/drawing/2014/main" id="{D35920EE-E418-C661-498C-6DA7226F008A}"/>
              </a:ext>
            </a:extLst>
          </p:cNvPr>
          <p:cNvSpPr/>
          <p:nvPr/>
        </p:nvSpPr>
        <p:spPr>
          <a:xfrm>
            <a:off x="1710000" y="1115640"/>
            <a:ext cx="9143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E0912F"/>
                </a:solidFill>
                <a:effectLst/>
                <a:uFillTx/>
                <a:latin typeface="Calibri"/>
              </a:rPr>
              <a:t>CRISP-DM  ·  Data Understanding</a:t>
            </a:r>
            <a:endParaRPr lang="de-DE" sz="1400" b="0" u="none" strike="noStrike">
              <a:solidFill>
                <a:srgbClr val="000000"/>
              </a:solidFill>
              <a:effectLst/>
              <a:uFillTx/>
              <a:latin typeface="Arial"/>
            </a:endParaRPr>
          </a:p>
        </p:txBody>
      </p:sp>
      <p:sp>
        <p:nvSpPr>
          <p:cNvPr id="146" name="TextBox 6">
            <a:extLst>
              <a:ext uri="{FF2B5EF4-FFF2-40B4-BE49-F238E27FC236}">
                <a16:creationId xmlns:a16="http://schemas.microsoft.com/office/drawing/2014/main" id="{F620DA09-46EA-1718-40DB-877CBFEAE6A1}"/>
              </a:ext>
            </a:extLst>
          </p:cNvPr>
          <p:cNvSpPr/>
          <p:nvPr/>
        </p:nvSpPr>
        <p:spPr>
          <a:xfrm>
            <a:off x="502920" y="1828800"/>
            <a:ext cx="6400440" cy="18466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1" u="none" strike="noStrike" spc="150" dirty="0">
                <a:solidFill>
                  <a:srgbClr val="6C7278"/>
                </a:solidFill>
                <a:effectLst/>
                <a:uFillTx/>
                <a:latin typeface="Calibri"/>
              </a:rPr>
              <a:t>DAS CHINESISCHE NEUJAHRSFEST</a:t>
            </a:r>
            <a:endParaRPr lang="de-DE" sz="1200" b="0" u="none" strike="noStrike" dirty="0">
              <a:solidFill>
                <a:srgbClr val="000000"/>
              </a:solidFill>
              <a:effectLst/>
              <a:uFillTx/>
              <a:latin typeface="Arial"/>
            </a:endParaRPr>
          </a:p>
        </p:txBody>
      </p:sp>
      <p:sp>
        <p:nvSpPr>
          <p:cNvPr id="156" name="TextBox 16">
            <a:extLst>
              <a:ext uri="{FF2B5EF4-FFF2-40B4-BE49-F238E27FC236}">
                <a16:creationId xmlns:a16="http://schemas.microsoft.com/office/drawing/2014/main" id="{6C9272BC-91BC-C6A0-A725-5CB2FFCA8674}"/>
              </a:ext>
            </a:extLst>
          </p:cNvP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de-DE" sz="900" b="0" u="none" strike="noStrike" dirty="0">
                <a:solidFill>
                  <a:srgbClr val="6C7278"/>
                </a:solidFill>
                <a:effectLst/>
                <a:uFillTx/>
                <a:latin typeface="Calibri"/>
              </a:rPr>
              <a:t>PM2.5-Prognose Beijing  ·  Prophet, Chronos &amp; </a:t>
            </a:r>
            <a:r>
              <a:rPr lang="de-DE" sz="900" dirty="0">
                <a:solidFill>
                  <a:srgbClr val="6C7278"/>
                </a:solidFill>
                <a:latin typeface="Calibri"/>
              </a:rPr>
              <a:t>TFT</a:t>
            </a:r>
            <a:r>
              <a:rPr lang="de-DE" sz="900" b="0" u="none" strike="noStrike" dirty="0">
                <a:solidFill>
                  <a:srgbClr val="6C7278"/>
                </a:solidFill>
                <a:effectLst/>
                <a:uFillTx/>
                <a:latin typeface="Calibri"/>
              </a:rPr>
              <a:t>  ·  CRISP-DM</a:t>
            </a:r>
            <a:endParaRPr lang="de-DE" sz="900" b="0" u="none" strike="noStrike" dirty="0">
              <a:solidFill>
                <a:srgbClr val="000000"/>
              </a:solidFill>
              <a:effectLst/>
              <a:uFillTx/>
              <a:latin typeface="Arial"/>
            </a:endParaRPr>
          </a:p>
        </p:txBody>
      </p:sp>
      <p:pic>
        <p:nvPicPr>
          <p:cNvPr id="3" name="Grafik 2">
            <a:extLst>
              <a:ext uri="{FF2B5EF4-FFF2-40B4-BE49-F238E27FC236}">
                <a16:creationId xmlns:a16="http://schemas.microsoft.com/office/drawing/2014/main" id="{D10F6570-448E-4EC9-74B8-2F034E6D3A0D}"/>
              </a:ext>
            </a:extLst>
          </p:cNvPr>
          <p:cNvPicPr>
            <a:picLocks noChangeAspect="1"/>
          </p:cNvPicPr>
          <p:nvPr/>
        </p:nvPicPr>
        <p:blipFill>
          <a:blip r:embed="rId3"/>
          <a:stretch>
            <a:fillRect/>
          </a:stretch>
        </p:blipFill>
        <p:spPr>
          <a:xfrm>
            <a:off x="3703140" y="1424794"/>
            <a:ext cx="7780299" cy="5050612"/>
          </a:xfrm>
          <a:prstGeom prst="rect">
            <a:avLst/>
          </a:prstGeom>
        </p:spPr>
      </p:pic>
    </p:spTree>
    <p:extLst>
      <p:ext uri="{BB962C8B-B14F-4D97-AF65-F5344CB8AC3E}">
        <p14:creationId xmlns:p14="http://schemas.microsoft.com/office/powerpoint/2010/main" val="503980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0262E"/>
        </a:solidFill>
        <a:effectLst/>
      </p:bgPr>
    </p:bg>
    <p:spTree>
      <p:nvGrpSpPr>
        <p:cNvPr id="1" name="">
          <a:extLst>
            <a:ext uri="{FF2B5EF4-FFF2-40B4-BE49-F238E27FC236}">
              <a16:creationId xmlns:a16="http://schemas.microsoft.com/office/drawing/2014/main" id="{E1F6BE16-5377-4743-3B73-D28B43CE526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062297C-F5B4-4C9F-2909-A97678B11FB4}"/>
              </a:ext>
            </a:extLst>
          </p:cNvPr>
          <p:cNvSpPr/>
          <p:nvPr/>
        </p:nvSpPr>
        <p:spPr>
          <a:xfrm>
            <a:off x="729711" y="1376690"/>
            <a:ext cx="10672012" cy="547283"/>
          </a:xfrm>
          <a:prstGeom prst="rect">
            <a:avLst/>
          </a:prstGeom>
          <a:noFill/>
          <a:ln/>
        </p:spPr>
        <p:txBody>
          <a:bodyPr wrap="square" lIns="0" tIns="0" rIns="0" bIns="0" rtlCol="0" anchor="ctr"/>
          <a:lstStyle/>
          <a:p>
            <a:pPr marL="0" marR="0" lvl="0" indent="0" algn="l" defTabSz="912114" rtl="0" eaLnBrk="1" fontAlgn="auto" latinLnBrk="0" hangingPunct="1">
              <a:lnSpc>
                <a:spcPct val="100000"/>
              </a:lnSpc>
              <a:spcBef>
                <a:spcPts val="0"/>
              </a:spcBef>
              <a:spcAft>
                <a:spcPts val="0"/>
              </a:spcAft>
              <a:buClrTx/>
              <a:buSzTx/>
              <a:buFontTx/>
              <a:buNone/>
              <a:tabLst/>
              <a:defRPr/>
            </a:pPr>
            <a:r>
              <a:rPr lang="en-US" sz="1795" dirty="0" err="1">
                <a:solidFill>
                  <a:srgbClr val="E0912F"/>
                </a:solidFill>
                <a:latin typeface="Calibri" pitchFamily="34" charset="0"/>
                <a:ea typeface="Calibri" pitchFamily="34" charset="-122"/>
                <a:cs typeface="Calibri" pitchFamily="34" charset="-120"/>
              </a:rPr>
              <a:t>Vorbereitung</a:t>
            </a:r>
            <a:endParaRPr kumimoji="0" lang="en-US" sz="179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D806498C-A6C4-BC0D-51F1-064BF037BCA5}"/>
              </a:ext>
            </a:extLst>
          </p:cNvPr>
          <p:cNvSpPr/>
          <p:nvPr/>
        </p:nvSpPr>
        <p:spPr>
          <a:xfrm>
            <a:off x="729711" y="2197614"/>
            <a:ext cx="10672012" cy="2736413"/>
          </a:xfrm>
          <a:prstGeom prst="rect">
            <a:avLst/>
          </a:prstGeom>
          <a:noFill/>
          <a:ln/>
        </p:spPr>
        <p:txBody>
          <a:bodyPr wrap="square" lIns="0" tIns="0" rIns="0" bIns="0" rtlCol="0" anchor="ctr"/>
          <a:lstStyle/>
          <a:p>
            <a:pPr marL="0" marR="0" lvl="0" indent="0" algn="l" defTabSz="912114" rtl="0" eaLnBrk="1" fontAlgn="auto" latinLnBrk="0" hangingPunct="1">
              <a:lnSpc>
                <a:spcPct val="115000"/>
              </a:lnSpc>
              <a:spcBef>
                <a:spcPts val="0"/>
              </a:spcBef>
              <a:spcAft>
                <a:spcPts val="0"/>
              </a:spcAft>
              <a:buClrTx/>
              <a:buSzTx/>
              <a:buFontTx/>
              <a:buNone/>
              <a:tabLst/>
              <a:defRPr/>
            </a:pP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Wie </a:t>
            </a: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Cambria" pitchFamily="34" charset="-120"/>
              </a:rPr>
              <a:t>bekommen</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 </a:t>
            </a: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Cambria" pitchFamily="34" charset="-120"/>
              </a:rPr>
              <a:t>wir</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 die </a:t>
            </a: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Cambria" pitchFamily="34" charset="-120"/>
              </a:rPr>
              <a:t>Daten</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 Modell-</a:t>
            </a: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Cambria" pitchFamily="34" charset="-120"/>
              </a:rPr>
              <a:t>tauglich</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a:t>
            </a:r>
            <a:endParaRPr kumimoji="0" lang="en-US" sz="299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 name="Gruppieren 3">
            <a:extLst>
              <a:ext uri="{FF2B5EF4-FFF2-40B4-BE49-F238E27FC236}">
                <a16:creationId xmlns:a16="http://schemas.microsoft.com/office/drawing/2014/main" id="{B3B01F71-1CA9-08A7-1ECE-1EF8ACB6CC14}"/>
              </a:ext>
            </a:extLst>
          </p:cNvPr>
          <p:cNvGrpSpPr/>
          <p:nvPr/>
        </p:nvGrpSpPr>
        <p:grpSpPr>
          <a:xfrm>
            <a:off x="694744" y="403848"/>
            <a:ext cx="1051200" cy="1051200"/>
            <a:chOff x="694744" y="403848"/>
            <a:chExt cx="1051200" cy="1051200"/>
          </a:xfrm>
        </p:grpSpPr>
        <p:sp>
          <p:nvSpPr>
            <p:cNvPr id="6" name="Oval 2">
              <a:extLst>
                <a:ext uri="{FF2B5EF4-FFF2-40B4-BE49-F238E27FC236}">
                  <a16:creationId xmlns:a16="http://schemas.microsoft.com/office/drawing/2014/main" id="{9190F7AD-E2F1-6E86-C004-5C62DC790D30}"/>
                </a:ext>
              </a:extLst>
            </p:cNvPr>
            <p:cNvSpPr/>
            <p:nvPr/>
          </p:nvSpPr>
          <p:spPr>
            <a:xfrm>
              <a:off x="694744" y="403848"/>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7" name="TextBox 3">
              <a:extLst>
                <a:ext uri="{FF2B5EF4-FFF2-40B4-BE49-F238E27FC236}">
                  <a16:creationId xmlns:a16="http://schemas.microsoft.com/office/drawing/2014/main" id="{4D7568F8-20B8-2EA8-B7BC-00B4F18F5A57}"/>
                </a:ext>
              </a:extLst>
            </p:cNvPr>
            <p:cNvSpPr/>
            <p:nvPr/>
          </p:nvSpPr>
          <p:spPr>
            <a:xfrm>
              <a:off x="694744" y="712481"/>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Cambria"/>
                  <a:ea typeface="+mn-ea"/>
                  <a:cs typeface="+mn-cs"/>
                </a:rPr>
                <a:t>3</a:t>
              </a:r>
              <a:endParaRPr kumimoji="0" lang="de-DE" sz="3000" b="0" i="0" u="none" strike="noStrike" kern="1200" cap="none" spc="0" normalizeH="0" baseline="0" noProof="0" dirty="0">
                <a:ln>
                  <a:noFill/>
                </a:ln>
                <a:solidFill>
                  <a:srgbClr val="000000"/>
                </a:solidFill>
                <a:effectLst/>
                <a:uLnTx/>
                <a:uFillTx/>
                <a:latin typeface="Arial"/>
                <a:ea typeface="+mn-ea"/>
                <a:cs typeface="+mn-cs"/>
              </a:endParaRPr>
            </a:p>
          </p:txBody>
        </p:sp>
      </p:grpSp>
    </p:spTree>
    <p:extLst>
      <p:ext uri="{BB962C8B-B14F-4D97-AF65-F5344CB8AC3E}">
        <p14:creationId xmlns:p14="http://schemas.microsoft.com/office/powerpoint/2010/main" val="3060793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7283" y="418945"/>
            <a:ext cx="10945654" cy="638496"/>
          </a:xfrm>
          <a:prstGeom prst="rect">
            <a:avLst/>
          </a:prstGeom>
          <a:noFill/>
          <a:ln/>
        </p:spPr>
        <p:txBody>
          <a:bodyPr wrap="square" rtlCol="0" anchor="ctr"/>
          <a:lstStyle/>
          <a:p>
            <a:r>
              <a:rPr lang="en-US" sz="3192" b="1" dirty="0">
                <a:solidFill>
                  <a:srgbClr val="FFFFFF"/>
                </a:solidFill>
                <a:latin typeface="Century Schoolbook" pitchFamily="34" charset="0"/>
                <a:ea typeface="Century Schoolbook" pitchFamily="34" charset="-122"/>
                <a:cs typeface="Century Schoolbook" pitchFamily="34" charset="-120"/>
              </a:rPr>
              <a:t>Gemeinsame Basis-Schritte</a:t>
            </a:r>
            <a:endParaRPr lang="en-US" sz="3192" dirty="0"/>
          </a:p>
        </p:txBody>
      </p:sp>
      <p:sp>
        <p:nvSpPr>
          <p:cNvPr id="3" name="Text 1"/>
          <p:cNvSpPr/>
          <p:nvPr/>
        </p:nvSpPr>
        <p:spPr>
          <a:xfrm>
            <a:off x="1893405" y="783800"/>
            <a:ext cx="10945654" cy="364855"/>
          </a:xfrm>
          <a:prstGeom prst="rect">
            <a:avLst/>
          </a:prstGeom>
          <a:noFill/>
          <a:ln/>
        </p:spPr>
        <p:txBody>
          <a:bodyPr wrap="square" rtlCol="0" anchor="ctr"/>
          <a:lstStyle/>
          <a:p>
            <a:r>
              <a:rPr lang="en-US" sz="3400" b="1" dirty="0">
                <a:solidFill>
                  <a:srgbClr val="22272B"/>
                </a:solidFill>
                <a:latin typeface="Cambria"/>
              </a:rPr>
              <a:t>Diese vier Schritte laufen bei Prophet, Chronos und TFT im Kern </a:t>
            </a:r>
            <a:r>
              <a:rPr lang="en-US" sz="3400" b="1" dirty="0" err="1">
                <a:solidFill>
                  <a:srgbClr val="22272B"/>
                </a:solidFill>
                <a:latin typeface="Cambria"/>
              </a:rPr>
              <a:t>gleich</a:t>
            </a:r>
            <a:r>
              <a:rPr lang="en-US" sz="3400" b="1" dirty="0">
                <a:solidFill>
                  <a:srgbClr val="22272B"/>
                </a:solidFill>
                <a:latin typeface="Cambria"/>
              </a:rPr>
              <a:t> ab</a:t>
            </a:r>
          </a:p>
        </p:txBody>
      </p:sp>
      <p:sp>
        <p:nvSpPr>
          <p:cNvPr id="4" name="Shape 2"/>
          <p:cNvSpPr/>
          <p:nvPr/>
        </p:nvSpPr>
        <p:spPr>
          <a:xfrm>
            <a:off x="547283" y="1741545"/>
            <a:ext cx="2736413" cy="3967799"/>
          </a:xfrm>
          <a:prstGeom prst="roundRect">
            <a:avLst>
              <a:gd name="adj" fmla="val 3333"/>
            </a:avLst>
          </a:prstGeom>
          <a:solidFill>
            <a:srgbClr val="F2F5F6"/>
          </a:solidFill>
          <a:ln w="12700">
            <a:solidFill>
              <a:srgbClr val="D9E0E3"/>
            </a:solidFill>
            <a:prstDash val="solid"/>
          </a:ln>
        </p:spPr>
        <p:txBody>
          <a:bodyPr/>
          <a:lstStyle/>
          <a:p>
            <a:endParaRPr lang="de-DE" sz="1795"/>
          </a:p>
        </p:txBody>
      </p:sp>
      <p:sp>
        <p:nvSpPr>
          <p:cNvPr id="5" name="Shape 3"/>
          <p:cNvSpPr/>
          <p:nvPr/>
        </p:nvSpPr>
        <p:spPr>
          <a:xfrm>
            <a:off x="1532392" y="2015186"/>
            <a:ext cx="766196" cy="766196"/>
          </a:xfrm>
          <a:prstGeom prst="ellipse">
            <a:avLst/>
          </a:prstGeom>
          <a:solidFill>
            <a:srgbClr val="1C7293"/>
          </a:solidFill>
          <a:ln/>
        </p:spPr>
        <p:txBody>
          <a:bodyPr/>
          <a:lstStyle/>
          <a:p>
            <a:endParaRPr lang="de-DE" sz="1795"/>
          </a:p>
        </p:txBody>
      </p:sp>
      <p:sp>
        <p:nvSpPr>
          <p:cNvPr id="6" name="Text 4"/>
          <p:cNvSpPr/>
          <p:nvPr/>
        </p:nvSpPr>
        <p:spPr>
          <a:xfrm>
            <a:off x="1532392" y="2015186"/>
            <a:ext cx="766196" cy="766196"/>
          </a:xfrm>
          <a:prstGeom prst="rect">
            <a:avLst/>
          </a:prstGeom>
          <a:noFill/>
          <a:ln/>
        </p:spPr>
        <p:txBody>
          <a:bodyPr wrap="square" lIns="0" tIns="0" rIns="0" bIns="0" rtlCol="0" anchor="ctr"/>
          <a:lstStyle/>
          <a:p>
            <a:pPr algn="ctr"/>
            <a:r>
              <a:rPr lang="en-US" sz="2993" b="1" dirty="0">
                <a:solidFill>
                  <a:srgbClr val="FFFFFF"/>
                </a:solidFill>
                <a:latin typeface="Century Schoolbook" pitchFamily="34" charset="0"/>
                <a:ea typeface="Century Schoolbook" pitchFamily="34" charset="-122"/>
                <a:cs typeface="Century Schoolbook" pitchFamily="34" charset="-120"/>
              </a:rPr>
              <a:t>1</a:t>
            </a:r>
            <a:endParaRPr lang="en-US" sz="2993" dirty="0"/>
          </a:p>
        </p:txBody>
      </p:sp>
      <p:sp>
        <p:nvSpPr>
          <p:cNvPr id="7" name="Text 5"/>
          <p:cNvSpPr/>
          <p:nvPr/>
        </p:nvSpPr>
        <p:spPr>
          <a:xfrm>
            <a:off x="729711" y="2972931"/>
            <a:ext cx="2371558" cy="775317"/>
          </a:xfrm>
          <a:prstGeom prst="rect">
            <a:avLst/>
          </a:prstGeom>
          <a:noFill/>
          <a:ln/>
        </p:spPr>
        <p:txBody>
          <a:bodyPr wrap="square" lIns="0" tIns="0" rIns="0" bIns="0" rtlCol="0" anchor="t"/>
          <a:lstStyle/>
          <a:p>
            <a:pPr algn="ctr"/>
            <a:r>
              <a:rPr lang="en-US" sz="1596" b="1" dirty="0">
                <a:solidFill>
                  <a:srgbClr val="E0912F"/>
                </a:solidFill>
                <a:latin typeface="Calibri" pitchFamily="34" charset="0"/>
                <a:ea typeface="Calibri" pitchFamily="34" charset="-122"/>
                <a:cs typeface="Calibri" pitchFamily="34" charset="-120"/>
              </a:rPr>
              <a:t>Zeitstempel bauen</a:t>
            </a:r>
            <a:endParaRPr lang="en-US" sz="1596" dirty="0"/>
          </a:p>
        </p:txBody>
      </p:sp>
      <p:sp>
        <p:nvSpPr>
          <p:cNvPr id="8" name="Text 6"/>
          <p:cNvSpPr/>
          <p:nvPr/>
        </p:nvSpPr>
        <p:spPr>
          <a:xfrm>
            <a:off x="766196" y="3793855"/>
            <a:ext cx="2298587" cy="1824276"/>
          </a:xfrm>
          <a:prstGeom prst="rect">
            <a:avLst/>
          </a:prstGeom>
          <a:noFill/>
          <a:ln/>
        </p:spPr>
        <p:txBody>
          <a:bodyPr wrap="square" lIns="0" tIns="0" rIns="0" bIns="0" rtlCol="0" anchor="t"/>
          <a:lstStyle/>
          <a:p>
            <a:pPr algn="ctr">
              <a:lnSpc>
                <a:spcPct val="112000"/>
              </a:lnSpc>
            </a:pPr>
            <a:r>
              <a:rPr lang="en-US" sz="1297" dirty="0">
                <a:latin typeface="Calibri" pitchFamily="34" charset="0"/>
                <a:ea typeface="Calibri" pitchFamily="34" charset="-122"/>
                <a:cs typeface="Calibri" pitchFamily="34" charset="-120"/>
              </a:rPr>
              <a:t>year / month / day / hour → ein durchgehender datetime-Index, sortiert.</a:t>
            </a:r>
            <a:endParaRPr lang="en-US" sz="1297" dirty="0"/>
          </a:p>
        </p:txBody>
      </p:sp>
      <p:sp>
        <p:nvSpPr>
          <p:cNvPr id="9" name="Shape 7"/>
          <p:cNvSpPr/>
          <p:nvPr/>
        </p:nvSpPr>
        <p:spPr>
          <a:xfrm>
            <a:off x="3320182" y="1741544"/>
            <a:ext cx="2736413" cy="3967799"/>
          </a:xfrm>
          <a:prstGeom prst="roundRect">
            <a:avLst>
              <a:gd name="adj" fmla="val 3333"/>
            </a:avLst>
          </a:prstGeom>
          <a:solidFill>
            <a:srgbClr val="F2F5F6"/>
          </a:solidFill>
          <a:ln w="12700">
            <a:solidFill>
              <a:srgbClr val="D9E0E3"/>
            </a:solidFill>
            <a:prstDash val="solid"/>
          </a:ln>
        </p:spPr>
        <p:txBody>
          <a:bodyPr/>
          <a:lstStyle/>
          <a:p>
            <a:endParaRPr lang="de-DE" sz="1795"/>
          </a:p>
        </p:txBody>
      </p:sp>
      <p:sp>
        <p:nvSpPr>
          <p:cNvPr id="10" name="Shape 8"/>
          <p:cNvSpPr/>
          <p:nvPr/>
        </p:nvSpPr>
        <p:spPr>
          <a:xfrm>
            <a:off x="4323533" y="2015186"/>
            <a:ext cx="766196" cy="766196"/>
          </a:xfrm>
          <a:prstGeom prst="ellipse">
            <a:avLst/>
          </a:prstGeom>
          <a:solidFill>
            <a:srgbClr val="1C7293"/>
          </a:solidFill>
          <a:ln/>
        </p:spPr>
        <p:txBody>
          <a:bodyPr/>
          <a:lstStyle/>
          <a:p>
            <a:endParaRPr lang="de-DE" sz="1795"/>
          </a:p>
        </p:txBody>
      </p:sp>
      <p:sp>
        <p:nvSpPr>
          <p:cNvPr id="11" name="Text 9"/>
          <p:cNvSpPr/>
          <p:nvPr/>
        </p:nvSpPr>
        <p:spPr>
          <a:xfrm>
            <a:off x="4323533" y="2015186"/>
            <a:ext cx="766196" cy="766196"/>
          </a:xfrm>
          <a:prstGeom prst="rect">
            <a:avLst/>
          </a:prstGeom>
          <a:noFill/>
          <a:ln/>
        </p:spPr>
        <p:txBody>
          <a:bodyPr wrap="square" lIns="0" tIns="0" rIns="0" bIns="0" rtlCol="0" anchor="ctr"/>
          <a:lstStyle/>
          <a:p>
            <a:pPr algn="ctr"/>
            <a:r>
              <a:rPr lang="en-US" sz="2993" b="1" dirty="0">
                <a:solidFill>
                  <a:srgbClr val="FFFFFF"/>
                </a:solidFill>
                <a:latin typeface="Century Schoolbook" pitchFamily="34" charset="0"/>
                <a:ea typeface="Century Schoolbook" pitchFamily="34" charset="-122"/>
                <a:cs typeface="Century Schoolbook" pitchFamily="34" charset="-120"/>
              </a:rPr>
              <a:t>2</a:t>
            </a:r>
            <a:endParaRPr lang="en-US" sz="2993" dirty="0"/>
          </a:p>
        </p:txBody>
      </p:sp>
      <p:sp>
        <p:nvSpPr>
          <p:cNvPr id="12" name="Text 10"/>
          <p:cNvSpPr/>
          <p:nvPr/>
        </p:nvSpPr>
        <p:spPr>
          <a:xfrm>
            <a:off x="3520852" y="2972931"/>
            <a:ext cx="2371558" cy="775317"/>
          </a:xfrm>
          <a:prstGeom prst="rect">
            <a:avLst/>
          </a:prstGeom>
          <a:noFill/>
          <a:ln/>
        </p:spPr>
        <p:txBody>
          <a:bodyPr wrap="square" lIns="0" tIns="0" rIns="0" bIns="0" rtlCol="0" anchor="t"/>
          <a:lstStyle/>
          <a:p>
            <a:pPr algn="ctr"/>
            <a:r>
              <a:rPr lang="en-US" sz="1596" b="1" dirty="0">
                <a:solidFill>
                  <a:srgbClr val="E0912F"/>
                </a:solidFill>
                <a:latin typeface="Calibri" pitchFamily="34" charset="0"/>
                <a:ea typeface="Calibri" pitchFamily="34" charset="-122"/>
                <a:cs typeface="Calibri" pitchFamily="34" charset="-120"/>
              </a:rPr>
              <a:t>Lückenloses Stundenraster</a:t>
            </a:r>
            <a:endParaRPr lang="en-US" sz="1596" dirty="0"/>
          </a:p>
        </p:txBody>
      </p:sp>
      <p:sp>
        <p:nvSpPr>
          <p:cNvPr id="13" name="Text 11"/>
          <p:cNvSpPr/>
          <p:nvPr/>
        </p:nvSpPr>
        <p:spPr>
          <a:xfrm>
            <a:off x="3557338" y="3793855"/>
            <a:ext cx="2298587" cy="1824276"/>
          </a:xfrm>
          <a:prstGeom prst="rect">
            <a:avLst/>
          </a:prstGeom>
          <a:noFill/>
          <a:ln/>
        </p:spPr>
        <p:txBody>
          <a:bodyPr wrap="square" lIns="0" tIns="0" rIns="0" bIns="0" rtlCol="0" anchor="t"/>
          <a:lstStyle/>
          <a:p>
            <a:pPr algn="ctr">
              <a:lnSpc>
                <a:spcPct val="112000"/>
              </a:lnSpc>
            </a:pPr>
            <a:r>
              <a:rPr lang="en-US" sz="1297" dirty="0">
                <a:latin typeface="Calibri" pitchFamily="34" charset="0"/>
                <a:ea typeface="Calibri" pitchFamily="34" charset="-122"/>
                <a:cs typeface="Calibri" pitchFamily="34" charset="-120"/>
              </a:rPr>
              <a:t>reindex auf vollen Stundenindex — fehlende Stunden </a:t>
            </a:r>
            <a:r>
              <a:rPr lang="en-US" sz="1297" dirty="0" err="1">
                <a:latin typeface="Calibri" pitchFamily="34" charset="0"/>
                <a:ea typeface="Calibri" pitchFamily="34" charset="-122"/>
                <a:cs typeface="Calibri" pitchFamily="34" charset="-120"/>
              </a:rPr>
              <a:t>werden</a:t>
            </a:r>
            <a:r>
              <a:rPr lang="en-US" sz="1297" dirty="0">
                <a:latin typeface="Calibri" pitchFamily="34" charset="0"/>
                <a:ea typeface="Calibri" pitchFamily="34" charset="-122"/>
                <a:cs typeface="Calibri" pitchFamily="34" charset="-120"/>
              </a:rPr>
              <a:t> </a:t>
            </a:r>
            <a:r>
              <a:rPr lang="en-US" sz="1297" dirty="0" err="1">
                <a:latin typeface="Calibri" pitchFamily="34" charset="0"/>
                <a:ea typeface="Calibri" pitchFamily="34" charset="-122"/>
                <a:cs typeface="Calibri" pitchFamily="34" charset="-120"/>
              </a:rPr>
              <a:t>zu</a:t>
            </a:r>
            <a:r>
              <a:rPr lang="en-US" sz="1297" dirty="0">
                <a:latin typeface="Calibri" pitchFamily="34" charset="0"/>
                <a:ea typeface="Calibri" pitchFamily="34" charset="-122"/>
                <a:cs typeface="Calibri" pitchFamily="34" charset="-120"/>
              </a:rPr>
              <a:t> NaN</a:t>
            </a:r>
            <a:r>
              <a:rPr lang="en-US" sz="1297" dirty="0">
                <a:solidFill>
                  <a:srgbClr val="E4EDF0"/>
                </a:solidFill>
                <a:latin typeface="Calibri" pitchFamily="34" charset="0"/>
                <a:ea typeface="Calibri" pitchFamily="34" charset="-122"/>
                <a:cs typeface="Calibri" pitchFamily="34" charset="-120"/>
              </a:rPr>
              <a:t>.</a:t>
            </a:r>
            <a:endParaRPr lang="en-US" sz="1297" dirty="0"/>
          </a:p>
        </p:txBody>
      </p:sp>
      <p:sp>
        <p:nvSpPr>
          <p:cNvPr id="14" name="Shape 12"/>
          <p:cNvSpPr/>
          <p:nvPr/>
        </p:nvSpPr>
        <p:spPr>
          <a:xfrm>
            <a:off x="6129567" y="1741545"/>
            <a:ext cx="2736413" cy="3967799"/>
          </a:xfrm>
          <a:prstGeom prst="roundRect">
            <a:avLst>
              <a:gd name="adj" fmla="val 3333"/>
            </a:avLst>
          </a:prstGeom>
          <a:solidFill>
            <a:srgbClr val="F2F5F6"/>
          </a:solidFill>
          <a:ln w="12700">
            <a:solidFill>
              <a:srgbClr val="D9E0E3"/>
            </a:solidFill>
            <a:prstDash val="solid"/>
          </a:ln>
        </p:spPr>
        <p:txBody>
          <a:bodyPr/>
          <a:lstStyle/>
          <a:p>
            <a:endParaRPr lang="de-DE" sz="1795"/>
          </a:p>
        </p:txBody>
      </p:sp>
      <p:sp>
        <p:nvSpPr>
          <p:cNvPr id="15" name="Shape 13"/>
          <p:cNvSpPr/>
          <p:nvPr/>
        </p:nvSpPr>
        <p:spPr>
          <a:xfrm>
            <a:off x="7114675" y="2015186"/>
            <a:ext cx="766196" cy="766196"/>
          </a:xfrm>
          <a:prstGeom prst="ellipse">
            <a:avLst/>
          </a:prstGeom>
          <a:solidFill>
            <a:srgbClr val="1C7293"/>
          </a:solidFill>
          <a:ln/>
        </p:spPr>
        <p:txBody>
          <a:bodyPr/>
          <a:lstStyle/>
          <a:p>
            <a:endParaRPr lang="de-DE" sz="1795"/>
          </a:p>
        </p:txBody>
      </p:sp>
      <p:sp>
        <p:nvSpPr>
          <p:cNvPr id="16" name="Text 14"/>
          <p:cNvSpPr/>
          <p:nvPr/>
        </p:nvSpPr>
        <p:spPr>
          <a:xfrm>
            <a:off x="7114675" y="2015186"/>
            <a:ext cx="766196" cy="766196"/>
          </a:xfrm>
          <a:prstGeom prst="rect">
            <a:avLst/>
          </a:prstGeom>
          <a:noFill/>
          <a:ln/>
        </p:spPr>
        <p:txBody>
          <a:bodyPr wrap="square" lIns="0" tIns="0" rIns="0" bIns="0" rtlCol="0" anchor="ctr"/>
          <a:lstStyle/>
          <a:p>
            <a:pPr algn="ctr"/>
            <a:r>
              <a:rPr lang="en-US" sz="2993" b="1" dirty="0">
                <a:solidFill>
                  <a:srgbClr val="FFFFFF"/>
                </a:solidFill>
                <a:latin typeface="Century Schoolbook" pitchFamily="34" charset="0"/>
                <a:ea typeface="Century Schoolbook" pitchFamily="34" charset="-122"/>
                <a:cs typeface="Century Schoolbook" pitchFamily="34" charset="-120"/>
              </a:rPr>
              <a:t>3</a:t>
            </a:r>
            <a:endParaRPr lang="en-US" sz="2993" dirty="0"/>
          </a:p>
        </p:txBody>
      </p:sp>
      <p:sp>
        <p:nvSpPr>
          <p:cNvPr id="17" name="Text 15"/>
          <p:cNvSpPr/>
          <p:nvPr/>
        </p:nvSpPr>
        <p:spPr>
          <a:xfrm>
            <a:off x="6311994" y="2972931"/>
            <a:ext cx="2371558" cy="775317"/>
          </a:xfrm>
          <a:prstGeom prst="rect">
            <a:avLst/>
          </a:prstGeom>
          <a:noFill/>
          <a:ln/>
        </p:spPr>
        <p:txBody>
          <a:bodyPr wrap="square" lIns="0" tIns="0" rIns="0" bIns="0" rtlCol="0" anchor="t"/>
          <a:lstStyle/>
          <a:p>
            <a:pPr algn="ctr"/>
            <a:r>
              <a:rPr lang="en-US" sz="1596" b="1" dirty="0">
                <a:solidFill>
                  <a:srgbClr val="E0912F"/>
                </a:solidFill>
                <a:latin typeface="Calibri" pitchFamily="34" charset="0"/>
                <a:ea typeface="Calibri" pitchFamily="34" charset="-122"/>
                <a:cs typeface="Calibri" pitchFamily="34" charset="-120"/>
              </a:rPr>
              <a:t>Imputation</a:t>
            </a:r>
            <a:endParaRPr lang="en-US" sz="1596" dirty="0"/>
          </a:p>
        </p:txBody>
      </p:sp>
      <p:sp>
        <p:nvSpPr>
          <p:cNvPr id="18" name="Text 16"/>
          <p:cNvSpPr/>
          <p:nvPr/>
        </p:nvSpPr>
        <p:spPr>
          <a:xfrm>
            <a:off x="6348480" y="3793855"/>
            <a:ext cx="2298587" cy="1824276"/>
          </a:xfrm>
          <a:prstGeom prst="rect">
            <a:avLst/>
          </a:prstGeom>
          <a:noFill/>
          <a:ln/>
        </p:spPr>
        <p:txBody>
          <a:bodyPr wrap="square" lIns="0" tIns="0" rIns="0" bIns="0" rtlCol="0" anchor="t"/>
          <a:lstStyle/>
          <a:p>
            <a:pPr algn="ctr">
              <a:lnSpc>
                <a:spcPct val="112000"/>
              </a:lnSpc>
            </a:pPr>
            <a:r>
              <a:rPr lang="en-US" sz="1297" dirty="0">
                <a:latin typeface="Calibri" pitchFamily="34" charset="0"/>
                <a:ea typeface="Calibri" pitchFamily="34" charset="-122"/>
                <a:cs typeface="Calibri" pitchFamily="34" charset="-120"/>
              </a:rPr>
              <a:t>Numerische Spalten per Interpolation gefüllt (zeitlich bzw. linear), </a:t>
            </a:r>
            <a:r>
              <a:rPr lang="en-US" sz="1297" dirty="0" err="1">
                <a:latin typeface="Calibri" pitchFamily="34" charset="0"/>
                <a:ea typeface="Calibri" pitchFamily="34" charset="-122"/>
                <a:cs typeface="Calibri" pitchFamily="34" charset="-120"/>
              </a:rPr>
              <a:t>Ränder</a:t>
            </a:r>
            <a:r>
              <a:rPr lang="en-US" sz="1297" dirty="0">
                <a:latin typeface="Calibri" pitchFamily="34" charset="0"/>
                <a:ea typeface="Calibri" pitchFamily="34" charset="-122"/>
                <a:cs typeface="Calibri" pitchFamily="34" charset="-120"/>
              </a:rPr>
              <a:t> </a:t>
            </a:r>
            <a:r>
              <a:rPr lang="en-US" sz="1297" dirty="0" err="1">
                <a:latin typeface="Calibri" pitchFamily="34" charset="0"/>
                <a:ea typeface="Calibri" pitchFamily="34" charset="-122"/>
                <a:cs typeface="Calibri" pitchFamily="34" charset="-120"/>
              </a:rPr>
              <a:t>werden</a:t>
            </a:r>
            <a:r>
              <a:rPr lang="en-US" sz="1297" dirty="0">
                <a:latin typeface="Calibri" pitchFamily="34" charset="0"/>
                <a:ea typeface="Calibri" pitchFamily="34" charset="-122"/>
                <a:cs typeface="Calibri" pitchFamily="34" charset="-120"/>
              </a:rPr>
              <a:t> </a:t>
            </a:r>
            <a:r>
              <a:rPr lang="en-US" sz="1297" dirty="0" err="1">
                <a:latin typeface="Calibri" pitchFamily="34" charset="0"/>
                <a:ea typeface="Calibri" pitchFamily="34" charset="-122"/>
                <a:cs typeface="Calibri" pitchFamily="34" charset="-120"/>
              </a:rPr>
              <a:t>dabei</a:t>
            </a:r>
            <a:r>
              <a:rPr lang="en-US" sz="1297" dirty="0">
                <a:latin typeface="Calibri" pitchFamily="34" charset="0"/>
                <a:ea typeface="Calibri" pitchFamily="34" charset="-122"/>
                <a:cs typeface="Calibri" pitchFamily="34" charset="-120"/>
              </a:rPr>
              <a:t> </a:t>
            </a:r>
            <a:r>
              <a:rPr lang="en-US" sz="1297" dirty="0" err="1">
                <a:latin typeface="Calibri" pitchFamily="34" charset="0"/>
                <a:ea typeface="Calibri" pitchFamily="34" charset="-122"/>
                <a:cs typeface="Calibri" pitchFamily="34" charset="-120"/>
              </a:rPr>
              <a:t>automatisch</a:t>
            </a:r>
            <a:r>
              <a:rPr lang="en-US" sz="1297" dirty="0">
                <a:latin typeface="Calibri" pitchFamily="34" charset="0"/>
                <a:ea typeface="Calibri" pitchFamily="34" charset="-122"/>
                <a:cs typeface="Calibri" pitchFamily="34" charset="-120"/>
              </a:rPr>
              <a:t> </a:t>
            </a:r>
            <a:r>
              <a:rPr lang="en-US" sz="1297" dirty="0" err="1">
                <a:latin typeface="Calibri" pitchFamily="34" charset="0"/>
                <a:ea typeface="Calibri" pitchFamily="34" charset="-122"/>
                <a:cs typeface="Calibri" pitchFamily="34" charset="-120"/>
              </a:rPr>
              <a:t>mitgefüllt</a:t>
            </a:r>
            <a:endParaRPr lang="en-US" sz="1297" dirty="0"/>
          </a:p>
        </p:txBody>
      </p:sp>
      <p:sp>
        <p:nvSpPr>
          <p:cNvPr id="19" name="Shape 17"/>
          <p:cNvSpPr/>
          <p:nvPr/>
        </p:nvSpPr>
        <p:spPr>
          <a:xfrm>
            <a:off x="8920708" y="1741545"/>
            <a:ext cx="2736413" cy="3967799"/>
          </a:xfrm>
          <a:prstGeom prst="roundRect">
            <a:avLst>
              <a:gd name="adj" fmla="val 3333"/>
            </a:avLst>
          </a:prstGeom>
          <a:solidFill>
            <a:srgbClr val="F2F5F6"/>
          </a:solidFill>
          <a:ln w="12700">
            <a:solidFill>
              <a:srgbClr val="D9E0E3"/>
            </a:solidFill>
            <a:prstDash val="solid"/>
          </a:ln>
        </p:spPr>
        <p:txBody>
          <a:bodyPr/>
          <a:lstStyle/>
          <a:p>
            <a:endParaRPr lang="de-DE" sz="1795"/>
          </a:p>
        </p:txBody>
      </p:sp>
      <p:sp>
        <p:nvSpPr>
          <p:cNvPr id="20" name="Shape 18"/>
          <p:cNvSpPr/>
          <p:nvPr/>
        </p:nvSpPr>
        <p:spPr>
          <a:xfrm>
            <a:off x="9905817" y="2015186"/>
            <a:ext cx="766196" cy="766196"/>
          </a:xfrm>
          <a:prstGeom prst="ellipse">
            <a:avLst/>
          </a:prstGeom>
          <a:solidFill>
            <a:srgbClr val="1C7293"/>
          </a:solidFill>
          <a:ln/>
        </p:spPr>
        <p:txBody>
          <a:bodyPr/>
          <a:lstStyle/>
          <a:p>
            <a:endParaRPr lang="de-DE" sz="1795"/>
          </a:p>
        </p:txBody>
      </p:sp>
      <p:sp>
        <p:nvSpPr>
          <p:cNvPr id="21" name="Text 19"/>
          <p:cNvSpPr/>
          <p:nvPr/>
        </p:nvSpPr>
        <p:spPr>
          <a:xfrm>
            <a:off x="9905817" y="2015186"/>
            <a:ext cx="766196" cy="766196"/>
          </a:xfrm>
          <a:prstGeom prst="rect">
            <a:avLst/>
          </a:prstGeom>
          <a:noFill/>
          <a:ln/>
        </p:spPr>
        <p:txBody>
          <a:bodyPr wrap="square" lIns="0" tIns="0" rIns="0" bIns="0" rtlCol="0" anchor="ctr"/>
          <a:lstStyle/>
          <a:p>
            <a:pPr algn="ctr"/>
            <a:r>
              <a:rPr lang="en-US" sz="2993" b="1" dirty="0">
                <a:solidFill>
                  <a:srgbClr val="FFFFFF"/>
                </a:solidFill>
                <a:latin typeface="Century Schoolbook" pitchFamily="34" charset="0"/>
                <a:ea typeface="Century Schoolbook" pitchFamily="34" charset="-122"/>
                <a:cs typeface="Century Schoolbook" pitchFamily="34" charset="-120"/>
              </a:rPr>
              <a:t>4</a:t>
            </a:r>
            <a:endParaRPr lang="en-US" sz="2993" dirty="0"/>
          </a:p>
        </p:txBody>
      </p:sp>
      <p:sp>
        <p:nvSpPr>
          <p:cNvPr id="22" name="Text 20"/>
          <p:cNvSpPr/>
          <p:nvPr/>
        </p:nvSpPr>
        <p:spPr>
          <a:xfrm>
            <a:off x="9103136" y="2972931"/>
            <a:ext cx="2371558" cy="775317"/>
          </a:xfrm>
          <a:prstGeom prst="rect">
            <a:avLst/>
          </a:prstGeom>
          <a:noFill/>
          <a:ln/>
        </p:spPr>
        <p:txBody>
          <a:bodyPr wrap="square" lIns="0" tIns="0" rIns="0" bIns="0" rtlCol="0" anchor="t"/>
          <a:lstStyle/>
          <a:p>
            <a:pPr algn="ctr"/>
            <a:r>
              <a:rPr lang="en-US" sz="1596" b="1" dirty="0">
                <a:solidFill>
                  <a:srgbClr val="E0912F"/>
                </a:solidFill>
                <a:latin typeface="Calibri" pitchFamily="34" charset="0"/>
                <a:ea typeface="Calibri" pitchFamily="34" charset="-122"/>
                <a:cs typeface="Calibri" pitchFamily="34" charset="-120"/>
              </a:rPr>
              <a:t>Windrichtung zyklisch</a:t>
            </a:r>
            <a:endParaRPr lang="en-US" sz="1596" dirty="0"/>
          </a:p>
        </p:txBody>
      </p:sp>
      <p:sp>
        <p:nvSpPr>
          <p:cNvPr id="23" name="Text 21"/>
          <p:cNvSpPr/>
          <p:nvPr/>
        </p:nvSpPr>
        <p:spPr>
          <a:xfrm>
            <a:off x="9139621" y="3793855"/>
            <a:ext cx="2298587" cy="1824276"/>
          </a:xfrm>
          <a:prstGeom prst="rect">
            <a:avLst/>
          </a:prstGeom>
          <a:noFill/>
          <a:ln/>
        </p:spPr>
        <p:txBody>
          <a:bodyPr wrap="square" lIns="0" tIns="0" rIns="0" bIns="0" rtlCol="0" anchor="t"/>
          <a:lstStyle/>
          <a:p>
            <a:pPr algn="ctr">
              <a:lnSpc>
                <a:spcPct val="112000"/>
              </a:lnSpc>
            </a:pPr>
            <a:r>
              <a:rPr lang="en-US" sz="1297" dirty="0">
                <a:latin typeface="Calibri" pitchFamily="34" charset="0"/>
                <a:ea typeface="Calibri" pitchFamily="34" charset="-122"/>
                <a:cs typeface="Calibri" pitchFamily="34" charset="-120"/>
              </a:rPr>
              <a:t>16 Kompass → Grad → wd_sin / wd_cos: N (0°) und NNW (337,5°) bleiben Nachbarn.</a:t>
            </a:r>
            <a:endParaRPr lang="en-US" sz="1297" dirty="0"/>
          </a:p>
        </p:txBody>
      </p:sp>
      <p:grpSp>
        <p:nvGrpSpPr>
          <p:cNvPr id="25" name="Gruppieren 24">
            <a:extLst>
              <a:ext uri="{FF2B5EF4-FFF2-40B4-BE49-F238E27FC236}">
                <a16:creationId xmlns:a16="http://schemas.microsoft.com/office/drawing/2014/main" id="{AD3C1C08-F8CB-30DF-9E53-6EF36BC6C2AA}"/>
              </a:ext>
            </a:extLst>
          </p:cNvPr>
          <p:cNvGrpSpPr/>
          <p:nvPr/>
        </p:nvGrpSpPr>
        <p:grpSpPr>
          <a:xfrm>
            <a:off x="547283" y="393900"/>
            <a:ext cx="1051200" cy="1051200"/>
            <a:chOff x="694744" y="403848"/>
            <a:chExt cx="1051200" cy="1051200"/>
          </a:xfrm>
        </p:grpSpPr>
        <p:sp>
          <p:nvSpPr>
            <p:cNvPr id="26" name="Oval 2">
              <a:extLst>
                <a:ext uri="{FF2B5EF4-FFF2-40B4-BE49-F238E27FC236}">
                  <a16:creationId xmlns:a16="http://schemas.microsoft.com/office/drawing/2014/main" id="{F5828691-F84B-A7FF-EE28-07EB9D5BE58D}"/>
                </a:ext>
              </a:extLst>
            </p:cNvPr>
            <p:cNvSpPr/>
            <p:nvPr/>
          </p:nvSpPr>
          <p:spPr>
            <a:xfrm>
              <a:off x="694744" y="403848"/>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7" name="TextBox 3">
              <a:extLst>
                <a:ext uri="{FF2B5EF4-FFF2-40B4-BE49-F238E27FC236}">
                  <a16:creationId xmlns:a16="http://schemas.microsoft.com/office/drawing/2014/main" id="{1F68E39A-9C01-2A87-7B16-B1A3A1275951}"/>
                </a:ext>
              </a:extLst>
            </p:cNvPr>
            <p:cNvSpPr/>
            <p:nvPr/>
          </p:nvSpPr>
          <p:spPr>
            <a:xfrm>
              <a:off x="694744" y="712481"/>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Cambria"/>
                  <a:ea typeface="+mn-ea"/>
                  <a:cs typeface="+mn-cs"/>
                </a:rPr>
                <a:t>3</a:t>
              </a:r>
              <a:endParaRPr kumimoji="0" lang="de-DE" sz="3000" b="0" i="0" u="none" strike="noStrike" kern="1200" cap="none" spc="0" normalizeH="0" baseline="0" noProof="0" dirty="0">
                <a:ln>
                  <a:noFill/>
                </a:ln>
                <a:solidFill>
                  <a:srgbClr val="000000"/>
                </a:solidFill>
                <a:effectLst/>
                <a:uLnTx/>
                <a:uFillTx/>
                <a:latin typeface="Arial"/>
                <a:ea typeface="+mn-ea"/>
                <a:cs typeface="+mn-cs"/>
              </a:endParaRPr>
            </a:p>
          </p:txBody>
        </p:sp>
      </p:grpSp>
      <p:sp>
        <p:nvSpPr>
          <p:cNvPr id="30" name="TextBox 16">
            <a:extLst>
              <a:ext uri="{FF2B5EF4-FFF2-40B4-BE49-F238E27FC236}">
                <a16:creationId xmlns:a16="http://schemas.microsoft.com/office/drawing/2014/main" id="{A7C58C02-9600-1BAB-8C89-0E770072E154}"/>
              </a:ext>
            </a:extLst>
          </p:cNvP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de-DE" sz="900" b="0" u="none" strike="noStrike" dirty="0">
                <a:solidFill>
                  <a:srgbClr val="6C7278"/>
                </a:solidFill>
                <a:effectLst/>
                <a:uFillTx/>
                <a:latin typeface="Calibri"/>
              </a:rPr>
              <a:t>PM2.5-Prognose Beijing  ·  Prophet, Chronos &amp; </a:t>
            </a:r>
            <a:r>
              <a:rPr lang="de-DE" sz="900" dirty="0">
                <a:solidFill>
                  <a:srgbClr val="6C7278"/>
                </a:solidFill>
                <a:latin typeface="Calibri"/>
              </a:rPr>
              <a:t>TFT</a:t>
            </a:r>
            <a:r>
              <a:rPr lang="de-DE" sz="900" b="0" u="none" strike="noStrike" dirty="0">
                <a:solidFill>
                  <a:srgbClr val="6C7278"/>
                </a:solidFill>
                <a:effectLst/>
                <a:uFillTx/>
                <a:latin typeface="Calibri"/>
              </a:rPr>
              <a:t>  ·  CRISP-DM</a:t>
            </a:r>
            <a:endParaRPr lang="de-DE" sz="900" b="0" u="none" strike="noStrike" dirty="0">
              <a:solidFill>
                <a:srgbClr val="000000"/>
              </a:solidFill>
              <a:effectLst/>
              <a:uFillTx/>
              <a:latin typeface="Arial"/>
            </a:endParaRPr>
          </a:p>
        </p:txBody>
      </p:sp>
      <p:pic>
        <p:nvPicPr>
          <p:cNvPr id="29" name="Grafik 28">
            <a:extLst>
              <a:ext uri="{FF2B5EF4-FFF2-40B4-BE49-F238E27FC236}">
                <a16:creationId xmlns:a16="http://schemas.microsoft.com/office/drawing/2014/main" id="{EF2C7F04-0929-6472-1119-68B32FEFC0B1}"/>
              </a:ext>
            </a:extLst>
          </p:cNvPr>
          <p:cNvPicPr>
            <a:picLocks noChangeAspect="1"/>
          </p:cNvPicPr>
          <p:nvPr/>
        </p:nvPicPr>
        <p:blipFill>
          <a:blip r:embed="rId3"/>
          <a:stretch>
            <a:fillRect/>
          </a:stretch>
        </p:blipFill>
        <p:spPr>
          <a:xfrm>
            <a:off x="9831205" y="4537250"/>
            <a:ext cx="915418" cy="88476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668417" y="275640"/>
            <a:ext cx="10945654" cy="592890"/>
          </a:xfrm>
          <a:prstGeom prst="rect">
            <a:avLst/>
          </a:prstGeom>
          <a:noFill/>
          <a:ln/>
        </p:spPr>
        <p:txBody>
          <a:bodyPr wrap="square" rtlCol="0" anchor="ctr"/>
          <a:lstStyle/>
          <a:p>
            <a:r>
              <a:rPr lang="en-US" sz="2993" b="1" dirty="0">
                <a:solidFill>
                  <a:srgbClr val="2B343A"/>
                </a:solidFill>
                <a:latin typeface="Century Schoolbook" pitchFamily="34" charset="0"/>
                <a:ea typeface="Century Schoolbook" pitchFamily="34" charset="-122"/>
                <a:cs typeface="Century Schoolbook" pitchFamily="34" charset="-120"/>
              </a:rPr>
              <a:t>Vergleich auf einen Blick</a:t>
            </a:r>
            <a:endParaRPr lang="en-US" sz="2993" dirty="0"/>
          </a:p>
        </p:txBody>
      </p:sp>
      <p:graphicFrame>
        <p:nvGraphicFramePr>
          <p:cNvPr id="8" name="Table 0"/>
          <p:cNvGraphicFramePr>
            <a:graphicFrameLocks noGrp="1"/>
          </p:cNvGraphicFramePr>
          <p:nvPr>
            <p:extLst>
              <p:ext uri="{D42A27DB-BD31-4B8C-83A1-F6EECF244321}">
                <p14:modId xmlns:p14="http://schemas.microsoft.com/office/powerpoint/2010/main" val="116293348"/>
              </p:ext>
            </p:extLst>
          </p:nvPr>
        </p:nvGraphicFramePr>
        <p:xfrm>
          <a:off x="547283" y="1103049"/>
          <a:ext cx="11064232" cy="3954992"/>
        </p:xfrm>
        <a:graphic>
          <a:graphicData uri="http://schemas.openxmlformats.org/drawingml/2006/table">
            <a:tbl>
              <a:tblPr/>
              <a:tblGrid>
                <a:gridCol w="2280345">
                  <a:extLst>
                    <a:ext uri="{9D8B030D-6E8A-4147-A177-3AD203B41FA5}">
                      <a16:colId xmlns:a16="http://schemas.microsoft.com/office/drawing/2014/main" val="20000"/>
                    </a:ext>
                  </a:extLst>
                </a:gridCol>
                <a:gridCol w="2325951">
                  <a:extLst>
                    <a:ext uri="{9D8B030D-6E8A-4147-A177-3AD203B41FA5}">
                      <a16:colId xmlns:a16="http://schemas.microsoft.com/office/drawing/2014/main" val="20001"/>
                    </a:ext>
                  </a:extLst>
                </a:gridCol>
                <a:gridCol w="3055662">
                  <a:extLst>
                    <a:ext uri="{9D8B030D-6E8A-4147-A177-3AD203B41FA5}">
                      <a16:colId xmlns:a16="http://schemas.microsoft.com/office/drawing/2014/main" val="20002"/>
                    </a:ext>
                  </a:extLst>
                </a:gridCol>
                <a:gridCol w="3402274">
                  <a:extLst>
                    <a:ext uri="{9D8B030D-6E8A-4147-A177-3AD203B41FA5}">
                      <a16:colId xmlns:a16="http://schemas.microsoft.com/office/drawing/2014/main" val="20003"/>
                    </a:ext>
                  </a:extLst>
                </a:gridCol>
              </a:tblGrid>
              <a:tr h="547283">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Aspekt</a:t>
                      </a:r>
                      <a:endParaRPr lang="en-US" sz="13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2B343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Prophet</a:t>
                      </a:r>
                      <a:endParaRPr lang="en-US" sz="14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1C7293"/>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Chronos-2</a:t>
                      </a:r>
                      <a:endParaRPr lang="en-US" sz="14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E0912F"/>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TFT</a:t>
                      </a:r>
                      <a:endParaRPr lang="en-US" sz="14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C4471C"/>
                    </a:solidFill>
                  </a:tcPr>
                </a:tc>
                <a:extLst>
                  <a:ext uri="{0D108BD9-81ED-4DB2-BD59-A6C34878D82A}">
                    <a16:rowId xmlns:a16="http://schemas.microsoft.com/office/drawing/2014/main" val="10000"/>
                  </a:ext>
                </a:extLst>
              </a:tr>
              <a:tr h="671294">
                <a:tc>
                  <a:txBody>
                    <a:bodyPr/>
                    <a:lstStyle/>
                    <a:p>
                      <a:pPr marL="0" indent="0" algn="l">
                        <a:buNone/>
                      </a:pPr>
                      <a:r>
                        <a:rPr lang="en-US" sz="1200" b="1" dirty="0">
                          <a:solidFill>
                            <a:srgbClr val="2B343A"/>
                          </a:solidFill>
                          <a:latin typeface="Calibri" pitchFamily="34" charset="0"/>
                          <a:ea typeface="Calibri" pitchFamily="34" charset="-122"/>
                          <a:cs typeface="Calibri" pitchFamily="34" charset="-120"/>
                        </a:rPr>
                        <a:t>Regressoren</a:t>
                      </a:r>
                      <a:endParaRPr lang="en-US" sz="12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2F5F6"/>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Wetter + Wind</a:t>
                      </a:r>
                      <a:endParaRPr lang="en-US" sz="11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2F5F6"/>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Wetter + Wind + </a:t>
                      </a:r>
                      <a:r>
                        <a:rPr lang="en-US" sz="1100" dirty="0" err="1">
                          <a:solidFill>
                            <a:srgbClr val="2B343A"/>
                          </a:solidFill>
                          <a:latin typeface="Calibri" pitchFamily="34" charset="0"/>
                          <a:ea typeface="Calibri" pitchFamily="34" charset="-122"/>
                          <a:cs typeface="Calibri" pitchFamily="34" charset="-120"/>
                        </a:rPr>
                        <a:t>Schadstoffe</a:t>
                      </a:r>
                      <a:r>
                        <a:rPr lang="en-US" sz="1100" dirty="0">
                          <a:solidFill>
                            <a:srgbClr val="2B343A"/>
                          </a:solidFill>
                          <a:latin typeface="Calibri" pitchFamily="34" charset="0"/>
                          <a:ea typeface="Calibri" pitchFamily="34" charset="-122"/>
                          <a:cs typeface="Calibri" pitchFamily="34" charset="-120"/>
                        </a:rPr>
                        <a:t>+ Kalender (PM10,SO2,NO2,CO,O3)</a:t>
                      </a:r>
                      <a:endParaRPr lang="en-US" sz="11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2F5F6"/>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Wetter+Wind + Schadstoffe + Kalender + Stationstyp</a:t>
                      </a:r>
                      <a:endParaRPr lang="en-US" sz="11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2F5F6"/>
                    </a:solidFill>
                  </a:tcPr>
                </a:tc>
                <a:extLst>
                  <a:ext uri="{0D108BD9-81ED-4DB2-BD59-A6C34878D82A}">
                    <a16:rowId xmlns:a16="http://schemas.microsoft.com/office/drawing/2014/main" val="10003"/>
                  </a:ext>
                </a:extLst>
              </a:tr>
              <a:tr h="547283">
                <a:tc>
                  <a:txBody>
                    <a:bodyPr/>
                    <a:lstStyle/>
                    <a:p>
                      <a:pPr marL="0" indent="0" algn="l">
                        <a:buNone/>
                      </a:pPr>
                      <a:r>
                        <a:rPr lang="en-US" sz="1200" b="1" dirty="0">
                          <a:solidFill>
                            <a:srgbClr val="2B343A"/>
                          </a:solidFill>
                          <a:latin typeface="Calibri" pitchFamily="34" charset="0"/>
                          <a:ea typeface="Calibri" pitchFamily="34" charset="-122"/>
                          <a:cs typeface="Calibri" pitchFamily="34" charset="-120"/>
                        </a:rPr>
                        <a:t>Kalender / Feiertag</a:t>
                      </a:r>
                      <a:endParaRPr lang="en-US" sz="12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Saison intern</a:t>
                      </a:r>
                    </a:p>
                    <a:p>
                      <a:pPr marL="0" indent="0" algn="l">
                        <a:buNone/>
                      </a:pPr>
                      <a:r>
                        <a:rPr lang="en-US" sz="1100" dirty="0">
                          <a:solidFill>
                            <a:srgbClr val="2B343A"/>
                          </a:solidFill>
                          <a:latin typeface="Calibri" pitchFamily="34" charset="0"/>
                          <a:ea typeface="Calibri" pitchFamily="34" charset="-122"/>
                          <a:cs typeface="Calibri" pitchFamily="34" charset="-120"/>
                        </a:rPr>
                        <a:t>Aus </a:t>
                      </a:r>
                      <a:r>
                        <a:rPr lang="en-US" sz="1100" dirty="0" err="1">
                          <a:solidFill>
                            <a:srgbClr val="2B343A"/>
                          </a:solidFill>
                          <a:latin typeface="Calibri" pitchFamily="34" charset="0"/>
                          <a:ea typeface="Calibri" pitchFamily="34" charset="-122"/>
                          <a:cs typeface="Calibri" pitchFamily="34" charset="-120"/>
                        </a:rPr>
                        <a:t>Bibliothek</a:t>
                      </a:r>
                      <a:r>
                        <a:rPr lang="en-US" sz="1100" dirty="0">
                          <a:solidFill>
                            <a:srgbClr val="2B343A"/>
                          </a:solidFill>
                          <a:latin typeface="Calibri" pitchFamily="34" charset="0"/>
                          <a:ea typeface="Calibri" pitchFamily="34" charset="-122"/>
                          <a:cs typeface="Calibri" pitchFamily="34" charset="-120"/>
                        </a:rPr>
                        <a:t> </a:t>
                      </a:r>
                      <a:r>
                        <a:rPr lang="en-US" sz="1100" dirty="0" err="1">
                          <a:solidFill>
                            <a:srgbClr val="2B343A"/>
                          </a:solidFill>
                          <a:latin typeface="Calibri" pitchFamily="34" charset="0"/>
                          <a:ea typeface="Calibri" pitchFamily="34" charset="-122"/>
                          <a:cs typeface="Calibri" pitchFamily="34" charset="-120"/>
                        </a:rPr>
                        <a:t>beim</a:t>
                      </a:r>
                      <a:r>
                        <a:rPr lang="en-US" sz="1100" dirty="0">
                          <a:solidFill>
                            <a:srgbClr val="2B343A"/>
                          </a:solidFill>
                          <a:latin typeface="Calibri" pitchFamily="34" charset="0"/>
                          <a:ea typeface="Calibri" pitchFamily="34" charset="-122"/>
                          <a:cs typeface="Calibri" pitchFamily="34" charset="-120"/>
                        </a:rPr>
                        <a:t> Fit </a:t>
                      </a:r>
                      <a:endParaRPr lang="en-US" sz="11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Ja (</a:t>
                      </a:r>
                      <a:r>
                        <a:rPr lang="en-US" sz="1100" dirty="0" err="1">
                          <a:solidFill>
                            <a:srgbClr val="2B343A"/>
                          </a:solidFill>
                          <a:latin typeface="Calibri" pitchFamily="34" charset="0"/>
                          <a:ea typeface="Calibri" pitchFamily="34" charset="-122"/>
                          <a:cs typeface="Calibri" pitchFamily="34" charset="-120"/>
                        </a:rPr>
                        <a:t>als</a:t>
                      </a:r>
                      <a:r>
                        <a:rPr lang="en-US" sz="1100" dirty="0">
                          <a:solidFill>
                            <a:srgbClr val="2B343A"/>
                          </a:solidFill>
                          <a:latin typeface="Calibri" pitchFamily="34" charset="0"/>
                          <a:ea typeface="Calibri" pitchFamily="34" charset="-122"/>
                          <a:cs typeface="Calibri" pitchFamily="34" charset="-120"/>
                        </a:rPr>
                        <a:t> Covariate)</a:t>
                      </a:r>
                      <a:endParaRPr lang="en-US" sz="11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Ja (hour/day sin·cos + CN-Feiertag)</a:t>
                      </a:r>
                      <a:endParaRPr lang="en-US" sz="11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7283">
                <a:tc>
                  <a:txBody>
                    <a:bodyPr/>
                    <a:lstStyle/>
                    <a:p>
                      <a:pPr marL="0" indent="0" algn="l">
                        <a:buNone/>
                      </a:pPr>
                      <a:r>
                        <a:rPr lang="en-US" sz="1200" b="1" dirty="0">
                          <a:solidFill>
                            <a:srgbClr val="2B343A"/>
                          </a:solidFill>
                          <a:latin typeface="Calibri" pitchFamily="34" charset="0"/>
                          <a:ea typeface="Calibri" pitchFamily="34" charset="-122"/>
                          <a:cs typeface="Calibri" pitchFamily="34" charset="-120"/>
                        </a:rPr>
                        <a:t>Transformation</a:t>
                      </a:r>
                      <a:endParaRPr lang="en-US" sz="12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2F5F6"/>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log </a:t>
                      </a:r>
                      <a:endParaRPr lang="en-US" sz="11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2F5F6"/>
                    </a:solidFill>
                  </a:tcPr>
                </a:tc>
                <a:tc>
                  <a:txBody>
                    <a:bodyPr/>
                    <a:lstStyle/>
                    <a:p>
                      <a:pPr marL="0" indent="0" algn="l">
                        <a:buNone/>
                      </a:pPr>
                      <a:r>
                        <a:rPr lang="en-US" sz="1100" dirty="0">
                          <a:latin typeface="Calibri" charset="0"/>
                          <a:ea typeface="Calibri" charset="0"/>
                          <a:cs typeface="Calibri" charset="0"/>
                        </a:rPr>
                        <a:t>log</a:t>
                      </a: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2F5F6"/>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log + StandardScaler (Train)</a:t>
                      </a:r>
                      <a:endParaRPr lang="en-US" sz="11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2F5F6"/>
                    </a:solidFill>
                  </a:tcPr>
                </a:tc>
                <a:extLst>
                  <a:ext uri="{0D108BD9-81ED-4DB2-BD59-A6C34878D82A}">
                    <a16:rowId xmlns:a16="http://schemas.microsoft.com/office/drawing/2014/main" val="10005"/>
                  </a:ext>
                </a:extLst>
              </a:tr>
              <a:tr h="547283">
                <a:tc>
                  <a:txBody>
                    <a:bodyPr/>
                    <a:lstStyle/>
                    <a:p>
                      <a:pPr marL="0" indent="0" algn="l">
                        <a:buNone/>
                      </a:pPr>
                      <a:r>
                        <a:rPr lang="en-US" sz="1200" b="1" dirty="0">
                          <a:solidFill>
                            <a:srgbClr val="2B343A"/>
                          </a:solidFill>
                          <a:latin typeface="Calibri" pitchFamily="34" charset="0"/>
                          <a:ea typeface="Calibri" pitchFamily="34" charset="-122"/>
                          <a:cs typeface="Calibri" pitchFamily="34" charset="-120"/>
                        </a:rPr>
                        <a:t>Train/Test-Split</a:t>
                      </a:r>
                      <a:endParaRPr lang="en-US" sz="12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KEIN  Split (</a:t>
                      </a:r>
                      <a:r>
                        <a:rPr lang="en-US" sz="1100" dirty="0" err="1">
                          <a:solidFill>
                            <a:srgbClr val="2B343A"/>
                          </a:solidFill>
                          <a:latin typeface="Calibri" pitchFamily="34" charset="0"/>
                          <a:ea typeface="Calibri" pitchFamily="34" charset="-122"/>
                          <a:cs typeface="Calibri" pitchFamily="34" charset="-120"/>
                        </a:rPr>
                        <a:t>ganzer</a:t>
                      </a:r>
                      <a:r>
                        <a:rPr lang="en-US" sz="1100" dirty="0">
                          <a:solidFill>
                            <a:srgbClr val="2B343A"/>
                          </a:solidFill>
                          <a:latin typeface="Calibri" pitchFamily="34" charset="0"/>
                          <a:ea typeface="Calibri" pitchFamily="34" charset="-122"/>
                          <a:cs typeface="Calibri" pitchFamily="34" charset="-120"/>
                        </a:rPr>
                        <a:t> </a:t>
                      </a:r>
                      <a:r>
                        <a:rPr lang="en-US" sz="1100" dirty="0" err="1">
                          <a:solidFill>
                            <a:srgbClr val="2B343A"/>
                          </a:solidFill>
                          <a:latin typeface="Calibri" pitchFamily="34" charset="0"/>
                          <a:ea typeface="Calibri" pitchFamily="34" charset="-122"/>
                          <a:cs typeface="Calibri" pitchFamily="34" charset="-120"/>
                        </a:rPr>
                        <a:t>Zeitraum</a:t>
                      </a:r>
                      <a:r>
                        <a:rPr lang="en-US" sz="1100" dirty="0">
                          <a:solidFill>
                            <a:srgbClr val="2B343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KEIN Split (ganzer Zeitraum)</a:t>
                      </a:r>
                      <a:endParaRPr lang="en-US" sz="11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Cutoff 30.08.2016 + Walk-Forward</a:t>
                      </a:r>
                      <a:endParaRPr lang="en-US" sz="11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47283">
                <a:tc>
                  <a:txBody>
                    <a:bodyPr/>
                    <a:lstStyle/>
                    <a:p>
                      <a:pPr marL="0" indent="0" algn="l">
                        <a:buNone/>
                      </a:pPr>
                      <a:r>
                        <a:rPr lang="en-US" sz="1200" b="1" dirty="0">
                          <a:solidFill>
                            <a:srgbClr val="2B343A"/>
                          </a:solidFill>
                          <a:latin typeface="Calibri" pitchFamily="34" charset="0"/>
                          <a:ea typeface="Calibri" pitchFamily="34" charset="-122"/>
                          <a:cs typeface="Calibri" pitchFamily="34" charset="-120"/>
                        </a:rPr>
                        <a:t>Ausreißer-Cap</a:t>
                      </a:r>
                      <a:endParaRPr lang="en-US" sz="12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2F5F6"/>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p99.9 </a:t>
                      </a:r>
                      <a:endParaRPr lang="en-US" sz="11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2F5F6"/>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p99.9 </a:t>
                      </a:r>
                      <a:endParaRPr lang="en-US" sz="11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2F5F6"/>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p99.9 </a:t>
                      </a:r>
                      <a:endParaRPr lang="en-US" sz="11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2F5F6"/>
                    </a:solidFill>
                  </a:tcPr>
                </a:tc>
                <a:extLst>
                  <a:ext uri="{0D108BD9-81ED-4DB2-BD59-A6C34878D82A}">
                    <a16:rowId xmlns:a16="http://schemas.microsoft.com/office/drawing/2014/main" val="10007"/>
                  </a:ext>
                </a:extLst>
              </a:tr>
              <a:tr h="547283">
                <a:tc>
                  <a:txBody>
                    <a:bodyPr/>
                    <a:lstStyle/>
                    <a:p>
                      <a:pPr marL="0" indent="0" algn="l">
                        <a:buNone/>
                      </a:pPr>
                      <a:r>
                        <a:rPr lang="en-US" sz="1200" b="1" dirty="0">
                          <a:solidFill>
                            <a:srgbClr val="2B343A"/>
                          </a:solidFill>
                          <a:latin typeface="Calibri" pitchFamily="34" charset="0"/>
                          <a:ea typeface="Calibri" pitchFamily="34" charset="-122"/>
                          <a:cs typeface="Calibri" pitchFamily="34" charset="-120"/>
                        </a:rPr>
                        <a:t>Stationen</a:t>
                      </a:r>
                      <a:endParaRPr lang="en-US" sz="12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alle 12</a:t>
                      </a:r>
                      <a:endParaRPr lang="en-US" sz="11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alle 12</a:t>
                      </a:r>
                      <a:endParaRPr lang="en-US" sz="11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11 (ohne Aotizhongxin)</a:t>
                      </a:r>
                      <a:endParaRPr lang="en-US" sz="1100" dirty="0">
                        <a:latin typeface="Calibri" charset="0"/>
                        <a:ea typeface="Calibri" charset="0"/>
                        <a:cs typeface="Calibri" charset="0"/>
                      </a:endParaRPr>
                    </a:p>
                  </a:txBody>
                  <a:tcPr marL="63343" marR="63343" marT="38006" marB="38006"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4" name="Text 1"/>
          <p:cNvSpPr/>
          <p:nvPr/>
        </p:nvSpPr>
        <p:spPr>
          <a:xfrm>
            <a:off x="-128577" y="5303616"/>
            <a:ext cx="11036868" cy="364855"/>
          </a:xfrm>
          <a:prstGeom prst="rect">
            <a:avLst/>
          </a:prstGeom>
          <a:noFill/>
          <a:ln/>
        </p:spPr>
        <p:txBody>
          <a:bodyPr wrap="square" rtlCol="0" anchor="ctr"/>
          <a:lstStyle/>
          <a:p>
            <a:pPr algn="ctr"/>
            <a:endParaRPr lang="en-US" sz="1297" dirty="0"/>
          </a:p>
        </p:txBody>
      </p:sp>
      <p:sp>
        <p:nvSpPr>
          <p:cNvPr id="6" name="TextBox 16">
            <a:extLst>
              <a:ext uri="{FF2B5EF4-FFF2-40B4-BE49-F238E27FC236}">
                <a16:creationId xmlns:a16="http://schemas.microsoft.com/office/drawing/2014/main" id="{E476C5BB-699A-4F1C-389B-3A7CB3A58A80}"/>
              </a:ext>
            </a:extLst>
          </p:cNvPr>
          <p:cNvSpPr/>
          <p:nvPr/>
        </p:nvSpPr>
        <p:spPr>
          <a:xfrm>
            <a:off x="465151" y="6548341"/>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de-DE" sz="900" b="0" u="none" strike="noStrike" dirty="0">
                <a:solidFill>
                  <a:srgbClr val="6C7278"/>
                </a:solidFill>
                <a:effectLst/>
                <a:uFillTx/>
                <a:latin typeface="Calibri"/>
              </a:rPr>
              <a:t>PM2.5-Prognose Beijing  ·  Prophet, Chronos &amp; </a:t>
            </a:r>
            <a:r>
              <a:rPr lang="de-DE" sz="900" dirty="0">
                <a:solidFill>
                  <a:srgbClr val="6C7278"/>
                </a:solidFill>
                <a:latin typeface="Calibri"/>
              </a:rPr>
              <a:t>TFT</a:t>
            </a:r>
            <a:r>
              <a:rPr lang="de-DE" sz="900" b="0" u="none" strike="noStrike" dirty="0">
                <a:solidFill>
                  <a:srgbClr val="6C7278"/>
                </a:solidFill>
                <a:effectLst/>
                <a:uFillTx/>
                <a:latin typeface="Calibri"/>
              </a:rPr>
              <a:t>  ·  CRISP-DM</a:t>
            </a:r>
            <a:endParaRPr lang="de-DE" sz="900" b="0" u="none" strike="noStrike" dirty="0">
              <a:solidFill>
                <a:srgbClr val="000000"/>
              </a:solidFill>
              <a:effectLst/>
              <a:uFillTx/>
              <a:latin typeface="Arial"/>
            </a:endParaRPr>
          </a:p>
        </p:txBody>
      </p:sp>
      <p:grpSp>
        <p:nvGrpSpPr>
          <p:cNvPr id="7" name="Gruppieren 6">
            <a:extLst>
              <a:ext uri="{FF2B5EF4-FFF2-40B4-BE49-F238E27FC236}">
                <a16:creationId xmlns:a16="http://schemas.microsoft.com/office/drawing/2014/main" id="{E8D33D35-3DAA-C757-20AE-5ACC6BE9CEEA}"/>
              </a:ext>
            </a:extLst>
          </p:cNvPr>
          <p:cNvGrpSpPr/>
          <p:nvPr/>
        </p:nvGrpSpPr>
        <p:grpSpPr>
          <a:xfrm>
            <a:off x="340549" y="-32993"/>
            <a:ext cx="1051200" cy="1051200"/>
            <a:chOff x="694744" y="403848"/>
            <a:chExt cx="1051200" cy="1051200"/>
          </a:xfrm>
        </p:grpSpPr>
        <p:sp>
          <p:nvSpPr>
            <p:cNvPr id="9" name="Oval 2">
              <a:extLst>
                <a:ext uri="{FF2B5EF4-FFF2-40B4-BE49-F238E27FC236}">
                  <a16:creationId xmlns:a16="http://schemas.microsoft.com/office/drawing/2014/main" id="{9D3F7A27-AD12-F151-E67C-0C5211597E6C}"/>
                </a:ext>
              </a:extLst>
            </p:cNvPr>
            <p:cNvSpPr/>
            <p:nvPr/>
          </p:nvSpPr>
          <p:spPr>
            <a:xfrm>
              <a:off x="694744" y="403848"/>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0" name="TextBox 3">
              <a:extLst>
                <a:ext uri="{FF2B5EF4-FFF2-40B4-BE49-F238E27FC236}">
                  <a16:creationId xmlns:a16="http://schemas.microsoft.com/office/drawing/2014/main" id="{91D9BCEE-9644-49AE-864F-B3C98EDBBD11}"/>
                </a:ext>
              </a:extLst>
            </p:cNvPr>
            <p:cNvSpPr/>
            <p:nvPr/>
          </p:nvSpPr>
          <p:spPr>
            <a:xfrm>
              <a:off x="694744" y="712481"/>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Cambria"/>
                  <a:ea typeface="+mn-ea"/>
                  <a:cs typeface="+mn-cs"/>
                </a:rPr>
                <a:t>3</a:t>
              </a:r>
              <a:endParaRPr kumimoji="0" lang="de-DE" sz="3000" b="0" i="0" u="none" strike="noStrike" kern="1200" cap="none" spc="0" normalizeH="0" baseline="0" noProof="0" dirty="0">
                <a:ln>
                  <a:noFill/>
                </a:ln>
                <a:solidFill>
                  <a:srgbClr val="000000"/>
                </a:solidFill>
                <a:effectLst/>
                <a:uLnTx/>
                <a:uFillTx/>
                <a:latin typeface="Arial"/>
                <a:ea typeface="+mn-ea"/>
                <a:cs typeface="+mn-cs"/>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Footer"/>
          <p:cNvSpPr/>
          <p:nvPr/>
        </p:nvSpPr>
        <p:spPr>
          <a:xfrm>
            <a:off x="471113" y="6411762"/>
            <a:ext cx="7296743" cy="13753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4917"/>
            <a:r>
              <a:rPr lang="de-DE" sz="896" dirty="0">
                <a:solidFill>
                  <a:srgbClr val="6C7278"/>
                </a:solidFill>
                <a:latin typeface="Aptos" panose="02110004020202020204"/>
              </a:rPr>
              <a:t>PM2.5-Prognose Beijing  ·  Prophet, Chronos &amp; TFT  ·  CRISP-DM</a:t>
            </a:r>
            <a:endParaRPr lang="de-DE" sz="896" dirty="0">
              <a:solidFill>
                <a:srgbClr val="000000"/>
              </a:solidFill>
              <a:latin typeface="Arial"/>
            </a:endParaRPr>
          </a:p>
        </p:txBody>
      </p:sp>
      <p:sp>
        <p:nvSpPr>
          <p:cNvPr id="8" name="Titel 7">
            <a:extLst>
              <a:ext uri="{FF2B5EF4-FFF2-40B4-BE49-F238E27FC236}">
                <a16:creationId xmlns:a16="http://schemas.microsoft.com/office/drawing/2014/main" id="{BD018430-E860-2CD5-104F-28A968B17FE5}"/>
              </a:ext>
            </a:extLst>
          </p:cNvPr>
          <p:cNvSpPr>
            <a:spLocks noGrp="1"/>
          </p:cNvSpPr>
          <p:nvPr>
            <p:ph type="title"/>
          </p:nvPr>
        </p:nvSpPr>
        <p:spPr/>
        <p:txBody>
          <a:bodyPr/>
          <a:lstStyle/>
          <a:p>
            <a:endParaRPr lang="de-DE"/>
          </a:p>
        </p:txBody>
      </p:sp>
      <p:sp>
        <p:nvSpPr>
          <p:cNvPr id="12" name="Rectangle 1">
            <a:extLst>
              <a:ext uri="{FF2B5EF4-FFF2-40B4-BE49-F238E27FC236}">
                <a16:creationId xmlns:a16="http://schemas.microsoft.com/office/drawing/2014/main" id="{95A0B4C6-F185-0EFD-4171-6BDD41172F9F}"/>
              </a:ext>
            </a:extLst>
          </p:cNvPr>
          <p:cNvSpPr/>
          <p:nvPr/>
        </p:nvSpPr>
        <p:spPr>
          <a:xfrm>
            <a:off x="15044" y="8483"/>
            <a:ext cx="12131074" cy="6840674"/>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89777" tIns="44889" rIns="89777" bIns="44889" anchor="ctr">
            <a:noAutofit/>
          </a:bodyPr>
          <a:lstStyle/>
          <a:p>
            <a:pPr algn="ctr" defTabSz="456057"/>
            <a:endParaRPr lang="en-US" sz="1795">
              <a:solidFill>
                <a:prstClr val="white"/>
              </a:solidFill>
              <a:latin typeface="Calibri"/>
            </a:endParaRPr>
          </a:p>
        </p:txBody>
      </p:sp>
      <p:sp>
        <p:nvSpPr>
          <p:cNvPr id="14" name="NumberBadgeCircle">
            <a:extLst>
              <a:ext uri="{FF2B5EF4-FFF2-40B4-BE49-F238E27FC236}">
                <a16:creationId xmlns:a16="http://schemas.microsoft.com/office/drawing/2014/main" id="{7A723048-2C87-B62D-13B7-7F8ADDA9B099}"/>
              </a:ext>
            </a:extLst>
          </p:cNvPr>
          <p:cNvSpPr/>
          <p:nvPr/>
        </p:nvSpPr>
        <p:spPr>
          <a:xfrm>
            <a:off x="471113" y="308377"/>
            <a:ext cx="1048599" cy="1048599"/>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defTabSz="912114">
              <a:defRPr/>
            </a:pPr>
            <a:endParaRPr sz="1795">
              <a:solidFill>
                <a:srgbClr val="000000"/>
              </a:solidFill>
              <a:latin typeface="Calibri"/>
            </a:endParaRPr>
          </a:p>
        </p:txBody>
      </p:sp>
      <p:sp>
        <p:nvSpPr>
          <p:cNvPr id="16" name="NumberBadgeText">
            <a:extLst>
              <a:ext uri="{FF2B5EF4-FFF2-40B4-BE49-F238E27FC236}">
                <a16:creationId xmlns:a16="http://schemas.microsoft.com/office/drawing/2014/main" id="{0AAD692E-E55B-15AB-5A65-2D063C6C2579}"/>
              </a:ext>
            </a:extLst>
          </p:cNvPr>
          <p:cNvSpPr/>
          <p:nvPr/>
        </p:nvSpPr>
        <p:spPr>
          <a:xfrm>
            <a:off x="471113" y="615712"/>
            <a:ext cx="1048599" cy="46057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6057">
              <a:defRPr/>
            </a:pPr>
            <a:r>
              <a:rPr lang="de-DE" sz="2993" b="1" dirty="0">
                <a:solidFill>
                  <a:srgbClr val="FFFFFF"/>
                </a:solidFill>
                <a:latin typeface="Cambria"/>
              </a:rPr>
              <a:t>3</a:t>
            </a:r>
            <a:endParaRPr lang="de-DE" sz="1197" dirty="0">
              <a:solidFill>
                <a:srgbClr val="000000"/>
              </a:solidFill>
              <a:latin typeface="Calibri"/>
            </a:endParaRPr>
          </a:p>
        </p:txBody>
      </p:sp>
      <p:sp>
        <p:nvSpPr>
          <p:cNvPr id="18" name="TitleText">
            <a:extLst>
              <a:ext uri="{FF2B5EF4-FFF2-40B4-BE49-F238E27FC236}">
                <a16:creationId xmlns:a16="http://schemas.microsoft.com/office/drawing/2014/main" id="{81C42B16-50F0-E3E8-5FA7-6C60E3600427}"/>
              </a:ext>
            </a:extLst>
          </p:cNvPr>
          <p:cNvSpPr/>
          <p:nvPr/>
        </p:nvSpPr>
        <p:spPr>
          <a:xfrm>
            <a:off x="1702499" y="464554"/>
            <a:ext cx="9121019" cy="42982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defRPr/>
            </a:pPr>
            <a:r>
              <a:rPr lang="de-DE" sz="2793" b="1" dirty="0">
                <a:solidFill>
                  <a:srgbClr val="22272B"/>
                </a:solidFill>
                <a:latin typeface="Cambria"/>
              </a:rPr>
              <a:t>Externe Kovariaten: Wetter, Kalender &amp; Schadstoffe</a:t>
            </a:r>
            <a:endParaRPr lang="de-DE" sz="2793" dirty="0">
              <a:solidFill>
                <a:srgbClr val="000000"/>
              </a:solidFill>
              <a:latin typeface="Calibri"/>
            </a:endParaRPr>
          </a:p>
        </p:txBody>
      </p:sp>
      <p:graphicFrame>
        <p:nvGraphicFramePr>
          <p:cNvPr id="41" name="Table 40"/>
          <p:cNvGraphicFramePr>
            <a:graphicFrameLocks noGrp="1"/>
          </p:cNvGraphicFramePr>
          <p:nvPr/>
        </p:nvGraphicFramePr>
        <p:xfrm>
          <a:off x="547283" y="1422297"/>
          <a:ext cx="11064233" cy="1824276"/>
        </p:xfrm>
        <a:graphic>
          <a:graphicData uri="http://schemas.openxmlformats.org/drawingml/2006/table">
            <a:tbl>
              <a:tblPr>
                <a:tableStyleId>{5C22544A-7EE6-4342-B048-85BDC9FD1C3A}</a:tableStyleId>
              </a:tblPr>
              <a:tblGrid>
                <a:gridCol w="2143524">
                  <a:extLst>
                    <a:ext uri="{9D8B030D-6E8A-4147-A177-3AD203B41FA5}">
                      <a16:colId xmlns:a16="http://schemas.microsoft.com/office/drawing/2014/main" val="20000"/>
                    </a:ext>
                  </a:extLst>
                </a:gridCol>
                <a:gridCol w="1413814">
                  <a:extLst>
                    <a:ext uri="{9D8B030D-6E8A-4147-A177-3AD203B41FA5}">
                      <a16:colId xmlns:a16="http://schemas.microsoft.com/office/drawing/2014/main" val="20001"/>
                    </a:ext>
                  </a:extLst>
                </a:gridCol>
                <a:gridCol w="1413814">
                  <a:extLst>
                    <a:ext uri="{9D8B030D-6E8A-4147-A177-3AD203B41FA5}">
                      <a16:colId xmlns:a16="http://schemas.microsoft.com/office/drawing/2014/main" val="20002"/>
                    </a:ext>
                  </a:extLst>
                </a:gridCol>
                <a:gridCol w="6093081">
                  <a:extLst>
                    <a:ext uri="{9D8B030D-6E8A-4147-A177-3AD203B41FA5}">
                      <a16:colId xmlns:a16="http://schemas.microsoft.com/office/drawing/2014/main" val="20003"/>
                    </a:ext>
                  </a:extLst>
                </a:gridCol>
              </a:tblGrid>
              <a:tr h="456069">
                <a:tc>
                  <a:txBody>
                    <a:bodyPr/>
                    <a:lstStyle/>
                    <a:p>
                      <a:pPr algn="l"/>
                      <a:r>
                        <a:rPr sz="1000" b="1">
                          <a:solidFill>
                            <a:srgbClr val="FFFFFF"/>
                          </a:solidFill>
                          <a:latin typeface="Calibri"/>
                        </a:rPr>
                        <a:t>Kovariaten-Gruppe</a:t>
                      </a:r>
                    </a:p>
                  </a:txBody>
                  <a:tcPr marL="59852" marR="59852" marT="27931" marB="27931" anchor="ctr">
                    <a:solidFill>
                      <a:srgbClr val="22272B"/>
                    </a:solidFill>
                  </a:tcPr>
                </a:tc>
                <a:tc>
                  <a:txBody>
                    <a:bodyPr/>
                    <a:lstStyle/>
                    <a:p>
                      <a:pPr algn="l"/>
                      <a:r>
                        <a:rPr sz="1000" b="1">
                          <a:solidFill>
                            <a:srgbClr val="FFFFFF"/>
                          </a:solidFill>
                          <a:latin typeface="Calibri"/>
                        </a:rPr>
                        <a:t>Historisch</a:t>
                      </a:r>
                    </a:p>
                  </a:txBody>
                  <a:tcPr marL="59852" marR="59852" marT="27931" marB="27931" anchor="ctr">
                    <a:solidFill>
                      <a:srgbClr val="22272B"/>
                    </a:solidFill>
                  </a:tcPr>
                </a:tc>
                <a:tc>
                  <a:txBody>
                    <a:bodyPr/>
                    <a:lstStyle/>
                    <a:p>
                      <a:pPr algn="l"/>
                      <a:r>
                        <a:rPr sz="1000" b="1">
                          <a:solidFill>
                            <a:srgbClr val="FFFFFF"/>
                          </a:solidFill>
                          <a:latin typeface="Calibri"/>
                        </a:rPr>
                        <a:t>Zukünftig</a:t>
                      </a:r>
                    </a:p>
                  </a:txBody>
                  <a:tcPr marL="59852" marR="59852" marT="27931" marB="27931" anchor="ctr">
                    <a:solidFill>
                      <a:srgbClr val="22272B"/>
                    </a:solidFill>
                  </a:tcPr>
                </a:tc>
                <a:tc>
                  <a:txBody>
                    <a:bodyPr/>
                    <a:lstStyle/>
                    <a:p>
                      <a:pPr algn="l"/>
                      <a:r>
                        <a:rPr sz="1000" b="1">
                          <a:solidFill>
                            <a:srgbClr val="FFFFFF"/>
                          </a:solidFill>
                          <a:latin typeface="Calibri"/>
                        </a:rPr>
                        <a:t>Details</a:t>
                      </a:r>
                    </a:p>
                  </a:txBody>
                  <a:tcPr marL="59852" marR="59852" marT="27931" marB="27931" anchor="ctr">
                    <a:solidFill>
                      <a:srgbClr val="22272B"/>
                    </a:solidFill>
                  </a:tcPr>
                </a:tc>
                <a:extLst>
                  <a:ext uri="{0D108BD9-81ED-4DB2-BD59-A6C34878D82A}">
                    <a16:rowId xmlns:a16="http://schemas.microsoft.com/office/drawing/2014/main" val="10000"/>
                  </a:ext>
                </a:extLst>
              </a:tr>
              <a:tr h="456069">
                <a:tc>
                  <a:txBody>
                    <a:bodyPr/>
                    <a:lstStyle/>
                    <a:p>
                      <a:pPr algn="l"/>
                      <a:r>
                        <a:rPr sz="1000" b="1">
                          <a:solidFill>
                            <a:srgbClr val="22272B"/>
                          </a:solidFill>
                          <a:latin typeface="Cambria"/>
                        </a:rPr>
                        <a:t>Wetter</a:t>
                      </a:r>
                    </a:p>
                    <a:p>
                      <a:pPr algn="l">
                        <a:spcBef>
                          <a:spcPts val="100"/>
                        </a:spcBef>
                      </a:pPr>
                      <a:r>
                        <a:rPr sz="800">
                          <a:solidFill>
                            <a:srgbClr val="6C7278"/>
                          </a:solidFill>
                          <a:latin typeface="Calibri"/>
                        </a:rPr>
                        <a:t>Temperatur, Taupunkt, Wind, Luftdruck …</a:t>
                      </a:r>
                    </a:p>
                  </a:txBody>
                  <a:tcPr marL="59852" marR="59852" marT="27931" marB="27931" anchor="ctr">
                    <a:solidFill>
                      <a:srgbClr val="FFFFFF"/>
                    </a:solidFill>
                  </a:tcPr>
                </a:tc>
                <a:tc>
                  <a:txBody>
                    <a:bodyPr/>
                    <a:lstStyle/>
                    <a:p>
                      <a:pPr algn="l"/>
                      <a:r>
                        <a:rPr sz="1300" b="1">
                          <a:solidFill>
                            <a:srgbClr val="3C8A5B"/>
                          </a:solidFill>
                          <a:latin typeface="Calibri"/>
                        </a:rPr>
                        <a:t>✓</a:t>
                      </a:r>
                    </a:p>
                  </a:txBody>
                  <a:tcPr marL="59852" marR="59852" marT="27931" marB="27931" anchor="ctr">
                    <a:solidFill>
                      <a:srgbClr val="FFFFFF"/>
                    </a:solidFill>
                  </a:tcPr>
                </a:tc>
                <a:tc>
                  <a:txBody>
                    <a:bodyPr/>
                    <a:lstStyle/>
                    <a:p>
                      <a:pPr algn="l"/>
                      <a:r>
                        <a:rPr sz="1300" b="1">
                          <a:solidFill>
                            <a:srgbClr val="3C8A5B"/>
                          </a:solidFill>
                          <a:latin typeface="Calibri"/>
                        </a:rPr>
                        <a:t>✓</a:t>
                      </a:r>
                    </a:p>
                  </a:txBody>
                  <a:tcPr marL="59852" marR="59852" marT="27931" marB="27931" anchor="ctr">
                    <a:solidFill>
                      <a:srgbClr val="FFFFFF"/>
                    </a:solidFill>
                  </a:tcPr>
                </a:tc>
                <a:tc>
                  <a:txBody>
                    <a:bodyPr/>
                    <a:lstStyle/>
                    <a:p>
                      <a:pPr algn="l"/>
                      <a:r>
                        <a:rPr sz="900">
                          <a:solidFill>
                            <a:srgbClr val="22272B"/>
                          </a:solidFill>
                          <a:latin typeface="Calibri"/>
                        </a:rPr>
                        <a:t>Zukünftig in zwei Varianten getestet (siehe unten)</a:t>
                      </a:r>
                    </a:p>
                  </a:txBody>
                  <a:tcPr marL="59852" marR="59852" marT="27931" marB="27931" anchor="ctr">
                    <a:solidFill>
                      <a:srgbClr val="FFFFFF"/>
                    </a:solidFill>
                  </a:tcPr>
                </a:tc>
                <a:extLst>
                  <a:ext uri="{0D108BD9-81ED-4DB2-BD59-A6C34878D82A}">
                    <a16:rowId xmlns:a16="http://schemas.microsoft.com/office/drawing/2014/main" val="10001"/>
                  </a:ext>
                </a:extLst>
              </a:tr>
              <a:tr h="456069">
                <a:tc>
                  <a:txBody>
                    <a:bodyPr/>
                    <a:lstStyle/>
                    <a:p>
                      <a:pPr algn="l"/>
                      <a:r>
                        <a:rPr sz="1000" b="1">
                          <a:solidFill>
                            <a:srgbClr val="22272B"/>
                          </a:solidFill>
                          <a:latin typeface="Cambria"/>
                        </a:rPr>
                        <a:t>Kalender</a:t>
                      </a:r>
                    </a:p>
                    <a:p>
                      <a:pPr algn="l">
                        <a:spcBef>
                          <a:spcPts val="100"/>
                        </a:spcBef>
                      </a:pPr>
                      <a:r>
                        <a:rPr sz="800">
                          <a:solidFill>
                            <a:srgbClr val="6C7278"/>
                          </a:solidFill>
                          <a:latin typeface="Calibri"/>
                        </a:rPr>
                        <a:t>Wochentag, Feiertag, Saison</a:t>
                      </a:r>
                    </a:p>
                  </a:txBody>
                  <a:tcPr marL="59852" marR="59852" marT="27931" marB="27931" anchor="ctr">
                    <a:solidFill>
                      <a:srgbClr val="ECEDEE"/>
                    </a:solidFill>
                  </a:tcPr>
                </a:tc>
                <a:tc>
                  <a:txBody>
                    <a:bodyPr/>
                    <a:lstStyle/>
                    <a:p>
                      <a:pPr algn="l"/>
                      <a:r>
                        <a:rPr sz="1300" b="1">
                          <a:solidFill>
                            <a:srgbClr val="3C8A5B"/>
                          </a:solidFill>
                          <a:latin typeface="Calibri"/>
                        </a:rPr>
                        <a:t>✓</a:t>
                      </a:r>
                    </a:p>
                  </a:txBody>
                  <a:tcPr marL="59852" marR="59852" marT="27931" marB="27931" anchor="ctr">
                    <a:solidFill>
                      <a:srgbClr val="ECEDEE"/>
                    </a:solidFill>
                  </a:tcPr>
                </a:tc>
                <a:tc>
                  <a:txBody>
                    <a:bodyPr/>
                    <a:lstStyle/>
                    <a:p>
                      <a:pPr algn="l"/>
                      <a:r>
                        <a:rPr sz="1300" b="1">
                          <a:solidFill>
                            <a:srgbClr val="3C8A5B"/>
                          </a:solidFill>
                          <a:latin typeface="Calibri"/>
                        </a:rPr>
                        <a:t>✓</a:t>
                      </a:r>
                    </a:p>
                  </a:txBody>
                  <a:tcPr marL="59852" marR="59852" marT="27931" marB="27931" anchor="ctr">
                    <a:solidFill>
                      <a:srgbClr val="ECEDEE"/>
                    </a:solidFill>
                  </a:tcPr>
                </a:tc>
                <a:tc>
                  <a:txBody>
                    <a:bodyPr/>
                    <a:lstStyle/>
                    <a:p>
                      <a:pPr algn="l"/>
                      <a:r>
                        <a:rPr sz="900">
                          <a:solidFill>
                            <a:srgbClr val="22272B"/>
                          </a:solidFill>
                          <a:latin typeface="Calibri"/>
                        </a:rPr>
                        <a:t>Zukünftig deterministisch bekannt, keine Annahme nötig</a:t>
                      </a:r>
                    </a:p>
                  </a:txBody>
                  <a:tcPr marL="59852" marR="59852" marT="27931" marB="27931" anchor="ctr">
                    <a:solidFill>
                      <a:srgbClr val="ECEDEE"/>
                    </a:solidFill>
                  </a:tcPr>
                </a:tc>
                <a:extLst>
                  <a:ext uri="{0D108BD9-81ED-4DB2-BD59-A6C34878D82A}">
                    <a16:rowId xmlns:a16="http://schemas.microsoft.com/office/drawing/2014/main" val="10002"/>
                  </a:ext>
                </a:extLst>
              </a:tr>
              <a:tr h="456069">
                <a:tc>
                  <a:txBody>
                    <a:bodyPr/>
                    <a:lstStyle/>
                    <a:p>
                      <a:pPr algn="l"/>
                      <a:r>
                        <a:rPr sz="1000" b="1">
                          <a:solidFill>
                            <a:srgbClr val="22272B"/>
                          </a:solidFill>
                          <a:latin typeface="Cambria"/>
                        </a:rPr>
                        <a:t>Andere Schadstoffe</a:t>
                      </a:r>
                    </a:p>
                    <a:p>
                      <a:pPr algn="l">
                        <a:spcBef>
                          <a:spcPts val="100"/>
                        </a:spcBef>
                      </a:pPr>
                      <a:r>
                        <a:rPr sz="800">
                          <a:solidFill>
                            <a:srgbClr val="6C7278"/>
                          </a:solidFill>
                          <a:latin typeface="Calibri"/>
                        </a:rPr>
                        <a:t>PM10, SO2, NO2, CO, O3</a:t>
                      </a:r>
                    </a:p>
                  </a:txBody>
                  <a:tcPr marL="59852" marR="59852" marT="27931" marB="27931" anchor="ctr">
                    <a:solidFill>
                      <a:srgbClr val="FFFFFF"/>
                    </a:solidFill>
                  </a:tcPr>
                </a:tc>
                <a:tc>
                  <a:txBody>
                    <a:bodyPr/>
                    <a:lstStyle/>
                    <a:p>
                      <a:pPr algn="l"/>
                      <a:r>
                        <a:rPr sz="1300" b="1">
                          <a:solidFill>
                            <a:srgbClr val="3C8A5B"/>
                          </a:solidFill>
                          <a:latin typeface="Calibri"/>
                        </a:rPr>
                        <a:t>✓</a:t>
                      </a:r>
                    </a:p>
                  </a:txBody>
                  <a:tcPr marL="59852" marR="59852" marT="27931" marB="27931" anchor="ctr">
                    <a:solidFill>
                      <a:srgbClr val="FFFFFF"/>
                    </a:solidFill>
                  </a:tcPr>
                </a:tc>
                <a:tc>
                  <a:txBody>
                    <a:bodyPr/>
                    <a:lstStyle/>
                    <a:p>
                      <a:pPr algn="l"/>
                      <a:r>
                        <a:rPr sz="1300" b="1">
                          <a:solidFill>
                            <a:srgbClr val="6C7278"/>
                          </a:solidFill>
                          <a:latin typeface="Calibri"/>
                        </a:rPr>
                        <a:t>–</a:t>
                      </a:r>
                    </a:p>
                  </a:txBody>
                  <a:tcPr marL="59852" marR="59852" marT="27931" marB="27931" anchor="ctr">
                    <a:solidFill>
                      <a:srgbClr val="FFFFFF"/>
                    </a:solidFill>
                  </a:tcPr>
                </a:tc>
                <a:tc>
                  <a:txBody>
                    <a:bodyPr/>
                    <a:lstStyle/>
                    <a:p>
                      <a:pPr algn="l"/>
                      <a:r>
                        <a:rPr sz="900">
                          <a:solidFill>
                            <a:srgbClr val="22272B"/>
                          </a:solidFill>
                          <a:latin typeface="Calibri"/>
                        </a:rPr>
                        <a:t>Keine Vorhersage der anderen Schadstoffe verfügbar bzw. genutzt</a:t>
                      </a:r>
                    </a:p>
                  </a:txBody>
                  <a:tcPr marL="59852" marR="59852" marT="27931" marB="27931" anchor="ctr">
                    <a:solidFill>
                      <a:srgbClr val="FFFFFF"/>
                    </a:solidFill>
                  </a:tcPr>
                </a:tc>
                <a:extLst>
                  <a:ext uri="{0D108BD9-81ED-4DB2-BD59-A6C34878D82A}">
                    <a16:rowId xmlns:a16="http://schemas.microsoft.com/office/drawing/2014/main" val="10003"/>
                  </a:ext>
                </a:extLst>
              </a:tr>
            </a:tbl>
          </a:graphicData>
        </a:graphic>
      </p:graphicFrame>
      <p:sp>
        <p:nvSpPr>
          <p:cNvPr id="42" name="Rounded Rectangle 41"/>
          <p:cNvSpPr/>
          <p:nvPr/>
        </p:nvSpPr>
        <p:spPr>
          <a:xfrm>
            <a:off x="547283" y="3429000"/>
            <a:ext cx="5349688" cy="2645200"/>
          </a:xfrm>
          <a:prstGeom prst="roundRect">
            <a:avLst>
              <a:gd name="adj" fmla="val 5000"/>
            </a:avLst>
          </a:prstGeom>
          <a:solidFill>
            <a:srgbClr val="FBEEDD"/>
          </a:solidFill>
          <a:ln>
            <a:noFill/>
          </a:ln>
          <a:effectLst/>
        </p:spPr>
        <p:style>
          <a:lnRef idx="1">
            <a:schemeClr val="accent1"/>
          </a:lnRef>
          <a:fillRef idx="3">
            <a:schemeClr val="accent1"/>
          </a:fillRef>
          <a:effectRef idx="2">
            <a:schemeClr val="accent1"/>
          </a:effectRef>
          <a:fontRef idx="minor">
            <a:schemeClr val="lt1"/>
          </a:fontRef>
        </p:style>
        <p:txBody>
          <a:bodyPr wrap="square" lIns="169579" tIns="109728" rIns="169579" bIns="89777" rtlCol="0" anchor="t"/>
          <a:lstStyle/>
          <a:p>
            <a:pPr defTabSz="912114"/>
            <a:r>
              <a:rPr sz="1297" b="1" dirty="0" err="1">
                <a:solidFill>
                  <a:srgbClr val="22272B"/>
                </a:solidFill>
                <a:latin typeface="Cambria"/>
              </a:rPr>
              <a:t>Wetterdaten</a:t>
            </a:r>
            <a:r>
              <a:rPr sz="1297" b="1" dirty="0">
                <a:solidFill>
                  <a:srgbClr val="22272B"/>
                </a:solidFill>
                <a:latin typeface="Cambria"/>
              </a:rPr>
              <a:t>: </a:t>
            </a:r>
            <a:r>
              <a:rPr sz="1297" b="1" dirty="0" err="1">
                <a:solidFill>
                  <a:srgbClr val="22272B"/>
                </a:solidFill>
                <a:latin typeface="Cambria"/>
              </a:rPr>
              <a:t>zwei</a:t>
            </a:r>
            <a:r>
              <a:rPr sz="1297" b="1" dirty="0">
                <a:solidFill>
                  <a:srgbClr val="22272B"/>
                </a:solidFill>
                <a:latin typeface="Cambria"/>
              </a:rPr>
              <a:t> </a:t>
            </a:r>
            <a:r>
              <a:rPr sz="1297" b="1" dirty="0" err="1">
                <a:solidFill>
                  <a:srgbClr val="22272B"/>
                </a:solidFill>
                <a:latin typeface="Cambria"/>
              </a:rPr>
              <a:t>getestete</a:t>
            </a:r>
            <a:r>
              <a:rPr sz="1297" b="1" dirty="0">
                <a:solidFill>
                  <a:srgbClr val="22272B"/>
                </a:solidFill>
                <a:latin typeface="Cambria"/>
              </a:rPr>
              <a:t> </a:t>
            </a:r>
            <a:r>
              <a:rPr sz="1297" b="1" dirty="0" err="1">
                <a:solidFill>
                  <a:srgbClr val="22272B"/>
                </a:solidFill>
                <a:latin typeface="Cambria"/>
              </a:rPr>
              <a:t>Zukunftsannahmen</a:t>
            </a:r>
            <a:endParaRPr sz="1297" b="1" dirty="0">
              <a:solidFill>
                <a:srgbClr val="22272B"/>
              </a:solidFill>
              <a:latin typeface="Cambria"/>
            </a:endParaRPr>
          </a:p>
          <a:p>
            <a:pPr defTabSz="912114">
              <a:spcBef>
                <a:spcPts val="1197"/>
              </a:spcBef>
            </a:pPr>
            <a:r>
              <a:rPr sz="1147" b="1" dirty="0">
                <a:solidFill>
                  <a:srgbClr val="3C8A5B"/>
                </a:solidFill>
                <a:latin typeface="Calibri"/>
              </a:rPr>
              <a:t>✓  </a:t>
            </a:r>
            <a:r>
              <a:rPr sz="1147" b="1" dirty="0">
                <a:solidFill>
                  <a:srgbClr val="22272B"/>
                </a:solidFill>
                <a:latin typeface="Calibri"/>
              </a:rPr>
              <a:t>Forecast für die </a:t>
            </a:r>
            <a:r>
              <a:rPr sz="1147" b="1" dirty="0" err="1">
                <a:solidFill>
                  <a:srgbClr val="22272B"/>
                </a:solidFill>
                <a:latin typeface="Calibri"/>
              </a:rPr>
              <a:t>nächsten</a:t>
            </a:r>
            <a:r>
              <a:rPr sz="1147" b="1" dirty="0">
                <a:solidFill>
                  <a:srgbClr val="22272B"/>
                </a:solidFill>
                <a:latin typeface="Calibri"/>
              </a:rPr>
              <a:t> 3 Tage</a:t>
            </a:r>
          </a:p>
          <a:p>
            <a:pPr defTabSz="912114">
              <a:spcBef>
                <a:spcPts val="200"/>
              </a:spcBef>
            </a:pPr>
            <a:r>
              <a:rPr sz="1027" dirty="0" err="1">
                <a:solidFill>
                  <a:srgbClr val="22272B"/>
                </a:solidFill>
                <a:latin typeface="Calibri"/>
              </a:rPr>
              <a:t>Meteorologische</a:t>
            </a:r>
            <a:r>
              <a:rPr sz="1027" dirty="0">
                <a:solidFill>
                  <a:srgbClr val="22272B"/>
                </a:solidFill>
                <a:latin typeface="Calibri"/>
              </a:rPr>
              <a:t> </a:t>
            </a:r>
            <a:r>
              <a:rPr sz="1027" dirty="0" err="1">
                <a:solidFill>
                  <a:srgbClr val="22272B"/>
                </a:solidFill>
                <a:latin typeface="Calibri"/>
              </a:rPr>
              <a:t>Vorhersage</a:t>
            </a:r>
            <a:r>
              <a:rPr sz="1027" dirty="0">
                <a:solidFill>
                  <a:srgbClr val="22272B"/>
                </a:solidFill>
                <a:latin typeface="Calibri"/>
              </a:rPr>
              <a:t> </a:t>
            </a:r>
            <a:r>
              <a:rPr sz="1027" dirty="0" err="1">
                <a:solidFill>
                  <a:srgbClr val="22272B"/>
                </a:solidFill>
                <a:latin typeface="Calibri"/>
              </a:rPr>
              <a:t>über</a:t>
            </a:r>
            <a:r>
              <a:rPr sz="1027" dirty="0">
                <a:solidFill>
                  <a:srgbClr val="22272B"/>
                </a:solidFill>
                <a:latin typeface="Calibri"/>
              </a:rPr>
              <a:t> den </a:t>
            </a:r>
            <a:r>
              <a:rPr sz="1027" dirty="0" err="1">
                <a:solidFill>
                  <a:srgbClr val="22272B"/>
                </a:solidFill>
                <a:latin typeface="Calibri"/>
              </a:rPr>
              <a:t>kurzen</a:t>
            </a:r>
            <a:r>
              <a:rPr sz="1027" dirty="0">
                <a:solidFill>
                  <a:srgbClr val="22272B"/>
                </a:solidFill>
                <a:latin typeface="Calibri"/>
              </a:rPr>
              <a:t> </a:t>
            </a:r>
            <a:r>
              <a:rPr sz="1027" dirty="0" err="1">
                <a:solidFill>
                  <a:srgbClr val="22272B"/>
                </a:solidFill>
                <a:latin typeface="Calibri"/>
              </a:rPr>
              <a:t>Horizont</a:t>
            </a:r>
            <a:r>
              <a:rPr sz="1027" dirty="0">
                <a:solidFill>
                  <a:srgbClr val="22272B"/>
                </a:solidFill>
                <a:latin typeface="Calibri"/>
              </a:rPr>
              <a:t> </a:t>
            </a:r>
            <a:r>
              <a:rPr sz="1027" dirty="0" err="1">
                <a:solidFill>
                  <a:srgbClr val="22272B"/>
                </a:solidFill>
                <a:latin typeface="Calibri"/>
              </a:rPr>
              <a:t>als</a:t>
            </a:r>
            <a:r>
              <a:rPr sz="1027" dirty="0">
                <a:solidFill>
                  <a:srgbClr val="22272B"/>
                </a:solidFill>
                <a:latin typeface="Calibri"/>
              </a:rPr>
              <a:t> </a:t>
            </a:r>
            <a:r>
              <a:rPr sz="1027" dirty="0" err="1">
                <a:solidFill>
                  <a:srgbClr val="22272B"/>
                </a:solidFill>
                <a:latin typeface="Calibri"/>
              </a:rPr>
              <a:t>bekannt</a:t>
            </a:r>
            <a:r>
              <a:rPr sz="1027" dirty="0">
                <a:solidFill>
                  <a:srgbClr val="22272B"/>
                </a:solidFill>
                <a:latin typeface="Calibri"/>
              </a:rPr>
              <a:t> </a:t>
            </a:r>
            <a:r>
              <a:rPr sz="1027" dirty="0" err="1">
                <a:solidFill>
                  <a:srgbClr val="22272B"/>
                </a:solidFill>
                <a:latin typeface="Calibri"/>
              </a:rPr>
              <a:t>angenommen</a:t>
            </a:r>
            <a:r>
              <a:rPr sz="1027" dirty="0">
                <a:solidFill>
                  <a:srgbClr val="22272B"/>
                </a:solidFill>
                <a:latin typeface="Calibri"/>
              </a:rPr>
              <a:t> — </a:t>
            </a:r>
            <a:r>
              <a:rPr sz="1027" dirty="0" err="1">
                <a:solidFill>
                  <a:srgbClr val="22272B"/>
                </a:solidFill>
                <a:latin typeface="Calibri"/>
              </a:rPr>
              <a:t>valide</a:t>
            </a:r>
            <a:r>
              <a:rPr sz="1027" dirty="0">
                <a:solidFill>
                  <a:srgbClr val="22272B"/>
                </a:solidFill>
                <a:latin typeface="Calibri"/>
              </a:rPr>
              <a:t> </a:t>
            </a:r>
            <a:r>
              <a:rPr sz="1027" dirty="0" err="1">
                <a:solidFill>
                  <a:srgbClr val="22272B"/>
                </a:solidFill>
                <a:latin typeface="Calibri"/>
              </a:rPr>
              <a:t>Annahme</a:t>
            </a:r>
            <a:r>
              <a:rPr sz="1027" dirty="0">
                <a:solidFill>
                  <a:srgbClr val="22272B"/>
                </a:solidFill>
                <a:latin typeface="Calibri"/>
              </a:rPr>
              <a:t>, da </a:t>
            </a:r>
            <a:r>
              <a:rPr sz="1027" dirty="0" err="1">
                <a:solidFill>
                  <a:srgbClr val="22272B"/>
                </a:solidFill>
                <a:latin typeface="Calibri"/>
              </a:rPr>
              <a:t>Wetterprognosen</a:t>
            </a:r>
            <a:r>
              <a:rPr sz="1027" dirty="0">
                <a:solidFill>
                  <a:srgbClr val="22272B"/>
                </a:solidFill>
                <a:latin typeface="Calibri"/>
              </a:rPr>
              <a:t> für 3 Tage </a:t>
            </a:r>
            <a:r>
              <a:rPr sz="1027" dirty="0" err="1">
                <a:solidFill>
                  <a:srgbClr val="22272B"/>
                </a:solidFill>
                <a:latin typeface="Calibri"/>
              </a:rPr>
              <a:t>hinreichend</a:t>
            </a:r>
            <a:r>
              <a:rPr sz="1027" dirty="0">
                <a:solidFill>
                  <a:srgbClr val="22272B"/>
                </a:solidFill>
                <a:latin typeface="Calibri"/>
              </a:rPr>
              <a:t> </a:t>
            </a:r>
            <a:r>
              <a:rPr sz="1027" dirty="0" err="1">
                <a:solidFill>
                  <a:srgbClr val="22272B"/>
                </a:solidFill>
                <a:latin typeface="Calibri"/>
              </a:rPr>
              <a:t>zuverlässig</a:t>
            </a:r>
            <a:r>
              <a:rPr sz="1027" dirty="0">
                <a:solidFill>
                  <a:srgbClr val="22272B"/>
                </a:solidFill>
                <a:latin typeface="Calibri"/>
              </a:rPr>
              <a:t> </a:t>
            </a:r>
            <a:r>
              <a:rPr sz="1027" dirty="0" err="1">
                <a:solidFill>
                  <a:srgbClr val="22272B"/>
                </a:solidFill>
                <a:latin typeface="Calibri"/>
              </a:rPr>
              <a:t>sind</a:t>
            </a:r>
            <a:r>
              <a:rPr sz="1027" dirty="0">
                <a:solidFill>
                  <a:srgbClr val="22272B"/>
                </a:solidFill>
                <a:latin typeface="Calibri"/>
              </a:rPr>
              <a:t>. </a:t>
            </a:r>
            <a:r>
              <a:rPr sz="1027" dirty="0" err="1">
                <a:solidFill>
                  <a:srgbClr val="22272B"/>
                </a:solidFill>
                <a:latin typeface="Calibri"/>
              </a:rPr>
              <a:t>Führt</a:t>
            </a:r>
            <a:r>
              <a:rPr sz="1027" dirty="0">
                <a:solidFill>
                  <a:srgbClr val="22272B"/>
                </a:solidFill>
                <a:latin typeface="Calibri"/>
              </a:rPr>
              <a:t> </a:t>
            </a:r>
            <a:r>
              <a:rPr sz="1027" dirty="0" err="1">
                <a:solidFill>
                  <a:srgbClr val="22272B"/>
                </a:solidFill>
                <a:latin typeface="Calibri"/>
              </a:rPr>
              <a:t>zu</a:t>
            </a:r>
            <a:r>
              <a:rPr sz="1027" dirty="0">
                <a:solidFill>
                  <a:srgbClr val="22272B"/>
                </a:solidFill>
                <a:latin typeface="Calibri"/>
              </a:rPr>
              <a:t> </a:t>
            </a:r>
            <a:r>
              <a:rPr sz="1027" dirty="0" err="1">
                <a:solidFill>
                  <a:srgbClr val="22272B"/>
                </a:solidFill>
                <a:latin typeface="Calibri"/>
              </a:rPr>
              <a:t>guter</a:t>
            </a:r>
            <a:r>
              <a:rPr sz="1027" dirty="0">
                <a:solidFill>
                  <a:srgbClr val="22272B"/>
                </a:solidFill>
                <a:latin typeface="Calibri"/>
              </a:rPr>
              <a:t> </a:t>
            </a:r>
            <a:r>
              <a:rPr sz="1027" dirty="0" err="1">
                <a:solidFill>
                  <a:srgbClr val="22272B"/>
                </a:solidFill>
                <a:latin typeface="Calibri"/>
              </a:rPr>
              <a:t>Prognosegüte</a:t>
            </a:r>
            <a:r>
              <a:rPr sz="1027" dirty="0">
                <a:solidFill>
                  <a:srgbClr val="22272B"/>
                </a:solidFill>
                <a:latin typeface="Calibri"/>
              </a:rPr>
              <a:t>.</a:t>
            </a:r>
            <a:r>
              <a:rPr lang="de-DE" sz="1027" dirty="0">
                <a:solidFill>
                  <a:srgbClr val="22272B"/>
                </a:solidFill>
                <a:latin typeface="Calibri"/>
              </a:rPr>
              <a:t> In unserem Fall haben wir die echten Wetterdaten, also das Optimum zur Verfügung.</a:t>
            </a:r>
            <a:endParaRPr sz="1027" dirty="0">
              <a:solidFill>
                <a:srgbClr val="22272B"/>
              </a:solidFill>
              <a:latin typeface="Calibri"/>
            </a:endParaRPr>
          </a:p>
          <a:p>
            <a:pPr defTabSz="912114">
              <a:spcBef>
                <a:spcPts val="1197"/>
              </a:spcBef>
            </a:pPr>
            <a:r>
              <a:rPr sz="1147" b="1" dirty="0">
                <a:solidFill>
                  <a:srgbClr val="B3432B"/>
                </a:solidFill>
                <a:latin typeface="Calibri"/>
              </a:rPr>
              <a:t>✗  </a:t>
            </a:r>
            <a:r>
              <a:rPr sz="1147" b="1" dirty="0" err="1">
                <a:solidFill>
                  <a:srgbClr val="22272B"/>
                </a:solidFill>
                <a:latin typeface="Calibri"/>
              </a:rPr>
              <a:t>Persistenz</a:t>
            </a:r>
            <a:r>
              <a:rPr sz="1147" b="1" dirty="0">
                <a:solidFill>
                  <a:srgbClr val="22272B"/>
                </a:solidFill>
                <a:latin typeface="Calibri"/>
              </a:rPr>
              <a:t> (</a:t>
            </a:r>
            <a:r>
              <a:rPr sz="1147" b="1" dirty="0" err="1">
                <a:solidFill>
                  <a:srgbClr val="22272B"/>
                </a:solidFill>
                <a:latin typeface="Calibri"/>
              </a:rPr>
              <a:t>letzter</a:t>
            </a:r>
            <a:r>
              <a:rPr sz="1147" b="1" dirty="0">
                <a:solidFill>
                  <a:srgbClr val="22272B"/>
                </a:solidFill>
                <a:latin typeface="Calibri"/>
              </a:rPr>
              <a:t> Tag </a:t>
            </a:r>
            <a:r>
              <a:rPr sz="1147" b="1" dirty="0" err="1">
                <a:solidFill>
                  <a:srgbClr val="22272B"/>
                </a:solidFill>
                <a:latin typeface="Calibri"/>
              </a:rPr>
              <a:t>vor</a:t>
            </a:r>
            <a:r>
              <a:rPr sz="1147" b="1" dirty="0">
                <a:solidFill>
                  <a:srgbClr val="22272B"/>
                </a:solidFill>
                <a:latin typeface="Calibri"/>
              </a:rPr>
              <a:t> </a:t>
            </a:r>
            <a:r>
              <a:rPr sz="1147" b="1" dirty="0" err="1">
                <a:solidFill>
                  <a:srgbClr val="22272B"/>
                </a:solidFill>
                <a:latin typeface="Calibri"/>
              </a:rPr>
              <a:t>Prognosebeginn</a:t>
            </a:r>
            <a:r>
              <a:rPr sz="1147" b="1" dirty="0">
                <a:solidFill>
                  <a:srgbClr val="22272B"/>
                </a:solidFill>
                <a:latin typeface="Calibri"/>
              </a:rPr>
              <a:t>)</a:t>
            </a:r>
          </a:p>
          <a:p>
            <a:pPr defTabSz="912114">
              <a:spcBef>
                <a:spcPts val="200"/>
              </a:spcBef>
            </a:pPr>
            <a:r>
              <a:rPr sz="1027" dirty="0" err="1">
                <a:solidFill>
                  <a:srgbClr val="22272B"/>
                </a:solidFill>
                <a:latin typeface="Calibri"/>
              </a:rPr>
              <a:t>Wetterwerte</a:t>
            </a:r>
            <a:r>
              <a:rPr sz="1027" dirty="0">
                <a:solidFill>
                  <a:srgbClr val="22272B"/>
                </a:solidFill>
                <a:latin typeface="Calibri"/>
              </a:rPr>
              <a:t> des </a:t>
            </a:r>
            <a:r>
              <a:rPr sz="1027" dirty="0" err="1">
                <a:solidFill>
                  <a:srgbClr val="22272B"/>
                </a:solidFill>
                <a:latin typeface="Calibri"/>
              </a:rPr>
              <a:t>letzten</a:t>
            </a:r>
            <a:r>
              <a:rPr sz="1027" dirty="0">
                <a:solidFill>
                  <a:srgbClr val="22272B"/>
                </a:solidFill>
                <a:latin typeface="Calibri"/>
              </a:rPr>
              <a:t> </a:t>
            </a:r>
            <a:r>
              <a:rPr sz="1027" dirty="0" err="1">
                <a:solidFill>
                  <a:srgbClr val="22272B"/>
                </a:solidFill>
                <a:latin typeface="Calibri"/>
              </a:rPr>
              <a:t>beobachteten</a:t>
            </a:r>
            <a:r>
              <a:rPr sz="1027" dirty="0">
                <a:solidFill>
                  <a:srgbClr val="22272B"/>
                </a:solidFill>
                <a:latin typeface="Calibri"/>
              </a:rPr>
              <a:t> Tages </a:t>
            </a:r>
            <a:r>
              <a:rPr sz="1027" dirty="0" err="1">
                <a:solidFill>
                  <a:srgbClr val="22272B"/>
                </a:solidFill>
                <a:latin typeface="Calibri"/>
              </a:rPr>
              <a:t>werden</a:t>
            </a:r>
            <a:r>
              <a:rPr sz="1027" dirty="0">
                <a:solidFill>
                  <a:srgbClr val="22272B"/>
                </a:solidFill>
                <a:latin typeface="Calibri"/>
              </a:rPr>
              <a:t> </a:t>
            </a:r>
            <a:r>
              <a:rPr sz="1027" dirty="0" err="1">
                <a:solidFill>
                  <a:srgbClr val="22272B"/>
                </a:solidFill>
                <a:latin typeface="Calibri"/>
              </a:rPr>
              <a:t>konstant</a:t>
            </a:r>
            <a:r>
              <a:rPr sz="1027" dirty="0">
                <a:solidFill>
                  <a:srgbClr val="22272B"/>
                </a:solidFill>
                <a:latin typeface="Calibri"/>
              </a:rPr>
              <a:t> in die Zukunft </a:t>
            </a:r>
            <a:r>
              <a:rPr sz="1027" dirty="0" err="1">
                <a:solidFill>
                  <a:srgbClr val="22272B"/>
                </a:solidFill>
                <a:latin typeface="Calibri"/>
              </a:rPr>
              <a:t>fortgeschrieben</a:t>
            </a:r>
            <a:r>
              <a:rPr sz="1027" dirty="0">
                <a:solidFill>
                  <a:srgbClr val="22272B"/>
                </a:solidFill>
                <a:latin typeface="Calibri"/>
              </a:rPr>
              <a:t>. </a:t>
            </a:r>
            <a:r>
              <a:rPr sz="1027" dirty="0" err="1">
                <a:solidFill>
                  <a:srgbClr val="22272B"/>
                </a:solidFill>
                <a:latin typeface="Calibri"/>
              </a:rPr>
              <a:t>Ignoriert</a:t>
            </a:r>
            <a:r>
              <a:rPr sz="1027" dirty="0">
                <a:solidFill>
                  <a:srgbClr val="22272B"/>
                </a:solidFill>
                <a:latin typeface="Calibri"/>
              </a:rPr>
              <a:t> die </a:t>
            </a:r>
            <a:r>
              <a:rPr sz="1027" dirty="0" err="1">
                <a:solidFill>
                  <a:srgbClr val="22272B"/>
                </a:solidFill>
                <a:latin typeface="Calibri"/>
              </a:rPr>
              <a:t>reale</a:t>
            </a:r>
            <a:r>
              <a:rPr sz="1027" dirty="0">
                <a:solidFill>
                  <a:srgbClr val="22272B"/>
                </a:solidFill>
                <a:latin typeface="Calibri"/>
              </a:rPr>
              <a:t> </a:t>
            </a:r>
            <a:r>
              <a:rPr sz="1027" dirty="0" err="1">
                <a:solidFill>
                  <a:srgbClr val="22272B"/>
                </a:solidFill>
                <a:latin typeface="Calibri"/>
              </a:rPr>
              <a:t>Wetterdynamik</a:t>
            </a:r>
            <a:r>
              <a:rPr sz="1027" dirty="0">
                <a:solidFill>
                  <a:srgbClr val="22272B"/>
                </a:solidFill>
                <a:latin typeface="Calibri"/>
              </a:rPr>
              <a:t> → </a:t>
            </a:r>
            <a:r>
              <a:rPr sz="1027" dirty="0" err="1">
                <a:solidFill>
                  <a:srgbClr val="22272B"/>
                </a:solidFill>
                <a:latin typeface="Calibri"/>
              </a:rPr>
              <a:t>deutlich</a:t>
            </a:r>
            <a:r>
              <a:rPr sz="1027" dirty="0">
                <a:solidFill>
                  <a:srgbClr val="22272B"/>
                </a:solidFill>
                <a:latin typeface="Calibri"/>
              </a:rPr>
              <a:t> </a:t>
            </a:r>
            <a:r>
              <a:rPr sz="1027" dirty="0" err="1">
                <a:solidFill>
                  <a:srgbClr val="22272B"/>
                </a:solidFill>
                <a:latin typeface="Calibri"/>
              </a:rPr>
              <a:t>schlechtere</a:t>
            </a:r>
            <a:r>
              <a:rPr sz="1027" dirty="0">
                <a:solidFill>
                  <a:srgbClr val="22272B"/>
                </a:solidFill>
                <a:latin typeface="Calibri"/>
              </a:rPr>
              <a:t> </a:t>
            </a:r>
            <a:r>
              <a:rPr sz="1027" dirty="0" err="1">
                <a:solidFill>
                  <a:srgbClr val="22272B"/>
                </a:solidFill>
                <a:latin typeface="Calibri"/>
              </a:rPr>
              <a:t>Ergebnisse</a:t>
            </a:r>
            <a:r>
              <a:rPr sz="1027" dirty="0">
                <a:solidFill>
                  <a:srgbClr val="22272B"/>
                </a:solidFill>
                <a:latin typeface="Calibri"/>
              </a:rPr>
              <a:t>.</a:t>
            </a:r>
          </a:p>
        </p:txBody>
      </p:sp>
      <p:sp>
        <p:nvSpPr>
          <p:cNvPr id="43" name="Rounded Rectangle 42"/>
          <p:cNvSpPr/>
          <p:nvPr/>
        </p:nvSpPr>
        <p:spPr>
          <a:xfrm>
            <a:off x="6261826" y="3429000"/>
            <a:ext cx="5349688" cy="2645200"/>
          </a:xfrm>
          <a:prstGeom prst="roundRect">
            <a:avLst>
              <a:gd name="adj" fmla="val 5000"/>
            </a:avLst>
          </a:prstGeom>
          <a:solidFill>
            <a:srgbClr val="FBEEDD"/>
          </a:solidFill>
          <a:ln>
            <a:noFill/>
          </a:ln>
          <a:effectLst/>
        </p:spPr>
        <p:style>
          <a:lnRef idx="1">
            <a:schemeClr val="accent1"/>
          </a:lnRef>
          <a:fillRef idx="3">
            <a:schemeClr val="accent1"/>
          </a:fillRef>
          <a:effectRef idx="2">
            <a:schemeClr val="accent1"/>
          </a:effectRef>
          <a:fontRef idx="minor">
            <a:schemeClr val="lt1"/>
          </a:fontRef>
        </p:style>
        <p:txBody>
          <a:bodyPr wrap="square" lIns="169579" tIns="109728" rIns="169579" bIns="89777" rtlCol="0" anchor="t"/>
          <a:lstStyle/>
          <a:p>
            <a:pPr defTabSz="912114"/>
            <a:r>
              <a:rPr sz="1297" b="1">
                <a:solidFill>
                  <a:srgbClr val="22272B"/>
                </a:solidFill>
                <a:latin typeface="Cambria"/>
              </a:rPr>
              <a:t>Kovariaten-Selektion: automatisch vs. manuell</a:t>
            </a:r>
          </a:p>
          <a:p>
            <a:pPr defTabSz="912114">
              <a:spcBef>
                <a:spcPts val="1197"/>
              </a:spcBef>
            </a:pPr>
            <a:r>
              <a:rPr sz="1147" b="1">
                <a:solidFill>
                  <a:srgbClr val="E0912F"/>
                </a:solidFill>
                <a:latin typeface="Calibri"/>
              </a:rPr>
              <a:t>●  </a:t>
            </a:r>
            <a:r>
              <a:rPr sz="1147" b="1">
                <a:solidFill>
                  <a:srgbClr val="22272B"/>
                </a:solidFill>
                <a:latin typeface="Calibri"/>
              </a:rPr>
              <a:t>TFT (Temporal Fusion Transformer)</a:t>
            </a:r>
          </a:p>
          <a:p>
            <a:pPr defTabSz="912114">
              <a:spcBef>
                <a:spcPts val="200"/>
              </a:spcBef>
            </a:pPr>
            <a:r>
              <a:rPr sz="1027">
                <a:solidFill>
                  <a:srgbClr val="22272B"/>
                </a:solidFill>
                <a:latin typeface="Calibri"/>
              </a:rPr>
              <a:t>Wählt relevante externe Kovariaten über ein integriertes Variable-Selection-Network selbst aus und lernt die entsprechenden Gewichte automatisch während des Trainings.</a:t>
            </a:r>
          </a:p>
          <a:p>
            <a:pPr defTabSz="912114">
              <a:spcBef>
                <a:spcPts val="1197"/>
              </a:spcBef>
            </a:pPr>
            <a:r>
              <a:rPr sz="1147" b="1">
                <a:solidFill>
                  <a:srgbClr val="6C7278"/>
                </a:solidFill>
                <a:latin typeface="Calibri"/>
              </a:rPr>
              <a:t>●  </a:t>
            </a:r>
            <a:r>
              <a:rPr sz="1147" b="1">
                <a:solidFill>
                  <a:srgbClr val="22272B"/>
                </a:solidFill>
                <a:latin typeface="Calibri"/>
              </a:rPr>
              <a:t>Chronos &amp; Prophet</a:t>
            </a:r>
          </a:p>
          <a:p>
            <a:pPr defTabSz="912114">
              <a:spcBef>
                <a:spcPts val="200"/>
              </a:spcBef>
            </a:pPr>
            <a:r>
              <a:rPr sz="1027">
                <a:solidFill>
                  <a:srgbClr val="22272B"/>
                </a:solidFill>
                <a:latin typeface="Calibri"/>
              </a:rPr>
              <a:t>Keine automatische Feature-Selektion — relevante Treiber müssen manuell identifiziert werden. Als wesentlich identifiziert: Taupunkt sowie Windgeschwindigkeit und -richtung.</a:t>
            </a:r>
          </a:p>
        </p:txBody>
      </p:sp>
      <p:sp>
        <p:nvSpPr>
          <p:cNvPr id="3" name="TextBox 16">
            <a:extLst>
              <a:ext uri="{FF2B5EF4-FFF2-40B4-BE49-F238E27FC236}">
                <a16:creationId xmlns:a16="http://schemas.microsoft.com/office/drawing/2014/main" id="{877A3214-C00A-1AF1-809C-82B6A6480942}"/>
              </a:ext>
            </a:extLst>
          </p:cNvP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de-DE" sz="900" b="0" u="none" strike="noStrike" dirty="0">
                <a:solidFill>
                  <a:srgbClr val="6C7278"/>
                </a:solidFill>
                <a:effectLst/>
                <a:uFillTx/>
                <a:latin typeface="Calibri"/>
              </a:rPr>
              <a:t>PM2.5-Prognose Beijing  ·  Prophet, Chronos &amp; </a:t>
            </a:r>
            <a:r>
              <a:rPr lang="de-DE" sz="900" dirty="0">
                <a:solidFill>
                  <a:srgbClr val="6C7278"/>
                </a:solidFill>
                <a:latin typeface="Calibri"/>
              </a:rPr>
              <a:t>TFT</a:t>
            </a:r>
            <a:r>
              <a:rPr lang="de-DE" sz="900" b="0" u="none" strike="noStrike" dirty="0">
                <a:solidFill>
                  <a:srgbClr val="6C7278"/>
                </a:solidFill>
                <a:effectLst/>
                <a:uFillTx/>
                <a:latin typeface="Calibri"/>
              </a:rPr>
              <a:t>  ·  CRISP-DM</a:t>
            </a:r>
            <a:endParaRPr lang="de-DE" sz="900" b="0" u="none" strike="noStrike" dirty="0">
              <a:solidFill>
                <a:srgbClr val="000000"/>
              </a:solidFill>
              <a:effectLst/>
              <a:uFillTx/>
              <a:latin typeface="Arial"/>
            </a:endParaRPr>
          </a:p>
        </p:txBody>
      </p:sp>
    </p:spTree>
    <p:extLst>
      <p:ext uri="{BB962C8B-B14F-4D97-AF65-F5344CB8AC3E}">
        <p14:creationId xmlns:p14="http://schemas.microsoft.com/office/powerpoint/2010/main" val="40244867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0262E"/>
        </a:solidFill>
        <a:effectLst/>
      </p:bgPr>
    </p:bg>
    <p:spTree>
      <p:nvGrpSpPr>
        <p:cNvPr id="1" name=""/>
        <p:cNvGrpSpPr/>
        <p:nvPr/>
      </p:nvGrpSpPr>
      <p:grpSpPr>
        <a:xfrm>
          <a:off x="0" y="0"/>
          <a:ext cx="0" cy="0"/>
          <a:chOff x="0" y="0"/>
          <a:chExt cx="0" cy="0"/>
        </a:xfrm>
      </p:grpSpPr>
      <p:sp>
        <p:nvSpPr>
          <p:cNvPr id="2" name="Text 0"/>
          <p:cNvSpPr/>
          <p:nvPr/>
        </p:nvSpPr>
        <p:spPr>
          <a:xfrm>
            <a:off x="538880" y="1507842"/>
            <a:ext cx="10672012" cy="547283"/>
          </a:xfrm>
          <a:prstGeom prst="rect">
            <a:avLst/>
          </a:prstGeom>
          <a:noFill/>
          <a:ln/>
        </p:spPr>
        <p:txBody>
          <a:bodyPr wrap="square" lIns="0" tIns="0" rIns="0" bIns="0" rtlCol="0" anchor="ctr"/>
          <a:lstStyle/>
          <a:p>
            <a:pPr defTabSz="912114"/>
            <a:r>
              <a:rPr lang="en-US" sz="1795" dirty="0">
                <a:solidFill>
                  <a:srgbClr val="E0912F"/>
                </a:solidFill>
                <a:latin typeface="Calibri" pitchFamily="34" charset="0"/>
                <a:ea typeface="Calibri" pitchFamily="34" charset="-122"/>
                <a:cs typeface="Calibri" pitchFamily="34" charset="-120"/>
              </a:rPr>
              <a:t>Die Leitfrage</a:t>
            </a:r>
            <a:endParaRPr lang="en-US" sz="1795" dirty="0">
              <a:solidFill>
                <a:prstClr val="black"/>
              </a:solidFill>
              <a:latin typeface="Calibri" panose="020F0502020204030204"/>
            </a:endParaRPr>
          </a:p>
        </p:txBody>
      </p:sp>
      <p:sp>
        <p:nvSpPr>
          <p:cNvPr id="3" name="Text 1"/>
          <p:cNvSpPr/>
          <p:nvPr/>
        </p:nvSpPr>
        <p:spPr>
          <a:xfrm>
            <a:off x="729711" y="2197614"/>
            <a:ext cx="10672012" cy="2736413"/>
          </a:xfrm>
          <a:prstGeom prst="rect">
            <a:avLst/>
          </a:prstGeom>
          <a:noFill/>
          <a:ln/>
        </p:spPr>
        <p:txBody>
          <a:bodyPr wrap="square" lIns="0" tIns="0" rIns="0" bIns="0" rtlCol="0" anchor="ctr"/>
          <a:lstStyle/>
          <a:p>
            <a:pPr defTabSz="912114">
              <a:lnSpc>
                <a:spcPct val="115000"/>
              </a:lnSpc>
            </a:pPr>
            <a:r>
              <a:rPr lang="en-US" sz="2993" b="1" dirty="0">
                <a:solidFill>
                  <a:srgbClr val="FFFFFF"/>
                </a:solidFill>
                <a:latin typeface="Cambria" pitchFamily="34" charset="0"/>
                <a:ea typeface="Cambria" pitchFamily="34" charset="-122"/>
                <a:cs typeface="Cambria" pitchFamily="34" charset="-120"/>
              </a:rPr>
              <a:t>Schlägt ein modernes Modell die simple Baseline –</a:t>
            </a:r>
            <a:endParaRPr lang="en-US" sz="2993" dirty="0">
              <a:solidFill>
                <a:prstClr val="black"/>
              </a:solidFill>
              <a:latin typeface="Calibri" panose="020F0502020204030204"/>
            </a:endParaRPr>
          </a:p>
          <a:p>
            <a:pPr defTabSz="912114">
              <a:lnSpc>
                <a:spcPct val="115000"/>
              </a:lnSpc>
            </a:pPr>
            <a:r>
              <a:rPr lang="en-US" sz="2993" b="1" dirty="0">
                <a:solidFill>
                  <a:srgbClr val="FFFFFF"/>
                </a:solidFill>
                <a:latin typeface="Cambria" pitchFamily="34" charset="0"/>
                <a:ea typeface="Cambria" pitchFamily="34" charset="-122"/>
                <a:cs typeface="Cambria" pitchFamily="34" charset="-120"/>
              </a:rPr>
              <a:t>und lohnt sich Deep Learning gegenüber </a:t>
            </a:r>
            <a:r>
              <a:rPr lang="en-US" sz="2993" b="1" dirty="0" err="1">
                <a:solidFill>
                  <a:srgbClr val="FFFFFF"/>
                </a:solidFill>
                <a:latin typeface="Cambria" pitchFamily="34" charset="0"/>
                <a:ea typeface="Cambria" pitchFamily="34" charset="-122"/>
                <a:cs typeface="Cambria" pitchFamily="34" charset="-120"/>
              </a:rPr>
              <a:t>klassischer</a:t>
            </a:r>
            <a:r>
              <a:rPr lang="en-US" sz="2993" b="1" dirty="0">
                <a:solidFill>
                  <a:srgbClr val="FFFFFF"/>
                </a:solidFill>
                <a:latin typeface="Cambria" pitchFamily="34" charset="0"/>
                <a:ea typeface="Cambria" pitchFamily="34" charset="-122"/>
                <a:cs typeface="Cambria" pitchFamily="34" charset="-120"/>
              </a:rPr>
              <a:t> </a:t>
            </a:r>
            <a:r>
              <a:rPr lang="en-US" sz="2993" b="1" dirty="0" err="1">
                <a:solidFill>
                  <a:srgbClr val="FFFFFF"/>
                </a:solidFill>
                <a:latin typeface="Cambria" pitchFamily="34" charset="0"/>
                <a:ea typeface="Cambria" pitchFamily="34" charset="-122"/>
                <a:cs typeface="Cambria" pitchFamily="34" charset="-120"/>
              </a:rPr>
              <a:t>Methoden</a:t>
            </a:r>
            <a:r>
              <a:rPr lang="en-US" sz="2993" b="1" dirty="0">
                <a:solidFill>
                  <a:srgbClr val="FFFFFF"/>
                </a:solidFill>
                <a:latin typeface="Cambria" pitchFamily="34" charset="0"/>
                <a:ea typeface="Cambria" pitchFamily="34" charset="-122"/>
                <a:cs typeface="Cambria" pitchFamily="34" charset="-120"/>
              </a:rPr>
              <a:t> oder einem trainingsfreien Foundation-Modell?</a:t>
            </a:r>
            <a:endParaRPr lang="en-US" sz="2993" dirty="0">
              <a:solidFill>
                <a:prstClr val="black"/>
              </a:solidFill>
              <a:latin typeface="Calibri" panose="020F0502020204030204"/>
            </a:endParaRPr>
          </a:p>
        </p:txBody>
      </p:sp>
      <p:grpSp>
        <p:nvGrpSpPr>
          <p:cNvPr id="9" name="Gruppieren 8">
            <a:extLst>
              <a:ext uri="{FF2B5EF4-FFF2-40B4-BE49-F238E27FC236}">
                <a16:creationId xmlns:a16="http://schemas.microsoft.com/office/drawing/2014/main" id="{EA5F7589-78CF-67EB-F69C-42D6CF58D363}"/>
              </a:ext>
            </a:extLst>
          </p:cNvPr>
          <p:cNvGrpSpPr/>
          <p:nvPr/>
        </p:nvGrpSpPr>
        <p:grpSpPr>
          <a:xfrm>
            <a:off x="457200" y="457200"/>
            <a:ext cx="1051200" cy="1051200"/>
            <a:chOff x="457200" y="457200"/>
            <a:chExt cx="1051200" cy="1051200"/>
          </a:xfrm>
        </p:grpSpPr>
        <p:sp>
          <p:nvSpPr>
            <p:cNvPr id="6" name="Oval 2">
              <a:extLst>
                <a:ext uri="{FF2B5EF4-FFF2-40B4-BE49-F238E27FC236}">
                  <a16:creationId xmlns:a16="http://schemas.microsoft.com/office/drawing/2014/main" id="{10E68F17-DCE1-E865-D393-F66DD938CDC8}"/>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7" name="TextBox 3">
              <a:extLst>
                <a:ext uri="{FF2B5EF4-FFF2-40B4-BE49-F238E27FC236}">
                  <a16:creationId xmlns:a16="http://schemas.microsoft.com/office/drawing/2014/main" id="{46914539-AEF6-1FA8-1122-DCC8ED5ED184}"/>
                </a:ext>
              </a:extLst>
            </p:cNvPr>
            <p:cNvSpPr/>
            <p:nvPr/>
          </p:nvSpPr>
          <p:spPr>
            <a:xfrm>
              <a:off x="457200" y="730284"/>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dirty="0">
                  <a:solidFill>
                    <a:srgbClr val="FFFFFF"/>
                  </a:solidFill>
                  <a:effectLst/>
                  <a:uFillTx/>
                  <a:latin typeface="Cambria"/>
                </a:rPr>
                <a:t>4</a:t>
              </a:r>
              <a:endParaRPr lang="de-DE" sz="3000" b="0" u="none" strike="noStrike" dirty="0">
                <a:solidFill>
                  <a:srgbClr val="000000"/>
                </a:solidFill>
                <a:effectLst/>
                <a:uFillTx/>
                <a:latin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Rectangle 2"/>
          <p:cNvSpPr/>
          <p:nvPr/>
        </p:nvSpPr>
        <p:spPr>
          <a:xfrm>
            <a:off x="1038" y="127220"/>
            <a:ext cx="12160800" cy="6857280"/>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52" name="TextBox 41"/>
          <p:cNvSpPr/>
          <p:nvPr/>
        </p:nvSpPr>
        <p:spPr>
          <a:xfrm>
            <a:off x="1894103" y="277216"/>
            <a:ext cx="9143280" cy="51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3400" b="1" u="none" strike="noStrike" dirty="0" err="1">
                <a:solidFill>
                  <a:srgbClr val="22272B"/>
                </a:solidFill>
                <a:effectLst/>
                <a:uFillTx/>
                <a:latin typeface="Cambria"/>
              </a:rPr>
              <a:t>Modellvergleich</a:t>
            </a:r>
            <a:r>
              <a:rPr lang="en-US" sz="3400" b="1" u="none" strike="noStrike" dirty="0">
                <a:solidFill>
                  <a:srgbClr val="22272B"/>
                </a:solidFill>
                <a:effectLst/>
                <a:uFillTx/>
                <a:latin typeface="Cambria"/>
              </a:rPr>
              <a:t>: vier </a:t>
            </a:r>
            <a:r>
              <a:rPr lang="en-US" sz="3400" b="1" u="none" strike="noStrike" dirty="0" err="1">
                <a:solidFill>
                  <a:srgbClr val="22272B"/>
                </a:solidFill>
                <a:effectLst/>
                <a:uFillTx/>
                <a:latin typeface="Cambria"/>
              </a:rPr>
              <a:t>Prognoseansätze</a:t>
            </a:r>
            <a:endParaRPr lang="de-DE" sz="3400" b="0" u="none" strike="noStrike" dirty="0">
              <a:solidFill>
                <a:srgbClr val="000000"/>
              </a:solidFill>
              <a:effectLst/>
              <a:uFillTx/>
              <a:latin typeface="Arial"/>
            </a:endParaRPr>
          </a:p>
        </p:txBody>
      </p:sp>
      <p:sp>
        <p:nvSpPr>
          <p:cNvPr id="253" name="TextBox 42"/>
          <p:cNvSpPr/>
          <p:nvPr/>
        </p:nvSpPr>
        <p:spPr>
          <a:xfrm>
            <a:off x="522503" y="1177575"/>
            <a:ext cx="10514880" cy="22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500" b="0" u="none" strike="noStrike" dirty="0" err="1">
                <a:solidFill>
                  <a:srgbClr val="6C7278"/>
                </a:solidFill>
                <a:effectLst/>
                <a:uFillTx/>
                <a:latin typeface="Calibri"/>
              </a:rPr>
              <a:t>Vom</a:t>
            </a:r>
            <a:r>
              <a:rPr lang="en-US" sz="1500" b="0" u="none" strike="noStrike" dirty="0">
                <a:solidFill>
                  <a:srgbClr val="6C7278"/>
                </a:solidFill>
                <a:effectLst/>
                <a:uFillTx/>
                <a:latin typeface="Calibri"/>
              </a:rPr>
              <a:t> </a:t>
            </a:r>
            <a:r>
              <a:rPr lang="en-US" sz="1500" b="0" u="none" strike="noStrike" dirty="0" err="1">
                <a:solidFill>
                  <a:srgbClr val="6C7278"/>
                </a:solidFill>
                <a:effectLst/>
                <a:uFillTx/>
                <a:latin typeface="Calibri"/>
              </a:rPr>
              <a:t>einfachen</a:t>
            </a:r>
            <a:r>
              <a:rPr lang="en-US" sz="1500" b="0" u="none" strike="noStrike" dirty="0">
                <a:solidFill>
                  <a:srgbClr val="6C7278"/>
                </a:solidFill>
                <a:effectLst/>
                <a:uFillTx/>
                <a:latin typeface="Calibri"/>
              </a:rPr>
              <a:t> </a:t>
            </a:r>
            <a:r>
              <a:rPr lang="en-US" sz="1500" b="0" u="none" strike="noStrike" dirty="0" err="1">
                <a:solidFill>
                  <a:srgbClr val="6C7278"/>
                </a:solidFill>
                <a:effectLst/>
                <a:uFillTx/>
                <a:latin typeface="Calibri"/>
              </a:rPr>
              <a:t>Basiswert</a:t>
            </a:r>
            <a:r>
              <a:rPr lang="en-US" sz="1500" b="0" u="none" strike="noStrike" dirty="0">
                <a:solidFill>
                  <a:srgbClr val="6C7278"/>
                </a:solidFill>
                <a:effectLst/>
                <a:uFillTx/>
                <a:latin typeface="Calibri"/>
              </a:rPr>
              <a:t> bis </a:t>
            </a:r>
            <a:r>
              <a:rPr lang="en-US" sz="1500" b="0" u="none" strike="noStrike" dirty="0" err="1">
                <a:solidFill>
                  <a:srgbClr val="6C7278"/>
                </a:solidFill>
                <a:effectLst/>
                <a:uFillTx/>
                <a:latin typeface="Calibri"/>
              </a:rPr>
              <a:t>zum</a:t>
            </a:r>
            <a:r>
              <a:rPr lang="en-US" sz="1500" b="0" u="none" strike="noStrike" dirty="0">
                <a:solidFill>
                  <a:srgbClr val="6C7278"/>
                </a:solidFill>
                <a:effectLst/>
                <a:uFillTx/>
                <a:latin typeface="Calibri"/>
              </a:rPr>
              <a:t> </a:t>
            </a:r>
            <a:r>
              <a:rPr lang="en-US" sz="1500" b="0" u="none" strike="noStrike" dirty="0" err="1">
                <a:solidFill>
                  <a:srgbClr val="6C7278"/>
                </a:solidFill>
                <a:effectLst/>
                <a:uFillTx/>
                <a:latin typeface="Calibri"/>
              </a:rPr>
              <a:t>tiefen</a:t>
            </a:r>
            <a:r>
              <a:rPr lang="en-US" sz="1500" b="0" u="none" strike="noStrike" dirty="0">
                <a:solidFill>
                  <a:srgbClr val="6C7278"/>
                </a:solidFill>
                <a:effectLst/>
                <a:uFillTx/>
                <a:latin typeface="Calibri"/>
              </a:rPr>
              <a:t> </a:t>
            </a:r>
            <a:r>
              <a:rPr lang="en-US" sz="1500" b="0" u="none" strike="noStrike" dirty="0" err="1">
                <a:solidFill>
                  <a:srgbClr val="6C7278"/>
                </a:solidFill>
                <a:effectLst/>
                <a:uFillTx/>
                <a:latin typeface="Calibri"/>
              </a:rPr>
              <a:t>neuronalen</a:t>
            </a:r>
            <a:r>
              <a:rPr lang="en-US" sz="1500" b="0" u="none" strike="noStrike" dirty="0">
                <a:solidFill>
                  <a:srgbClr val="6C7278"/>
                </a:solidFill>
                <a:effectLst/>
                <a:uFillTx/>
                <a:latin typeface="Calibri"/>
              </a:rPr>
              <a:t> Netz – vier </a:t>
            </a:r>
            <a:r>
              <a:rPr lang="en-US" sz="1500" b="0" u="none" strike="noStrike" dirty="0" err="1">
                <a:solidFill>
                  <a:srgbClr val="6C7278"/>
                </a:solidFill>
                <a:effectLst/>
                <a:uFillTx/>
                <a:latin typeface="Calibri"/>
              </a:rPr>
              <a:t>Ansätze</a:t>
            </a:r>
            <a:r>
              <a:rPr lang="en-US" sz="1500" b="0" u="none" strike="noStrike" dirty="0">
                <a:solidFill>
                  <a:srgbClr val="6C7278"/>
                </a:solidFill>
                <a:effectLst/>
                <a:uFillTx/>
                <a:latin typeface="Calibri"/>
              </a:rPr>
              <a:t> </a:t>
            </a:r>
            <a:r>
              <a:rPr lang="en-US" sz="1500" b="0" u="none" strike="noStrike" dirty="0" err="1">
                <a:solidFill>
                  <a:srgbClr val="6C7278"/>
                </a:solidFill>
                <a:effectLst/>
                <a:uFillTx/>
                <a:latin typeface="Calibri"/>
              </a:rPr>
              <a:t>zur</a:t>
            </a:r>
            <a:r>
              <a:rPr lang="en-US" sz="1500" b="0" u="none" strike="noStrike" dirty="0">
                <a:solidFill>
                  <a:srgbClr val="6C7278"/>
                </a:solidFill>
                <a:effectLst/>
                <a:uFillTx/>
                <a:latin typeface="Calibri"/>
              </a:rPr>
              <a:t> </a:t>
            </a:r>
            <a:r>
              <a:rPr lang="en-US" sz="1500" b="0" u="none" strike="noStrike" dirty="0" err="1">
                <a:solidFill>
                  <a:srgbClr val="6C7278"/>
                </a:solidFill>
                <a:effectLst/>
                <a:uFillTx/>
                <a:latin typeface="Calibri"/>
              </a:rPr>
              <a:t>stündlichen</a:t>
            </a:r>
            <a:r>
              <a:rPr lang="en-US" sz="1500" b="0" u="none" strike="noStrike" dirty="0">
                <a:solidFill>
                  <a:srgbClr val="6C7278"/>
                </a:solidFill>
                <a:effectLst/>
                <a:uFillTx/>
                <a:latin typeface="Calibri"/>
              </a:rPr>
              <a:t> PM2.5-Prognose </a:t>
            </a:r>
            <a:r>
              <a:rPr lang="en-US" sz="1500" b="0" u="none" strike="noStrike" dirty="0" err="1">
                <a:solidFill>
                  <a:srgbClr val="6C7278"/>
                </a:solidFill>
                <a:effectLst/>
                <a:uFillTx/>
                <a:latin typeface="Calibri"/>
              </a:rPr>
              <a:t>im</a:t>
            </a:r>
            <a:r>
              <a:rPr lang="en-US" sz="1500" b="0" u="none" strike="noStrike" dirty="0">
                <a:solidFill>
                  <a:srgbClr val="6C7278"/>
                </a:solidFill>
                <a:effectLst/>
                <a:uFillTx/>
                <a:latin typeface="Calibri"/>
              </a:rPr>
              <a:t> </a:t>
            </a:r>
            <a:r>
              <a:rPr lang="en-US" sz="1500" b="0" u="none" strike="noStrike" dirty="0" err="1">
                <a:solidFill>
                  <a:srgbClr val="6C7278"/>
                </a:solidFill>
                <a:effectLst/>
                <a:uFillTx/>
                <a:latin typeface="Calibri"/>
              </a:rPr>
              <a:t>direkten</a:t>
            </a:r>
            <a:r>
              <a:rPr lang="en-US" sz="1500" b="0" u="none" strike="noStrike" dirty="0">
                <a:solidFill>
                  <a:srgbClr val="6C7278"/>
                </a:solidFill>
                <a:effectLst/>
                <a:uFillTx/>
                <a:latin typeface="Calibri"/>
              </a:rPr>
              <a:t> </a:t>
            </a:r>
            <a:r>
              <a:rPr lang="en-US" sz="1500" b="0" u="none" strike="noStrike" dirty="0" err="1">
                <a:solidFill>
                  <a:srgbClr val="6C7278"/>
                </a:solidFill>
                <a:effectLst/>
                <a:uFillTx/>
                <a:latin typeface="Calibri"/>
              </a:rPr>
              <a:t>Vergleich</a:t>
            </a:r>
            <a:r>
              <a:rPr lang="en-US" sz="1500" b="0" u="none" strike="noStrike" dirty="0">
                <a:solidFill>
                  <a:srgbClr val="6C7278"/>
                </a:solidFill>
                <a:effectLst/>
                <a:uFillTx/>
                <a:latin typeface="Calibri"/>
              </a:rPr>
              <a:t>.</a:t>
            </a:r>
            <a:endParaRPr lang="de-DE" sz="1500" b="0" u="none" strike="noStrike" dirty="0">
              <a:solidFill>
                <a:srgbClr val="000000"/>
              </a:solidFill>
              <a:effectLst/>
              <a:uFillTx/>
              <a:latin typeface="Arial"/>
            </a:endParaRPr>
          </a:p>
        </p:txBody>
      </p:sp>
      <p:sp>
        <p:nvSpPr>
          <p:cNvPr id="254" name="Rounded Rectangle 6"/>
          <p:cNvSpPr/>
          <p:nvPr/>
        </p:nvSpPr>
        <p:spPr>
          <a:xfrm>
            <a:off x="457200" y="1645920"/>
            <a:ext cx="5439960" cy="2193840"/>
          </a:xfrm>
          <a:prstGeom prst="roundRect">
            <a:avLst>
              <a:gd name="adj" fmla="val 6000"/>
            </a:avLst>
          </a:prstGeom>
          <a:solidFill>
            <a:srgbClr val="FFFFFF"/>
          </a:solidFill>
          <a:ln w="12700">
            <a:solidFill>
              <a:srgbClr val="E1E3E6"/>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55" name="Oval 6"/>
          <p:cNvSpPr/>
          <p:nvPr/>
        </p:nvSpPr>
        <p:spPr>
          <a:xfrm>
            <a:off x="731520" y="1920240"/>
            <a:ext cx="776520" cy="77652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56" name="TextBox 43"/>
          <p:cNvSpPr/>
          <p:nvPr/>
        </p:nvSpPr>
        <p:spPr>
          <a:xfrm>
            <a:off x="731520" y="2140560"/>
            <a:ext cx="776520" cy="33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2200" b="1" dirty="0">
                <a:solidFill>
                  <a:srgbClr val="FFFFFF"/>
                </a:solidFill>
                <a:latin typeface="Cambria"/>
              </a:rPr>
              <a:t>A</a:t>
            </a:r>
            <a:endParaRPr lang="de-DE" sz="2200" b="0" u="none" strike="noStrike" dirty="0">
              <a:solidFill>
                <a:srgbClr val="000000"/>
              </a:solidFill>
              <a:effectLst/>
              <a:uFillTx/>
              <a:latin typeface="Arial"/>
            </a:endParaRPr>
          </a:p>
        </p:txBody>
      </p:sp>
      <p:sp>
        <p:nvSpPr>
          <p:cNvPr id="257" name="TextBox 44"/>
          <p:cNvSpPr/>
          <p:nvPr/>
        </p:nvSpPr>
        <p:spPr>
          <a:xfrm>
            <a:off x="1664280" y="2032560"/>
            <a:ext cx="4022640" cy="259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700" b="1" u="none" strike="noStrike">
                <a:solidFill>
                  <a:srgbClr val="22272B"/>
                </a:solidFill>
                <a:effectLst/>
                <a:uFillTx/>
                <a:latin typeface="Cambria"/>
              </a:rPr>
              <a:t>Seasonal Naive</a:t>
            </a:r>
            <a:endParaRPr lang="de-DE" sz="1700" b="0" u="none" strike="noStrike">
              <a:solidFill>
                <a:srgbClr val="000000"/>
              </a:solidFill>
              <a:effectLst/>
              <a:uFillTx/>
              <a:latin typeface="Arial"/>
            </a:endParaRPr>
          </a:p>
        </p:txBody>
      </p:sp>
      <p:sp>
        <p:nvSpPr>
          <p:cNvPr id="258" name="TextBox 45"/>
          <p:cNvSpPr/>
          <p:nvPr/>
        </p:nvSpPr>
        <p:spPr>
          <a:xfrm>
            <a:off x="1664280" y="2377440"/>
            <a:ext cx="4022640" cy="167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00" b="1" u="none" strike="noStrike">
                <a:solidFill>
                  <a:srgbClr val="E0912F"/>
                </a:solidFill>
                <a:effectLst/>
                <a:uFillTx/>
                <a:latin typeface="Calibri"/>
              </a:rPr>
              <a:t>Baseline-Modell</a:t>
            </a:r>
            <a:endParaRPr lang="de-DE" sz="1100" b="0" u="none" strike="noStrike">
              <a:solidFill>
                <a:srgbClr val="000000"/>
              </a:solidFill>
              <a:effectLst/>
              <a:uFillTx/>
              <a:latin typeface="Arial"/>
            </a:endParaRPr>
          </a:p>
        </p:txBody>
      </p:sp>
      <p:sp>
        <p:nvSpPr>
          <p:cNvPr id="259" name="TextBox 46"/>
          <p:cNvSpPr/>
          <p:nvPr/>
        </p:nvSpPr>
        <p:spPr>
          <a:xfrm>
            <a:off x="749880" y="2880360"/>
            <a:ext cx="4891320" cy="57708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i="1" dirty="0" err="1">
                <a:solidFill>
                  <a:srgbClr val="6C7278"/>
                </a:solidFill>
                <a:latin typeface="Calibri"/>
              </a:rPr>
              <a:t>Verwendung</a:t>
            </a:r>
            <a:r>
              <a:rPr lang="en-US" sz="1250" i="1" dirty="0">
                <a:solidFill>
                  <a:srgbClr val="6C7278"/>
                </a:solidFill>
                <a:latin typeface="Calibri"/>
              </a:rPr>
              <a:t> in der </a:t>
            </a:r>
            <a:r>
              <a:rPr lang="en-US" sz="1250" i="1" dirty="0" err="1">
                <a:solidFill>
                  <a:srgbClr val="6C7278"/>
                </a:solidFill>
                <a:latin typeface="Calibri"/>
              </a:rPr>
              <a:t>Variante</a:t>
            </a:r>
            <a:r>
              <a:rPr lang="en-US" sz="1250" i="1" dirty="0">
                <a:solidFill>
                  <a:srgbClr val="6C7278"/>
                </a:solidFill>
                <a:latin typeface="Calibri"/>
              </a:rPr>
              <a:t> “</a:t>
            </a:r>
            <a:r>
              <a:rPr lang="en-US" sz="1250" i="1" dirty="0" err="1">
                <a:solidFill>
                  <a:srgbClr val="6C7278"/>
                </a:solidFill>
                <a:latin typeface="Calibri"/>
              </a:rPr>
              <a:t>Daten</a:t>
            </a:r>
            <a:r>
              <a:rPr lang="en-US" sz="1250" i="1" dirty="0">
                <a:solidFill>
                  <a:srgbClr val="6C7278"/>
                </a:solidFill>
                <a:latin typeface="Calibri"/>
              </a:rPr>
              <a:t> </a:t>
            </a:r>
            <a:r>
              <a:rPr lang="en-US" sz="1250" i="1" dirty="0" err="1">
                <a:solidFill>
                  <a:srgbClr val="6C7278"/>
                </a:solidFill>
                <a:latin typeface="Calibri"/>
              </a:rPr>
              <a:t>zum</a:t>
            </a:r>
            <a:r>
              <a:rPr lang="en-US" sz="1250" i="1" dirty="0">
                <a:solidFill>
                  <a:srgbClr val="6C7278"/>
                </a:solidFill>
                <a:latin typeface="Calibri"/>
              </a:rPr>
              <a:t> Gleichen </a:t>
            </a:r>
            <a:r>
              <a:rPr lang="en-US" sz="1250" i="1" dirty="0" err="1">
                <a:solidFill>
                  <a:srgbClr val="6C7278"/>
                </a:solidFill>
                <a:latin typeface="Calibri"/>
              </a:rPr>
              <a:t>Wochentag</a:t>
            </a:r>
            <a:r>
              <a:rPr lang="en-US" sz="1250" i="1" dirty="0">
                <a:solidFill>
                  <a:srgbClr val="6C7278"/>
                </a:solidFill>
                <a:latin typeface="Calibri"/>
              </a:rPr>
              <a:t> </a:t>
            </a:r>
            <a:r>
              <a:rPr lang="en-US" sz="1250" i="1" dirty="0" err="1">
                <a:solidFill>
                  <a:srgbClr val="6C7278"/>
                </a:solidFill>
                <a:latin typeface="Calibri"/>
              </a:rPr>
              <a:t>vor</a:t>
            </a:r>
            <a:r>
              <a:rPr lang="en-US" sz="1250" i="1" dirty="0">
                <a:solidFill>
                  <a:srgbClr val="6C7278"/>
                </a:solidFill>
                <a:latin typeface="Calibri"/>
              </a:rPr>
              <a:t> </a:t>
            </a:r>
            <a:r>
              <a:rPr lang="en-US" sz="1250" i="1" dirty="0" err="1">
                <a:solidFill>
                  <a:srgbClr val="6C7278"/>
                </a:solidFill>
                <a:latin typeface="Calibri"/>
              </a:rPr>
              <a:t>einem</a:t>
            </a:r>
            <a:r>
              <a:rPr lang="en-US" sz="1250" i="1" dirty="0">
                <a:solidFill>
                  <a:srgbClr val="6C7278"/>
                </a:solidFill>
                <a:latin typeface="Calibri"/>
              </a:rPr>
              <a:t> Jahr”. Bei stark </a:t>
            </a:r>
            <a:r>
              <a:rPr lang="en-US" sz="1250" i="1" dirty="0" err="1">
                <a:solidFill>
                  <a:srgbClr val="6C7278"/>
                </a:solidFill>
                <a:latin typeface="Calibri"/>
              </a:rPr>
              <a:t>saisonalen</a:t>
            </a:r>
            <a:r>
              <a:rPr lang="en-US" sz="1250" i="1" dirty="0">
                <a:solidFill>
                  <a:srgbClr val="6C7278"/>
                </a:solidFill>
                <a:latin typeface="Calibri"/>
              </a:rPr>
              <a:t> </a:t>
            </a:r>
            <a:r>
              <a:rPr lang="en-US" sz="1250" i="1" dirty="0" err="1">
                <a:solidFill>
                  <a:srgbClr val="6C7278"/>
                </a:solidFill>
                <a:latin typeface="Calibri"/>
              </a:rPr>
              <a:t>Effekten</a:t>
            </a:r>
            <a:r>
              <a:rPr lang="en-US" sz="1250" i="1" dirty="0">
                <a:solidFill>
                  <a:srgbClr val="6C7278"/>
                </a:solidFill>
                <a:latin typeface="Calibri"/>
              </a:rPr>
              <a:t> </a:t>
            </a:r>
            <a:r>
              <a:rPr lang="en-US" sz="1250" i="1" dirty="0" err="1">
                <a:solidFill>
                  <a:srgbClr val="6C7278"/>
                </a:solidFill>
                <a:latin typeface="Calibri"/>
              </a:rPr>
              <a:t>kann</a:t>
            </a:r>
            <a:r>
              <a:rPr lang="en-US" sz="1250" i="1" dirty="0">
                <a:solidFill>
                  <a:srgbClr val="6C7278"/>
                </a:solidFill>
                <a:latin typeface="Calibri"/>
              </a:rPr>
              <a:t> Seasonal Naïve </a:t>
            </a:r>
            <a:r>
              <a:rPr lang="en-US" sz="1250" i="1" dirty="0" err="1">
                <a:solidFill>
                  <a:srgbClr val="6C7278"/>
                </a:solidFill>
                <a:latin typeface="Calibri"/>
              </a:rPr>
              <a:t>eine</a:t>
            </a:r>
            <a:r>
              <a:rPr lang="en-US" sz="1250" i="1" dirty="0">
                <a:solidFill>
                  <a:srgbClr val="6C7278"/>
                </a:solidFill>
                <a:latin typeface="Calibri"/>
              </a:rPr>
              <a:t> </a:t>
            </a:r>
            <a:r>
              <a:rPr lang="en-US" sz="1250" i="1" dirty="0" err="1">
                <a:solidFill>
                  <a:srgbClr val="6C7278"/>
                </a:solidFill>
                <a:latin typeface="Calibri"/>
              </a:rPr>
              <a:t>gute</a:t>
            </a:r>
            <a:r>
              <a:rPr lang="en-US" sz="1250" i="1" dirty="0">
                <a:solidFill>
                  <a:srgbClr val="6C7278"/>
                </a:solidFill>
                <a:latin typeface="Calibri"/>
              </a:rPr>
              <a:t> Baseline </a:t>
            </a:r>
            <a:r>
              <a:rPr lang="en-US" sz="1250" i="1" dirty="0" err="1">
                <a:solidFill>
                  <a:srgbClr val="6C7278"/>
                </a:solidFill>
                <a:latin typeface="Calibri"/>
              </a:rPr>
              <a:t>darstellen</a:t>
            </a:r>
            <a:r>
              <a:rPr lang="en-US" sz="1250" i="1" dirty="0">
                <a:solidFill>
                  <a:srgbClr val="6C7278"/>
                </a:solidFill>
                <a:latin typeface="Calibri"/>
              </a:rPr>
              <a:t>.</a:t>
            </a:r>
            <a:endParaRPr lang="de-DE" sz="1250" b="0" u="none" strike="noStrike" dirty="0">
              <a:solidFill>
                <a:srgbClr val="000000"/>
              </a:solidFill>
              <a:effectLst/>
              <a:uFillTx/>
              <a:latin typeface="Arial"/>
            </a:endParaRPr>
          </a:p>
        </p:txBody>
      </p:sp>
      <p:sp>
        <p:nvSpPr>
          <p:cNvPr id="260" name="Rounded Rectangle 7"/>
          <p:cNvSpPr/>
          <p:nvPr/>
        </p:nvSpPr>
        <p:spPr>
          <a:xfrm>
            <a:off x="6263640" y="1645920"/>
            <a:ext cx="5439960" cy="2193840"/>
          </a:xfrm>
          <a:prstGeom prst="roundRect">
            <a:avLst>
              <a:gd name="adj" fmla="val 6000"/>
            </a:avLst>
          </a:prstGeom>
          <a:solidFill>
            <a:srgbClr val="FFFFFF"/>
          </a:solidFill>
          <a:ln w="12700">
            <a:solidFill>
              <a:srgbClr val="E1E3E6"/>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61" name="Oval 7"/>
          <p:cNvSpPr/>
          <p:nvPr/>
        </p:nvSpPr>
        <p:spPr>
          <a:xfrm>
            <a:off x="6537960" y="1920240"/>
            <a:ext cx="776520" cy="77652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62" name="TextBox 47"/>
          <p:cNvSpPr/>
          <p:nvPr/>
        </p:nvSpPr>
        <p:spPr>
          <a:xfrm>
            <a:off x="6537960" y="2140560"/>
            <a:ext cx="776520" cy="33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2200" b="1" dirty="0">
                <a:solidFill>
                  <a:srgbClr val="FFFFFF"/>
                </a:solidFill>
                <a:latin typeface="Cambria"/>
              </a:rPr>
              <a:t>B</a:t>
            </a:r>
            <a:endParaRPr lang="de-DE" sz="2200" b="0" u="none" strike="noStrike" dirty="0">
              <a:solidFill>
                <a:srgbClr val="000000"/>
              </a:solidFill>
              <a:effectLst/>
              <a:uFillTx/>
              <a:latin typeface="Arial"/>
            </a:endParaRPr>
          </a:p>
        </p:txBody>
      </p:sp>
      <p:sp>
        <p:nvSpPr>
          <p:cNvPr id="263" name="TextBox 48"/>
          <p:cNvSpPr/>
          <p:nvPr/>
        </p:nvSpPr>
        <p:spPr>
          <a:xfrm>
            <a:off x="7470720" y="2032560"/>
            <a:ext cx="4022640" cy="259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700" b="1" u="none" strike="noStrike">
                <a:solidFill>
                  <a:srgbClr val="22272B"/>
                </a:solidFill>
                <a:effectLst/>
                <a:uFillTx/>
                <a:latin typeface="Cambria"/>
              </a:rPr>
              <a:t>Prophet</a:t>
            </a:r>
            <a:endParaRPr lang="de-DE" sz="1700" b="0" u="none" strike="noStrike">
              <a:solidFill>
                <a:srgbClr val="000000"/>
              </a:solidFill>
              <a:effectLst/>
              <a:uFillTx/>
              <a:latin typeface="Arial"/>
            </a:endParaRPr>
          </a:p>
        </p:txBody>
      </p:sp>
      <p:sp>
        <p:nvSpPr>
          <p:cNvPr id="264" name="TextBox 49"/>
          <p:cNvSpPr/>
          <p:nvPr/>
        </p:nvSpPr>
        <p:spPr>
          <a:xfrm>
            <a:off x="7470720" y="2377440"/>
            <a:ext cx="4022640" cy="167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00" b="1" u="none" strike="noStrike">
                <a:solidFill>
                  <a:srgbClr val="E0912F"/>
                </a:solidFill>
                <a:effectLst/>
                <a:uFillTx/>
                <a:latin typeface="Calibri"/>
              </a:rPr>
              <a:t>Additives Zeitreihenmodell</a:t>
            </a:r>
            <a:endParaRPr lang="de-DE" sz="1100" b="0" u="none" strike="noStrike">
              <a:solidFill>
                <a:srgbClr val="000000"/>
              </a:solidFill>
              <a:effectLst/>
              <a:uFillTx/>
              <a:latin typeface="Arial"/>
            </a:endParaRPr>
          </a:p>
        </p:txBody>
      </p:sp>
      <p:sp>
        <p:nvSpPr>
          <p:cNvPr id="265" name="TextBox 50"/>
          <p:cNvSpPr/>
          <p:nvPr/>
        </p:nvSpPr>
        <p:spPr>
          <a:xfrm>
            <a:off x="6556320" y="2880360"/>
            <a:ext cx="4891320" cy="57708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0" i="1" u="none" strike="noStrike" dirty="0" err="1">
                <a:solidFill>
                  <a:srgbClr val="6C7278"/>
                </a:solidFill>
                <a:effectLst/>
                <a:uFillTx/>
                <a:latin typeface="Calibri"/>
              </a:rPr>
              <a:t>Zerlegt</a:t>
            </a:r>
            <a:r>
              <a:rPr lang="en-US" sz="1250" b="0" i="1" u="none" strike="noStrike" dirty="0">
                <a:solidFill>
                  <a:srgbClr val="6C7278"/>
                </a:solidFill>
                <a:effectLst/>
                <a:uFillTx/>
                <a:latin typeface="Calibri"/>
              </a:rPr>
              <a:t> PM2.5 in Trend, </a:t>
            </a:r>
            <a:r>
              <a:rPr lang="en-US" sz="1250" b="0" i="1" u="none" strike="noStrike" dirty="0" err="1">
                <a:solidFill>
                  <a:srgbClr val="6C7278"/>
                </a:solidFill>
                <a:effectLst/>
                <a:uFillTx/>
                <a:latin typeface="Calibri"/>
              </a:rPr>
              <a:t>Saisonalität</a:t>
            </a:r>
            <a:r>
              <a:rPr lang="en-US" sz="1250" b="0" i="1" u="none" strike="noStrike" dirty="0">
                <a:solidFill>
                  <a:srgbClr val="6C7278"/>
                </a:solidFill>
                <a:effectLst/>
                <a:uFillTx/>
                <a:latin typeface="Calibri"/>
              </a:rPr>
              <a:t> und </a:t>
            </a:r>
            <a:r>
              <a:rPr lang="en-US" sz="1250" b="0" i="1" u="none" strike="noStrike" dirty="0" err="1">
                <a:solidFill>
                  <a:srgbClr val="6C7278"/>
                </a:solidFill>
                <a:effectLst/>
                <a:uFillTx/>
                <a:latin typeface="Calibri"/>
              </a:rPr>
              <a:t>Feiertage</a:t>
            </a:r>
            <a:r>
              <a:rPr lang="en-US" sz="1250" b="0" i="1" u="none" strike="noStrike" dirty="0">
                <a:solidFill>
                  <a:srgbClr val="6C7278"/>
                </a:solidFill>
                <a:effectLst/>
                <a:uFillTx/>
                <a:latin typeface="Calibri"/>
              </a:rPr>
              <a:t>; schnell und </a:t>
            </a:r>
            <a:r>
              <a:rPr lang="en-US" sz="1250" b="0" i="1" u="none" strike="noStrike" dirty="0" err="1">
                <a:solidFill>
                  <a:srgbClr val="6C7278"/>
                </a:solidFill>
                <a:effectLst/>
                <a:uFillTx/>
                <a:latin typeface="Calibri"/>
              </a:rPr>
              <a:t>interpretierbar</a:t>
            </a:r>
            <a:r>
              <a:rPr lang="en-US" sz="1250" i="1" dirty="0">
                <a:solidFill>
                  <a:srgbClr val="6C7278"/>
                </a:solidFill>
                <a:latin typeface="Calibri"/>
              </a:rPr>
              <a:t>. Prophet </a:t>
            </a:r>
            <a:r>
              <a:rPr lang="en-US" sz="1250" i="1" dirty="0" err="1">
                <a:solidFill>
                  <a:srgbClr val="6C7278"/>
                </a:solidFill>
                <a:latin typeface="Calibri"/>
              </a:rPr>
              <a:t>sollte</a:t>
            </a:r>
            <a:r>
              <a:rPr lang="en-US" sz="1250" i="1" dirty="0">
                <a:solidFill>
                  <a:srgbClr val="6C7278"/>
                </a:solidFill>
                <a:latin typeface="Calibri"/>
              </a:rPr>
              <a:t> </a:t>
            </a:r>
            <a:r>
              <a:rPr lang="en-US" sz="1250" i="1" dirty="0" err="1">
                <a:solidFill>
                  <a:srgbClr val="6C7278"/>
                </a:solidFill>
                <a:latin typeface="Calibri"/>
              </a:rPr>
              <a:t>vor</a:t>
            </a:r>
            <a:r>
              <a:rPr lang="en-US" sz="1250" i="1" dirty="0">
                <a:solidFill>
                  <a:srgbClr val="6C7278"/>
                </a:solidFill>
                <a:latin typeface="Calibri"/>
              </a:rPr>
              <a:t> der </a:t>
            </a:r>
            <a:r>
              <a:rPr lang="en-US" sz="1250" i="1" dirty="0" err="1">
                <a:solidFill>
                  <a:srgbClr val="6C7278"/>
                </a:solidFill>
                <a:latin typeface="Calibri"/>
              </a:rPr>
              <a:t>Anwendung</a:t>
            </a:r>
            <a:r>
              <a:rPr lang="en-US" sz="1250" i="1" dirty="0">
                <a:solidFill>
                  <a:srgbClr val="6C7278"/>
                </a:solidFill>
                <a:latin typeface="Calibri"/>
              </a:rPr>
              <a:t> auf </a:t>
            </a:r>
            <a:r>
              <a:rPr lang="en-US" sz="1250" i="1" dirty="0" err="1">
                <a:solidFill>
                  <a:srgbClr val="6C7278"/>
                </a:solidFill>
                <a:latin typeface="Calibri"/>
              </a:rPr>
              <a:t>neue</a:t>
            </a:r>
            <a:r>
              <a:rPr lang="en-US" sz="1250" i="1" dirty="0">
                <a:solidFill>
                  <a:srgbClr val="6C7278"/>
                </a:solidFill>
                <a:latin typeface="Calibri"/>
              </a:rPr>
              <a:t> </a:t>
            </a:r>
            <a:r>
              <a:rPr lang="en-US" sz="1250" i="1" dirty="0" err="1">
                <a:solidFill>
                  <a:srgbClr val="6C7278"/>
                </a:solidFill>
                <a:latin typeface="Calibri"/>
              </a:rPr>
              <a:t>Zeitbereiche</a:t>
            </a:r>
            <a:r>
              <a:rPr lang="en-US" sz="1250" i="1" dirty="0">
                <a:solidFill>
                  <a:srgbClr val="6C7278"/>
                </a:solidFill>
                <a:latin typeface="Calibri"/>
              </a:rPr>
              <a:t> neu </a:t>
            </a:r>
            <a:r>
              <a:rPr lang="en-US" sz="1250" i="1" dirty="0" err="1">
                <a:solidFill>
                  <a:srgbClr val="6C7278"/>
                </a:solidFill>
                <a:latin typeface="Calibri"/>
              </a:rPr>
              <a:t>trainiert</a:t>
            </a:r>
            <a:r>
              <a:rPr lang="en-US" sz="1250" i="1" dirty="0">
                <a:solidFill>
                  <a:srgbClr val="6C7278"/>
                </a:solidFill>
                <a:latin typeface="Calibri"/>
              </a:rPr>
              <a:t> </a:t>
            </a:r>
            <a:r>
              <a:rPr lang="en-US" sz="1250" i="1" dirty="0" err="1">
                <a:solidFill>
                  <a:srgbClr val="6C7278"/>
                </a:solidFill>
                <a:latin typeface="Calibri"/>
              </a:rPr>
              <a:t>werden</a:t>
            </a:r>
            <a:r>
              <a:rPr lang="en-US" sz="1250" i="1" dirty="0">
                <a:solidFill>
                  <a:srgbClr val="6C7278"/>
                </a:solidFill>
                <a:latin typeface="Calibri"/>
              </a:rPr>
              <a:t>.</a:t>
            </a:r>
            <a:endParaRPr lang="de-DE" sz="1250" b="0" u="none" strike="noStrike" dirty="0">
              <a:solidFill>
                <a:srgbClr val="000000"/>
              </a:solidFill>
              <a:effectLst/>
              <a:uFillTx/>
              <a:latin typeface="Arial"/>
            </a:endParaRPr>
          </a:p>
        </p:txBody>
      </p:sp>
      <p:sp>
        <p:nvSpPr>
          <p:cNvPr id="266" name="Rounded Rectangle 9"/>
          <p:cNvSpPr/>
          <p:nvPr/>
        </p:nvSpPr>
        <p:spPr>
          <a:xfrm>
            <a:off x="457200" y="4041720"/>
            <a:ext cx="5439960" cy="2193840"/>
          </a:xfrm>
          <a:prstGeom prst="roundRect">
            <a:avLst>
              <a:gd name="adj" fmla="val 6000"/>
            </a:avLst>
          </a:prstGeom>
          <a:solidFill>
            <a:srgbClr val="FFFFFF"/>
          </a:solidFill>
          <a:ln w="12700">
            <a:solidFill>
              <a:srgbClr val="E1E3E6"/>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67" name="Oval 8"/>
          <p:cNvSpPr/>
          <p:nvPr/>
        </p:nvSpPr>
        <p:spPr>
          <a:xfrm>
            <a:off x="731520" y="4316040"/>
            <a:ext cx="776520" cy="77652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a:solidFill>
                <a:schemeClr val="lt1"/>
              </a:solidFill>
              <a:latin typeface="Calibri"/>
            </a:endParaRPr>
          </a:p>
        </p:txBody>
      </p:sp>
      <p:sp>
        <p:nvSpPr>
          <p:cNvPr id="268" name="TextBox 51"/>
          <p:cNvSpPr/>
          <p:nvPr/>
        </p:nvSpPr>
        <p:spPr>
          <a:xfrm>
            <a:off x="731520" y="4536360"/>
            <a:ext cx="776520" cy="33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2200" b="1" dirty="0">
                <a:solidFill>
                  <a:srgbClr val="FFFFFF"/>
                </a:solidFill>
                <a:latin typeface="Cambria"/>
              </a:rPr>
              <a:t>C</a:t>
            </a:r>
            <a:endParaRPr lang="de-DE" sz="2200" b="0" u="none" strike="noStrike" dirty="0">
              <a:solidFill>
                <a:srgbClr val="000000"/>
              </a:solidFill>
              <a:effectLst/>
              <a:uFillTx/>
              <a:latin typeface="Arial"/>
            </a:endParaRPr>
          </a:p>
        </p:txBody>
      </p:sp>
      <p:sp>
        <p:nvSpPr>
          <p:cNvPr id="269" name="TextBox 52"/>
          <p:cNvSpPr/>
          <p:nvPr/>
        </p:nvSpPr>
        <p:spPr>
          <a:xfrm>
            <a:off x="1664280" y="4428000"/>
            <a:ext cx="4022640" cy="259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700" b="1" u="none" strike="noStrike">
                <a:solidFill>
                  <a:srgbClr val="22272B"/>
                </a:solidFill>
                <a:effectLst/>
                <a:uFillTx/>
                <a:latin typeface="Cambria"/>
              </a:rPr>
              <a:t>Chronos-2</a:t>
            </a:r>
            <a:endParaRPr lang="de-DE" sz="1700" b="0" u="none" strike="noStrike">
              <a:solidFill>
                <a:srgbClr val="000000"/>
              </a:solidFill>
              <a:effectLst/>
              <a:uFillTx/>
              <a:latin typeface="Arial"/>
            </a:endParaRPr>
          </a:p>
        </p:txBody>
      </p:sp>
      <p:sp>
        <p:nvSpPr>
          <p:cNvPr id="270" name="TextBox 53"/>
          <p:cNvSpPr/>
          <p:nvPr/>
        </p:nvSpPr>
        <p:spPr>
          <a:xfrm>
            <a:off x="1664280" y="4773240"/>
            <a:ext cx="4022640" cy="167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00" b="1" u="none" strike="noStrike">
                <a:solidFill>
                  <a:srgbClr val="E0912F"/>
                </a:solidFill>
                <a:effectLst/>
                <a:uFillTx/>
                <a:latin typeface="Calibri"/>
              </a:rPr>
              <a:t>Foundation-Modell (Zero-Shot)</a:t>
            </a:r>
            <a:endParaRPr lang="de-DE" sz="1100" b="0" u="none" strike="noStrike">
              <a:solidFill>
                <a:srgbClr val="000000"/>
              </a:solidFill>
              <a:effectLst/>
              <a:uFillTx/>
              <a:latin typeface="Arial"/>
            </a:endParaRPr>
          </a:p>
        </p:txBody>
      </p:sp>
      <p:sp>
        <p:nvSpPr>
          <p:cNvPr id="271" name="TextBox 54"/>
          <p:cNvSpPr/>
          <p:nvPr/>
        </p:nvSpPr>
        <p:spPr>
          <a:xfrm>
            <a:off x="749880" y="5276160"/>
            <a:ext cx="4891320" cy="38472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0" i="1" u="none" strike="noStrike" dirty="0" err="1">
                <a:solidFill>
                  <a:srgbClr val="6C7278"/>
                </a:solidFill>
                <a:effectLst/>
                <a:uFillTx/>
                <a:latin typeface="Calibri"/>
              </a:rPr>
              <a:t>Vortrainiertes</a:t>
            </a:r>
            <a:r>
              <a:rPr lang="en-US" sz="1250" b="0" i="1" u="none" strike="noStrike" dirty="0">
                <a:solidFill>
                  <a:srgbClr val="6C7278"/>
                </a:solidFill>
                <a:effectLst/>
                <a:uFillTx/>
                <a:latin typeface="Calibri"/>
              </a:rPr>
              <a:t> Transformer-Modell für </a:t>
            </a:r>
            <a:r>
              <a:rPr lang="en-US" sz="1250" b="0" i="1" u="none" strike="noStrike" dirty="0" err="1">
                <a:solidFill>
                  <a:srgbClr val="6C7278"/>
                </a:solidFill>
                <a:effectLst/>
                <a:uFillTx/>
                <a:latin typeface="Calibri"/>
              </a:rPr>
              <a:t>Zeitreihen</a:t>
            </a:r>
            <a:r>
              <a:rPr lang="en-US" sz="1250" b="0" i="1" u="none" strike="noStrike" dirty="0">
                <a:solidFill>
                  <a:srgbClr val="6C7278"/>
                </a:solidFill>
                <a:effectLst/>
                <a:uFillTx/>
                <a:latin typeface="Calibri"/>
              </a:rPr>
              <a:t>; </a:t>
            </a:r>
            <a:r>
              <a:rPr lang="en-US" sz="1250" b="0" i="1" u="none" strike="noStrike" dirty="0" err="1">
                <a:solidFill>
                  <a:srgbClr val="6C7278"/>
                </a:solidFill>
                <a:effectLst/>
                <a:uFillTx/>
                <a:latin typeface="Calibri"/>
              </a:rPr>
              <a:t>kein</a:t>
            </a:r>
            <a:r>
              <a:rPr lang="en-US" sz="1250" b="0" i="1" u="none" strike="noStrike" dirty="0">
                <a:solidFill>
                  <a:srgbClr val="6C7278"/>
                </a:solidFill>
                <a:effectLst/>
                <a:uFillTx/>
                <a:latin typeface="Calibri"/>
              </a:rPr>
              <a:t> </a:t>
            </a:r>
            <a:r>
              <a:rPr lang="en-US" sz="1250" b="0" i="1" u="none" strike="noStrike" dirty="0" err="1">
                <a:solidFill>
                  <a:srgbClr val="6C7278"/>
                </a:solidFill>
                <a:effectLst/>
                <a:uFillTx/>
                <a:latin typeface="Calibri"/>
              </a:rPr>
              <a:t>eigenes</a:t>
            </a:r>
            <a:r>
              <a:rPr lang="en-US" sz="1250" b="0" i="1" u="none" strike="noStrike" dirty="0">
                <a:solidFill>
                  <a:srgbClr val="6C7278"/>
                </a:solidFill>
                <a:effectLst/>
                <a:uFillTx/>
                <a:latin typeface="Calibri"/>
              </a:rPr>
              <a:t> Training </a:t>
            </a:r>
            <a:r>
              <a:rPr lang="en-US" sz="1250" b="0" i="1" u="none" strike="noStrike" dirty="0" err="1">
                <a:solidFill>
                  <a:srgbClr val="6C7278"/>
                </a:solidFill>
                <a:effectLst/>
                <a:uFillTx/>
                <a:latin typeface="Calibri"/>
              </a:rPr>
              <a:t>nötig</a:t>
            </a:r>
            <a:r>
              <a:rPr lang="en-US" sz="1250" b="0" i="1" u="none" strike="noStrike" dirty="0">
                <a:solidFill>
                  <a:srgbClr val="6C7278"/>
                </a:solidFill>
                <a:effectLst/>
                <a:uFillTx/>
                <a:latin typeface="Calibri"/>
              </a:rPr>
              <a:t>, </a:t>
            </a:r>
            <a:r>
              <a:rPr lang="en-US" sz="1250" b="0" i="1" u="none" strike="noStrike" dirty="0" err="1">
                <a:solidFill>
                  <a:srgbClr val="6C7278"/>
                </a:solidFill>
                <a:effectLst/>
                <a:uFillTx/>
                <a:latin typeface="Calibri"/>
              </a:rPr>
              <a:t>Berücksichtigung</a:t>
            </a:r>
            <a:r>
              <a:rPr lang="en-US" sz="1250" b="0" i="1" u="none" strike="noStrike" dirty="0">
                <a:solidFill>
                  <a:srgbClr val="6C7278"/>
                </a:solidFill>
                <a:effectLst/>
                <a:uFillTx/>
                <a:latin typeface="Calibri"/>
              </a:rPr>
              <a:t> von Wetter- und </a:t>
            </a:r>
            <a:r>
              <a:rPr lang="en-US" sz="1250" b="0" i="1" u="none" strike="noStrike" dirty="0" err="1">
                <a:solidFill>
                  <a:srgbClr val="6C7278"/>
                </a:solidFill>
                <a:effectLst/>
                <a:uFillTx/>
                <a:latin typeface="Calibri"/>
              </a:rPr>
              <a:t>Kalenderdaten</a:t>
            </a:r>
            <a:r>
              <a:rPr lang="en-US" sz="1250" b="0" i="1" u="none" strike="noStrike" dirty="0">
                <a:solidFill>
                  <a:srgbClr val="6C7278"/>
                </a:solidFill>
                <a:effectLst/>
                <a:uFillTx/>
                <a:latin typeface="Calibri"/>
              </a:rPr>
              <a:t> </a:t>
            </a:r>
            <a:r>
              <a:rPr lang="en-US" sz="1250" b="0" i="1" u="none" strike="noStrike" dirty="0" err="1">
                <a:solidFill>
                  <a:srgbClr val="6C7278"/>
                </a:solidFill>
                <a:effectLst/>
                <a:uFillTx/>
                <a:latin typeface="Calibri"/>
              </a:rPr>
              <a:t>als</a:t>
            </a:r>
            <a:r>
              <a:rPr lang="en-US" sz="1250" b="0" i="1" u="none" strike="noStrike" dirty="0">
                <a:solidFill>
                  <a:srgbClr val="6C7278"/>
                </a:solidFill>
                <a:effectLst/>
                <a:uFillTx/>
                <a:latin typeface="Calibri"/>
              </a:rPr>
              <a:t> </a:t>
            </a:r>
            <a:r>
              <a:rPr lang="en-US" sz="1250" b="0" i="1" u="none" strike="noStrike" dirty="0" err="1">
                <a:solidFill>
                  <a:srgbClr val="6C7278"/>
                </a:solidFill>
                <a:effectLst/>
                <a:uFillTx/>
                <a:latin typeface="Calibri"/>
              </a:rPr>
              <a:t>Kovariaten</a:t>
            </a:r>
            <a:r>
              <a:rPr lang="en-US" sz="1250" b="0" i="1" u="none" strike="noStrike" dirty="0">
                <a:solidFill>
                  <a:srgbClr val="6C7278"/>
                </a:solidFill>
                <a:effectLst/>
                <a:uFillTx/>
                <a:latin typeface="Calibri"/>
              </a:rPr>
              <a:t>.</a:t>
            </a:r>
            <a:endParaRPr lang="de-DE" sz="1250" b="0" u="none" strike="noStrike" dirty="0">
              <a:solidFill>
                <a:srgbClr val="000000"/>
              </a:solidFill>
              <a:effectLst/>
              <a:uFillTx/>
              <a:latin typeface="Arial"/>
            </a:endParaRPr>
          </a:p>
        </p:txBody>
      </p:sp>
      <p:sp>
        <p:nvSpPr>
          <p:cNvPr id="272" name="Rounded Rectangle 11"/>
          <p:cNvSpPr/>
          <p:nvPr/>
        </p:nvSpPr>
        <p:spPr>
          <a:xfrm>
            <a:off x="6263640" y="4041720"/>
            <a:ext cx="5439960" cy="2193840"/>
          </a:xfrm>
          <a:prstGeom prst="roundRect">
            <a:avLst>
              <a:gd name="adj" fmla="val 6000"/>
            </a:avLst>
          </a:prstGeom>
          <a:solidFill>
            <a:srgbClr val="FFFFFF"/>
          </a:solidFill>
          <a:ln w="12700">
            <a:solidFill>
              <a:srgbClr val="E1E3E6"/>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73" name="Oval 10"/>
          <p:cNvSpPr/>
          <p:nvPr/>
        </p:nvSpPr>
        <p:spPr>
          <a:xfrm>
            <a:off x="6537960" y="4316040"/>
            <a:ext cx="776520" cy="77652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74" name="TextBox 55"/>
          <p:cNvSpPr/>
          <p:nvPr/>
        </p:nvSpPr>
        <p:spPr>
          <a:xfrm>
            <a:off x="6537960" y="4536360"/>
            <a:ext cx="776520" cy="33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2200" b="1" dirty="0">
                <a:solidFill>
                  <a:srgbClr val="FFFFFF"/>
                </a:solidFill>
                <a:latin typeface="Cambria"/>
              </a:rPr>
              <a:t>D</a:t>
            </a:r>
            <a:endParaRPr lang="de-DE" sz="2200" b="0" u="none" strike="noStrike" dirty="0">
              <a:solidFill>
                <a:srgbClr val="000000"/>
              </a:solidFill>
              <a:effectLst/>
              <a:uFillTx/>
              <a:latin typeface="Arial"/>
            </a:endParaRPr>
          </a:p>
        </p:txBody>
      </p:sp>
      <p:sp>
        <p:nvSpPr>
          <p:cNvPr id="275" name="TextBox 56"/>
          <p:cNvSpPr/>
          <p:nvPr/>
        </p:nvSpPr>
        <p:spPr>
          <a:xfrm>
            <a:off x="7470720" y="4428000"/>
            <a:ext cx="4022640" cy="259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700" b="1" u="none" strike="noStrike">
                <a:solidFill>
                  <a:srgbClr val="22272B"/>
                </a:solidFill>
                <a:effectLst/>
                <a:uFillTx/>
                <a:latin typeface="Cambria"/>
              </a:rPr>
              <a:t>TFT</a:t>
            </a:r>
            <a:endParaRPr lang="de-DE" sz="1700" b="0" u="none" strike="noStrike">
              <a:solidFill>
                <a:srgbClr val="000000"/>
              </a:solidFill>
              <a:effectLst/>
              <a:uFillTx/>
              <a:latin typeface="Arial"/>
            </a:endParaRPr>
          </a:p>
        </p:txBody>
      </p:sp>
      <p:sp>
        <p:nvSpPr>
          <p:cNvPr id="276" name="TextBox 57"/>
          <p:cNvSpPr/>
          <p:nvPr/>
        </p:nvSpPr>
        <p:spPr>
          <a:xfrm>
            <a:off x="7470720" y="4773240"/>
            <a:ext cx="4022640" cy="167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00" b="1" u="none" strike="noStrike">
                <a:solidFill>
                  <a:srgbClr val="E0912F"/>
                </a:solidFill>
                <a:effectLst/>
                <a:uFillTx/>
                <a:latin typeface="Calibri"/>
              </a:rPr>
              <a:t>Deep-Learning-Modell</a:t>
            </a:r>
            <a:endParaRPr lang="de-DE" sz="1100" b="0" u="none" strike="noStrike">
              <a:solidFill>
                <a:srgbClr val="000000"/>
              </a:solidFill>
              <a:effectLst/>
              <a:uFillTx/>
              <a:latin typeface="Arial"/>
            </a:endParaRPr>
          </a:p>
        </p:txBody>
      </p:sp>
      <p:sp>
        <p:nvSpPr>
          <p:cNvPr id="277" name="TextBox 58"/>
          <p:cNvSpPr/>
          <p:nvPr/>
        </p:nvSpPr>
        <p:spPr>
          <a:xfrm>
            <a:off x="6556320" y="5276160"/>
            <a:ext cx="4891320" cy="38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0" i="1" u="none" strike="noStrike" dirty="0">
                <a:solidFill>
                  <a:srgbClr val="6C7278"/>
                </a:solidFill>
                <a:effectLst/>
                <a:uFillTx/>
                <a:latin typeface="Calibri"/>
              </a:rPr>
              <a:t>Temporal Fusion Transformer; </a:t>
            </a:r>
            <a:r>
              <a:rPr lang="en-US" sz="1250" b="0" i="1" u="none" strike="noStrike" dirty="0" err="1">
                <a:solidFill>
                  <a:srgbClr val="6C7278"/>
                </a:solidFill>
                <a:effectLst/>
                <a:uFillTx/>
                <a:latin typeface="Calibri"/>
              </a:rPr>
              <a:t>lernt</a:t>
            </a:r>
            <a:r>
              <a:rPr lang="en-US" sz="1250" b="0" i="1" u="none" strike="noStrike" dirty="0">
                <a:solidFill>
                  <a:srgbClr val="6C7278"/>
                </a:solidFill>
                <a:effectLst/>
                <a:uFillTx/>
                <a:latin typeface="Calibri"/>
              </a:rPr>
              <a:t> </a:t>
            </a:r>
            <a:r>
              <a:rPr lang="en-US" sz="1250" b="0" i="1" u="none" strike="noStrike" dirty="0" err="1">
                <a:solidFill>
                  <a:srgbClr val="6C7278"/>
                </a:solidFill>
                <a:effectLst/>
                <a:uFillTx/>
                <a:latin typeface="Calibri"/>
              </a:rPr>
              <a:t>komplexe</a:t>
            </a:r>
            <a:r>
              <a:rPr lang="en-US" sz="1250" b="0" i="1" u="none" strike="noStrike" dirty="0">
                <a:solidFill>
                  <a:srgbClr val="6C7278"/>
                </a:solidFill>
                <a:effectLst/>
                <a:uFillTx/>
                <a:latin typeface="Calibri"/>
              </a:rPr>
              <a:t>, </a:t>
            </a:r>
            <a:r>
              <a:rPr lang="en-US" sz="1250" b="0" i="1" u="none" strike="noStrike" dirty="0" err="1">
                <a:solidFill>
                  <a:srgbClr val="6C7278"/>
                </a:solidFill>
                <a:effectLst/>
                <a:uFillTx/>
                <a:latin typeface="Calibri"/>
              </a:rPr>
              <a:t>nichtlineare</a:t>
            </a:r>
            <a:r>
              <a:rPr lang="en-US" sz="1250" b="0" i="1" u="none" strike="noStrike" dirty="0">
                <a:solidFill>
                  <a:srgbClr val="6C7278"/>
                </a:solidFill>
                <a:effectLst/>
                <a:uFillTx/>
                <a:latin typeface="Calibri"/>
              </a:rPr>
              <a:t> Muster </a:t>
            </a:r>
            <a:r>
              <a:rPr lang="en-US" sz="1250" b="0" i="1" u="none" strike="noStrike" dirty="0" err="1">
                <a:solidFill>
                  <a:srgbClr val="6C7278"/>
                </a:solidFill>
                <a:effectLst/>
                <a:uFillTx/>
                <a:latin typeface="Calibri"/>
              </a:rPr>
              <a:t>selbst</a:t>
            </a:r>
            <a:r>
              <a:rPr lang="en-US" sz="1250" b="0" i="1" u="none" strike="noStrike" dirty="0">
                <a:solidFill>
                  <a:srgbClr val="6C7278"/>
                </a:solidFill>
                <a:effectLst/>
                <a:uFillTx/>
                <a:latin typeface="Calibri"/>
              </a:rPr>
              <a:t> — </a:t>
            </a:r>
            <a:r>
              <a:rPr lang="en-US" sz="1250" b="0" i="1" u="none" strike="noStrike" dirty="0" err="1">
                <a:solidFill>
                  <a:srgbClr val="6C7278"/>
                </a:solidFill>
                <a:effectLst/>
                <a:uFillTx/>
                <a:latin typeface="Calibri"/>
              </a:rPr>
              <a:t>mit</a:t>
            </a:r>
            <a:r>
              <a:rPr lang="en-US" sz="1250" b="0" i="1" u="none" strike="noStrike" dirty="0">
                <a:solidFill>
                  <a:srgbClr val="6C7278"/>
                </a:solidFill>
                <a:effectLst/>
                <a:uFillTx/>
                <a:latin typeface="Calibri"/>
              </a:rPr>
              <a:t> </a:t>
            </a:r>
            <a:r>
              <a:rPr lang="en-US" sz="1250" b="0" i="1" u="none" strike="noStrike" dirty="0" err="1">
                <a:solidFill>
                  <a:srgbClr val="6C7278"/>
                </a:solidFill>
                <a:effectLst/>
                <a:uFillTx/>
                <a:latin typeface="Calibri"/>
              </a:rPr>
              <a:t>deutlich</a:t>
            </a:r>
            <a:r>
              <a:rPr lang="en-US" sz="1250" b="0" i="1" u="none" strike="noStrike" dirty="0">
                <a:solidFill>
                  <a:srgbClr val="6C7278"/>
                </a:solidFill>
                <a:effectLst/>
                <a:uFillTx/>
                <a:latin typeface="Calibri"/>
              </a:rPr>
              <a:t> </a:t>
            </a:r>
            <a:r>
              <a:rPr lang="en-US" sz="1250" b="0" i="1" u="none" strike="noStrike" dirty="0" err="1">
                <a:solidFill>
                  <a:srgbClr val="6C7278"/>
                </a:solidFill>
                <a:effectLst/>
                <a:uFillTx/>
                <a:latin typeface="Calibri"/>
              </a:rPr>
              <a:t>höherem</a:t>
            </a:r>
            <a:r>
              <a:rPr lang="en-US" sz="1250" b="0" i="1" u="none" strike="noStrike" dirty="0">
                <a:solidFill>
                  <a:srgbClr val="6C7278"/>
                </a:solidFill>
                <a:effectLst/>
                <a:uFillTx/>
                <a:latin typeface="Calibri"/>
              </a:rPr>
              <a:t> </a:t>
            </a:r>
            <a:r>
              <a:rPr lang="en-US" sz="1250" b="0" i="1" u="none" strike="noStrike" dirty="0" err="1">
                <a:solidFill>
                  <a:srgbClr val="6C7278"/>
                </a:solidFill>
                <a:effectLst/>
                <a:uFillTx/>
                <a:latin typeface="Calibri"/>
              </a:rPr>
              <a:t>Trainingsaufwand</a:t>
            </a:r>
            <a:r>
              <a:rPr lang="en-US" sz="1250" b="0" i="1" u="none" strike="noStrike" dirty="0">
                <a:solidFill>
                  <a:srgbClr val="6C7278"/>
                </a:solidFill>
                <a:effectLst/>
                <a:uFillTx/>
                <a:latin typeface="Calibri"/>
              </a:rPr>
              <a:t> </a:t>
            </a:r>
            <a:r>
              <a:rPr lang="en-US" sz="1250" b="0" i="1" u="none" strike="noStrike" dirty="0" err="1">
                <a:solidFill>
                  <a:srgbClr val="6C7278"/>
                </a:solidFill>
                <a:effectLst/>
                <a:uFillTx/>
                <a:latin typeface="Calibri"/>
              </a:rPr>
              <a:t>als</a:t>
            </a:r>
            <a:r>
              <a:rPr lang="en-US" sz="1250" b="0" i="1" u="none" strike="noStrike" dirty="0">
                <a:solidFill>
                  <a:srgbClr val="6C7278"/>
                </a:solidFill>
                <a:effectLst/>
                <a:uFillTx/>
                <a:latin typeface="Calibri"/>
              </a:rPr>
              <a:t> die </a:t>
            </a:r>
            <a:r>
              <a:rPr lang="en-US" sz="1250" b="0" i="1" u="none" strike="noStrike" dirty="0" err="1">
                <a:solidFill>
                  <a:srgbClr val="6C7278"/>
                </a:solidFill>
                <a:effectLst/>
                <a:uFillTx/>
                <a:latin typeface="Calibri"/>
              </a:rPr>
              <a:t>anderen</a:t>
            </a:r>
            <a:r>
              <a:rPr lang="en-US" sz="1250" b="0" i="1" u="none" strike="noStrike" dirty="0">
                <a:solidFill>
                  <a:srgbClr val="6C7278"/>
                </a:solidFill>
                <a:effectLst/>
                <a:uFillTx/>
                <a:latin typeface="Calibri"/>
              </a:rPr>
              <a:t> </a:t>
            </a:r>
            <a:r>
              <a:rPr lang="en-US" sz="1250" b="0" i="1" u="none" strike="noStrike" dirty="0" err="1">
                <a:solidFill>
                  <a:srgbClr val="6C7278"/>
                </a:solidFill>
                <a:effectLst/>
                <a:uFillTx/>
                <a:latin typeface="Calibri"/>
              </a:rPr>
              <a:t>drei</a:t>
            </a:r>
            <a:r>
              <a:rPr lang="en-US" sz="1250" b="0" i="1" u="none" strike="noStrike" dirty="0">
                <a:solidFill>
                  <a:srgbClr val="6C7278"/>
                </a:solidFill>
                <a:effectLst/>
                <a:uFillTx/>
                <a:latin typeface="Calibri"/>
              </a:rPr>
              <a:t> Modelle.</a:t>
            </a:r>
            <a:endParaRPr lang="de-DE" sz="1250" b="0" u="none" strike="noStrike" dirty="0">
              <a:solidFill>
                <a:srgbClr val="000000"/>
              </a:solidFill>
              <a:effectLst/>
              <a:uFillTx/>
              <a:latin typeface="Arial"/>
            </a:endParaRPr>
          </a:p>
        </p:txBody>
      </p:sp>
      <p:sp>
        <p:nvSpPr>
          <p:cNvPr id="278" name="TextBox 59"/>
          <p:cNvSpPr/>
          <p:nvPr/>
        </p:nvSpPr>
        <p:spPr>
          <a:xfrm>
            <a:off x="457200" y="6419160"/>
            <a:ext cx="7314480" cy="13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grpSp>
        <p:nvGrpSpPr>
          <p:cNvPr id="2" name="Gruppieren 1">
            <a:extLst>
              <a:ext uri="{FF2B5EF4-FFF2-40B4-BE49-F238E27FC236}">
                <a16:creationId xmlns:a16="http://schemas.microsoft.com/office/drawing/2014/main" id="{BA39CEE4-8236-9A97-C360-1E44AC57639B}"/>
              </a:ext>
            </a:extLst>
          </p:cNvPr>
          <p:cNvGrpSpPr/>
          <p:nvPr/>
        </p:nvGrpSpPr>
        <p:grpSpPr>
          <a:xfrm>
            <a:off x="494404" y="39935"/>
            <a:ext cx="1079299" cy="1051200"/>
            <a:chOff x="494404" y="39935"/>
            <a:chExt cx="1079299" cy="1051200"/>
          </a:xfrm>
        </p:grpSpPr>
        <p:sp>
          <p:nvSpPr>
            <p:cNvPr id="3" name="Oval 2">
              <a:extLst>
                <a:ext uri="{FF2B5EF4-FFF2-40B4-BE49-F238E27FC236}">
                  <a16:creationId xmlns:a16="http://schemas.microsoft.com/office/drawing/2014/main" id="{4D417130-C1CB-B564-343D-9B3887977966}"/>
                </a:ext>
              </a:extLst>
            </p:cNvPr>
            <p:cNvSpPr/>
            <p:nvPr/>
          </p:nvSpPr>
          <p:spPr>
            <a:xfrm>
              <a:off x="522503" y="39935"/>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 name="TextBox 3">
              <a:extLst>
                <a:ext uri="{FF2B5EF4-FFF2-40B4-BE49-F238E27FC236}">
                  <a16:creationId xmlns:a16="http://schemas.microsoft.com/office/drawing/2014/main" id="{F5E0F6D3-ABD4-B9B3-4DA3-A517FBEA4697}"/>
                </a:ext>
              </a:extLst>
            </p:cNvPr>
            <p:cNvSpPr/>
            <p:nvPr/>
          </p:nvSpPr>
          <p:spPr>
            <a:xfrm>
              <a:off x="494404" y="336203"/>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dirty="0">
                  <a:solidFill>
                    <a:srgbClr val="FFFFFF"/>
                  </a:solidFill>
                  <a:effectLst/>
                  <a:uFillTx/>
                  <a:latin typeface="Cambria"/>
                </a:rPr>
                <a:t>4</a:t>
              </a:r>
              <a:endParaRPr lang="de-DE" sz="3000" b="0" u="none" strike="noStrike" dirty="0">
                <a:solidFill>
                  <a:srgbClr val="000000"/>
                </a:solidFill>
                <a:effectLst/>
                <a:uFillTx/>
                <a:latin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Rectangle 1"/>
          <p:cNvSpPr/>
          <p:nvPr/>
        </p:nvSpPr>
        <p:spPr>
          <a:xfrm>
            <a:off x="0" y="0"/>
            <a:ext cx="12161160" cy="6857640"/>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dirty="0">
              <a:solidFill>
                <a:schemeClr val="lt1"/>
              </a:solidFill>
              <a:effectLst/>
              <a:uFillTx/>
              <a:latin typeface="Calibri"/>
            </a:endParaRPr>
          </a:p>
        </p:txBody>
      </p:sp>
      <p:sp>
        <p:nvSpPr>
          <p:cNvPr id="230" name="Oval 2"/>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31" name="TextBox 3"/>
          <p:cNvSpPr/>
          <p:nvPr/>
        </p:nvSpPr>
        <p:spPr>
          <a:xfrm>
            <a:off x="457200" y="457200"/>
            <a:ext cx="105120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a:solidFill>
                  <a:srgbClr val="FFFFFF"/>
                </a:solidFill>
                <a:effectLst/>
                <a:uFillTx/>
                <a:latin typeface="Cambria"/>
              </a:rPr>
              <a:t>4</a:t>
            </a:r>
            <a:endParaRPr lang="de-DE" sz="3000" b="0" u="none" strike="noStrike">
              <a:solidFill>
                <a:srgbClr val="000000"/>
              </a:solidFill>
              <a:effectLst/>
              <a:uFillTx/>
              <a:latin typeface="Arial"/>
            </a:endParaRPr>
          </a:p>
        </p:txBody>
      </p:sp>
      <p:sp>
        <p:nvSpPr>
          <p:cNvPr id="232" name="TextBox 4"/>
          <p:cNvSpPr/>
          <p:nvPr/>
        </p:nvSpPr>
        <p:spPr>
          <a:xfrm>
            <a:off x="1691640" y="553699"/>
            <a:ext cx="9143640" cy="49244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dirty="0" err="1">
                <a:solidFill>
                  <a:srgbClr val="22272B"/>
                </a:solidFill>
                <a:effectLst/>
                <a:uFillTx/>
                <a:latin typeface="Cambria"/>
              </a:rPr>
              <a:t>Warum kein PatchTST?</a:t>
            </a:r>
            <a:endParaRPr lang="de-DE" sz="3200" b="0" u="none" strike="noStrike" dirty="0">
              <a:solidFill>
                <a:srgbClr val="000000"/>
              </a:solidFill>
              <a:effectLst/>
              <a:uFillTx/>
              <a:latin typeface="Arial"/>
            </a:endParaRPr>
          </a:p>
        </p:txBody>
      </p:sp>
      <p:sp>
        <p:nvSpPr>
          <p:cNvPr id="233" name="TextBox 5"/>
          <p:cNvSpPr/>
          <p:nvPr/>
        </p:nvSpPr>
        <p:spPr>
          <a:xfrm>
            <a:off x="1710000" y="1115640"/>
            <a:ext cx="9143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E0912F"/>
                </a:solidFill>
                <a:effectLst/>
                <a:uFillTx/>
                <a:latin typeface="Calibri"/>
              </a:rPr>
              <a:t>CRISP-DM  ·  Modeling  ·  Modellauswahl</a:t>
            </a:r>
            <a:endParaRPr lang="de-DE" sz="1400" b="0" u="none" strike="noStrike">
              <a:solidFill>
                <a:srgbClr val="000000"/>
              </a:solidFill>
              <a:effectLst/>
              <a:uFillTx/>
              <a:latin typeface="Arial"/>
            </a:endParaRPr>
          </a:p>
        </p:txBody>
      </p:sp>
      <p:sp>
        <p:nvSpPr>
          <p:cNvPr id="244" name="TextBox 16"/>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sp>
        <p:nvSpPr>
          <p:cNvPr id="251" name="TextBox 250"/>
          <p:cNvSpPr txBox="1"/>
          <p:nvPr/>
        </p:nvSpPr>
        <p:spPr>
          <a:xfrm>
            <a:off x="548640" y="1783080"/>
            <a:ext cx="11064240" cy="365760"/>
          </a:xfrm>
          <a:prstGeom prst="rect">
            <a:avLst/>
          </a:prstGeom>
          <a:noFill/>
        </p:spPr>
        <p:txBody>
          <a:bodyPr wrap="square">
            <a:spAutoFit/>
          </a:bodyPr>
          <a:lstStyle/>
          <a:p>
            <a:r>
              <a:rPr sz="1500" b="1">
                <a:solidFill>
                  <a:srgbClr val="E07B1B"/>
                </a:solidFill>
                <a:latin typeface="Calibri"/>
              </a:rPr>
              <a:t>1 · Keine (Zukunfts-)Kovariaten</a:t>
            </a:r>
          </a:p>
        </p:txBody>
      </p:sp>
      <p:sp>
        <p:nvSpPr>
          <p:cNvPr id="252" name="TextBox 251"/>
          <p:cNvSpPr txBox="1"/>
          <p:nvPr/>
        </p:nvSpPr>
        <p:spPr>
          <a:xfrm>
            <a:off x="548640" y="2130552"/>
            <a:ext cx="11064240" cy="477054"/>
          </a:xfrm>
          <a:prstGeom prst="rect">
            <a:avLst/>
          </a:prstGeom>
          <a:noFill/>
        </p:spPr>
        <p:txBody>
          <a:bodyPr wrap="square">
            <a:spAutoFit/>
          </a:bodyPr>
          <a:lstStyle/>
          <a:p>
            <a:r>
              <a:rPr sz="1250" dirty="0" err="1">
                <a:solidFill>
                  <a:srgbClr val="3A4148"/>
                </a:solidFill>
                <a:latin typeface="Calibri"/>
              </a:rPr>
              <a:t>PatchTST</a:t>
            </a:r>
            <a:r>
              <a:rPr sz="1250" dirty="0">
                <a:solidFill>
                  <a:srgbClr val="3A4148"/>
                </a:solidFill>
                <a:latin typeface="Calibri"/>
              </a:rPr>
              <a:t> </a:t>
            </a:r>
            <a:r>
              <a:rPr sz="1250" dirty="0" err="1">
                <a:solidFill>
                  <a:srgbClr val="3A4148"/>
                </a:solidFill>
                <a:latin typeface="Calibri"/>
              </a:rPr>
              <a:t>prognostiziert</a:t>
            </a:r>
            <a:r>
              <a:rPr sz="1250" dirty="0">
                <a:solidFill>
                  <a:srgbClr val="3A4148"/>
                </a:solidFill>
                <a:latin typeface="Calibri"/>
              </a:rPr>
              <a:t> </a:t>
            </a:r>
            <a:r>
              <a:rPr sz="1250" dirty="0" err="1">
                <a:solidFill>
                  <a:srgbClr val="3A4148"/>
                </a:solidFill>
                <a:latin typeface="Calibri"/>
              </a:rPr>
              <a:t>vor</a:t>
            </a:r>
            <a:r>
              <a:rPr sz="1250" dirty="0">
                <a:solidFill>
                  <a:srgbClr val="3A4148"/>
                </a:solidFill>
                <a:latin typeface="Calibri"/>
              </a:rPr>
              <a:t> </a:t>
            </a:r>
            <a:r>
              <a:rPr sz="1250" dirty="0" err="1">
                <a:solidFill>
                  <a:srgbClr val="3A4148"/>
                </a:solidFill>
                <a:latin typeface="Calibri"/>
              </a:rPr>
              <a:t>allem</a:t>
            </a:r>
            <a:r>
              <a:rPr sz="1250" dirty="0">
                <a:solidFill>
                  <a:srgbClr val="3A4148"/>
                </a:solidFill>
                <a:latin typeface="Calibri"/>
              </a:rPr>
              <a:t> </a:t>
            </a:r>
            <a:r>
              <a:rPr sz="1250" dirty="0" err="1">
                <a:solidFill>
                  <a:srgbClr val="3A4148"/>
                </a:solidFill>
                <a:latin typeface="Calibri"/>
              </a:rPr>
              <a:t>aus</a:t>
            </a:r>
            <a:r>
              <a:rPr sz="1250" dirty="0">
                <a:solidFill>
                  <a:srgbClr val="3A4148"/>
                </a:solidFill>
                <a:latin typeface="Calibri"/>
              </a:rPr>
              <a:t> der </a:t>
            </a:r>
            <a:r>
              <a:rPr sz="1250" dirty="0" err="1">
                <a:solidFill>
                  <a:srgbClr val="3A4148"/>
                </a:solidFill>
                <a:latin typeface="Calibri"/>
              </a:rPr>
              <a:t>eigenen</a:t>
            </a:r>
            <a:r>
              <a:rPr sz="1250" dirty="0">
                <a:solidFill>
                  <a:srgbClr val="3A4148"/>
                </a:solidFill>
                <a:latin typeface="Calibri"/>
              </a:rPr>
              <a:t> </a:t>
            </a:r>
            <a:r>
              <a:rPr sz="1250" dirty="0" err="1">
                <a:solidFill>
                  <a:srgbClr val="3A4148"/>
                </a:solidFill>
                <a:latin typeface="Calibri"/>
              </a:rPr>
              <a:t>Vergangenheit</a:t>
            </a:r>
            <a:r>
              <a:rPr sz="1250" dirty="0">
                <a:solidFill>
                  <a:srgbClr val="3A4148"/>
                </a:solidFill>
                <a:latin typeface="Calibri"/>
              </a:rPr>
              <a:t> der </a:t>
            </a:r>
            <a:r>
              <a:rPr sz="1250" dirty="0" err="1">
                <a:solidFill>
                  <a:srgbClr val="3A4148"/>
                </a:solidFill>
                <a:latin typeface="Calibri"/>
              </a:rPr>
              <a:t>Zielreihe</a:t>
            </a:r>
            <a:r>
              <a:rPr sz="1250" dirty="0">
                <a:solidFill>
                  <a:srgbClr val="3A4148"/>
                </a:solidFill>
                <a:latin typeface="Calibri"/>
              </a:rPr>
              <a:t>. </a:t>
            </a:r>
            <a:r>
              <a:rPr sz="1250" dirty="0" err="1">
                <a:solidFill>
                  <a:srgbClr val="3A4148"/>
                </a:solidFill>
                <a:latin typeface="Calibri"/>
              </a:rPr>
              <a:t>Bekannte</a:t>
            </a:r>
            <a:r>
              <a:rPr sz="1250" dirty="0">
                <a:solidFill>
                  <a:srgbClr val="3A4148"/>
                </a:solidFill>
                <a:latin typeface="Calibri"/>
              </a:rPr>
              <a:t> </a:t>
            </a:r>
            <a:r>
              <a:rPr sz="1250" dirty="0" err="1">
                <a:solidFill>
                  <a:srgbClr val="3A4148"/>
                </a:solidFill>
                <a:latin typeface="Calibri"/>
              </a:rPr>
              <a:t>Zukunftsgrößen</a:t>
            </a:r>
            <a:r>
              <a:rPr sz="1250" dirty="0">
                <a:solidFill>
                  <a:srgbClr val="3A4148"/>
                </a:solidFill>
                <a:latin typeface="Calibri"/>
              </a:rPr>
              <a:t> (</a:t>
            </a:r>
            <a:r>
              <a:rPr sz="1250" dirty="0" err="1">
                <a:solidFill>
                  <a:srgbClr val="3A4148"/>
                </a:solidFill>
                <a:latin typeface="Calibri"/>
              </a:rPr>
              <a:t>Wetterprognose</a:t>
            </a:r>
            <a:r>
              <a:rPr sz="1250" dirty="0">
                <a:solidFill>
                  <a:srgbClr val="3A4148"/>
                </a:solidFill>
                <a:latin typeface="Calibri"/>
              </a:rPr>
              <a:t>, Kalender/</a:t>
            </a:r>
            <a:r>
              <a:rPr sz="1250" dirty="0" err="1">
                <a:solidFill>
                  <a:srgbClr val="3A4148"/>
                </a:solidFill>
                <a:latin typeface="Calibri"/>
              </a:rPr>
              <a:t>Feiertage</a:t>
            </a:r>
            <a:r>
              <a:rPr sz="1250" dirty="0">
                <a:solidFill>
                  <a:srgbClr val="3A4148"/>
                </a:solidFill>
                <a:latin typeface="Calibri"/>
              </a:rPr>
              <a:t>) und </a:t>
            </a:r>
            <a:r>
              <a:rPr sz="1250" dirty="0" err="1">
                <a:solidFill>
                  <a:srgbClr val="3A4148"/>
                </a:solidFill>
                <a:latin typeface="Calibri"/>
              </a:rPr>
              <a:t>statische</a:t>
            </a:r>
            <a:r>
              <a:rPr sz="1250" dirty="0">
                <a:solidFill>
                  <a:srgbClr val="3A4148"/>
                </a:solidFill>
                <a:latin typeface="Calibri"/>
              </a:rPr>
              <a:t> </a:t>
            </a:r>
            <a:r>
              <a:rPr sz="1250" dirty="0" err="1">
                <a:solidFill>
                  <a:srgbClr val="3A4148"/>
                </a:solidFill>
                <a:latin typeface="Calibri"/>
              </a:rPr>
              <a:t>Merkmale</a:t>
            </a:r>
            <a:r>
              <a:rPr sz="1250" dirty="0">
                <a:solidFill>
                  <a:srgbClr val="3A4148"/>
                </a:solidFill>
                <a:latin typeface="Calibri"/>
              </a:rPr>
              <a:t> (</a:t>
            </a:r>
            <a:r>
              <a:rPr sz="1250" dirty="0" err="1">
                <a:solidFill>
                  <a:srgbClr val="3A4148"/>
                </a:solidFill>
                <a:latin typeface="Calibri"/>
              </a:rPr>
              <a:t>Stationstyp</a:t>
            </a:r>
            <a:r>
              <a:rPr sz="1250" dirty="0">
                <a:solidFill>
                  <a:srgbClr val="3A4148"/>
                </a:solidFill>
                <a:latin typeface="Calibri"/>
              </a:rPr>
              <a:t>) </a:t>
            </a:r>
            <a:r>
              <a:rPr sz="1250" dirty="0" err="1">
                <a:solidFill>
                  <a:srgbClr val="3A4148"/>
                </a:solidFill>
                <a:latin typeface="Calibri"/>
              </a:rPr>
              <a:t>nutzt</a:t>
            </a:r>
            <a:r>
              <a:rPr sz="1250" dirty="0">
                <a:solidFill>
                  <a:srgbClr val="3A4148"/>
                </a:solidFill>
                <a:latin typeface="Calibri"/>
              </a:rPr>
              <a:t> es nicht – </a:t>
            </a:r>
            <a:r>
              <a:rPr sz="1250" dirty="0" err="1">
                <a:solidFill>
                  <a:srgbClr val="3A4148"/>
                </a:solidFill>
                <a:latin typeface="Calibri"/>
              </a:rPr>
              <a:t>genau</a:t>
            </a:r>
            <a:r>
              <a:rPr sz="1250" dirty="0">
                <a:solidFill>
                  <a:srgbClr val="3A4148"/>
                </a:solidFill>
                <a:latin typeface="Calibri"/>
              </a:rPr>
              <a:t> die </a:t>
            </a:r>
            <a:r>
              <a:rPr sz="1250" dirty="0" err="1">
                <a:solidFill>
                  <a:srgbClr val="3A4148"/>
                </a:solidFill>
                <a:latin typeface="Calibri"/>
              </a:rPr>
              <a:t>Größen</a:t>
            </a:r>
            <a:r>
              <a:rPr sz="1250" dirty="0">
                <a:solidFill>
                  <a:srgbClr val="3A4148"/>
                </a:solidFill>
                <a:latin typeface="Calibri"/>
              </a:rPr>
              <a:t>, die PM2.5 </a:t>
            </a:r>
            <a:r>
              <a:rPr sz="1250" dirty="0" err="1">
                <a:solidFill>
                  <a:srgbClr val="3A4148"/>
                </a:solidFill>
                <a:latin typeface="Calibri"/>
              </a:rPr>
              <a:t>treiben</a:t>
            </a:r>
            <a:r>
              <a:rPr sz="1250" dirty="0">
                <a:solidFill>
                  <a:srgbClr val="3A4148"/>
                </a:solidFill>
                <a:latin typeface="Calibri"/>
              </a:rPr>
              <a:t>.</a:t>
            </a:r>
          </a:p>
        </p:txBody>
      </p:sp>
      <p:sp>
        <p:nvSpPr>
          <p:cNvPr id="253" name="TextBox 252"/>
          <p:cNvSpPr txBox="1"/>
          <p:nvPr/>
        </p:nvSpPr>
        <p:spPr>
          <a:xfrm>
            <a:off x="548640" y="2999232"/>
            <a:ext cx="11064240" cy="365760"/>
          </a:xfrm>
          <a:prstGeom prst="rect">
            <a:avLst/>
          </a:prstGeom>
          <a:noFill/>
        </p:spPr>
        <p:txBody>
          <a:bodyPr wrap="square">
            <a:spAutoFit/>
          </a:bodyPr>
          <a:lstStyle/>
          <a:p>
            <a:r>
              <a:rPr sz="1500" b="1">
                <a:solidFill>
                  <a:srgbClr val="E07B1B"/>
                </a:solidFill>
                <a:latin typeface="Calibri"/>
              </a:rPr>
              <a:t>2 · Kanal-Unabhängigkeit</a:t>
            </a:r>
          </a:p>
        </p:txBody>
      </p:sp>
      <p:sp>
        <p:nvSpPr>
          <p:cNvPr id="254" name="TextBox 253"/>
          <p:cNvSpPr txBox="1"/>
          <p:nvPr/>
        </p:nvSpPr>
        <p:spPr>
          <a:xfrm>
            <a:off x="548640" y="3346703"/>
            <a:ext cx="11064240" cy="477054"/>
          </a:xfrm>
          <a:prstGeom prst="rect">
            <a:avLst/>
          </a:prstGeom>
          <a:noFill/>
        </p:spPr>
        <p:txBody>
          <a:bodyPr wrap="square">
            <a:spAutoFit/>
          </a:bodyPr>
          <a:lstStyle/>
          <a:p>
            <a:r>
              <a:rPr sz="1250" dirty="0">
                <a:solidFill>
                  <a:srgbClr val="3A4148"/>
                </a:solidFill>
                <a:latin typeface="Calibri"/>
              </a:rPr>
              <a:t>Durch „channel independence“ </a:t>
            </a:r>
            <a:r>
              <a:rPr sz="1250" dirty="0" err="1">
                <a:solidFill>
                  <a:srgbClr val="3A4148"/>
                </a:solidFill>
                <a:latin typeface="Calibri"/>
              </a:rPr>
              <a:t>modelliert</a:t>
            </a:r>
            <a:r>
              <a:rPr sz="1250" dirty="0">
                <a:solidFill>
                  <a:srgbClr val="3A4148"/>
                </a:solidFill>
                <a:latin typeface="Calibri"/>
              </a:rPr>
              <a:t> </a:t>
            </a:r>
            <a:r>
              <a:rPr sz="1250" dirty="0" err="1">
                <a:solidFill>
                  <a:srgbClr val="3A4148"/>
                </a:solidFill>
                <a:latin typeface="Calibri"/>
              </a:rPr>
              <a:t>PatchTST</a:t>
            </a:r>
            <a:r>
              <a:rPr sz="1250" dirty="0">
                <a:solidFill>
                  <a:srgbClr val="3A4148"/>
                </a:solidFill>
                <a:latin typeface="Calibri"/>
              </a:rPr>
              <a:t> </a:t>
            </a:r>
            <a:r>
              <a:rPr sz="1250" dirty="0" err="1">
                <a:solidFill>
                  <a:srgbClr val="3A4148"/>
                </a:solidFill>
                <a:latin typeface="Calibri"/>
              </a:rPr>
              <a:t>keine</a:t>
            </a:r>
            <a:r>
              <a:rPr sz="1250" dirty="0">
                <a:solidFill>
                  <a:srgbClr val="3A4148"/>
                </a:solidFill>
                <a:latin typeface="Calibri"/>
              </a:rPr>
              <a:t> </a:t>
            </a:r>
            <a:r>
              <a:rPr sz="1250" dirty="0" err="1">
                <a:solidFill>
                  <a:srgbClr val="3A4148"/>
                </a:solidFill>
                <a:latin typeface="Calibri"/>
              </a:rPr>
              <a:t>Wechselwirkungen</a:t>
            </a:r>
            <a:r>
              <a:rPr sz="1250" dirty="0">
                <a:solidFill>
                  <a:srgbClr val="3A4148"/>
                </a:solidFill>
                <a:latin typeface="Calibri"/>
              </a:rPr>
              <a:t> </a:t>
            </a:r>
            <a:r>
              <a:rPr sz="1250" dirty="0" err="1">
                <a:solidFill>
                  <a:srgbClr val="3A4148"/>
                </a:solidFill>
                <a:latin typeface="Calibri"/>
              </a:rPr>
              <a:t>zwischen</a:t>
            </a:r>
            <a:r>
              <a:rPr sz="1250" dirty="0">
                <a:solidFill>
                  <a:srgbClr val="3A4148"/>
                </a:solidFill>
                <a:latin typeface="Calibri"/>
              </a:rPr>
              <a:t> </a:t>
            </a:r>
            <a:r>
              <a:rPr sz="1250" dirty="0" err="1">
                <a:solidFill>
                  <a:srgbClr val="3A4148"/>
                </a:solidFill>
                <a:latin typeface="Calibri"/>
              </a:rPr>
              <a:t>Variablen</a:t>
            </a:r>
            <a:r>
              <a:rPr sz="1250" dirty="0">
                <a:solidFill>
                  <a:srgbClr val="3A4148"/>
                </a:solidFill>
                <a:latin typeface="Calibri"/>
              </a:rPr>
              <a:t> </a:t>
            </a:r>
            <a:r>
              <a:rPr sz="1250" dirty="0" err="1">
                <a:solidFill>
                  <a:srgbClr val="3A4148"/>
                </a:solidFill>
                <a:latin typeface="Calibri"/>
              </a:rPr>
              <a:t>oder</a:t>
            </a:r>
            <a:r>
              <a:rPr sz="1250" dirty="0">
                <a:solidFill>
                  <a:srgbClr val="3A4148"/>
                </a:solidFill>
                <a:latin typeface="Calibri"/>
              </a:rPr>
              <a:t> </a:t>
            </a:r>
            <a:r>
              <a:rPr sz="1250" dirty="0" err="1">
                <a:solidFill>
                  <a:srgbClr val="3A4148"/>
                </a:solidFill>
                <a:latin typeface="Calibri"/>
              </a:rPr>
              <a:t>Stationen</a:t>
            </a:r>
            <a:r>
              <a:rPr sz="1250" dirty="0">
                <a:solidFill>
                  <a:srgbClr val="3A4148"/>
                </a:solidFill>
                <a:latin typeface="Calibri"/>
              </a:rPr>
              <a:t>. </a:t>
            </a:r>
            <a:r>
              <a:rPr sz="1250" dirty="0" err="1">
                <a:solidFill>
                  <a:srgbClr val="3A4148"/>
                </a:solidFill>
                <a:latin typeface="Calibri"/>
              </a:rPr>
              <a:t>Beziehungen</a:t>
            </a:r>
            <a:r>
              <a:rPr sz="1250" dirty="0">
                <a:solidFill>
                  <a:srgbClr val="3A4148"/>
                </a:solidFill>
                <a:latin typeface="Calibri"/>
              </a:rPr>
              <a:t> </a:t>
            </a:r>
            <a:r>
              <a:rPr sz="1250" dirty="0" err="1">
                <a:solidFill>
                  <a:srgbClr val="3A4148"/>
                </a:solidFill>
                <a:latin typeface="Calibri"/>
              </a:rPr>
              <a:t>wie</a:t>
            </a:r>
            <a:r>
              <a:rPr sz="1250" dirty="0">
                <a:solidFill>
                  <a:srgbClr val="3A4148"/>
                </a:solidFill>
                <a:latin typeface="Calibri"/>
              </a:rPr>
              <a:t> „Wetter → </a:t>
            </a:r>
            <a:r>
              <a:rPr sz="1250" dirty="0" err="1">
                <a:solidFill>
                  <a:srgbClr val="3A4148"/>
                </a:solidFill>
                <a:latin typeface="Calibri"/>
              </a:rPr>
              <a:t>Feinstaub“bleiben</a:t>
            </a:r>
            <a:r>
              <a:rPr sz="1250" dirty="0">
                <a:solidFill>
                  <a:srgbClr val="3A4148"/>
                </a:solidFill>
                <a:latin typeface="Calibri"/>
              </a:rPr>
              <a:t> </a:t>
            </a:r>
            <a:r>
              <a:rPr sz="1250" dirty="0" err="1">
                <a:solidFill>
                  <a:srgbClr val="3A4148"/>
                </a:solidFill>
                <a:latin typeface="Calibri"/>
              </a:rPr>
              <a:t>ungenutzt</a:t>
            </a:r>
            <a:r>
              <a:rPr sz="1250" dirty="0">
                <a:solidFill>
                  <a:srgbClr val="3A4148"/>
                </a:solidFill>
                <a:latin typeface="Calibri"/>
              </a:rPr>
              <a:t>.</a:t>
            </a:r>
          </a:p>
        </p:txBody>
      </p:sp>
      <p:sp>
        <p:nvSpPr>
          <p:cNvPr id="255" name="TextBox 254"/>
          <p:cNvSpPr txBox="1"/>
          <p:nvPr/>
        </p:nvSpPr>
        <p:spPr>
          <a:xfrm>
            <a:off x="548640" y="4215384"/>
            <a:ext cx="11064240" cy="365760"/>
          </a:xfrm>
          <a:prstGeom prst="rect">
            <a:avLst/>
          </a:prstGeom>
          <a:noFill/>
        </p:spPr>
        <p:txBody>
          <a:bodyPr wrap="square">
            <a:spAutoFit/>
          </a:bodyPr>
          <a:lstStyle/>
          <a:p>
            <a:r>
              <a:rPr sz="1500" b="1">
                <a:solidFill>
                  <a:srgbClr val="E07B1B"/>
                </a:solidFill>
                <a:latin typeface="Calibri"/>
              </a:rPr>
              <a:t>3 · Methodisch redundant</a:t>
            </a:r>
          </a:p>
        </p:txBody>
      </p:sp>
      <p:sp>
        <p:nvSpPr>
          <p:cNvPr id="256" name="TextBox 255"/>
          <p:cNvSpPr txBox="1"/>
          <p:nvPr/>
        </p:nvSpPr>
        <p:spPr>
          <a:xfrm>
            <a:off x="548640" y="4562856"/>
            <a:ext cx="11064240" cy="822960"/>
          </a:xfrm>
          <a:prstGeom prst="rect">
            <a:avLst/>
          </a:prstGeom>
          <a:noFill/>
        </p:spPr>
        <p:txBody>
          <a:bodyPr wrap="square">
            <a:spAutoFit/>
          </a:bodyPr>
          <a:lstStyle/>
          <a:p>
            <a:r>
              <a:rPr sz="1250">
                <a:solidFill>
                  <a:srgbClr val="3A4148"/>
                </a:solidFill>
                <a:latin typeface="Calibri"/>
              </a:rPr>
              <a:t>PatchTST ist ein weiterer Deep-Learning-Transformer – neben TFT, aber ohne dessen Kovariaten-Fähigkeiten die schwächere Wahl. Unsere vier Ansätze decken bewusst verschiedene Klassen ab: Baseline, klassisch, Foundation-Modell, trainiertes DL.</a:t>
            </a:r>
          </a:p>
        </p:txBody>
      </p:sp>
      <p:sp>
        <p:nvSpPr>
          <p:cNvPr id="257" name="TextBox 256"/>
          <p:cNvSpPr txBox="1"/>
          <p:nvPr/>
        </p:nvSpPr>
        <p:spPr>
          <a:xfrm>
            <a:off x="548640" y="5623560"/>
            <a:ext cx="11064240" cy="640080"/>
          </a:xfrm>
          <a:prstGeom prst="rect">
            <a:avLst/>
          </a:prstGeom>
          <a:noFill/>
        </p:spPr>
        <p:txBody>
          <a:bodyPr wrap="square">
            <a:spAutoFit/>
          </a:bodyPr>
          <a:lstStyle/>
          <a:p>
            <a:r>
              <a:rPr sz="1100" b="1" i="1">
                <a:solidFill>
                  <a:srgbClr val="6B6B6B"/>
                </a:solidFill>
                <a:latin typeface="Calibri"/>
              </a:rPr>
              <a:t>Fairerweise: </a:t>
            </a:r>
            <a:r>
              <a:rPr sz="1100" i="1">
                <a:solidFill>
                  <a:srgbClr val="6B6B6B"/>
                </a:solidFill>
                <a:latin typeface="Calibri"/>
              </a:rPr>
              <a:t>Auf reinen Langhorizont-Benchmarks mit rein endogener Struktur ist PatchTST sehr stark und effizient – nur passt das nicht zu unserem stark exogen getriebenen, stationsübergreifenden PM2.5-Problem.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44" y="8483"/>
            <a:ext cx="12130715" cy="6840315"/>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3" name="TextBox 2"/>
          <p:cNvSpPr txBox="1"/>
          <p:nvPr/>
        </p:nvSpPr>
        <p:spPr>
          <a:xfrm>
            <a:off x="471113" y="418945"/>
            <a:ext cx="2956876" cy="520711"/>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3392" b="1" i="0" u="none" strike="noStrike" kern="1200" cap="none" spc="0" normalizeH="0" baseline="0" noProof="0">
                <a:ln>
                  <a:noFill/>
                </a:ln>
                <a:solidFill>
                  <a:srgbClr val="22272B"/>
                </a:solidFill>
                <a:effectLst/>
                <a:uLnTx/>
                <a:uFillTx/>
                <a:latin typeface="Cambria"/>
                <a:ea typeface="+mn-ea"/>
                <a:cs typeface="+mn-cs"/>
              </a:rPr>
              <a:t>Seasonal Naive</a:t>
            </a:r>
          </a:p>
        </p:txBody>
      </p:sp>
      <p:sp>
        <p:nvSpPr>
          <p:cNvPr id="4" name="TextBox 3"/>
          <p:cNvSpPr txBox="1"/>
          <p:nvPr/>
        </p:nvSpPr>
        <p:spPr>
          <a:xfrm>
            <a:off x="489427" y="1057442"/>
            <a:ext cx="10488867" cy="229622"/>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496" b="0" i="0" u="none" strike="noStrike" kern="1200" cap="none" spc="0" normalizeH="0" baseline="0" noProof="0">
                <a:ln>
                  <a:noFill/>
                </a:ln>
                <a:solidFill>
                  <a:srgbClr val="6C7278"/>
                </a:solidFill>
                <a:effectLst/>
                <a:uLnTx/>
                <a:uFillTx/>
                <a:latin typeface="Calibri"/>
                <a:ea typeface="+mn-ea"/>
                <a:cs typeface="+mn-cs"/>
              </a:rPr>
              <a:t>Baseline-Modell — Funktionsweise, Stärken und Grenzen im Beijing-PM2.5-Kontext</a:t>
            </a:r>
          </a:p>
        </p:txBody>
      </p:sp>
      <p:sp>
        <p:nvSpPr>
          <p:cNvPr id="5" name="TextBox 4"/>
          <p:cNvSpPr txBox="1"/>
          <p:nvPr/>
        </p:nvSpPr>
        <p:spPr>
          <a:xfrm>
            <a:off x="471113" y="6411763"/>
            <a:ext cx="2963953" cy="138179"/>
          </a:xfrm>
          <a:prstGeom prst="rect">
            <a:avLst/>
          </a:prstGeom>
          <a:noFill/>
        </p:spPr>
        <p:txBody>
          <a:bodyPr wrap="none" lIns="0" tIns="0" rIns="0" bIns="0">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sp>
        <p:nvSpPr>
          <p:cNvPr id="6" name="Rounded Rectangle 5"/>
          <p:cNvSpPr/>
          <p:nvPr/>
        </p:nvSpPr>
        <p:spPr>
          <a:xfrm>
            <a:off x="471113" y="1454896"/>
            <a:ext cx="11218577" cy="1346660"/>
          </a:xfrm>
          <a:prstGeom prst="roundRect">
            <a:avLst>
              <a:gd name="adj" fmla="val 6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7" name="Oval 6"/>
          <p:cNvSpPr/>
          <p:nvPr/>
        </p:nvSpPr>
        <p:spPr>
          <a:xfrm>
            <a:off x="700544" y="1684327"/>
            <a:ext cx="648392" cy="648392"/>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lang="de-DE" sz="1596" b="1" i="0" u="none" strike="noStrike" kern="1200" cap="none" spc="0" normalizeH="0" baseline="0" noProof="0" dirty="0">
                <a:ln>
                  <a:noFill/>
                </a:ln>
                <a:solidFill>
                  <a:srgbClr val="FFFFFF"/>
                </a:solidFill>
                <a:effectLst/>
                <a:uLnTx/>
                <a:uFillTx/>
                <a:latin typeface="Cambria"/>
                <a:ea typeface="+mn-ea"/>
                <a:cs typeface="+mn-cs"/>
              </a:rPr>
              <a:t>A</a:t>
            </a:r>
            <a:endParaRPr kumimoji="0" sz="1596" b="1" i="0" u="none" strike="noStrike" kern="1200" cap="none" spc="0" normalizeH="0" baseline="0" noProof="0" dirty="0">
              <a:ln>
                <a:noFill/>
              </a:ln>
              <a:solidFill>
                <a:srgbClr val="FFFFFF"/>
              </a:solidFill>
              <a:effectLst/>
              <a:uLnTx/>
              <a:uFillTx/>
              <a:latin typeface="Cambria"/>
              <a:ea typeface="+mn-ea"/>
              <a:cs typeface="+mn-cs"/>
            </a:endParaRPr>
          </a:p>
        </p:txBody>
      </p:sp>
      <p:sp>
        <p:nvSpPr>
          <p:cNvPr id="8" name="TextBox 7"/>
          <p:cNvSpPr txBox="1"/>
          <p:nvPr/>
        </p:nvSpPr>
        <p:spPr>
          <a:xfrm>
            <a:off x="1505108" y="1692308"/>
            <a:ext cx="1245651" cy="260323"/>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696" b="1" i="0" u="none" strike="noStrike" kern="1200" cap="none" spc="0" normalizeH="0" baseline="0" noProof="0">
                <a:ln>
                  <a:noFill/>
                </a:ln>
                <a:solidFill>
                  <a:srgbClr val="22272B"/>
                </a:solidFill>
                <a:effectLst/>
                <a:uLnTx/>
                <a:uFillTx/>
                <a:latin typeface="Cambria"/>
                <a:ea typeface="+mn-ea"/>
                <a:cs typeface="+mn-cs"/>
              </a:rPr>
              <a:t>Algorithmus</a:t>
            </a:r>
          </a:p>
        </p:txBody>
      </p:sp>
      <p:sp>
        <p:nvSpPr>
          <p:cNvPr id="9" name="TextBox 8"/>
          <p:cNvSpPr txBox="1"/>
          <p:nvPr/>
        </p:nvSpPr>
        <p:spPr>
          <a:xfrm>
            <a:off x="1505109" y="1991566"/>
            <a:ext cx="906654" cy="168411"/>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097" b="1" i="0" u="none" strike="noStrike" kern="1200" cap="none" spc="0" normalizeH="0" baseline="0" noProof="0">
                <a:ln>
                  <a:noFill/>
                </a:ln>
                <a:solidFill>
                  <a:srgbClr val="E0912F"/>
                </a:solidFill>
                <a:effectLst/>
                <a:uLnTx/>
                <a:uFillTx/>
                <a:latin typeface="Calibri"/>
                <a:ea typeface="+mn-ea"/>
                <a:cs typeface="+mn-cs"/>
              </a:rPr>
              <a:t>Funktionsweise</a:t>
            </a:r>
          </a:p>
        </p:txBody>
      </p:sp>
      <p:sp>
        <p:nvSpPr>
          <p:cNvPr id="10" name="TextBox 9"/>
          <p:cNvSpPr txBox="1"/>
          <p:nvPr/>
        </p:nvSpPr>
        <p:spPr>
          <a:xfrm>
            <a:off x="700544" y="2372620"/>
            <a:ext cx="10759715" cy="398224"/>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297" b="0" i="1" u="none" strike="noStrike" kern="1200" cap="none" spc="0" normalizeH="0" baseline="0" noProof="0" dirty="0" err="1">
                <a:ln>
                  <a:noFill/>
                </a:ln>
                <a:solidFill>
                  <a:srgbClr val="6C7278"/>
                </a:solidFill>
                <a:effectLst/>
                <a:uLnTx/>
                <a:uFillTx/>
                <a:latin typeface="Calibri"/>
                <a:ea typeface="+mn-ea"/>
                <a:cs typeface="+mn-cs"/>
              </a:rPr>
              <a:t>Prognostiziert</a:t>
            </a:r>
            <a:r>
              <a:rPr kumimoji="0" sz="1297" b="0" i="1" u="none" strike="noStrike" kern="1200" cap="none" spc="0" normalizeH="0" baseline="0" noProof="0" dirty="0">
                <a:ln>
                  <a:noFill/>
                </a:ln>
                <a:solidFill>
                  <a:srgbClr val="6C7278"/>
                </a:solidFill>
                <a:effectLst/>
                <a:uLnTx/>
                <a:uFillTx/>
                <a:latin typeface="Calibri"/>
                <a:ea typeface="+mn-ea"/>
                <a:cs typeface="+mn-cs"/>
              </a:rPr>
              <a:t> den Wert </a:t>
            </a:r>
            <a:r>
              <a:rPr kumimoji="0" sz="1297" b="0" i="1" u="none" strike="noStrike" kern="1200" cap="none" spc="0" normalizeH="0" baseline="0" noProof="0" dirty="0" err="1">
                <a:ln>
                  <a:noFill/>
                </a:ln>
                <a:solidFill>
                  <a:srgbClr val="6C7278"/>
                </a:solidFill>
                <a:effectLst/>
                <a:uLnTx/>
                <a:uFillTx/>
                <a:latin typeface="Calibri"/>
                <a:ea typeface="+mn-ea"/>
                <a:cs typeface="+mn-cs"/>
              </a:rPr>
              <a:t>exakt</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wie</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zum</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gleichen</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Zeitpunkt</a:t>
            </a:r>
            <a:r>
              <a:rPr kumimoji="0" sz="1297" b="0" i="1" u="none" strike="noStrike" kern="1200" cap="none" spc="0" normalizeH="0" baseline="0" noProof="0" dirty="0">
                <a:ln>
                  <a:noFill/>
                </a:ln>
                <a:solidFill>
                  <a:srgbClr val="6C7278"/>
                </a:solidFill>
                <a:effectLst/>
                <a:uLnTx/>
                <a:uFillTx/>
                <a:latin typeface="Calibri"/>
                <a:ea typeface="+mn-ea"/>
                <a:cs typeface="+mn-cs"/>
              </a:rPr>
              <a:t> der </a:t>
            </a:r>
            <a:r>
              <a:rPr kumimoji="0" sz="1297" b="0" i="1" u="none" strike="noStrike" kern="1200" cap="none" spc="0" normalizeH="0" baseline="0" noProof="0" dirty="0" err="1">
                <a:ln>
                  <a:noFill/>
                </a:ln>
                <a:solidFill>
                  <a:srgbClr val="6C7278"/>
                </a:solidFill>
                <a:effectLst/>
                <a:uLnTx/>
                <a:uFillTx/>
                <a:latin typeface="Calibri"/>
                <a:ea typeface="+mn-ea"/>
                <a:cs typeface="+mn-cs"/>
              </a:rPr>
              <a:t>letzten</a:t>
            </a:r>
            <a:r>
              <a:rPr kumimoji="0" sz="1297" b="0" i="1" u="none" strike="noStrike" kern="1200" cap="none" spc="0" normalizeH="0" baseline="0" noProof="0" dirty="0">
                <a:ln>
                  <a:noFill/>
                </a:ln>
                <a:solidFill>
                  <a:srgbClr val="6C7278"/>
                </a:solidFill>
                <a:effectLst/>
                <a:uLnTx/>
                <a:uFillTx/>
                <a:latin typeface="Calibri"/>
                <a:ea typeface="+mn-ea"/>
                <a:cs typeface="+mn-cs"/>
              </a:rPr>
              <a:t> Saison (</a:t>
            </a:r>
            <a:r>
              <a:rPr kumimoji="0" sz="1297" b="0" i="1" u="none" strike="noStrike" kern="1200" cap="none" spc="0" normalizeH="0" baseline="0" noProof="0" dirty="0" err="1">
                <a:ln>
                  <a:noFill/>
                </a:ln>
                <a:solidFill>
                  <a:srgbClr val="6C7278"/>
                </a:solidFill>
                <a:effectLst/>
                <a:uLnTx/>
                <a:uFillTx/>
                <a:latin typeface="Calibri"/>
                <a:ea typeface="+mn-ea"/>
                <a:cs typeface="+mn-cs"/>
              </a:rPr>
              <a:t>hier</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gleicher</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Wochentag</a:t>
            </a:r>
            <a:r>
              <a:rPr kumimoji="0" sz="1297" b="0" i="1" u="none" strike="noStrike" kern="1200" cap="none" spc="0" normalizeH="0" baseline="0" noProof="0" dirty="0">
                <a:ln>
                  <a:noFill/>
                </a:ln>
                <a:solidFill>
                  <a:srgbClr val="6C7278"/>
                </a:solidFill>
                <a:effectLst/>
                <a:uLnTx/>
                <a:uFillTx/>
                <a:latin typeface="Calibri"/>
                <a:ea typeface="+mn-ea"/>
                <a:cs typeface="+mn-cs"/>
              </a:rPr>
              <a:t>/</a:t>
            </a:r>
            <a:r>
              <a:rPr kumimoji="0" sz="1297" b="0" i="1" u="none" strike="noStrike" kern="1200" cap="none" spc="0" normalizeH="0" baseline="0" noProof="0" dirty="0" err="1">
                <a:ln>
                  <a:noFill/>
                </a:ln>
                <a:solidFill>
                  <a:srgbClr val="6C7278"/>
                </a:solidFill>
                <a:effectLst/>
                <a:uLnTx/>
                <a:uFillTx/>
                <a:latin typeface="Calibri"/>
                <a:ea typeface="+mn-ea"/>
                <a:cs typeface="+mn-cs"/>
              </a:rPr>
              <a:t>Stunde</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vor</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einem</a:t>
            </a:r>
            <a:r>
              <a:rPr kumimoji="0" sz="1297" b="0" i="1" u="none" strike="noStrike" kern="1200" cap="none" spc="0" normalizeH="0" baseline="0" noProof="0" dirty="0">
                <a:ln>
                  <a:noFill/>
                </a:ln>
                <a:solidFill>
                  <a:srgbClr val="6C7278"/>
                </a:solidFill>
                <a:effectLst/>
                <a:uLnTx/>
                <a:uFillTx/>
                <a:latin typeface="Calibri"/>
                <a:ea typeface="+mn-ea"/>
                <a:cs typeface="+mn-cs"/>
              </a:rPr>
              <a:t> Jahr). Kein Training, </a:t>
            </a:r>
            <a:r>
              <a:rPr kumimoji="0" sz="1297" b="0" i="1" u="none" strike="noStrike" kern="1200" cap="none" spc="0" normalizeH="0" baseline="0" noProof="0" dirty="0" err="1">
                <a:ln>
                  <a:noFill/>
                </a:ln>
                <a:solidFill>
                  <a:srgbClr val="6C7278"/>
                </a:solidFill>
                <a:effectLst/>
                <a:uLnTx/>
                <a:uFillTx/>
                <a:latin typeface="Calibri"/>
                <a:ea typeface="+mn-ea"/>
                <a:cs typeface="+mn-cs"/>
              </a:rPr>
              <a:t>keine</a:t>
            </a:r>
            <a:r>
              <a:rPr kumimoji="0" sz="1297" b="0" i="1" u="none" strike="noStrike" kern="1200" cap="none" spc="0" normalizeH="0" baseline="0" noProof="0" dirty="0">
                <a:ln>
                  <a:noFill/>
                </a:ln>
                <a:solidFill>
                  <a:srgbClr val="6C7278"/>
                </a:solidFill>
                <a:effectLst/>
                <a:uLnTx/>
                <a:uFillTx/>
                <a:latin typeface="Calibri"/>
                <a:ea typeface="+mn-ea"/>
                <a:cs typeface="+mn-cs"/>
              </a:rPr>
              <a:t> Parameter – die </a:t>
            </a:r>
            <a:r>
              <a:rPr kumimoji="0" sz="1297" b="0" i="1" u="none" strike="noStrike" kern="1200" cap="none" spc="0" normalizeH="0" baseline="0" noProof="0" dirty="0" err="1">
                <a:ln>
                  <a:noFill/>
                </a:ln>
                <a:solidFill>
                  <a:srgbClr val="6C7278"/>
                </a:solidFill>
                <a:effectLst/>
                <a:uLnTx/>
                <a:uFillTx/>
                <a:latin typeface="Calibri"/>
                <a:ea typeface="+mn-ea"/>
                <a:cs typeface="+mn-cs"/>
              </a:rPr>
              <a:t>Vorhersage</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ist</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schlicht</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eine</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Kopie</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vergangener</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saisonal</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passender</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Beobachtungen</a:t>
            </a:r>
            <a:r>
              <a:rPr kumimoji="0" sz="1297" b="0" i="1" u="none" strike="noStrike" kern="1200" cap="none" spc="0" normalizeH="0" baseline="0" noProof="0" dirty="0">
                <a:ln>
                  <a:noFill/>
                </a:ln>
                <a:solidFill>
                  <a:srgbClr val="6C7278"/>
                </a:solidFill>
                <a:effectLst/>
                <a:uLnTx/>
                <a:uFillTx/>
                <a:latin typeface="Calibri"/>
                <a:ea typeface="+mn-ea"/>
                <a:cs typeface="+mn-cs"/>
              </a:rPr>
              <a:t>.</a:t>
            </a:r>
          </a:p>
        </p:txBody>
      </p:sp>
      <p:sp>
        <p:nvSpPr>
          <p:cNvPr id="11" name="Rounded Rectangle 10"/>
          <p:cNvSpPr/>
          <p:nvPr/>
        </p:nvSpPr>
        <p:spPr>
          <a:xfrm>
            <a:off x="471113" y="2901309"/>
            <a:ext cx="5426502" cy="1945176"/>
          </a:xfrm>
          <a:prstGeom prst="roundRect">
            <a:avLst>
              <a:gd name="adj" fmla="val 6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12" name="Oval 11"/>
          <p:cNvSpPr/>
          <p:nvPr/>
        </p:nvSpPr>
        <p:spPr>
          <a:xfrm>
            <a:off x="680593" y="3110789"/>
            <a:ext cx="518714" cy="518714"/>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FFFFFF"/>
                </a:solidFill>
                <a:effectLst/>
                <a:uLnTx/>
                <a:uFillTx/>
                <a:latin typeface="Cambria"/>
                <a:ea typeface="+mn-ea"/>
                <a:cs typeface="+mn-cs"/>
              </a:rPr>
              <a:t>+</a:t>
            </a:r>
          </a:p>
        </p:txBody>
      </p:sp>
      <p:sp>
        <p:nvSpPr>
          <p:cNvPr id="13" name="TextBox 12"/>
          <p:cNvSpPr txBox="1"/>
          <p:nvPr/>
        </p:nvSpPr>
        <p:spPr>
          <a:xfrm>
            <a:off x="1355480" y="3240468"/>
            <a:ext cx="741251" cy="244972"/>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22272B"/>
                </a:solidFill>
                <a:effectLst/>
                <a:uLnTx/>
                <a:uFillTx/>
                <a:latin typeface="Cambria"/>
                <a:ea typeface="+mn-ea"/>
                <a:cs typeface="+mn-cs"/>
              </a:rPr>
              <a:t>Vorteile</a:t>
            </a:r>
          </a:p>
        </p:txBody>
      </p:sp>
      <p:sp>
        <p:nvSpPr>
          <p:cNvPr id="14" name="TextBox 13"/>
          <p:cNvSpPr txBox="1"/>
          <p:nvPr/>
        </p:nvSpPr>
        <p:spPr>
          <a:xfrm>
            <a:off x="680593" y="3739231"/>
            <a:ext cx="5007541" cy="750845"/>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Einfach &amp; schnell, kein Training nötig</a:t>
            </a:r>
          </a:p>
          <a:p>
            <a:pPr marL="0" marR="0" lvl="0" indent="0" algn="l" defTabSz="912114" rtl="0" eaLnBrk="1" fontAlgn="auto" latinLnBrk="0" hangingPunct="1">
              <a:lnSpc>
                <a:spcPct val="100000"/>
              </a:lnSpc>
              <a:spcBef>
                <a:spcPts val="599"/>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Starke Baseline bei stabilen Saisonmustern</a:t>
            </a:r>
          </a:p>
          <a:p>
            <a:pPr marL="0" marR="0" lvl="0" indent="0" algn="l" defTabSz="912114" rtl="0" eaLnBrk="1" fontAlgn="auto" latinLnBrk="0" hangingPunct="1">
              <a:lnSpc>
                <a:spcPct val="100000"/>
              </a:lnSpc>
              <a:spcBef>
                <a:spcPts val="599"/>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Robust gegenüber Overfitting</a:t>
            </a:r>
          </a:p>
        </p:txBody>
      </p:sp>
      <p:sp>
        <p:nvSpPr>
          <p:cNvPr id="15" name="Rounded Rectangle 14"/>
          <p:cNvSpPr/>
          <p:nvPr/>
        </p:nvSpPr>
        <p:spPr>
          <a:xfrm>
            <a:off x="6263188" y="2901309"/>
            <a:ext cx="5426502" cy="1945176"/>
          </a:xfrm>
          <a:prstGeom prst="roundRect">
            <a:avLst>
              <a:gd name="adj" fmla="val 6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16" name="Oval 15"/>
          <p:cNvSpPr/>
          <p:nvPr/>
        </p:nvSpPr>
        <p:spPr>
          <a:xfrm>
            <a:off x="6472668" y="3110789"/>
            <a:ext cx="518714" cy="518714"/>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FFFFFF"/>
                </a:solidFill>
                <a:effectLst/>
                <a:uLnTx/>
                <a:uFillTx/>
                <a:latin typeface="Cambria"/>
                <a:ea typeface="+mn-ea"/>
                <a:cs typeface="+mn-cs"/>
              </a:rPr>
              <a:t>–</a:t>
            </a:r>
          </a:p>
        </p:txBody>
      </p:sp>
      <p:sp>
        <p:nvSpPr>
          <p:cNvPr id="17" name="TextBox 16"/>
          <p:cNvSpPr txBox="1"/>
          <p:nvPr/>
        </p:nvSpPr>
        <p:spPr>
          <a:xfrm>
            <a:off x="7147555" y="3240468"/>
            <a:ext cx="881454" cy="244972"/>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22272B"/>
                </a:solidFill>
                <a:effectLst/>
                <a:uLnTx/>
                <a:uFillTx/>
                <a:latin typeface="Cambria"/>
                <a:ea typeface="+mn-ea"/>
                <a:cs typeface="+mn-cs"/>
              </a:rPr>
              <a:t>Nachteile</a:t>
            </a:r>
          </a:p>
        </p:txBody>
      </p:sp>
      <p:sp>
        <p:nvSpPr>
          <p:cNvPr id="18" name="TextBox 17"/>
          <p:cNvSpPr txBox="1"/>
          <p:nvPr/>
        </p:nvSpPr>
        <p:spPr>
          <a:xfrm>
            <a:off x="6472668" y="3739231"/>
            <a:ext cx="5007541" cy="750845"/>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Ignoriert Trends, Wetter &amp; Ausreißer (Smog-Episoden)</a:t>
            </a:r>
          </a:p>
          <a:p>
            <a:pPr marL="0" marR="0" lvl="0" indent="0" algn="l" defTabSz="912114" rtl="0" eaLnBrk="1" fontAlgn="auto" latinLnBrk="0" hangingPunct="1">
              <a:lnSpc>
                <a:spcPct val="100000"/>
              </a:lnSpc>
              <a:spcBef>
                <a:spcPts val="599"/>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Keine Kovariaten (Wetter, Kalender) nutzbar</a:t>
            </a:r>
          </a:p>
          <a:p>
            <a:pPr marL="0" marR="0" lvl="0" indent="0" algn="l" defTabSz="912114" rtl="0" eaLnBrk="1" fontAlgn="auto" latinLnBrk="0" hangingPunct="1">
              <a:lnSpc>
                <a:spcPct val="100000"/>
              </a:lnSpc>
              <a:spcBef>
                <a:spcPts val="599"/>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Fehleranfällig bei atypischen Tagen/Datenlücken</a:t>
            </a:r>
          </a:p>
        </p:txBody>
      </p:sp>
      <p:sp>
        <p:nvSpPr>
          <p:cNvPr id="19" name="Rounded Rectangle 18"/>
          <p:cNvSpPr/>
          <p:nvPr/>
        </p:nvSpPr>
        <p:spPr>
          <a:xfrm>
            <a:off x="471113" y="4946237"/>
            <a:ext cx="11218577" cy="1346660"/>
          </a:xfrm>
          <a:prstGeom prst="roundRect">
            <a:avLst>
              <a:gd name="adj" fmla="val 6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20" name="Oval 19"/>
          <p:cNvSpPr/>
          <p:nvPr/>
        </p:nvSpPr>
        <p:spPr>
          <a:xfrm>
            <a:off x="700544" y="5175668"/>
            <a:ext cx="648392" cy="648392"/>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FFFFFF"/>
                </a:solidFill>
                <a:effectLst/>
                <a:uLnTx/>
                <a:uFillTx/>
                <a:latin typeface="Cambria"/>
                <a:ea typeface="+mn-ea"/>
                <a:cs typeface="+mn-cs"/>
              </a:rPr>
              <a:t>±</a:t>
            </a:r>
          </a:p>
        </p:txBody>
      </p:sp>
      <p:sp>
        <p:nvSpPr>
          <p:cNvPr id="21" name="TextBox 20"/>
          <p:cNvSpPr txBox="1"/>
          <p:nvPr/>
        </p:nvSpPr>
        <p:spPr>
          <a:xfrm>
            <a:off x="1505109" y="5370186"/>
            <a:ext cx="1985876" cy="260323"/>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696" b="1" i="0" u="none" strike="noStrike" kern="1200" cap="none" spc="0" normalizeH="0" baseline="0" noProof="0">
                <a:ln>
                  <a:noFill/>
                </a:ln>
                <a:solidFill>
                  <a:srgbClr val="22272B"/>
                </a:solidFill>
                <a:effectLst/>
                <a:uLnTx/>
                <a:uFillTx/>
                <a:latin typeface="Cambria"/>
                <a:ea typeface="+mn-ea"/>
                <a:cs typeface="+mn-cs"/>
              </a:rPr>
              <a:t>Konfidenzintervalle</a:t>
            </a:r>
          </a:p>
        </p:txBody>
      </p:sp>
      <p:sp>
        <p:nvSpPr>
          <p:cNvPr id="22" name="TextBox 21"/>
          <p:cNvSpPr txBox="1"/>
          <p:nvPr/>
        </p:nvSpPr>
        <p:spPr>
          <a:xfrm>
            <a:off x="680593" y="5824060"/>
            <a:ext cx="10759715" cy="430887"/>
          </a:xfrm>
          <a:prstGeom prst="rect">
            <a:avLst/>
          </a:prstGeom>
          <a:noFill/>
        </p:spPr>
        <p:txBody>
          <a:bodyPr wrap="square" lIns="0" tIns="0" rIns="0" bIns="0">
            <a:spAutoFit/>
          </a:bodyPr>
          <a:lstStyle/>
          <a:p>
            <a:pPr lvl="0" defTabSz="912114">
              <a:defRPr/>
            </a:pPr>
            <a:r>
              <a:rPr lang="de-DE" sz="1400" dirty="0" err="1"/>
              <a:t>Seasonal</a:t>
            </a:r>
            <a:r>
              <a:rPr lang="de-DE" sz="1400" dirty="0"/>
              <a:t> Naive kopiert nur den Wert der Vorsaison → kein eingebautes Unsicherheitsband; Intervalle müsste man aus den historischen Fehlern nachträglich schätzen.</a:t>
            </a:r>
            <a:endParaRPr kumimoji="0" sz="1297" b="0" i="1" u="none" strike="noStrike" kern="1200" cap="none" spc="0" normalizeH="0" baseline="0" noProof="0" dirty="0">
              <a:ln>
                <a:noFill/>
              </a:ln>
              <a:solidFill>
                <a:srgbClr val="6C7278"/>
              </a:solidFill>
              <a:effectLst/>
              <a:uLnTx/>
              <a:uFillTx/>
              <a:latin typeface="Calibri"/>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44" y="8483"/>
            <a:ext cx="12130715" cy="6840315"/>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3" name="TextBox 2"/>
          <p:cNvSpPr txBox="1"/>
          <p:nvPr/>
        </p:nvSpPr>
        <p:spPr>
          <a:xfrm>
            <a:off x="471113" y="418945"/>
            <a:ext cx="1613492" cy="520711"/>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3392" b="1" i="0" u="none" strike="noStrike" kern="1200" cap="none" spc="0" normalizeH="0" baseline="0" noProof="0">
                <a:ln>
                  <a:noFill/>
                </a:ln>
                <a:solidFill>
                  <a:srgbClr val="22272B"/>
                </a:solidFill>
                <a:effectLst/>
                <a:uLnTx/>
                <a:uFillTx/>
                <a:latin typeface="Cambria"/>
                <a:ea typeface="+mn-ea"/>
                <a:cs typeface="+mn-cs"/>
              </a:rPr>
              <a:t>Prophet</a:t>
            </a:r>
          </a:p>
        </p:txBody>
      </p:sp>
      <p:sp>
        <p:nvSpPr>
          <p:cNvPr id="4" name="TextBox 3"/>
          <p:cNvSpPr txBox="1"/>
          <p:nvPr/>
        </p:nvSpPr>
        <p:spPr>
          <a:xfrm>
            <a:off x="489427" y="1057442"/>
            <a:ext cx="10488867" cy="229622"/>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496" b="0" i="0" u="none" strike="noStrike" kern="1200" cap="none" spc="0" normalizeH="0" baseline="0" noProof="0">
                <a:ln>
                  <a:noFill/>
                </a:ln>
                <a:solidFill>
                  <a:srgbClr val="6C7278"/>
                </a:solidFill>
                <a:effectLst/>
                <a:uLnTx/>
                <a:uFillTx/>
                <a:latin typeface="Calibri"/>
                <a:ea typeface="+mn-ea"/>
                <a:cs typeface="+mn-cs"/>
              </a:rPr>
              <a:t>Additives Zeitreihenmodell — Funktionsweise, Stärken und Grenzen im Beijing-PM2.5-Kontext</a:t>
            </a:r>
          </a:p>
        </p:txBody>
      </p:sp>
      <p:sp>
        <p:nvSpPr>
          <p:cNvPr id="5" name="TextBox 4"/>
          <p:cNvSpPr txBox="1"/>
          <p:nvPr/>
        </p:nvSpPr>
        <p:spPr>
          <a:xfrm>
            <a:off x="471113" y="6411763"/>
            <a:ext cx="2963953" cy="138179"/>
          </a:xfrm>
          <a:prstGeom prst="rect">
            <a:avLst/>
          </a:prstGeom>
          <a:noFill/>
        </p:spPr>
        <p:txBody>
          <a:bodyPr wrap="none" lIns="0" tIns="0" rIns="0" bIns="0">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sp>
        <p:nvSpPr>
          <p:cNvPr id="6" name="Rounded Rectangle 5"/>
          <p:cNvSpPr/>
          <p:nvPr/>
        </p:nvSpPr>
        <p:spPr>
          <a:xfrm>
            <a:off x="471113" y="1454896"/>
            <a:ext cx="11218577" cy="1346660"/>
          </a:xfrm>
          <a:prstGeom prst="roundRect">
            <a:avLst>
              <a:gd name="adj" fmla="val 6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7" name="Oval 6"/>
          <p:cNvSpPr/>
          <p:nvPr/>
        </p:nvSpPr>
        <p:spPr>
          <a:xfrm>
            <a:off x="700544" y="1684327"/>
            <a:ext cx="648392" cy="648392"/>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lang="de-DE" sz="1596" b="1" dirty="0">
                <a:solidFill>
                  <a:srgbClr val="FFFFFF"/>
                </a:solidFill>
                <a:latin typeface="Cambria"/>
              </a:rPr>
              <a:t>A</a:t>
            </a:r>
            <a:endParaRPr kumimoji="0" sz="1596" b="1" i="0" u="none" strike="noStrike" kern="1200" cap="none" spc="0" normalizeH="0" baseline="0" noProof="0" dirty="0">
              <a:ln>
                <a:noFill/>
              </a:ln>
              <a:solidFill>
                <a:srgbClr val="FFFFFF"/>
              </a:solidFill>
              <a:effectLst/>
              <a:uLnTx/>
              <a:uFillTx/>
              <a:latin typeface="Cambria"/>
              <a:ea typeface="+mn-ea"/>
              <a:cs typeface="+mn-cs"/>
            </a:endParaRPr>
          </a:p>
        </p:txBody>
      </p:sp>
      <p:sp>
        <p:nvSpPr>
          <p:cNvPr id="8" name="TextBox 7"/>
          <p:cNvSpPr txBox="1"/>
          <p:nvPr/>
        </p:nvSpPr>
        <p:spPr>
          <a:xfrm>
            <a:off x="1505108" y="1692308"/>
            <a:ext cx="1245651" cy="260323"/>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696" b="1" i="0" u="none" strike="noStrike" kern="1200" cap="none" spc="0" normalizeH="0" baseline="0" noProof="0">
                <a:ln>
                  <a:noFill/>
                </a:ln>
                <a:solidFill>
                  <a:srgbClr val="22272B"/>
                </a:solidFill>
                <a:effectLst/>
                <a:uLnTx/>
                <a:uFillTx/>
                <a:latin typeface="Cambria"/>
                <a:ea typeface="+mn-ea"/>
                <a:cs typeface="+mn-cs"/>
              </a:rPr>
              <a:t>Algorithmus</a:t>
            </a:r>
          </a:p>
        </p:txBody>
      </p:sp>
      <p:sp>
        <p:nvSpPr>
          <p:cNvPr id="9" name="TextBox 8"/>
          <p:cNvSpPr txBox="1"/>
          <p:nvPr/>
        </p:nvSpPr>
        <p:spPr>
          <a:xfrm>
            <a:off x="1505109" y="1991566"/>
            <a:ext cx="906654" cy="168411"/>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097" b="1" i="0" u="none" strike="noStrike" kern="1200" cap="none" spc="0" normalizeH="0" baseline="0" noProof="0">
                <a:ln>
                  <a:noFill/>
                </a:ln>
                <a:solidFill>
                  <a:srgbClr val="E0912F"/>
                </a:solidFill>
                <a:effectLst/>
                <a:uLnTx/>
                <a:uFillTx/>
                <a:latin typeface="Calibri"/>
                <a:ea typeface="+mn-ea"/>
                <a:cs typeface="+mn-cs"/>
              </a:rPr>
              <a:t>Funktionsweise</a:t>
            </a:r>
          </a:p>
        </p:txBody>
      </p:sp>
      <p:sp>
        <p:nvSpPr>
          <p:cNvPr id="10" name="TextBox 9"/>
          <p:cNvSpPr txBox="1"/>
          <p:nvPr/>
        </p:nvSpPr>
        <p:spPr>
          <a:xfrm>
            <a:off x="700544" y="2339343"/>
            <a:ext cx="10759715" cy="398224"/>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297" b="0" i="1" u="none" strike="noStrike" kern="1200" cap="none" spc="0" normalizeH="0" baseline="0" noProof="0" dirty="0" err="1">
                <a:ln>
                  <a:noFill/>
                </a:ln>
                <a:solidFill>
                  <a:srgbClr val="6C7278"/>
                </a:solidFill>
                <a:effectLst/>
                <a:uLnTx/>
                <a:uFillTx/>
                <a:latin typeface="Calibri"/>
                <a:ea typeface="+mn-ea"/>
                <a:cs typeface="+mn-cs"/>
              </a:rPr>
              <a:t>Zerlegt</a:t>
            </a:r>
            <a:r>
              <a:rPr kumimoji="0" sz="1297" b="0" i="1" u="none" strike="noStrike" kern="1200" cap="none" spc="0" normalizeH="0" baseline="0" noProof="0" dirty="0">
                <a:ln>
                  <a:noFill/>
                </a:ln>
                <a:solidFill>
                  <a:srgbClr val="6C7278"/>
                </a:solidFill>
                <a:effectLst/>
                <a:uLnTx/>
                <a:uFillTx/>
                <a:latin typeface="Calibri"/>
                <a:ea typeface="+mn-ea"/>
                <a:cs typeface="+mn-cs"/>
              </a:rPr>
              <a:t> die </a:t>
            </a:r>
            <a:r>
              <a:rPr kumimoji="0" sz="1297" b="0" i="1" u="none" strike="noStrike" kern="1200" cap="none" spc="0" normalizeH="0" baseline="0" noProof="0" dirty="0" err="1">
                <a:ln>
                  <a:noFill/>
                </a:ln>
                <a:solidFill>
                  <a:srgbClr val="6C7278"/>
                </a:solidFill>
                <a:effectLst/>
                <a:uLnTx/>
                <a:uFillTx/>
                <a:latin typeface="Calibri"/>
                <a:ea typeface="+mn-ea"/>
                <a:cs typeface="+mn-cs"/>
              </a:rPr>
              <a:t>Zeitreihe</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additiv</a:t>
            </a:r>
            <a:r>
              <a:rPr kumimoji="0" sz="1297" b="0" i="1" u="none" strike="noStrike" kern="1200" cap="none" spc="0" normalizeH="0" baseline="0" noProof="0" dirty="0">
                <a:ln>
                  <a:noFill/>
                </a:ln>
                <a:solidFill>
                  <a:srgbClr val="6C7278"/>
                </a:solidFill>
                <a:effectLst/>
                <a:uLnTx/>
                <a:uFillTx/>
                <a:latin typeface="Calibri"/>
                <a:ea typeface="+mn-ea"/>
                <a:cs typeface="+mn-cs"/>
              </a:rPr>
              <a:t> in Trend (</a:t>
            </a:r>
            <a:r>
              <a:rPr kumimoji="0" sz="1297" b="0" i="1" u="none" strike="noStrike" kern="1200" cap="none" spc="0" normalizeH="0" baseline="0" noProof="0" dirty="0" err="1">
                <a:ln>
                  <a:noFill/>
                </a:ln>
                <a:solidFill>
                  <a:srgbClr val="6C7278"/>
                </a:solidFill>
                <a:effectLst/>
                <a:uLnTx/>
                <a:uFillTx/>
                <a:latin typeface="Calibri"/>
                <a:ea typeface="+mn-ea"/>
                <a:cs typeface="+mn-cs"/>
              </a:rPr>
              <a:t>stückweise</a:t>
            </a:r>
            <a:r>
              <a:rPr kumimoji="0" sz="1297" b="0" i="1" u="none" strike="noStrike" kern="1200" cap="none" spc="0" normalizeH="0" baseline="0" noProof="0" dirty="0">
                <a:ln>
                  <a:noFill/>
                </a:ln>
                <a:solidFill>
                  <a:srgbClr val="6C7278"/>
                </a:solidFill>
                <a:effectLst/>
                <a:uLnTx/>
                <a:uFillTx/>
                <a:latin typeface="Calibri"/>
                <a:ea typeface="+mn-ea"/>
                <a:cs typeface="+mn-cs"/>
              </a:rPr>
              <a:t> linear/</a:t>
            </a:r>
            <a:r>
              <a:rPr kumimoji="0" sz="1297" b="0" i="1" u="none" strike="noStrike" kern="1200" cap="none" spc="0" normalizeH="0" baseline="0" noProof="0" dirty="0" err="1">
                <a:ln>
                  <a:noFill/>
                </a:ln>
                <a:solidFill>
                  <a:srgbClr val="6C7278"/>
                </a:solidFill>
                <a:effectLst/>
                <a:uLnTx/>
                <a:uFillTx/>
                <a:latin typeface="Calibri"/>
                <a:ea typeface="+mn-ea"/>
                <a:cs typeface="+mn-cs"/>
              </a:rPr>
              <a:t>logistisch</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Saisonalitäten</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täglich</a:t>
            </a:r>
            <a:r>
              <a:rPr kumimoji="0" sz="1297" b="0" i="1" u="none" strike="noStrike" kern="1200" cap="none" spc="0" normalizeH="0" baseline="0" noProof="0" dirty="0">
                <a:ln>
                  <a:noFill/>
                </a:ln>
                <a:solidFill>
                  <a:srgbClr val="6C7278"/>
                </a:solidFill>
                <a:effectLst/>
                <a:uLnTx/>
                <a:uFillTx/>
                <a:latin typeface="Calibri"/>
                <a:ea typeface="+mn-ea"/>
                <a:cs typeface="+mn-cs"/>
              </a:rPr>
              <a:t>/</a:t>
            </a:r>
            <a:r>
              <a:rPr kumimoji="0" sz="1297" b="0" i="1" u="none" strike="noStrike" kern="1200" cap="none" spc="0" normalizeH="0" baseline="0" noProof="0" dirty="0" err="1">
                <a:ln>
                  <a:noFill/>
                </a:ln>
                <a:solidFill>
                  <a:srgbClr val="6C7278"/>
                </a:solidFill>
                <a:effectLst/>
                <a:uLnTx/>
                <a:uFillTx/>
                <a:latin typeface="Calibri"/>
                <a:ea typeface="+mn-ea"/>
                <a:cs typeface="+mn-cs"/>
              </a:rPr>
              <a:t>wöchentlich</a:t>
            </a:r>
            <a:r>
              <a:rPr kumimoji="0" sz="1297" b="0" i="1" u="none" strike="noStrike" kern="1200" cap="none" spc="0" normalizeH="0" baseline="0" noProof="0" dirty="0">
                <a:ln>
                  <a:noFill/>
                </a:ln>
                <a:solidFill>
                  <a:srgbClr val="6C7278"/>
                </a:solidFill>
                <a:effectLst/>
                <a:uLnTx/>
                <a:uFillTx/>
                <a:latin typeface="Calibri"/>
                <a:ea typeface="+mn-ea"/>
                <a:cs typeface="+mn-cs"/>
              </a:rPr>
              <a:t>/</a:t>
            </a:r>
            <a:r>
              <a:rPr kumimoji="0" sz="1297" b="0" i="1" u="none" strike="noStrike" kern="1200" cap="none" spc="0" normalizeH="0" baseline="0" noProof="0" dirty="0" err="1">
                <a:ln>
                  <a:noFill/>
                </a:ln>
                <a:solidFill>
                  <a:srgbClr val="6C7278"/>
                </a:solidFill>
                <a:effectLst/>
                <a:uLnTx/>
                <a:uFillTx/>
                <a:latin typeface="Calibri"/>
                <a:ea typeface="+mn-ea"/>
                <a:cs typeface="+mn-cs"/>
              </a:rPr>
              <a:t>jährlich</a:t>
            </a:r>
            <a:r>
              <a:rPr kumimoji="0" sz="1297" b="0" i="1" u="none" strike="noStrike" kern="1200" cap="none" spc="0" normalizeH="0" baseline="0" noProof="0" dirty="0">
                <a:ln>
                  <a:noFill/>
                </a:ln>
                <a:solidFill>
                  <a:srgbClr val="6C7278"/>
                </a:solidFill>
                <a:effectLst/>
                <a:uLnTx/>
                <a:uFillTx/>
                <a:latin typeface="Calibri"/>
                <a:ea typeface="+mn-ea"/>
                <a:cs typeface="+mn-cs"/>
              </a:rPr>
              <a:t> via Fourier-Terme) und </a:t>
            </a:r>
            <a:r>
              <a:rPr kumimoji="0" sz="1297" b="0" i="1" u="none" strike="noStrike" kern="1200" cap="none" spc="0" normalizeH="0" baseline="0" noProof="0" dirty="0" err="1">
                <a:ln>
                  <a:noFill/>
                </a:ln>
                <a:solidFill>
                  <a:srgbClr val="6C7278"/>
                </a:solidFill>
                <a:effectLst/>
                <a:uLnTx/>
                <a:uFillTx/>
                <a:latin typeface="Calibri"/>
                <a:ea typeface="+mn-ea"/>
                <a:cs typeface="+mn-cs"/>
              </a:rPr>
              <a:t>optionale</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Kalendereffekte</a:t>
            </a:r>
            <a:r>
              <a:rPr kumimoji="0" sz="1297" b="0" i="1" u="none" strike="noStrike" kern="1200" cap="none" spc="0" normalizeH="0" baseline="0" noProof="0" dirty="0">
                <a:ln>
                  <a:noFill/>
                </a:ln>
                <a:solidFill>
                  <a:srgbClr val="6C7278"/>
                </a:solidFill>
                <a:effectLst/>
                <a:uLnTx/>
                <a:uFillTx/>
                <a:latin typeface="Calibri"/>
                <a:ea typeface="+mn-ea"/>
                <a:cs typeface="+mn-cs"/>
              </a:rPr>
              <a:t>/</a:t>
            </a:r>
            <a:r>
              <a:rPr kumimoji="0" sz="1297" b="0" i="1" u="none" strike="noStrike" kern="1200" cap="none" spc="0" normalizeH="0" baseline="0" noProof="0" dirty="0" err="1">
                <a:ln>
                  <a:noFill/>
                </a:ln>
                <a:solidFill>
                  <a:srgbClr val="6C7278"/>
                </a:solidFill>
                <a:effectLst/>
                <a:uLnTx/>
                <a:uFillTx/>
                <a:latin typeface="Calibri"/>
                <a:ea typeface="+mn-ea"/>
                <a:cs typeface="+mn-cs"/>
              </a:rPr>
              <a:t>Regressoren</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Anpassung</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erfolgt</a:t>
            </a:r>
            <a:r>
              <a:rPr kumimoji="0" sz="1297" b="0" i="1" u="none" strike="noStrike" kern="1200" cap="none" spc="0" normalizeH="0" baseline="0" noProof="0" dirty="0">
                <a:ln>
                  <a:noFill/>
                </a:ln>
                <a:solidFill>
                  <a:srgbClr val="6C7278"/>
                </a:solidFill>
                <a:effectLst/>
                <a:uLnTx/>
                <a:uFillTx/>
                <a:latin typeface="Calibri"/>
                <a:ea typeface="+mn-ea"/>
                <a:cs typeface="+mn-cs"/>
              </a:rPr>
              <a:t> per Bayesian Curve Fitting (Stan, MAP- </a:t>
            </a:r>
            <a:r>
              <a:rPr kumimoji="0" sz="1297" b="0" i="1" u="none" strike="noStrike" kern="1200" cap="none" spc="0" normalizeH="0" baseline="0" noProof="0" dirty="0" err="1">
                <a:ln>
                  <a:noFill/>
                </a:ln>
                <a:solidFill>
                  <a:srgbClr val="6C7278"/>
                </a:solidFill>
                <a:effectLst/>
                <a:uLnTx/>
                <a:uFillTx/>
                <a:latin typeface="Calibri"/>
                <a:ea typeface="+mn-ea"/>
                <a:cs typeface="+mn-cs"/>
              </a:rPr>
              <a:t>oder</a:t>
            </a:r>
            <a:r>
              <a:rPr kumimoji="0" sz="1297" b="0" i="1" u="none" strike="noStrike" kern="1200" cap="none" spc="0" normalizeH="0" baseline="0" noProof="0" dirty="0">
                <a:ln>
                  <a:noFill/>
                </a:ln>
                <a:solidFill>
                  <a:srgbClr val="6C7278"/>
                </a:solidFill>
                <a:effectLst/>
                <a:uLnTx/>
                <a:uFillTx/>
                <a:latin typeface="Calibri"/>
                <a:ea typeface="+mn-ea"/>
                <a:cs typeface="+mn-cs"/>
              </a:rPr>
              <a:t> MCMC-</a:t>
            </a:r>
            <a:r>
              <a:rPr kumimoji="0" sz="1297" b="0" i="1" u="none" strike="noStrike" kern="1200" cap="none" spc="0" normalizeH="0" baseline="0" noProof="0" dirty="0" err="1">
                <a:ln>
                  <a:noFill/>
                </a:ln>
                <a:solidFill>
                  <a:srgbClr val="6C7278"/>
                </a:solidFill>
                <a:effectLst/>
                <a:uLnTx/>
                <a:uFillTx/>
                <a:latin typeface="Calibri"/>
                <a:ea typeface="+mn-ea"/>
                <a:cs typeface="+mn-cs"/>
              </a:rPr>
              <a:t>Schätzung</a:t>
            </a:r>
            <a:r>
              <a:rPr kumimoji="0" sz="1297" b="0" i="1" u="none" strike="noStrike" kern="1200" cap="none" spc="0" normalizeH="0" baseline="0" noProof="0" dirty="0">
                <a:ln>
                  <a:noFill/>
                </a:ln>
                <a:solidFill>
                  <a:srgbClr val="6C7278"/>
                </a:solidFill>
                <a:effectLst/>
                <a:uLnTx/>
                <a:uFillTx/>
                <a:latin typeface="Calibri"/>
                <a:ea typeface="+mn-ea"/>
                <a:cs typeface="+mn-cs"/>
              </a:rPr>
              <a:t>).</a:t>
            </a:r>
          </a:p>
        </p:txBody>
      </p:sp>
      <p:sp>
        <p:nvSpPr>
          <p:cNvPr id="11" name="Rounded Rectangle 10"/>
          <p:cNvSpPr/>
          <p:nvPr/>
        </p:nvSpPr>
        <p:spPr>
          <a:xfrm>
            <a:off x="471113" y="2901309"/>
            <a:ext cx="5426502" cy="1945176"/>
          </a:xfrm>
          <a:prstGeom prst="roundRect">
            <a:avLst>
              <a:gd name="adj" fmla="val 6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12" name="Oval 11"/>
          <p:cNvSpPr/>
          <p:nvPr/>
        </p:nvSpPr>
        <p:spPr>
          <a:xfrm>
            <a:off x="680593" y="3110789"/>
            <a:ext cx="518714" cy="518714"/>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FFFFFF"/>
                </a:solidFill>
                <a:effectLst/>
                <a:uLnTx/>
                <a:uFillTx/>
                <a:latin typeface="Cambria"/>
                <a:ea typeface="+mn-ea"/>
                <a:cs typeface="+mn-cs"/>
              </a:rPr>
              <a:t>+</a:t>
            </a:r>
          </a:p>
        </p:txBody>
      </p:sp>
      <p:sp>
        <p:nvSpPr>
          <p:cNvPr id="13" name="TextBox 12"/>
          <p:cNvSpPr txBox="1"/>
          <p:nvPr/>
        </p:nvSpPr>
        <p:spPr>
          <a:xfrm>
            <a:off x="1355480" y="3240468"/>
            <a:ext cx="741251" cy="244972"/>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22272B"/>
                </a:solidFill>
                <a:effectLst/>
                <a:uLnTx/>
                <a:uFillTx/>
                <a:latin typeface="Cambria"/>
                <a:ea typeface="+mn-ea"/>
                <a:cs typeface="+mn-cs"/>
              </a:rPr>
              <a:t>Vorteile</a:t>
            </a:r>
          </a:p>
        </p:txBody>
      </p:sp>
      <p:sp>
        <p:nvSpPr>
          <p:cNvPr id="14" name="TextBox 13"/>
          <p:cNvSpPr txBox="1"/>
          <p:nvPr/>
        </p:nvSpPr>
        <p:spPr>
          <a:xfrm>
            <a:off x="680593" y="3739231"/>
            <a:ext cx="5007541" cy="750845"/>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Schnell trainiert, interpretierbare Komponenten</a:t>
            </a:r>
          </a:p>
          <a:p>
            <a:pPr marL="0" marR="0" lvl="0" indent="0" algn="l" defTabSz="912114" rtl="0" eaLnBrk="1" fontAlgn="auto" latinLnBrk="0" hangingPunct="1">
              <a:lnSpc>
                <a:spcPct val="100000"/>
              </a:lnSpc>
              <a:spcBef>
                <a:spcPts val="599"/>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Robust bei fehlenden Werten &amp; Ausreißern</a:t>
            </a:r>
          </a:p>
          <a:p>
            <a:pPr marL="0" marR="0" lvl="0" indent="0" algn="l" defTabSz="912114" rtl="0" eaLnBrk="1" fontAlgn="auto" latinLnBrk="0" hangingPunct="1">
              <a:lnSpc>
                <a:spcPct val="100000"/>
              </a:lnSpc>
              <a:spcBef>
                <a:spcPts val="599"/>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Einfache Einbindung von Kalendereffekten</a:t>
            </a:r>
          </a:p>
        </p:txBody>
      </p:sp>
      <p:sp>
        <p:nvSpPr>
          <p:cNvPr id="15" name="Rounded Rectangle 14"/>
          <p:cNvSpPr/>
          <p:nvPr/>
        </p:nvSpPr>
        <p:spPr>
          <a:xfrm>
            <a:off x="6263188" y="2901309"/>
            <a:ext cx="5426502" cy="1945176"/>
          </a:xfrm>
          <a:prstGeom prst="roundRect">
            <a:avLst>
              <a:gd name="adj" fmla="val 6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16" name="Oval 15"/>
          <p:cNvSpPr/>
          <p:nvPr/>
        </p:nvSpPr>
        <p:spPr>
          <a:xfrm>
            <a:off x="6472668" y="3110789"/>
            <a:ext cx="518714" cy="518714"/>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FFFFFF"/>
                </a:solidFill>
                <a:effectLst/>
                <a:uLnTx/>
                <a:uFillTx/>
                <a:latin typeface="Cambria"/>
                <a:ea typeface="+mn-ea"/>
                <a:cs typeface="+mn-cs"/>
              </a:rPr>
              <a:t>–</a:t>
            </a:r>
          </a:p>
        </p:txBody>
      </p:sp>
      <p:sp>
        <p:nvSpPr>
          <p:cNvPr id="17" name="TextBox 16"/>
          <p:cNvSpPr txBox="1"/>
          <p:nvPr/>
        </p:nvSpPr>
        <p:spPr>
          <a:xfrm>
            <a:off x="7147555" y="3240468"/>
            <a:ext cx="881454" cy="244972"/>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22272B"/>
                </a:solidFill>
                <a:effectLst/>
                <a:uLnTx/>
                <a:uFillTx/>
                <a:latin typeface="Cambria"/>
                <a:ea typeface="+mn-ea"/>
                <a:cs typeface="+mn-cs"/>
              </a:rPr>
              <a:t>Nachteile</a:t>
            </a:r>
          </a:p>
        </p:txBody>
      </p:sp>
      <p:sp>
        <p:nvSpPr>
          <p:cNvPr id="18" name="TextBox 17"/>
          <p:cNvSpPr txBox="1"/>
          <p:nvPr/>
        </p:nvSpPr>
        <p:spPr>
          <a:xfrm>
            <a:off x="6472668" y="3739231"/>
            <a:ext cx="5007541" cy="750845"/>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Additive Struktur begrenzt bei nichtlinearen Effekten</a:t>
            </a:r>
          </a:p>
          <a:p>
            <a:pPr marL="0" marR="0" lvl="0" indent="0" algn="l" defTabSz="912114" rtl="0" eaLnBrk="1" fontAlgn="auto" latinLnBrk="0" hangingPunct="1">
              <a:lnSpc>
                <a:spcPct val="100000"/>
              </a:lnSpc>
              <a:spcBef>
                <a:spcPts val="599"/>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Kein Cross-Learning zwischen Stationen</a:t>
            </a:r>
          </a:p>
          <a:p>
            <a:pPr marL="0" marR="0" lvl="0" indent="0" algn="l" defTabSz="912114" rtl="0" eaLnBrk="1" fontAlgn="auto" latinLnBrk="0" hangingPunct="1">
              <a:lnSpc>
                <a:spcPct val="100000"/>
              </a:lnSpc>
              <a:spcBef>
                <a:spcPts val="599"/>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Muss bei neuen Zeiträumen neu trainiert werden</a:t>
            </a:r>
          </a:p>
        </p:txBody>
      </p:sp>
      <p:sp>
        <p:nvSpPr>
          <p:cNvPr id="19" name="Rounded Rectangle 18"/>
          <p:cNvSpPr/>
          <p:nvPr/>
        </p:nvSpPr>
        <p:spPr>
          <a:xfrm>
            <a:off x="471113" y="4946237"/>
            <a:ext cx="11218577" cy="1346660"/>
          </a:xfrm>
          <a:prstGeom prst="roundRect">
            <a:avLst>
              <a:gd name="adj" fmla="val 6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20" name="Oval 19"/>
          <p:cNvSpPr/>
          <p:nvPr/>
        </p:nvSpPr>
        <p:spPr>
          <a:xfrm>
            <a:off x="700544" y="5175668"/>
            <a:ext cx="648392" cy="648392"/>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FFFFFF"/>
                </a:solidFill>
                <a:effectLst/>
                <a:uLnTx/>
                <a:uFillTx/>
                <a:latin typeface="Cambria"/>
                <a:ea typeface="+mn-ea"/>
                <a:cs typeface="+mn-cs"/>
              </a:rPr>
              <a:t>±</a:t>
            </a:r>
          </a:p>
        </p:txBody>
      </p:sp>
      <p:sp>
        <p:nvSpPr>
          <p:cNvPr id="21" name="TextBox 20"/>
          <p:cNvSpPr txBox="1"/>
          <p:nvPr/>
        </p:nvSpPr>
        <p:spPr>
          <a:xfrm>
            <a:off x="1505109" y="5370186"/>
            <a:ext cx="1985876" cy="260323"/>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696" b="1" i="0" u="none" strike="noStrike" kern="1200" cap="none" spc="0" normalizeH="0" baseline="0" noProof="0">
                <a:ln>
                  <a:noFill/>
                </a:ln>
                <a:solidFill>
                  <a:srgbClr val="22272B"/>
                </a:solidFill>
                <a:effectLst/>
                <a:uLnTx/>
                <a:uFillTx/>
                <a:latin typeface="Cambria"/>
                <a:ea typeface="+mn-ea"/>
                <a:cs typeface="+mn-cs"/>
              </a:rPr>
              <a:t>Konfidenzintervalle</a:t>
            </a:r>
          </a:p>
        </p:txBody>
      </p:sp>
      <p:sp>
        <p:nvSpPr>
          <p:cNvPr id="22" name="TextBox 21"/>
          <p:cNvSpPr txBox="1"/>
          <p:nvPr/>
        </p:nvSpPr>
        <p:spPr>
          <a:xfrm>
            <a:off x="700544" y="5841517"/>
            <a:ext cx="10759715" cy="398224"/>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297" b="0" i="1" u="none" strike="noStrike" kern="1200" cap="none" spc="0" normalizeH="0" baseline="0" noProof="0" dirty="0">
                <a:ln>
                  <a:noFill/>
                </a:ln>
                <a:solidFill>
                  <a:srgbClr val="6C7278"/>
                </a:solidFill>
                <a:effectLst/>
                <a:uLnTx/>
                <a:uFillTx/>
                <a:latin typeface="Calibri"/>
                <a:ea typeface="+mn-ea"/>
                <a:cs typeface="+mn-cs"/>
              </a:rPr>
              <a:t>Native </a:t>
            </a:r>
            <a:r>
              <a:rPr kumimoji="0" sz="1297" b="0" i="1" u="none" strike="noStrike" kern="1200" cap="none" spc="0" normalizeH="0" baseline="0" noProof="0" dirty="0" err="1">
                <a:ln>
                  <a:noFill/>
                </a:ln>
                <a:solidFill>
                  <a:srgbClr val="6C7278"/>
                </a:solidFill>
                <a:effectLst/>
                <a:uLnTx/>
                <a:uFillTx/>
                <a:latin typeface="Calibri"/>
                <a:ea typeface="+mn-ea"/>
                <a:cs typeface="+mn-cs"/>
              </a:rPr>
              <a:t>Unsicherheitsintervalle</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yhat_lower</a:t>
            </a:r>
            <a:r>
              <a:rPr kumimoji="0" sz="1297" b="0" i="1" u="none" strike="noStrike" kern="1200" cap="none" spc="0" normalizeH="0" baseline="0" noProof="0" dirty="0">
                <a:ln>
                  <a:noFill/>
                </a:ln>
                <a:solidFill>
                  <a:srgbClr val="6C7278"/>
                </a:solidFill>
                <a:effectLst/>
                <a:uLnTx/>
                <a:uFillTx/>
                <a:latin typeface="Calibri"/>
                <a:ea typeface="+mn-ea"/>
                <a:cs typeface="+mn-cs"/>
              </a:rPr>
              <a:t>/</a:t>
            </a:r>
            <a:r>
              <a:rPr kumimoji="0" sz="1297" b="0" i="1" u="none" strike="noStrike" kern="1200" cap="none" spc="0" normalizeH="0" baseline="0" noProof="0" dirty="0" err="1">
                <a:ln>
                  <a:noFill/>
                </a:ln>
                <a:solidFill>
                  <a:srgbClr val="6C7278"/>
                </a:solidFill>
                <a:effectLst/>
                <a:uLnTx/>
                <a:uFillTx/>
                <a:latin typeface="Calibri"/>
                <a:ea typeface="+mn-ea"/>
                <a:cs typeface="+mn-cs"/>
              </a:rPr>
              <a:t>yhat_upper</a:t>
            </a:r>
            <a:r>
              <a:rPr kumimoji="0" sz="1297" b="0" i="1" u="none" strike="noStrike" kern="1200" cap="none" spc="0" normalizeH="0" baseline="0" noProof="0" dirty="0">
                <a:ln>
                  <a:noFill/>
                </a:ln>
                <a:solidFill>
                  <a:srgbClr val="6C7278"/>
                </a:solidFill>
                <a:effectLst/>
                <a:uLnTx/>
                <a:uFillTx/>
                <a:latin typeface="Calibri"/>
                <a:ea typeface="+mn-ea"/>
                <a:cs typeface="+mn-cs"/>
              </a:rPr>
              <a:t>), Breite </a:t>
            </a:r>
            <a:r>
              <a:rPr kumimoji="0" sz="1297" b="0" i="1" u="none" strike="noStrike" kern="1200" cap="none" spc="0" normalizeH="0" baseline="0" noProof="0" dirty="0" err="1">
                <a:ln>
                  <a:noFill/>
                </a:ln>
                <a:solidFill>
                  <a:srgbClr val="6C7278"/>
                </a:solidFill>
                <a:effectLst/>
                <a:uLnTx/>
                <a:uFillTx/>
                <a:latin typeface="Calibri"/>
                <a:ea typeface="+mn-ea"/>
                <a:cs typeface="+mn-cs"/>
              </a:rPr>
              <a:t>über</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interval_width</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einstellbar</a:t>
            </a:r>
            <a:r>
              <a:rPr kumimoji="0" sz="1297" b="0" i="1" u="none" strike="noStrike" kern="1200" cap="none" spc="0" normalizeH="0" baseline="0" noProof="0" dirty="0">
                <a:ln>
                  <a:noFill/>
                </a:ln>
                <a:solidFill>
                  <a:srgbClr val="6C7278"/>
                </a:solidFill>
                <a:effectLst/>
                <a:uLnTx/>
                <a:uFillTx/>
                <a:latin typeface="Calibri"/>
                <a:ea typeface="+mn-ea"/>
                <a:cs typeface="+mn-cs"/>
              </a:rPr>
              <a:t> (Standard 80 %). Bei der Default-MAP-Schätzung </a:t>
            </a:r>
            <a:r>
              <a:rPr kumimoji="0" sz="1297" b="0" i="1" u="none" strike="noStrike" kern="1200" cap="none" spc="0" normalizeH="0" baseline="0" noProof="0" dirty="0" err="1">
                <a:ln>
                  <a:noFill/>
                </a:ln>
                <a:solidFill>
                  <a:srgbClr val="6C7278"/>
                </a:solidFill>
                <a:effectLst/>
                <a:uLnTx/>
                <a:uFillTx/>
                <a:latin typeface="Calibri"/>
                <a:ea typeface="+mn-ea"/>
                <a:cs typeface="+mn-cs"/>
              </a:rPr>
              <a:t>wird</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nur</a:t>
            </a:r>
            <a:r>
              <a:rPr kumimoji="0" sz="1297" b="0" i="1" u="none" strike="noStrike" kern="1200" cap="none" spc="0" normalizeH="0" baseline="0" noProof="0" dirty="0">
                <a:ln>
                  <a:noFill/>
                </a:ln>
                <a:solidFill>
                  <a:srgbClr val="6C7278"/>
                </a:solidFill>
                <a:effectLst/>
                <a:uLnTx/>
                <a:uFillTx/>
                <a:latin typeface="Calibri"/>
                <a:ea typeface="+mn-ea"/>
                <a:cs typeface="+mn-cs"/>
              </a:rPr>
              <a:t> die Trend-</a:t>
            </a:r>
            <a:r>
              <a:rPr kumimoji="0" sz="1297" b="0" i="1" u="none" strike="noStrike" kern="1200" cap="none" spc="0" normalizeH="0" baseline="0" noProof="0" dirty="0" err="1">
                <a:ln>
                  <a:noFill/>
                </a:ln>
                <a:solidFill>
                  <a:srgbClr val="6C7278"/>
                </a:solidFill>
                <a:effectLst/>
                <a:uLnTx/>
                <a:uFillTx/>
                <a:latin typeface="Calibri"/>
                <a:ea typeface="+mn-ea"/>
                <a:cs typeface="+mn-cs"/>
              </a:rPr>
              <a:t>Unsicherheit</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abgebildet</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volle</a:t>
            </a:r>
            <a:r>
              <a:rPr kumimoji="0" sz="1297" b="0" i="1" u="none" strike="noStrike" kern="1200" cap="none" spc="0" normalizeH="0" baseline="0" noProof="0" dirty="0">
                <a:ln>
                  <a:noFill/>
                </a:ln>
                <a:solidFill>
                  <a:srgbClr val="6C7278"/>
                </a:solidFill>
                <a:effectLst/>
                <a:uLnTx/>
                <a:uFillTx/>
                <a:latin typeface="Calibri"/>
                <a:ea typeface="+mn-ea"/>
                <a:cs typeface="+mn-cs"/>
              </a:rPr>
              <a:t> Posterior-</a:t>
            </a:r>
            <a:r>
              <a:rPr kumimoji="0" sz="1297" b="0" i="1" u="none" strike="noStrike" kern="1200" cap="none" spc="0" normalizeH="0" baseline="0" noProof="0" dirty="0" err="1">
                <a:ln>
                  <a:noFill/>
                </a:ln>
                <a:solidFill>
                  <a:srgbClr val="6C7278"/>
                </a:solidFill>
                <a:effectLst/>
                <a:uLnTx/>
                <a:uFillTx/>
                <a:latin typeface="Calibri"/>
                <a:ea typeface="+mn-ea"/>
                <a:cs typeface="+mn-cs"/>
              </a:rPr>
              <a:t>Unsicherheit</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nur</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mit</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mcmc_samples</a:t>
            </a:r>
            <a:r>
              <a:rPr kumimoji="0" sz="1297" b="0" i="1" u="none" strike="noStrike" kern="1200" cap="none" spc="0" normalizeH="0" baseline="0" noProof="0" dirty="0">
                <a:ln>
                  <a:noFill/>
                </a:ln>
                <a:solidFill>
                  <a:srgbClr val="6C7278"/>
                </a:solidFill>
                <a:effectLst/>
                <a:uLnTx/>
                <a:uFillTx/>
                <a:latin typeface="Calibri"/>
                <a:ea typeface="+mn-ea"/>
                <a:cs typeface="+mn-cs"/>
              </a:rPr>
              <a:t> &gt; 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44" y="8483"/>
            <a:ext cx="12130715" cy="6840315"/>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3" name="TextBox 2"/>
          <p:cNvSpPr txBox="1"/>
          <p:nvPr/>
        </p:nvSpPr>
        <p:spPr>
          <a:xfrm>
            <a:off x="471113" y="418945"/>
            <a:ext cx="2059624" cy="520711"/>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3392" b="1" i="0" u="none" strike="noStrike" kern="1200" cap="none" spc="0" normalizeH="0" baseline="0" noProof="0">
                <a:ln>
                  <a:noFill/>
                </a:ln>
                <a:solidFill>
                  <a:srgbClr val="22272B"/>
                </a:solidFill>
                <a:effectLst/>
                <a:uLnTx/>
                <a:uFillTx/>
                <a:latin typeface="Cambria"/>
                <a:ea typeface="+mn-ea"/>
                <a:cs typeface="+mn-cs"/>
              </a:rPr>
              <a:t>Chronos-2</a:t>
            </a:r>
          </a:p>
        </p:txBody>
      </p:sp>
      <p:sp>
        <p:nvSpPr>
          <p:cNvPr id="4" name="TextBox 3"/>
          <p:cNvSpPr txBox="1"/>
          <p:nvPr/>
        </p:nvSpPr>
        <p:spPr>
          <a:xfrm>
            <a:off x="489427" y="1057442"/>
            <a:ext cx="10488867" cy="229622"/>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496" b="0" i="0" u="none" strike="noStrike" kern="1200" cap="none" spc="0" normalizeH="0" baseline="0" noProof="0">
                <a:ln>
                  <a:noFill/>
                </a:ln>
                <a:solidFill>
                  <a:srgbClr val="6C7278"/>
                </a:solidFill>
                <a:effectLst/>
                <a:uLnTx/>
                <a:uFillTx/>
                <a:latin typeface="Calibri"/>
                <a:ea typeface="+mn-ea"/>
                <a:cs typeface="+mn-cs"/>
              </a:rPr>
              <a:t>Foundation-Modell (Zero-Shot) — Funktionsweise, Stärken und Grenzen im Beijing-PM2.5-Kontext</a:t>
            </a:r>
          </a:p>
        </p:txBody>
      </p:sp>
      <p:sp>
        <p:nvSpPr>
          <p:cNvPr id="5" name="TextBox 4"/>
          <p:cNvSpPr txBox="1"/>
          <p:nvPr/>
        </p:nvSpPr>
        <p:spPr>
          <a:xfrm>
            <a:off x="471113" y="6411763"/>
            <a:ext cx="2963953" cy="138179"/>
          </a:xfrm>
          <a:prstGeom prst="rect">
            <a:avLst/>
          </a:prstGeom>
          <a:noFill/>
        </p:spPr>
        <p:txBody>
          <a:bodyPr wrap="none" lIns="0" tIns="0" rIns="0" bIns="0">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sp>
        <p:nvSpPr>
          <p:cNvPr id="6" name="Rounded Rectangle 5"/>
          <p:cNvSpPr/>
          <p:nvPr/>
        </p:nvSpPr>
        <p:spPr>
          <a:xfrm>
            <a:off x="471113" y="1454896"/>
            <a:ext cx="11218577" cy="1346660"/>
          </a:xfrm>
          <a:prstGeom prst="roundRect">
            <a:avLst>
              <a:gd name="adj" fmla="val 6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7" name="Oval 6"/>
          <p:cNvSpPr/>
          <p:nvPr/>
        </p:nvSpPr>
        <p:spPr>
          <a:xfrm>
            <a:off x="700544" y="1684327"/>
            <a:ext cx="648392" cy="648392"/>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lang="de-DE" sz="1596" b="1" i="0" u="none" strike="noStrike" kern="1200" cap="none" spc="0" normalizeH="0" baseline="0" noProof="0" dirty="0">
                <a:ln>
                  <a:noFill/>
                </a:ln>
                <a:solidFill>
                  <a:srgbClr val="FFFFFF"/>
                </a:solidFill>
                <a:effectLst/>
                <a:uLnTx/>
                <a:uFillTx/>
                <a:latin typeface="Cambria"/>
                <a:ea typeface="+mn-ea"/>
                <a:cs typeface="+mn-cs"/>
              </a:rPr>
              <a:t>A</a:t>
            </a:r>
            <a:endParaRPr kumimoji="0" sz="1596" b="1" i="0" u="none" strike="noStrike" kern="1200" cap="none" spc="0" normalizeH="0" baseline="0" noProof="0" dirty="0">
              <a:ln>
                <a:noFill/>
              </a:ln>
              <a:solidFill>
                <a:srgbClr val="FFFFFF"/>
              </a:solidFill>
              <a:effectLst/>
              <a:uLnTx/>
              <a:uFillTx/>
              <a:latin typeface="Cambria"/>
              <a:ea typeface="+mn-ea"/>
              <a:cs typeface="+mn-cs"/>
            </a:endParaRPr>
          </a:p>
        </p:txBody>
      </p:sp>
      <p:sp>
        <p:nvSpPr>
          <p:cNvPr id="8" name="TextBox 7"/>
          <p:cNvSpPr txBox="1"/>
          <p:nvPr/>
        </p:nvSpPr>
        <p:spPr>
          <a:xfrm>
            <a:off x="1505108" y="1692308"/>
            <a:ext cx="1245651" cy="260323"/>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696" b="1" i="0" u="none" strike="noStrike" kern="1200" cap="none" spc="0" normalizeH="0" baseline="0" noProof="0">
                <a:ln>
                  <a:noFill/>
                </a:ln>
                <a:solidFill>
                  <a:srgbClr val="22272B"/>
                </a:solidFill>
                <a:effectLst/>
                <a:uLnTx/>
                <a:uFillTx/>
                <a:latin typeface="Cambria"/>
                <a:ea typeface="+mn-ea"/>
                <a:cs typeface="+mn-cs"/>
              </a:rPr>
              <a:t>Algorithmus</a:t>
            </a:r>
          </a:p>
        </p:txBody>
      </p:sp>
      <p:sp>
        <p:nvSpPr>
          <p:cNvPr id="9" name="TextBox 8"/>
          <p:cNvSpPr txBox="1"/>
          <p:nvPr/>
        </p:nvSpPr>
        <p:spPr>
          <a:xfrm>
            <a:off x="1505109" y="1991566"/>
            <a:ext cx="906654" cy="168411"/>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097" b="1" i="0" u="none" strike="noStrike" kern="1200" cap="none" spc="0" normalizeH="0" baseline="0" noProof="0">
                <a:ln>
                  <a:noFill/>
                </a:ln>
                <a:solidFill>
                  <a:srgbClr val="E0912F"/>
                </a:solidFill>
                <a:effectLst/>
                <a:uLnTx/>
                <a:uFillTx/>
                <a:latin typeface="Calibri"/>
                <a:ea typeface="+mn-ea"/>
                <a:cs typeface="+mn-cs"/>
              </a:rPr>
              <a:t>Funktionsweise</a:t>
            </a:r>
          </a:p>
        </p:txBody>
      </p:sp>
      <p:sp>
        <p:nvSpPr>
          <p:cNvPr id="10" name="TextBox 9"/>
          <p:cNvSpPr txBox="1"/>
          <p:nvPr/>
        </p:nvSpPr>
        <p:spPr>
          <a:xfrm>
            <a:off x="680593" y="2367632"/>
            <a:ext cx="10759715" cy="398224"/>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297" b="0" i="1" u="none" strike="noStrike" kern="1200" cap="none" spc="0" normalizeH="0" baseline="0" noProof="0" dirty="0" err="1">
                <a:ln>
                  <a:noFill/>
                </a:ln>
                <a:solidFill>
                  <a:srgbClr val="6C7278"/>
                </a:solidFill>
                <a:effectLst/>
                <a:uLnTx/>
                <a:uFillTx/>
                <a:latin typeface="Calibri"/>
                <a:ea typeface="+mn-ea"/>
                <a:cs typeface="+mn-cs"/>
              </a:rPr>
              <a:t>Vortrainierter</a:t>
            </a:r>
            <a:r>
              <a:rPr kumimoji="0" sz="1297" b="0" i="1" u="none" strike="noStrike" kern="1200" cap="none" spc="0" normalizeH="0" baseline="0" noProof="0" dirty="0">
                <a:ln>
                  <a:noFill/>
                </a:ln>
                <a:solidFill>
                  <a:srgbClr val="6C7278"/>
                </a:solidFill>
                <a:effectLst/>
                <a:uLnTx/>
                <a:uFillTx/>
                <a:latin typeface="Calibri"/>
                <a:ea typeface="+mn-ea"/>
                <a:cs typeface="+mn-cs"/>
              </a:rPr>
              <a:t> Transformer, der </a:t>
            </a:r>
            <a:r>
              <a:rPr kumimoji="0" sz="1297" b="0" i="1" u="none" strike="noStrike" kern="1200" cap="none" spc="0" normalizeH="0" baseline="0" noProof="0" dirty="0" err="1">
                <a:ln>
                  <a:noFill/>
                </a:ln>
                <a:solidFill>
                  <a:srgbClr val="6C7278"/>
                </a:solidFill>
                <a:effectLst/>
                <a:uLnTx/>
                <a:uFillTx/>
                <a:latin typeface="Calibri"/>
                <a:ea typeface="+mn-ea"/>
                <a:cs typeface="+mn-cs"/>
              </a:rPr>
              <a:t>Zeitreihen</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als</a:t>
            </a:r>
            <a:r>
              <a:rPr kumimoji="0" sz="1297" b="0" i="1" u="none" strike="noStrike" kern="1200" cap="none" spc="0" normalizeH="0" baseline="0" noProof="0" dirty="0">
                <a:ln>
                  <a:noFill/>
                </a:ln>
                <a:solidFill>
                  <a:srgbClr val="6C7278"/>
                </a:solidFill>
                <a:effectLst/>
                <a:uLnTx/>
                <a:uFillTx/>
                <a:latin typeface="Calibri"/>
                <a:ea typeface="+mn-ea"/>
                <a:cs typeface="+mn-cs"/>
              </a:rPr>
              <a:t> Token-</a:t>
            </a:r>
            <a:r>
              <a:rPr kumimoji="0" sz="1297" b="0" i="1" u="none" strike="noStrike" kern="1200" cap="none" spc="0" normalizeH="0" baseline="0" noProof="0" dirty="0" err="1">
                <a:ln>
                  <a:noFill/>
                </a:ln>
                <a:solidFill>
                  <a:srgbClr val="6C7278"/>
                </a:solidFill>
                <a:effectLst/>
                <a:uLnTx/>
                <a:uFillTx/>
                <a:latin typeface="Calibri"/>
                <a:ea typeface="+mn-ea"/>
                <a:cs typeface="+mn-cs"/>
              </a:rPr>
              <a:t>Sequenz</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behandelt</a:t>
            </a:r>
            <a:r>
              <a:rPr kumimoji="0" sz="1297" b="0" i="1" u="none" strike="noStrike" kern="1200" cap="none" spc="0" normalizeH="0" baseline="0" noProof="0" dirty="0">
                <a:ln>
                  <a:noFill/>
                </a:ln>
                <a:solidFill>
                  <a:srgbClr val="6C7278"/>
                </a:solidFill>
                <a:effectLst/>
                <a:uLnTx/>
                <a:uFillTx/>
                <a:latin typeface="Calibri"/>
                <a:ea typeface="+mn-ea"/>
                <a:cs typeface="+mn-cs"/>
              </a:rPr>
              <a:t> und </a:t>
            </a:r>
            <a:r>
              <a:rPr kumimoji="0" sz="1297" b="0" i="1" u="none" strike="noStrike" kern="1200" cap="none" spc="0" normalizeH="0" baseline="0" noProof="0" dirty="0" err="1">
                <a:ln>
                  <a:noFill/>
                </a:ln>
                <a:solidFill>
                  <a:srgbClr val="6C7278"/>
                </a:solidFill>
                <a:effectLst/>
                <a:uLnTx/>
                <a:uFillTx/>
                <a:latin typeface="Calibri"/>
                <a:ea typeface="+mn-ea"/>
                <a:cs typeface="+mn-cs"/>
              </a:rPr>
              <a:t>ohne</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stationsspezifisches</a:t>
            </a:r>
            <a:r>
              <a:rPr kumimoji="0" sz="1297" b="0" i="1" u="none" strike="noStrike" kern="1200" cap="none" spc="0" normalizeH="0" baseline="0" noProof="0" dirty="0">
                <a:ln>
                  <a:noFill/>
                </a:ln>
                <a:solidFill>
                  <a:srgbClr val="6C7278"/>
                </a:solidFill>
                <a:effectLst/>
                <a:uLnTx/>
                <a:uFillTx/>
                <a:latin typeface="Calibri"/>
                <a:ea typeface="+mn-ea"/>
                <a:cs typeface="+mn-cs"/>
              </a:rPr>
              <a:t> Training </a:t>
            </a:r>
            <a:r>
              <a:rPr kumimoji="0" sz="1297" b="0" i="1" u="none" strike="noStrike" kern="1200" cap="none" spc="0" normalizeH="0" baseline="0" noProof="0" dirty="0" err="1">
                <a:ln>
                  <a:noFill/>
                </a:ln>
                <a:solidFill>
                  <a:srgbClr val="6C7278"/>
                </a:solidFill>
                <a:effectLst/>
                <a:uLnTx/>
                <a:uFillTx/>
                <a:latin typeface="Calibri"/>
                <a:ea typeface="+mn-ea"/>
                <a:cs typeface="+mn-cs"/>
              </a:rPr>
              <a:t>direkt</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Prognosen</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liefert</a:t>
            </a:r>
            <a:r>
              <a:rPr kumimoji="0" sz="1297" b="0" i="1" u="none" strike="noStrike" kern="1200" cap="none" spc="0" normalizeH="0" baseline="0" noProof="0" dirty="0">
                <a:ln>
                  <a:noFill/>
                </a:ln>
                <a:solidFill>
                  <a:srgbClr val="6C7278"/>
                </a:solidFill>
                <a:effectLst/>
                <a:uLnTx/>
                <a:uFillTx/>
                <a:latin typeface="Calibri"/>
                <a:ea typeface="+mn-ea"/>
                <a:cs typeface="+mn-cs"/>
              </a:rPr>
              <a:t> (Zero-Shot). Kann Wetter- und </a:t>
            </a:r>
            <a:r>
              <a:rPr kumimoji="0" sz="1297" b="0" i="1" u="none" strike="noStrike" kern="1200" cap="none" spc="0" normalizeH="0" baseline="0" noProof="0" dirty="0" err="1">
                <a:ln>
                  <a:noFill/>
                </a:ln>
                <a:solidFill>
                  <a:srgbClr val="6C7278"/>
                </a:solidFill>
                <a:effectLst/>
                <a:uLnTx/>
                <a:uFillTx/>
                <a:latin typeface="Calibri"/>
                <a:ea typeface="+mn-ea"/>
                <a:cs typeface="+mn-cs"/>
              </a:rPr>
              <a:t>Kalenderdaten</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als</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Kovariaten</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einbeziehen</a:t>
            </a:r>
            <a:r>
              <a:rPr kumimoji="0" sz="1297" b="0" i="1" u="none" strike="noStrike" kern="1200" cap="none" spc="0" normalizeH="0" baseline="0" noProof="0" dirty="0">
                <a:ln>
                  <a:noFill/>
                </a:ln>
                <a:solidFill>
                  <a:srgbClr val="6C7278"/>
                </a:solidFill>
                <a:effectLst/>
                <a:uLnTx/>
                <a:uFillTx/>
                <a:latin typeface="Calibri"/>
                <a:ea typeface="+mn-ea"/>
                <a:cs typeface="+mn-cs"/>
              </a:rPr>
              <a:t> und </a:t>
            </a:r>
            <a:r>
              <a:rPr kumimoji="0" sz="1297" b="0" i="1" u="none" strike="noStrike" kern="1200" cap="none" spc="0" normalizeH="0" baseline="0" noProof="0" dirty="0" err="1">
                <a:ln>
                  <a:noFill/>
                </a:ln>
                <a:solidFill>
                  <a:srgbClr val="6C7278"/>
                </a:solidFill>
                <a:effectLst/>
                <a:uLnTx/>
                <a:uFillTx/>
                <a:latin typeface="Calibri"/>
                <a:ea typeface="+mn-ea"/>
                <a:cs typeface="+mn-cs"/>
              </a:rPr>
              <a:t>generiert</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Vorhersagen</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durch</a:t>
            </a:r>
            <a:r>
              <a:rPr kumimoji="0" sz="1297" b="0" i="1" u="none" strike="noStrike" kern="1200" cap="none" spc="0" normalizeH="0" baseline="0" noProof="0" dirty="0">
                <a:ln>
                  <a:noFill/>
                </a:ln>
                <a:solidFill>
                  <a:srgbClr val="6C7278"/>
                </a:solidFill>
                <a:effectLst/>
                <a:uLnTx/>
                <a:uFillTx/>
                <a:latin typeface="Calibri"/>
                <a:ea typeface="+mn-ea"/>
                <a:cs typeface="+mn-cs"/>
              </a:rPr>
              <a:t> Sampling </a:t>
            </a:r>
            <a:r>
              <a:rPr kumimoji="0" sz="1297" b="0" i="1" u="none" strike="noStrike" kern="1200" cap="none" spc="0" normalizeH="0" baseline="0" noProof="0" dirty="0" err="1">
                <a:ln>
                  <a:noFill/>
                </a:ln>
                <a:solidFill>
                  <a:srgbClr val="6C7278"/>
                </a:solidFill>
                <a:effectLst/>
                <a:uLnTx/>
                <a:uFillTx/>
                <a:latin typeface="Calibri"/>
                <a:ea typeface="+mn-ea"/>
                <a:cs typeface="+mn-cs"/>
              </a:rPr>
              <a:t>mehrerer</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plausibler</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Zukunftspfade</a:t>
            </a:r>
            <a:r>
              <a:rPr kumimoji="0" sz="1297" b="0" i="1" u="none" strike="noStrike" kern="1200" cap="none" spc="0" normalizeH="0" baseline="0" noProof="0" dirty="0">
                <a:ln>
                  <a:noFill/>
                </a:ln>
                <a:solidFill>
                  <a:srgbClr val="6C7278"/>
                </a:solidFill>
                <a:effectLst/>
                <a:uLnTx/>
                <a:uFillTx/>
                <a:latin typeface="Calibri"/>
                <a:ea typeface="+mn-ea"/>
                <a:cs typeface="+mn-cs"/>
              </a:rPr>
              <a:t>.</a:t>
            </a:r>
          </a:p>
        </p:txBody>
      </p:sp>
      <p:sp>
        <p:nvSpPr>
          <p:cNvPr id="11" name="Rounded Rectangle 10"/>
          <p:cNvSpPr/>
          <p:nvPr/>
        </p:nvSpPr>
        <p:spPr>
          <a:xfrm>
            <a:off x="471113" y="2901309"/>
            <a:ext cx="5426502" cy="1945176"/>
          </a:xfrm>
          <a:prstGeom prst="roundRect">
            <a:avLst>
              <a:gd name="adj" fmla="val 6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12" name="Oval 11"/>
          <p:cNvSpPr/>
          <p:nvPr/>
        </p:nvSpPr>
        <p:spPr>
          <a:xfrm>
            <a:off x="680593" y="3110789"/>
            <a:ext cx="518714" cy="518714"/>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FFFFFF"/>
                </a:solidFill>
                <a:effectLst/>
                <a:uLnTx/>
                <a:uFillTx/>
                <a:latin typeface="Cambria"/>
                <a:ea typeface="+mn-ea"/>
                <a:cs typeface="+mn-cs"/>
              </a:rPr>
              <a:t>+</a:t>
            </a:r>
          </a:p>
        </p:txBody>
      </p:sp>
      <p:sp>
        <p:nvSpPr>
          <p:cNvPr id="13" name="TextBox 12"/>
          <p:cNvSpPr txBox="1"/>
          <p:nvPr/>
        </p:nvSpPr>
        <p:spPr>
          <a:xfrm>
            <a:off x="1355480" y="3240468"/>
            <a:ext cx="741251" cy="244972"/>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22272B"/>
                </a:solidFill>
                <a:effectLst/>
                <a:uLnTx/>
                <a:uFillTx/>
                <a:latin typeface="Cambria"/>
                <a:ea typeface="+mn-ea"/>
                <a:cs typeface="+mn-cs"/>
              </a:rPr>
              <a:t>Vorteile</a:t>
            </a:r>
          </a:p>
        </p:txBody>
      </p:sp>
      <p:sp>
        <p:nvSpPr>
          <p:cNvPr id="14" name="TextBox 13"/>
          <p:cNvSpPr txBox="1"/>
          <p:nvPr/>
        </p:nvSpPr>
        <p:spPr>
          <a:xfrm>
            <a:off x="680593" y="3739231"/>
            <a:ext cx="5007541" cy="750845"/>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Kein eigenes Training nötig, sofort einsetzbar</a:t>
            </a:r>
          </a:p>
          <a:p>
            <a:pPr marL="0" marR="0" lvl="0" indent="0" algn="l" defTabSz="912114" rtl="0" eaLnBrk="1" fontAlgn="auto" latinLnBrk="0" hangingPunct="1">
              <a:lnSpc>
                <a:spcPct val="100000"/>
              </a:lnSpc>
              <a:spcBef>
                <a:spcPts val="599"/>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Nutzt vortrainiertes Zeitreihenwissen (Cross-Learning)</a:t>
            </a:r>
          </a:p>
          <a:p>
            <a:pPr marL="0" marR="0" lvl="0" indent="0" algn="l" defTabSz="912114" rtl="0" eaLnBrk="1" fontAlgn="auto" latinLnBrk="0" hangingPunct="1">
              <a:lnSpc>
                <a:spcPct val="100000"/>
              </a:lnSpc>
              <a:spcBef>
                <a:spcPts val="599"/>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Berücksichtigt Wetter-/Kalender-Kovariaten</a:t>
            </a:r>
          </a:p>
        </p:txBody>
      </p:sp>
      <p:sp>
        <p:nvSpPr>
          <p:cNvPr id="15" name="Rounded Rectangle 14"/>
          <p:cNvSpPr/>
          <p:nvPr/>
        </p:nvSpPr>
        <p:spPr>
          <a:xfrm>
            <a:off x="6263188" y="2901309"/>
            <a:ext cx="5426502" cy="1945176"/>
          </a:xfrm>
          <a:prstGeom prst="roundRect">
            <a:avLst>
              <a:gd name="adj" fmla="val 6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16" name="Oval 15"/>
          <p:cNvSpPr/>
          <p:nvPr/>
        </p:nvSpPr>
        <p:spPr>
          <a:xfrm>
            <a:off x="6472668" y="3110789"/>
            <a:ext cx="518714" cy="518714"/>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FFFFFF"/>
                </a:solidFill>
                <a:effectLst/>
                <a:uLnTx/>
                <a:uFillTx/>
                <a:latin typeface="Cambria"/>
                <a:ea typeface="+mn-ea"/>
                <a:cs typeface="+mn-cs"/>
              </a:rPr>
              <a:t>–</a:t>
            </a:r>
          </a:p>
        </p:txBody>
      </p:sp>
      <p:sp>
        <p:nvSpPr>
          <p:cNvPr id="17" name="TextBox 16"/>
          <p:cNvSpPr txBox="1"/>
          <p:nvPr/>
        </p:nvSpPr>
        <p:spPr>
          <a:xfrm>
            <a:off x="7147555" y="3240468"/>
            <a:ext cx="881454" cy="244972"/>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22272B"/>
                </a:solidFill>
                <a:effectLst/>
                <a:uLnTx/>
                <a:uFillTx/>
                <a:latin typeface="Cambria"/>
                <a:ea typeface="+mn-ea"/>
                <a:cs typeface="+mn-cs"/>
              </a:rPr>
              <a:t>Nachteile</a:t>
            </a:r>
          </a:p>
        </p:txBody>
      </p:sp>
      <p:sp>
        <p:nvSpPr>
          <p:cNvPr id="18" name="TextBox 17"/>
          <p:cNvSpPr txBox="1"/>
          <p:nvPr/>
        </p:nvSpPr>
        <p:spPr>
          <a:xfrm>
            <a:off x="6472668" y="3739231"/>
            <a:ext cx="5007541" cy="750845"/>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„Black Box“ – kaum interpretierbar</a:t>
            </a:r>
          </a:p>
          <a:p>
            <a:pPr marL="0" marR="0" lvl="0" indent="0" algn="l" defTabSz="912114" rtl="0" eaLnBrk="1" fontAlgn="auto" latinLnBrk="0" hangingPunct="1">
              <a:lnSpc>
                <a:spcPct val="100000"/>
              </a:lnSpc>
              <a:spcBef>
                <a:spcPts val="599"/>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Kein Feintuning auf Beijing-Emissionsmuster</a:t>
            </a:r>
          </a:p>
          <a:p>
            <a:pPr marL="0" marR="0" lvl="0" indent="0" algn="l" defTabSz="912114" rtl="0" eaLnBrk="1" fontAlgn="auto" latinLnBrk="0" hangingPunct="1">
              <a:lnSpc>
                <a:spcPct val="100000"/>
              </a:lnSpc>
              <a:spcBef>
                <a:spcPts val="599"/>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Höherer Rechen-/Inferenzaufwand als klassische Modelle</a:t>
            </a:r>
          </a:p>
        </p:txBody>
      </p:sp>
      <p:sp>
        <p:nvSpPr>
          <p:cNvPr id="19" name="Rounded Rectangle 18"/>
          <p:cNvSpPr/>
          <p:nvPr/>
        </p:nvSpPr>
        <p:spPr>
          <a:xfrm>
            <a:off x="471113" y="4946237"/>
            <a:ext cx="11218577" cy="1346660"/>
          </a:xfrm>
          <a:prstGeom prst="roundRect">
            <a:avLst>
              <a:gd name="adj" fmla="val 6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20" name="Oval 19"/>
          <p:cNvSpPr/>
          <p:nvPr/>
        </p:nvSpPr>
        <p:spPr>
          <a:xfrm>
            <a:off x="700544" y="5175668"/>
            <a:ext cx="648392" cy="648392"/>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FFFFFF"/>
                </a:solidFill>
                <a:effectLst/>
                <a:uLnTx/>
                <a:uFillTx/>
                <a:latin typeface="Cambria"/>
                <a:ea typeface="+mn-ea"/>
                <a:cs typeface="+mn-cs"/>
              </a:rPr>
              <a:t>±</a:t>
            </a:r>
          </a:p>
        </p:txBody>
      </p:sp>
      <p:sp>
        <p:nvSpPr>
          <p:cNvPr id="21" name="TextBox 20"/>
          <p:cNvSpPr txBox="1"/>
          <p:nvPr/>
        </p:nvSpPr>
        <p:spPr>
          <a:xfrm>
            <a:off x="1505109" y="5370186"/>
            <a:ext cx="1985876" cy="260323"/>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696" b="1" i="0" u="none" strike="noStrike" kern="1200" cap="none" spc="0" normalizeH="0" baseline="0" noProof="0">
                <a:ln>
                  <a:noFill/>
                </a:ln>
                <a:solidFill>
                  <a:srgbClr val="22272B"/>
                </a:solidFill>
                <a:effectLst/>
                <a:uLnTx/>
                <a:uFillTx/>
                <a:latin typeface="Cambria"/>
                <a:ea typeface="+mn-ea"/>
                <a:cs typeface="+mn-cs"/>
              </a:rPr>
              <a:t>Konfidenzintervalle</a:t>
            </a:r>
          </a:p>
        </p:txBody>
      </p:sp>
      <p:sp>
        <p:nvSpPr>
          <p:cNvPr id="22" name="TextBox 21"/>
          <p:cNvSpPr txBox="1"/>
          <p:nvPr/>
        </p:nvSpPr>
        <p:spPr>
          <a:xfrm>
            <a:off x="710519" y="5841517"/>
            <a:ext cx="10759715" cy="399212"/>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297" b="0" i="1" u="none" strike="noStrike" kern="1200" cap="none" spc="0" normalizeH="0" baseline="0" noProof="0" dirty="0">
                <a:ln>
                  <a:noFill/>
                </a:ln>
                <a:solidFill>
                  <a:srgbClr val="6C7278"/>
                </a:solidFill>
                <a:effectLst/>
                <a:uLnTx/>
                <a:uFillTx/>
                <a:latin typeface="Calibri"/>
                <a:ea typeface="+mn-ea"/>
                <a:cs typeface="+mn-cs"/>
              </a:rPr>
              <a:t>Nativ </a:t>
            </a:r>
            <a:r>
              <a:rPr kumimoji="0" sz="1297" b="0" i="1" u="none" strike="noStrike" kern="1200" cap="none" spc="0" normalizeH="0" baseline="0" noProof="0" dirty="0" err="1">
                <a:ln>
                  <a:noFill/>
                </a:ln>
                <a:solidFill>
                  <a:srgbClr val="6C7278"/>
                </a:solidFill>
                <a:effectLst/>
                <a:uLnTx/>
                <a:uFillTx/>
                <a:latin typeface="Calibri"/>
                <a:ea typeface="+mn-ea"/>
                <a:cs typeface="+mn-cs"/>
              </a:rPr>
              <a:t>probabilistisch</a:t>
            </a:r>
            <a:r>
              <a:rPr kumimoji="0" sz="1297" b="0" i="1" u="none" strike="noStrike" kern="1200" cap="none" spc="0" normalizeH="0" baseline="0" noProof="0" dirty="0">
                <a:ln>
                  <a:noFill/>
                </a:ln>
                <a:solidFill>
                  <a:srgbClr val="6C7278"/>
                </a:solidFill>
                <a:effectLst/>
                <a:uLnTx/>
                <a:uFillTx/>
                <a:latin typeface="Calibri"/>
                <a:ea typeface="+mn-ea"/>
                <a:cs typeface="+mn-cs"/>
              </a:rPr>
              <a:t>: Chronos </a:t>
            </a:r>
            <a:r>
              <a:rPr kumimoji="0" sz="1297" b="0" i="1" u="none" strike="noStrike" kern="1200" cap="none" spc="0" normalizeH="0" baseline="0" noProof="0" dirty="0" err="1">
                <a:ln>
                  <a:noFill/>
                </a:ln>
                <a:solidFill>
                  <a:srgbClr val="6C7278"/>
                </a:solidFill>
                <a:effectLst/>
                <a:uLnTx/>
                <a:uFillTx/>
                <a:latin typeface="Calibri"/>
                <a:ea typeface="+mn-ea"/>
                <a:cs typeface="+mn-cs"/>
              </a:rPr>
              <a:t>erzeugt</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Quantilvorhersagen</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lang="de-DE" sz="1297" b="0" i="1" u="none" strike="noStrike" kern="1200" cap="none" spc="0" normalizeH="0" baseline="0" noProof="0" dirty="0">
                <a:ln>
                  <a:noFill/>
                </a:ln>
                <a:solidFill>
                  <a:srgbClr val="6C7278"/>
                </a:solidFill>
                <a:effectLst/>
                <a:uLnTx/>
                <a:uFillTx/>
                <a:latin typeface="Calibri"/>
                <a:ea typeface="+mn-ea"/>
                <a:cs typeface="+mn-cs"/>
              </a:rPr>
              <a:t>direkt über einen entsprechenden Regressionskopf </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liefert</a:t>
            </a:r>
            <a:r>
              <a:rPr kumimoji="0" sz="1297" b="0" i="1" u="none" strike="noStrike" kern="1200" cap="none" spc="0" normalizeH="0" baseline="0" noProof="0" dirty="0">
                <a:ln>
                  <a:noFill/>
                </a:ln>
                <a:solidFill>
                  <a:srgbClr val="6C7278"/>
                </a:solidFill>
                <a:effectLst/>
                <a:uLnTx/>
                <a:uFillTx/>
                <a:latin typeface="Calibri"/>
                <a:ea typeface="+mn-ea"/>
                <a:cs typeface="+mn-cs"/>
              </a:rPr>
              <a:t> von Haus </a:t>
            </a:r>
            <a:r>
              <a:rPr kumimoji="0" sz="1297" b="0" i="1" u="none" strike="noStrike" kern="1200" cap="none" spc="0" normalizeH="0" baseline="0" noProof="0" dirty="0" err="1">
                <a:ln>
                  <a:noFill/>
                </a:ln>
                <a:solidFill>
                  <a:srgbClr val="6C7278"/>
                </a:solidFill>
                <a:effectLst/>
                <a:uLnTx/>
                <a:uFillTx/>
                <a:latin typeface="Calibri"/>
                <a:ea typeface="+mn-ea"/>
                <a:cs typeface="+mn-cs"/>
              </a:rPr>
              <a:t>aus</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kalibrierte</a:t>
            </a:r>
            <a:r>
              <a:rPr kumimoji="0" sz="1297" b="0" i="1" u="none" strike="noStrike" kern="1200" cap="none" spc="0" normalizeH="0" baseline="0" noProof="0" dirty="0">
                <a:ln>
                  <a:noFill/>
                </a:ln>
                <a:solidFill>
                  <a:srgbClr val="6C7278"/>
                </a:solidFill>
                <a:effectLst/>
                <a:uLnTx/>
                <a:uFillTx/>
                <a:latin typeface="Calibri"/>
                <a:ea typeface="+mn-ea"/>
                <a:cs typeface="+mn-cs"/>
              </a:rPr>
              <a:t> Prognoseintervalle </a:t>
            </a:r>
            <a:r>
              <a:rPr kumimoji="0" sz="1297" b="0" i="1" u="none" strike="noStrike" kern="1200" cap="none" spc="0" normalizeH="0" baseline="0" noProof="0" dirty="0" err="1">
                <a:ln>
                  <a:noFill/>
                </a:ln>
                <a:solidFill>
                  <a:srgbClr val="6C7278"/>
                </a:solidFill>
                <a:effectLst/>
                <a:uLnTx/>
                <a:uFillTx/>
                <a:latin typeface="Calibri"/>
                <a:ea typeface="+mn-ea"/>
                <a:cs typeface="+mn-cs"/>
              </a:rPr>
              <a:t>ohne</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zusätzliches</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Modellieren</a:t>
            </a:r>
            <a:r>
              <a:rPr kumimoji="0" sz="1297" b="0" i="1" u="none" strike="noStrike" kern="1200" cap="none" spc="0" normalizeH="0" baseline="0" noProof="0" dirty="0">
                <a:ln>
                  <a:noFill/>
                </a:ln>
                <a:solidFill>
                  <a:srgbClr val="6C7278"/>
                </a:solidFill>
                <a:effectLst/>
                <a:uLnTx/>
                <a:uFillTx/>
                <a:latin typeface="Calibri"/>
                <a:ea typeface="+mn-ea"/>
                <a:cs typeface="+mn-cs"/>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44" y="8483"/>
            <a:ext cx="12130715" cy="6840315"/>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3" name="TextBox 2"/>
          <p:cNvSpPr txBox="1"/>
          <p:nvPr/>
        </p:nvSpPr>
        <p:spPr>
          <a:xfrm>
            <a:off x="471113" y="418945"/>
            <a:ext cx="793122" cy="520711"/>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3392" b="1" i="0" u="none" strike="noStrike" kern="1200" cap="none" spc="0" normalizeH="0" baseline="0" noProof="0">
                <a:ln>
                  <a:noFill/>
                </a:ln>
                <a:solidFill>
                  <a:srgbClr val="22272B"/>
                </a:solidFill>
                <a:effectLst/>
                <a:uLnTx/>
                <a:uFillTx/>
                <a:latin typeface="Cambria"/>
                <a:ea typeface="+mn-ea"/>
                <a:cs typeface="+mn-cs"/>
              </a:rPr>
              <a:t>TFT</a:t>
            </a:r>
          </a:p>
        </p:txBody>
      </p:sp>
      <p:sp>
        <p:nvSpPr>
          <p:cNvPr id="4" name="TextBox 3"/>
          <p:cNvSpPr txBox="1"/>
          <p:nvPr/>
        </p:nvSpPr>
        <p:spPr>
          <a:xfrm>
            <a:off x="489427" y="1057442"/>
            <a:ext cx="10488867" cy="229622"/>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496" b="0" i="0" u="none" strike="noStrike" kern="1200" cap="none" spc="0" normalizeH="0" baseline="0" noProof="0">
                <a:ln>
                  <a:noFill/>
                </a:ln>
                <a:solidFill>
                  <a:srgbClr val="6C7278"/>
                </a:solidFill>
                <a:effectLst/>
                <a:uLnTx/>
                <a:uFillTx/>
                <a:latin typeface="Calibri"/>
                <a:ea typeface="+mn-ea"/>
                <a:cs typeface="+mn-cs"/>
              </a:rPr>
              <a:t>Deep-Learning-Modell — Funktionsweise, Stärken und Grenzen im Beijing-PM2.5-Kontext</a:t>
            </a:r>
          </a:p>
        </p:txBody>
      </p:sp>
      <p:sp>
        <p:nvSpPr>
          <p:cNvPr id="5" name="TextBox 4"/>
          <p:cNvSpPr txBox="1"/>
          <p:nvPr/>
        </p:nvSpPr>
        <p:spPr>
          <a:xfrm>
            <a:off x="471113" y="6411763"/>
            <a:ext cx="2963953" cy="138179"/>
          </a:xfrm>
          <a:prstGeom prst="rect">
            <a:avLst/>
          </a:prstGeom>
          <a:noFill/>
        </p:spPr>
        <p:txBody>
          <a:bodyPr wrap="none" lIns="0" tIns="0" rIns="0" bIns="0">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sp>
        <p:nvSpPr>
          <p:cNvPr id="6" name="Rounded Rectangle 5"/>
          <p:cNvSpPr/>
          <p:nvPr/>
        </p:nvSpPr>
        <p:spPr>
          <a:xfrm>
            <a:off x="471113" y="1454896"/>
            <a:ext cx="11218577" cy="1346660"/>
          </a:xfrm>
          <a:prstGeom prst="roundRect">
            <a:avLst>
              <a:gd name="adj" fmla="val 6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7" name="Oval 6"/>
          <p:cNvSpPr/>
          <p:nvPr/>
        </p:nvSpPr>
        <p:spPr>
          <a:xfrm>
            <a:off x="700544" y="1684327"/>
            <a:ext cx="648392" cy="648392"/>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lang="de-DE" sz="1596" b="1" i="0" u="none" strike="noStrike" kern="1200" cap="none" spc="0" normalizeH="0" baseline="0" noProof="0" dirty="0">
                <a:ln>
                  <a:noFill/>
                </a:ln>
                <a:solidFill>
                  <a:srgbClr val="FFFFFF"/>
                </a:solidFill>
                <a:effectLst/>
                <a:uLnTx/>
                <a:uFillTx/>
                <a:latin typeface="Cambria"/>
                <a:ea typeface="+mn-ea"/>
                <a:cs typeface="+mn-cs"/>
              </a:rPr>
              <a:t>A</a:t>
            </a:r>
            <a:endParaRPr kumimoji="0" sz="1596" b="1" i="0" u="none" strike="noStrike" kern="1200" cap="none" spc="0" normalizeH="0" baseline="0" noProof="0" dirty="0">
              <a:ln>
                <a:noFill/>
              </a:ln>
              <a:solidFill>
                <a:srgbClr val="FFFFFF"/>
              </a:solidFill>
              <a:effectLst/>
              <a:uLnTx/>
              <a:uFillTx/>
              <a:latin typeface="Cambria"/>
              <a:ea typeface="+mn-ea"/>
              <a:cs typeface="+mn-cs"/>
            </a:endParaRPr>
          </a:p>
        </p:txBody>
      </p:sp>
      <p:sp>
        <p:nvSpPr>
          <p:cNvPr id="8" name="TextBox 7"/>
          <p:cNvSpPr txBox="1"/>
          <p:nvPr/>
        </p:nvSpPr>
        <p:spPr>
          <a:xfrm>
            <a:off x="1505108" y="1692308"/>
            <a:ext cx="1245651" cy="260323"/>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696" b="1" i="0" u="none" strike="noStrike" kern="1200" cap="none" spc="0" normalizeH="0" baseline="0" noProof="0">
                <a:ln>
                  <a:noFill/>
                </a:ln>
                <a:solidFill>
                  <a:srgbClr val="22272B"/>
                </a:solidFill>
                <a:effectLst/>
                <a:uLnTx/>
                <a:uFillTx/>
                <a:latin typeface="Cambria"/>
                <a:ea typeface="+mn-ea"/>
                <a:cs typeface="+mn-cs"/>
              </a:rPr>
              <a:t>Algorithmus</a:t>
            </a:r>
          </a:p>
        </p:txBody>
      </p:sp>
      <p:sp>
        <p:nvSpPr>
          <p:cNvPr id="9" name="TextBox 8"/>
          <p:cNvSpPr txBox="1"/>
          <p:nvPr/>
        </p:nvSpPr>
        <p:spPr>
          <a:xfrm>
            <a:off x="1505109" y="1991566"/>
            <a:ext cx="906654" cy="168411"/>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097" b="1" i="0" u="none" strike="noStrike" kern="1200" cap="none" spc="0" normalizeH="0" baseline="0" noProof="0">
                <a:ln>
                  <a:noFill/>
                </a:ln>
                <a:solidFill>
                  <a:srgbClr val="E0912F"/>
                </a:solidFill>
                <a:effectLst/>
                <a:uLnTx/>
                <a:uFillTx/>
                <a:latin typeface="Calibri"/>
                <a:ea typeface="+mn-ea"/>
                <a:cs typeface="+mn-cs"/>
              </a:rPr>
              <a:t>Funktionsweise</a:t>
            </a:r>
          </a:p>
        </p:txBody>
      </p:sp>
      <p:sp>
        <p:nvSpPr>
          <p:cNvPr id="10" name="TextBox 9"/>
          <p:cNvSpPr txBox="1"/>
          <p:nvPr/>
        </p:nvSpPr>
        <p:spPr>
          <a:xfrm>
            <a:off x="710519" y="2339343"/>
            <a:ext cx="10759715" cy="398224"/>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297" b="0" i="1" u="none" strike="noStrike" kern="1200" cap="none" spc="0" normalizeH="0" baseline="0" noProof="0" dirty="0">
                <a:ln>
                  <a:noFill/>
                </a:ln>
                <a:solidFill>
                  <a:srgbClr val="6C7278"/>
                </a:solidFill>
                <a:effectLst/>
                <a:uLnTx/>
                <a:uFillTx/>
                <a:latin typeface="Calibri"/>
                <a:ea typeface="+mn-ea"/>
                <a:cs typeface="+mn-cs"/>
              </a:rPr>
              <a:t>Temporal Fusion Transformer: </a:t>
            </a:r>
            <a:r>
              <a:rPr kumimoji="0" sz="1297" b="0" i="1" u="none" strike="noStrike" kern="1200" cap="none" spc="0" normalizeH="0" baseline="0" noProof="0" dirty="0" err="1">
                <a:ln>
                  <a:noFill/>
                </a:ln>
                <a:solidFill>
                  <a:srgbClr val="6C7278"/>
                </a:solidFill>
                <a:effectLst/>
                <a:uLnTx/>
                <a:uFillTx/>
                <a:latin typeface="Calibri"/>
                <a:ea typeface="+mn-ea"/>
                <a:cs typeface="+mn-cs"/>
              </a:rPr>
              <a:t>kombiniert</a:t>
            </a:r>
            <a:r>
              <a:rPr kumimoji="0" sz="1297" b="0" i="1" u="none" strike="noStrike" kern="1200" cap="none" spc="0" normalizeH="0" baseline="0" noProof="0" dirty="0">
                <a:ln>
                  <a:noFill/>
                </a:ln>
                <a:solidFill>
                  <a:srgbClr val="6C7278"/>
                </a:solidFill>
                <a:effectLst/>
                <a:uLnTx/>
                <a:uFillTx/>
                <a:latin typeface="Calibri"/>
                <a:ea typeface="+mn-ea"/>
                <a:cs typeface="+mn-cs"/>
              </a:rPr>
              <a:t> LSTM-Encoder/Decoder </a:t>
            </a:r>
            <a:r>
              <a:rPr kumimoji="0" sz="1297" b="0" i="1" u="none" strike="noStrike" kern="1200" cap="none" spc="0" normalizeH="0" baseline="0" noProof="0" dirty="0" err="1">
                <a:ln>
                  <a:noFill/>
                </a:ln>
                <a:solidFill>
                  <a:srgbClr val="6C7278"/>
                </a:solidFill>
                <a:effectLst/>
                <a:uLnTx/>
                <a:uFillTx/>
                <a:latin typeface="Calibri"/>
                <a:ea typeface="+mn-ea"/>
                <a:cs typeface="+mn-cs"/>
              </a:rPr>
              <a:t>mit</a:t>
            </a:r>
            <a:r>
              <a:rPr kumimoji="0" sz="1297" b="0" i="1" u="none" strike="noStrike" kern="1200" cap="none" spc="0" normalizeH="0" baseline="0" noProof="0" dirty="0">
                <a:ln>
                  <a:noFill/>
                </a:ln>
                <a:solidFill>
                  <a:srgbClr val="6C7278"/>
                </a:solidFill>
                <a:effectLst/>
                <a:uLnTx/>
                <a:uFillTx/>
                <a:latin typeface="Calibri"/>
                <a:ea typeface="+mn-ea"/>
                <a:cs typeface="+mn-cs"/>
              </a:rPr>
              <a:t> Multi-Head-Attention und Variable-Selection-Networks, um </a:t>
            </a:r>
            <a:r>
              <a:rPr kumimoji="0" sz="1297" b="0" i="1" u="none" strike="noStrike" kern="1200" cap="none" spc="0" normalizeH="0" baseline="0" noProof="0" dirty="0" err="1">
                <a:ln>
                  <a:noFill/>
                </a:ln>
                <a:solidFill>
                  <a:srgbClr val="6C7278"/>
                </a:solidFill>
                <a:effectLst/>
                <a:uLnTx/>
                <a:uFillTx/>
                <a:latin typeface="Calibri"/>
                <a:ea typeface="+mn-ea"/>
                <a:cs typeface="+mn-cs"/>
              </a:rPr>
              <a:t>automatisch</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relevante</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statische</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vergangene</a:t>
            </a:r>
            <a:r>
              <a:rPr kumimoji="0" sz="1297" b="0" i="1" u="none" strike="noStrike" kern="1200" cap="none" spc="0" normalizeH="0" baseline="0" noProof="0" dirty="0">
                <a:ln>
                  <a:noFill/>
                </a:ln>
                <a:solidFill>
                  <a:srgbClr val="6C7278"/>
                </a:solidFill>
                <a:effectLst/>
                <a:uLnTx/>
                <a:uFillTx/>
                <a:latin typeface="Calibri"/>
                <a:ea typeface="+mn-ea"/>
                <a:cs typeface="+mn-cs"/>
              </a:rPr>
              <a:t> und </a:t>
            </a:r>
            <a:r>
              <a:rPr kumimoji="0" sz="1297" b="0" i="1" u="none" strike="noStrike" kern="1200" cap="none" spc="0" normalizeH="0" baseline="0" noProof="0" dirty="0" err="1">
                <a:ln>
                  <a:noFill/>
                </a:ln>
                <a:solidFill>
                  <a:srgbClr val="6C7278"/>
                </a:solidFill>
                <a:effectLst/>
                <a:uLnTx/>
                <a:uFillTx/>
                <a:latin typeface="Calibri"/>
                <a:ea typeface="+mn-ea"/>
                <a:cs typeface="+mn-cs"/>
              </a:rPr>
              <a:t>bekannte</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zukünftige</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Merkmale</a:t>
            </a:r>
            <a:r>
              <a:rPr kumimoji="0" sz="1297" b="0" i="1" u="none" strike="noStrike" kern="1200" cap="none" spc="0" normalizeH="0" baseline="0" noProof="0" dirty="0">
                <a:ln>
                  <a:noFill/>
                </a:ln>
                <a:solidFill>
                  <a:srgbClr val="6C7278"/>
                </a:solidFill>
                <a:effectLst/>
                <a:uLnTx/>
                <a:uFillTx/>
                <a:latin typeface="Calibri"/>
                <a:ea typeface="+mn-ea"/>
                <a:cs typeface="+mn-cs"/>
              </a:rPr>
              <a:t> (z. B. Wetter, Kalender) </a:t>
            </a:r>
            <a:r>
              <a:rPr kumimoji="0" sz="1297" b="0" i="1" u="none" strike="noStrike" kern="1200" cap="none" spc="0" normalizeH="0" baseline="0" noProof="0" dirty="0" err="1">
                <a:ln>
                  <a:noFill/>
                </a:ln>
                <a:solidFill>
                  <a:srgbClr val="6C7278"/>
                </a:solidFill>
                <a:effectLst/>
                <a:uLnTx/>
                <a:uFillTx/>
                <a:latin typeface="Calibri"/>
                <a:ea typeface="+mn-ea"/>
                <a:cs typeface="+mn-cs"/>
              </a:rPr>
              <a:t>zu</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gewichten</a:t>
            </a:r>
            <a:r>
              <a:rPr kumimoji="0" sz="1297" b="0" i="1" u="none" strike="noStrike" kern="1200" cap="none" spc="0" normalizeH="0" baseline="0" noProof="0" dirty="0">
                <a:ln>
                  <a:noFill/>
                </a:ln>
                <a:solidFill>
                  <a:srgbClr val="6C7278"/>
                </a:solidFill>
                <a:effectLst/>
                <a:uLnTx/>
                <a:uFillTx/>
                <a:latin typeface="Calibri"/>
                <a:ea typeface="+mn-ea"/>
                <a:cs typeface="+mn-cs"/>
              </a:rPr>
              <a:t> und </a:t>
            </a:r>
            <a:r>
              <a:rPr kumimoji="0" sz="1297" b="0" i="1" u="none" strike="noStrike" kern="1200" cap="none" spc="0" normalizeH="0" baseline="0" noProof="0" dirty="0" err="1">
                <a:ln>
                  <a:noFill/>
                </a:ln>
                <a:solidFill>
                  <a:srgbClr val="6C7278"/>
                </a:solidFill>
                <a:effectLst/>
                <a:uLnTx/>
                <a:uFillTx/>
                <a:latin typeface="Calibri"/>
                <a:ea typeface="+mn-ea"/>
                <a:cs typeface="+mn-cs"/>
              </a:rPr>
              <a:t>komplexe</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nichtlineare</a:t>
            </a:r>
            <a:r>
              <a:rPr kumimoji="0" sz="1297" b="0" i="1" u="none" strike="noStrike" kern="1200" cap="none" spc="0" normalizeH="0" baseline="0" noProof="0" dirty="0">
                <a:ln>
                  <a:noFill/>
                </a:ln>
                <a:solidFill>
                  <a:srgbClr val="6C7278"/>
                </a:solidFill>
                <a:effectLst/>
                <a:uLnTx/>
                <a:uFillTx/>
                <a:latin typeface="Calibri"/>
                <a:ea typeface="+mn-ea"/>
                <a:cs typeface="+mn-cs"/>
              </a:rPr>
              <a:t> Muster </a:t>
            </a:r>
            <a:r>
              <a:rPr kumimoji="0" sz="1297" b="0" i="1" u="none" strike="noStrike" kern="1200" cap="none" spc="0" normalizeH="0" baseline="0" noProof="0" dirty="0" err="1">
                <a:ln>
                  <a:noFill/>
                </a:ln>
                <a:solidFill>
                  <a:srgbClr val="6C7278"/>
                </a:solidFill>
                <a:effectLst/>
                <a:uLnTx/>
                <a:uFillTx/>
                <a:latin typeface="Calibri"/>
                <a:ea typeface="+mn-ea"/>
                <a:cs typeface="+mn-cs"/>
              </a:rPr>
              <a:t>zu</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lernen</a:t>
            </a:r>
            <a:r>
              <a:rPr kumimoji="0" sz="1297" b="0" i="1" u="none" strike="noStrike" kern="1200" cap="none" spc="0" normalizeH="0" baseline="0" noProof="0" dirty="0">
                <a:ln>
                  <a:noFill/>
                </a:ln>
                <a:solidFill>
                  <a:srgbClr val="6C7278"/>
                </a:solidFill>
                <a:effectLst/>
                <a:uLnTx/>
                <a:uFillTx/>
                <a:latin typeface="Calibri"/>
                <a:ea typeface="+mn-ea"/>
                <a:cs typeface="+mn-cs"/>
              </a:rPr>
              <a:t>.</a:t>
            </a:r>
          </a:p>
        </p:txBody>
      </p:sp>
      <p:sp>
        <p:nvSpPr>
          <p:cNvPr id="11" name="Rounded Rectangle 10"/>
          <p:cNvSpPr/>
          <p:nvPr/>
        </p:nvSpPr>
        <p:spPr>
          <a:xfrm>
            <a:off x="471113" y="2901309"/>
            <a:ext cx="5426502" cy="1945176"/>
          </a:xfrm>
          <a:prstGeom prst="roundRect">
            <a:avLst>
              <a:gd name="adj" fmla="val 6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12" name="Oval 11"/>
          <p:cNvSpPr/>
          <p:nvPr/>
        </p:nvSpPr>
        <p:spPr>
          <a:xfrm>
            <a:off x="680593" y="3110789"/>
            <a:ext cx="518714" cy="518714"/>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FFFFFF"/>
                </a:solidFill>
                <a:effectLst/>
                <a:uLnTx/>
                <a:uFillTx/>
                <a:latin typeface="Cambria"/>
                <a:ea typeface="+mn-ea"/>
                <a:cs typeface="+mn-cs"/>
              </a:rPr>
              <a:t>+</a:t>
            </a:r>
          </a:p>
        </p:txBody>
      </p:sp>
      <p:sp>
        <p:nvSpPr>
          <p:cNvPr id="13" name="TextBox 12"/>
          <p:cNvSpPr txBox="1"/>
          <p:nvPr/>
        </p:nvSpPr>
        <p:spPr>
          <a:xfrm>
            <a:off x="1355480" y="3240468"/>
            <a:ext cx="741251" cy="244972"/>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22272B"/>
                </a:solidFill>
                <a:effectLst/>
                <a:uLnTx/>
                <a:uFillTx/>
                <a:latin typeface="Cambria"/>
                <a:ea typeface="+mn-ea"/>
                <a:cs typeface="+mn-cs"/>
              </a:rPr>
              <a:t>Vorteile</a:t>
            </a:r>
          </a:p>
        </p:txBody>
      </p:sp>
      <p:sp>
        <p:nvSpPr>
          <p:cNvPr id="14" name="TextBox 13"/>
          <p:cNvSpPr txBox="1"/>
          <p:nvPr/>
        </p:nvSpPr>
        <p:spPr>
          <a:xfrm>
            <a:off x="680593" y="3739231"/>
            <a:ext cx="5007541" cy="750845"/>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Lernt komplexe, nichtlineare Zusammenhänge selbst</a:t>
            </a:r>
          </a:p>
          <a:p>
            <a:pPr marL="0" marR="0" lvl="0" indent="0" algn="l" defTabSz="912114" rtl="0" eaLnBrk="1" fontAlgn="auto" latinLnBrk="0" hangingPunct="1">
              <a:lnSpc>
                <a:spcPct val="100000"/>
              </a:lnSpc>
              <a:spcBef>
                <a:spcPts val="599"/>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Cross-Learning über alle Stationen hinweg</a:t>
            </a:r>
          </a:p>
          <a:p>
            <a:pPr marL="0" marR="0" lvl="0" indent="0" algn="l" defTabSz="912114" rtl="0" eaLnBrk="1" fontAlgn="auto" latinLnBrk="0" hangingPunct="1">
              <a:lnSpc>
                <a:spcPct val="100000"/>
              </a:lnSpc>
              <a:spcBef>
                <a:spcPts val="599"/>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Nutzt statische &amp; zukünftig bekannte Kovariaten</a:t>
            </a:r>
          </a:p>
        </p:txBody>
      </p:sp>
      <p:sp>
        <p:nvSpPr>
          <p:cNvPr id="15" name="Rounded Rectangle 14"/>
          <p:cNvSpPr/>
          <p:nvPr/>
        </p:nvSpPr>
        <p:spPr>
          <a:xfrm>
            <a:off x="6263188" y="2901309"/>
            <a:ext cx="5426502" cy="1945176"/>
          </a:xfrm>
          <a:prstGeom prst="roundRect">
            <a:avLst>
              <a:gd name="adj" fmla="val 6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16" name="Oval 15"/>
          <p:cNvSpPr/>
          <p:nvPr/>
        </p:nvSpPr>
        <p:spPr>
          <a:xfrm>
            <a:off x="6472668" y="3110789"/>
            <a:ext cx="518714" cy="518714"/>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FFFFFF"/>
                </a:solidFill>
                <a:effectLst/>
                <a:uLnTx/>
                <a:uFillTx/>
                <a:latin typeface="Cambria"/>
                <a:ea typeface="+mn-ea"/>
                <a:cs typeface="+mn-cs"/>
              </a:rPr>
              <a:t>–</a:t>
            </a:r>
          </a:p>
        </p:txBody>
      </p:sp>
      <p:sp>
        <p:nvSpPr>
          <p:cNvPr id="17" name="TextBox 16"/>
          <p:cNvSpPr txBox="1"/>
          <p:nvPr/>
        </p:nvSpPr>
        <p:spPr>
          <a:xfrm>
            <a:off x="7147555" y="3240468"/>
            <a:ext cx="881454" cy="244972"/>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22272B"/>
                </a:solidFill>
                <a:effectLst/>
                <a:uLnTx/>
                <a:uFillTx/>
                <a:latin typeface="Cambria"/>
                <a:ea typeface="+mn-ea"/>
                <a:cs typeface="+mn-cs"/>
              </a:rPr>
              <a:t>Nachteile</a:t>
            </a:r>
          </a:p>
        </p:txBody>
      </p:sp>
      <p:sp>
        <p:nvSpPr>
          <p:cNvPr id="18" name="TextBox 17"/>
          <p:cNvSpPr txBox="1"/>
          <p:nvPr/>
        </p:nvSpPr>
        <p:spPr>
          <a:xfrm>
            <a:off x="6472668" y="3739231"/>
            <a:ext cx="5007541" cy="750845"/>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Deutlich höherer Trainings-/Tuning-Aufwand</a:t>
            </a:r>
          </a:p>
          <a:p>
            <a:pPr marL="0" marR="0" lvl="0" indent="0" algn="l" defTabSz="912114" rtl="0" eaLnBrk="1" fontAlgn="auto" latinLnBrk="0" hangingPunct="1">
              <a:lnSpc>
                <a:spcPct val="100000"/>
              </a:lnSpc>
              <a:spcBef>
                <a:spcPts val="599"/>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Benötigt mehr Daten &amp; Rechenressourcen (GPU)</a:t>
            </a:r>
          </a:p>
          <a:p>
            <a:pPr marL="0" marR="0" lvl="0" indent="0" algn="l" defTabSz="912114" rtl="0" eaLnBrk="1" fontAlgn="auto" latinLnBrk="0" hangingPunct="1">
              <a:lnSpc>
                <a:spcPct val="100000"/>
              </a:lnSpc>
              <a:spcBef>
                <a:spcPts val="599"/>
              </a:spcBef>
              <a:spcAft>
                <a:spcPts val="0"/>
              </a:spcAft>
              <a:buClrTx/>
              <a:buSzTx/>
              <a:buFontTx/>
              <a:buNone/>
              <a:tabLst/>
              <a:defRPr/>
            </a:pPr>
            <a:r>
              <a:rPr kumimoji="0" sz="1297" b="0" i="0" u="none" strike="noStrike" kern="1200" cap="none" spc="0" normalizeH="0" baseline="0" noProof="0">
                <a:ln>
                  <a:noFill/>
                </a:ln>
                <a:solidFill>
                  <a:srgbClr val="6C7278"/>
                </a:solidFill>
                <a:effectLst/>
                <a:uLnTx/>
                <a:uFillTx/>
                <a:latin typeface="Calibri"/>
                <a:ea typeface="+mn-ea"/>
                <a:cs typeface="+mn-cs"/>
              </a:rPr>
              <a:t>• Weniger transparent als Prophet/Seasonal Naive</a:t>
            </a:r>
          </a:p>
        </p:txBody>
      </p:sp>
      <p:sp>
        <p:nvSpPr>
          <p:cNvPr id="19" name="Rounded Rectangle 18"/>
          <p:cNvSpPr/>
          <p:nvPr/>
        </p:nvSpPr>
        <p:spPr>
          <a:xfrm>
            <a:off x="471113" y="4946237"/>
            <a:ext cx="11218577" cy="1346660"/>
          </a:xfrm>
          <a:prstGeom prst="roundRect">
            <a:avLst>
              <a:gd name="adj" fmla="val 6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20" name="Oval 19"/>
          <p:cNvSpPr/>
          <p:nvPr/>
        </p:nvSpPr>
        <p:spPr>
          <a:xfrm>
            <a:off x="700544" y="5175668"/>
            <a:ext cx="648392" cy="648392"/>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FFFFFF"/>
                </a:solidFill>
                <a:effectLst/>
                <a:uLnTx/>
                <a:uFillTx/>
                <a:latin typeface="Cambria"/>
                <a:ea typeface="+mn-ea"/>
                <a:cs typeface="+mn-cs"/>
              </a:rPr>
              <a:t>±</a:t>
            </a:r>
          </a:p>
        </p:txBody>
      </p:sp>
      <p:sp>
        <p:nvSpPr>
          <p:cNvPr id="21" name="TextBox 20"/>
          <p:cNvSpPr txBox="1"/>
          <p:nvPr/>
        </p:nvSpPr>
        <p:spPr>
          <a:xfrm>
            <a:off x="1505109" y="5370186"/>
            <a:ext cx="1985876" cy="260323"/>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696" b="1" i="0" u="none" strike="noStrike" kern="1200" cap="none" spc="0" normalizeH="0" baseline="0" noProof="0">
                <a:ln>
                  <a:noFill/>
                </a:ln>
                <a:solidFill>
                  <a:srgbClr val="22272B"/>
                </a:solidFill>
                <a:effectLst/>
                <a:uLnTx/>
                <a:uFillTx/>
                <a:latin typeface="Cambria"/>
                <a:ea typeface="+mn-ea"/>
                <a:cs typeface="+mn-cs"/>
              </a:rPr>
              <a:t>Konfidenzintervalle</a:t>
            </a:r>
          </a:p>
        </p:txBody>
      </p:sp>
      <p:sp>
        <p:nvSpPr>
          <p:cNvPr id="22" name="TextBox 21"/>
          <p:cNvSpPr txBox="1"/>
          <p:nvPr/>
        </p:nvSpPr>
        <p:spPr>
          <a:xfrm>
            <a:off x="700065" y="5841517"/>
            <a:ext cx="10759715" cy="398224"/>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297" b="0" i="1" u="none" strike="noStrike" kern="1200" cap="none" spc="0" normalizeH="0" baseline="0" noProof="0" dirty="0">
                <a:ln>
                  <a:noFill/>
                </a:ln>
                <a:solidFill>
                  <a:srgbClr val="6C7278"/>
                </a:solidFill>
                <a:effectLst/>
                <a:uLnTx/>
                <a:uFillTx/>
                <a:latin typeface="Calibri"/>
                <a:ea typeface="+mn-ea"/>
                <a:cs typeface="+mn-cs"/>
              </a:rPr>
              <a:t>Nativ </a:t>
            </a:r>
            <a:r>
              <a:rPr kumimoji="0" sz="1297" b="0" i="1" u="none" strike="noStrike" kern="1200" cap="none" spc="0" normalizeH="0" baseline="0" noProof="0" dirty="0" err="1">
                <a:ln>
                  <a:noFill/>
                </a:ln>
                <a:solidFill>
                  <a:srgbClr val="6C7278"/>
                </a:solidFill>
                <a:effectLst/>
                <a:uLnTx/>
                <a:uFillTx/>
                <a:latin typeface="Calibri"/>
                <a:ea typeface="+mn-ea"/>
                <a:cs typeface="+mn-cs"/>
              </a:rPr>
              <a:t>probabilistisch</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konzipiert</a:t>
            </a:r>
            <a:r>
              <a:rPr kumimoji="0" sz="1297" b="0" i="1" u="none" strike="noStrike" kern="1200" cap="none" spc="0" normalizeH="0" baseline="0" noProof="0" dirty="0">
                <a:ln>
                  <a:noFill/>
                </a:ln>
                <a:solidFill>
                  <a:srgbClr val="6C7278"/>
                </a:solidFill>
                <a:effectLst/>
                <a:uLnTx/>
                <a:uFillTx/>
                <a:latin typeface="Calibri"/>
                <a:ea typeface="+mn-ea"/>
                <a:cs typeface="+mn-cs"/>
              </a:rPr>
              <a:t>: TFT </a:t>
            </a:r>
            <a:r>
              <a:rPr kumimoji="0" sz="1297" b="0" i="1" u="none" strike="noStrike" kern="1200" cap="none" spc="0" normalizeH="0" baseline="0" noProof="0" dirty="0" err="1">
                <a:ln>
                  <a:noFill/>
                </a:ln>
                <a:solidFill>
                  <a:srgbClr val="6C7278"/>
                </a:solidFill>
                <a:effectLst/>
                <a:uLnTx/>
                <a:uFillTx/>
                <a:latin typeface="Calibri"/>
                <a:ea typeface="+mn-ea"/>
                <a:cs typeface="+mn-cs"/>
              </a:rPr>
              <a:t>optimiert</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einen</a:t>
            </a:r>
            <a:r>
              <a:rPr kumimoji="0" sz="1297" b="0" i="1" u="none" strike="noStrike" kern="1200" cap="none" spc="0" normalizeH="0" baseline="0" noProof="0" dirty="0">
                <a:ln>
                  <a:noFill/>
                </a:ln>
                <a:solidFill>
                  <a:srgbClr val="6C7278"/>
                </a:solidFill>
                <a:effectLst/>
                <a:uLnTx/>
                <a:uFillTx/>
                <a:latin typeface="Calibri"/>
                <a:ea typeface="+mn-ea"/>
                <a:cs typeface="+mn-cs"/>
              </a:rPr>
              <a:t> Quantile-Loss </a:t>
            </a:r>
            <a:r>
              <a:rPr kumimoji="0" sz="1297" b="0" i="1" u="none" strike="noStrike" kern="1200" cap="none" spc="0" normalizeH="0" baseline="0" noProof="0" dirty="0" err="1">
                <a:ln>
                  <a:noFill/>
                </a:ln>
                <a:solidFill>
                  <a:srgbClr val="6C7278"/>
                </a:solidFill>
                <a:effectLst/>
                <a:uLnTx/>
                <a:uFillTx/>
                <a:latin typeface="Calibri"/>
                <a:ea typeface="+mn-ea"/>
                <a:cs typeface="+mn-cs"/>
              </a:rPr>
              <a:t>über</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mehrere</a:t>
            </a:r>
            <a:r>
              <a:rPr kumimoji="0" sz="1297" b="0" i="1" u="none" strike="noStrike" kern="1200" cap="none" spc="0" normalizeH="0" baseline="0" noProof="0" dirty="0">
                <a:ln>
                  <a:noFill/>
                </a:ln>
                <a:solidFill>
                  <a:srgbClr val="6C7278"/>
                </a:solidFill>
                <a:effectLst/>
                <a:uLnTx/>
                <a:uFillTx/>
                <a:latin typeface="Calibri"/>
                <a:ea typeface="+mn-ea"/>
                <a:cs typeface="+mn-cs"/>
              </a:rPr>
              <a:t> Quantile </a:t>
            </a:r>
            <a:r>
              <a:rPr kumimoji="0" sz="1297" b="0" i="1" u="none" strike="noStrike" kern="1200" cap="none" spc="0" normalizeH="0" baseline="0" noProof="0" dirty="0" err="1">
                <a:ln>
                  <a:noFill/>
                </a:ln>
                <a:solidFill>
                  <a:srgbClr val="6C7278"/>
                </a:solidFill>
                <a:effectLst/>
                <a:uLnTx/>
                <a:uFillTx/>
                <a:latin typeface="Calibri"/>
                <a:ea typeface="+mn-ea"/>
                <a:cs typeface="+mn-cs"/>
              </a:rPr>
              <a:t>gleichzeitig</a:t>
            </a:r>
            <a:r>
              <a:rPr kumimoji="0" sz="1297" b="0" i="1" u="none" strike="noStrike" kern="1200" cap="none" spc="0" normalizeH="0" baseline="0" noProof="0" dirty="0">
                <a:ln>
                  <a:noFill/>
                </a:ln>
                <a:solidFill>
                  <a:srgbClr val="6C7278"/>
                </a:solidFill>
                <a:effectLst/>
                <a:uLnTx/>
                <a:uFillTx/>
                <a:latin typeface="Calibri"/>
                <a:ea typeface="+mn-ea"/>
                <a:cs typeface="+mn-cs"/>
              </a:rPr>
              <a:t> (z. B. 10/50/90 %) und </a:t>
            </a:r>
            <a:r>
              <a:rPr kumimoji="0" sz="1297" b="0" i="1" u="none" strike="noStrike" kern="1200" cap="none" spc="0" normalizeH="0" baseline="0" noProof="0" dirty="0" err="1">
                <a:ln>
                  <a:noFill/>
                </a:ln>
                <a:solidFill>
                  <a:srgbClr val="6C7278"/>
                </a:solidFill>
                <a:effectLst/>
                <a:uLnTx/>
                <a:uFillTx/>
                <a:latin typeface="Calibri"/>
                <a:ea typeface="+mn-ea"/>
                <a:cs typeface="+mn-cs"/>
              </a:rPr>
              <a:t>gibt</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damit</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direkt</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kalibrierte</a:t>
            </a:r>
            <a:r>
              <a:rPr kumimoji="0" sz="1297" b="0" i="1" u="none" strike="noStrike" kern="1200" cap="none" spc="0" normalizeH="0" baseline="0" noProof="0" dirty="0">
                <a:ln>
                  <a:noFill/>
                </a:ln>
                <a:solidFill>
                  <a:srgbClr val="6C7278"/>
                </a:solidFill>
                <a:effectLst/>
                <a:uLnTx/>
                <a:uFillTx/>
                <a:latin typeface="Calibri"/>
                <a:ea typeface="+mn-ea"/>
                <a:cs typeface="+mn-cs"/>
              </a:rPr>
              <a:t> Prognoseintervalle </a:t>
            </a:r>
            <a:r>
              <a:rPr kumimoji="0" sz="1297" b="0" i="1" u="none" strike="noStrike" kern="1200" cap="none" spc="0" normalizeH="0" baseline="0" noProof="0" dirty="0" err="1">
                <a:ln>
                  <a:noFill/>
                </a:ln>
                <a:solidFill>
                  <a:srgbClr val="6C7278"/>
                </a:solidFill>
                <a:effectLst/>
                <a:uLnTx/>
                <a:uFillTx/>
                <a:latin typeface="Calibri"/>
                <a:ea typeface="+mn-ea"/>
                <a:cs typeface="+mn-cs"/>
              </a:rPr>
              <a:t>aus</a:t>
            </a:r>
            <a:r>
              <a:rPr kumimoji="0" sz="1297" b="0" i="1" u="none" strike="noStrike" kern="1200" cap="none" spc="0" normalizeH="0" baseline="0" noProof="0" dirty="0">
                <a:ln>
                  <a:noFill/>
                </a:ln>
                <a:solidFill>
                  <a:srgbClr val="6C7278"/>
                </a:solidFill>
                <a:effectLst/>
                <a:uLnTx/>
                <a:uFillTx/>
                <a:latin typeface="Calibri"/>
                <a:ea typeface="+mn-ea"/>
                <a:cs typeface="+mn-cs"/>
              </a:rPr>
              <a:t> – </a:t>
            </a:r>
            <a:r>
              <a:rPr kumimoji="0" sz="1297" b="0" i="1" u="none" strike="noStrike" kern="1200" cap="none" spc="0" normalizeH="0" baseline="0" noProof="0" dirty="0" err="1">
                <a:ln>
                  <a:noFill/>
                </a:ln>
                <a:solidFill>
                  <a:srgbClr val="6C7278"/>
                </a:solidFill>
                <a:effectLst/>
                <a:uLnTx/>
                <a:uFillTx/>
                <a:latin typeface="Calibri"/>
                <a:ea typeface="+mn-ea"/>
                <a:cs typeface="+mn-cs"/>
              </a:rPr>
              <a:t>ohne</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nachträgliche</a:t>
            </a:r>
            <a:r>
              <a:rPr kumimoji="0" sz="1297" b="0" i="1" u="none" strike="noStrike" kern="1200" cap="none" spc="0" normalizeH="0" baseline="0" noProof="0" dirty="0">
                <a:ln>
                  <a:noFill/>
                </a:ln>
                <a:solidFill>
                  <a:srgbClr val="6C7278"/>
                </a:solidFill>
                <a:effectLst/>
                <a:uLnTx/>
                <a:uFillTx/>
                <a:latin typeface="Calibri"/>
                <a:ea typeface="+mn-ea"/>
                <a:cs typeface="+mn-cs"/>
              </a:rPr>
              <a:t> </a:t>
            </a:r>
            <a:r>
              <a:rPr kumimoji="0" sz="1297" b="0" i="1" u="none" strike="noStrike" kern="1200" cap="none" spc="0" normalizeH="0" baseline="0" noProof="0" dirty="0" err="1">
                <a:ln>
                  <a:noFill/>
                </a:ln>
                <a:solidFill>
                  <a:srgbClr val="6C7278"/>
                </a:solidFill>
                <a:effectLst/>
                <a:uLnTx/>
                <a:uFillTx/>
                <a:latin typeface="Calibri"/>
                <a:ea typeface="+mn-ea"/>
                <a:cs typeface="+mn-cs"/>
              </a:rPr>
              <a:t>Kalibrierung</a:t>
            </a:r>
            <a:r>
              <a:rPr kumimoji="0" sz="1297" b="0" i="1" u="none" strike="noStrike" kern="1200" cap="none" spc="0" normalizeH="0" baseline="0" noProof="0" dirty="0">
                <a:ln>
                  <a:noFill/>
                </a:ln>
                <a:solidFill>
                  <a:srgbClr val="6C7278"/>
                </a:solidFill>
                <a:effectLst/>
                <a:uLnTx/>
                <a:uFillTx/>
                <a:latin typeface="Calibri"/>
                <a:ea typeface="+mn-ea"/>
                <a:cs typeface="+mn-cs"/>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673F2-05C4-7332-C3E8-2DE95FEB513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151E724-2E83-1F59-781E-486076633D62}"/>
              </a:ext>
            </a:extLst>
          </p:cNvPr>
          <p:cNvSpPr/>
          <p:nvPr/>
        </p:nvSpPr>
        <p:spPr>
          <a:xfrm>
            <a:off x="15044" y="8483"/>
            <a:ext cx="12130715" cy="6840315"/>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3" name="TextBox 2">
            <a:extLst>
              <a:ext uri="{FF2B5EF4-FFF2-40B4-BE49-F238E27FC236}">
                <a16:creationId xmlns:a16="http://schemas.microsoft.com/office/drawing/2014/main" id="{1B867B7A-B22E-E6C2-64C7-3DEAD1006D23}"/>
              </a:ext>
            </a:extLst>
          </p:cNvPr>
          <p:cNvSpPr txBox="1"/>
          <p:nvPr/>
        </p:nvSpPr>
        <p:spPr>
          <a:xfrm>
            <a:off x="471113" y="418945"/>
            <a:ext cx="9677437" cy="520711"/>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3392" b="1" i="0" u="none" strike="noStrike" kern="1200" cap="none" spc="0" normalizeH="0" baseline="0" noProof="0">
                <a:ln>
                  <a:noFill/>
                </a:ln>
                <a:solidFill>
                  <a:srgbClr val="22272B"/>
                </a:solidFill>
                <a:effectLst/>
                <a:uLnTx/>
                <a:uFillTx/>
                <a:latin typeface="Cambria"/>
                <a:ea typeface="+mn-ea"/>
                <a:cs typeface="+mn-cs"/>
              </a:rPr>
              <a:t>Bewertungsmetriken: MAE, MASE, MAPE &amp; RMSE</a:t>
            </a:r>
          </a:p>
        </p:txBody>
      </p:sp>
      <p:sp>
        <p:nvSpPr>
          <p:cNvPr id="4" name="TextBox 3">
            <a:extLst>
              <a:ext uri="{FF2B5EF4-FFF2-40B4-BE49-F238E27FC236}">
                <a16:creationId xmlns:a16="http://schemas.microsoft.com/office/drawing/2014/main" id="{412572DF-CDFD-936A-01FA-CCE7A215E2CD}"/>
              </a:ext>
            </a:extLst>
          </p:cNvPr>
          <p:cNvSpPr txBox="1"/>
          <p:nvPr/>
        </p:nvSpPr>
        <p:spPr>
          <a:xfrm>
            <a:off x="489427" y="1057442"/>
            <a:ext cx="10488867" cy="229622"/>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496" b="0" i="0" u="none" strike="noStrike" kern="1200" cap="none" spc="0" normalizeH="0" baseline="0" noProof="0">
                <a:ln>
                  <a:noFill/>
                </a:ln>
                <a:solidFill>
                  <a:srgbClr val="6C7278"/>
                </a:solidFill>
                <a:effectLst/>
                <a:uLnTx/>
                <a:uFillTx/>
                <a:latin typeface="Calibri"/>
                <a:ea typeface="+mn-ea"/>
                <a:cs typeface="+mn-cs"/>
              </a:rPr>
              <a:t>Vier gängige Fehlermaße zur Bewertung der Prognosegüte – mit jeweils eigenen Stärken und Schwächen.</a:t>
            </a:r>
          </a:p>
        </p:txBody>
      </p:sp>
      <p:sp>
        <p:nvSpPr>
          <p:cNvPr id="5" name="TextBox 4">
            <a:extLst>
              <a:ext uri="{FF2B5EF4-FFF2-40B4-BE49-F238E27FC236}">
                <a16:creationId xmlns:a16="http://schemas.microsoft.com/office/drawing/2014/main" id="{3DAE4BF7-955F-1859-CCF1-1EEF742CC973}"/>
              </a:ext>
            </a:extLst>
          </p:cNvPr>
          <p:cNvSpPr txBox="1"/>
          <p:nvPr/>
        </p:nvSpPr>
        <p:spPr>
          <a:xfrm>
            <a:off x="471113" y="6411763"/>
            <a:ext cx="2963953" cy="138179"/>
          </a:xfrm>
          <a:prstGeom prst="rect">
            <a:avLst/>
          </a:prstGeom>
          <a:noFill/>
        </p:spPr>
        <p:txBody>
          <a:bodyPr wrap="none" lIns="0" tIns="0" rIns="0" bIns="0">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sp>
        <p:nvSpPr>
          <p:cNvPr id="6" name="Rounded Rectangle 5">
            <a:extLst>
              <a:ext uri="{FF2B5EF4-FFF2-40B4-BE49-F238E27FC236}">
                <a16:creationId xmlns:a16="http://schemas.microsoft.com/office/drawing/2014/main" id="{97D9C17D-9A2D-7ACB-9214-4193610B4F14}"/>
              </a:ext>
            </a:extLst>
          </p:cNvPr>
          <p:cNvSpPr/>
          <p:nvPr/>
        </p:nvSpPr>
        <p:spPr>
          <a:xfrm>
            <a:off x="471113" y="1650331"/>
            <a:ext cx="5426502" cy="2188413"/>
          </a:xfrm>
          <a:prstGeom prst="roundRect">
            <a:avLst>
              <a:gd name="adj" fmla="val 6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7" name="Oval 6">
            <a:extLst>
              <a:ext uri="{FF2B5EF4-FFF2-40B4-BE49-F238E27FC236}">
                <a16:creationId xmlns:a16="http://schemas.microsoft.com/office/drawing/2014/main" id="{45AD841B-1900-A35E-09F1-312AB9040CAA}"/>
              </a:ext>
            </a:extLst>
          </p:cNvPr>
          <p:cNvSpPr/>
          <p:nvPr/>
        </p:nvSpPr>
        <p:spPr>
          <a:xfrm>
            <a:off x="744754" y="1923973"/>
            <a:ext cx="774599" cy="774599"/>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2195" b="1" i="0" u="none" strike="noStrike" kern="1200" cap="none" spc="0" normalizeH="0" baseline="0" noProof="0" dirty="0">
                <a:ln>
                  <a:noFill/>
                </a:ln>
                <a:solidFill>
                  <a:srgbClr val="FFFFFF"/>
                </a:solidFill>
                <a:effectLst/>
                <a:uLnTx/>
                <a:uFillTx/>
                <a:latin typeface="Cambria"/>
                <a:ea typeface="+mn-ea"/>
                <a:cs typeface="+mn-cs"/>
              </a:rPr>
              <a:t>1</a:t>
            </a:r>
          </a:p>
        </p:txBody>
      </p:sp>
      <p:sp>
        <p:nvSpPr>
          <p:cNvPr id="8" name="TextBox 7">
            <a:extLst>
              <a:ext uri="{FF2B5EF4-FFF2-40B4-BE49-F238E27FC236}">
                <a16:creationId xmlns:a16="http://schemas.microsoft.com/office/drawing/2014/main" id="{CDD71AE4-BA26-4A4D-D0CD-FF21062D7D64}"/>
              </a:ext>
            </a:extLst>
          </p:cNvPr>
          <p:cNvSpPr txBox="1"/>
          <p:nvPr/>
        </p:nvSpPr>
        <p:spPr>
          <a:xfrm>
            <a:off x="1675526" y="1931954"/>
            <a:ext cx="449330" cy="260323"/>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696" b="1" i="0" u="none" strike="noStrike" kern="1200" cap="none" spc="0" normalizeH="0" baseline="0" noProof="0">
                <a:ln>
                  <a:noFill/>
                </a:ln>
                <a:solidFill>
                  <a:srgbClr val="22272B"/>
                </a:solidFill>
                <a:effectLst/>
                <a:uLnTx/>
                <a:uFillTx/>
                <a:latin typeface="Cambria"/>
                <a:ea typeface="+mn-ea"/>
                <a:cs typeface="+mn-cs"/>
              </a:rPr>
              <a:t>MAE</a:t>
            </a:r>
          </a:p>
        </p:txBody>
      </p:sp>
      <p:sp>
        <p:nvSpPr>
          <p:cNvPr id="9" name="TextBox 8">
            <a:extLst>
              <a:ext uri="{FF2B5EF4-FFF2-40B4-BE49-F238E27FC236}">
                <a16:creationId xmlns:a16="http://schemas.microsoft.com/office/drawing/2014/main" id="{61638D1C-AD09-3E2F-633B-25F10BF6DCEB}"/>
              </a:ext>
            </a:extLst>
          </p:cNvPr>
          <p:cNvSpPr txBox="1"/>
          <p:nvPr/>
        </p:nvSpPr>
        <p:spPr>
          <a:xfrm>
            <a:off x="1675526" y="2231211"/>
            <a:ext cx="1213670" cy="168411"/>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097" b="1" i="0" u="none" strike="noStrike" kern="1200" cap="none" spc="0" normalizeH="0" baseline="0" noProof="0">
                <a:ln>
                  <a:noFill/>
                </a:ln>
                <a:solidFill>
                  <a:srgbClr val="E0912F"/>
                </a:solidFill>
                <a:effectLst/>
                <a:uLnTx/>
                <a:uFillTx/>
                <a:latin typeface="Calibri"/>
                <a:ea typeface="+mn-ea"/>
                <a:cs typeface="+mn-cs"/>
              </a:rPr>
              <a:t>Mean Absolute Error</a:t>
            </a:r>
          </a:p>
        </p:txBody>
      </p:sp>
      <p:sp>
        <p:nvSpPr>
          <p:cNvPr id="10" name="TextBox 9">
            <a:extLst>
              <a:ext uri="{FF2B5EF4-FFF2-40B4-BE49-F238E27FC236}">
                <a16:creationId xmlns:a16="http://schemas.microsoft.com/office/drawing/2014/main" id="{84C62ABA-A22A-2F3A-D2DB-22EE09B23945}"/>
              </a:ext>
            </a:extLst>
          </p:cNvPr>
          <p:cNvSpPr txBox="1"/>
          <p:nvPr/>
        </p:nvSpPr>
        <p:spPr>
          <a:xfrm>
            <a:off x="744754" y="2808300"/>
            <a:ext cx="4879219" cy="837384"/>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197" b="0" i="0" u="none" strike="noStrike" kern="1200" cap="none" spc="0" normalizeH="0" baseline="0" noProof="0" dirty="0">
                <a:ln>
                  <a:noFill/>
                </a:ln>
                <a:solidFill>
                  <a:srgbClr val="6C7278"/>
                </a:solidFill>
                <a:effectLst/>
                <a:uLnTx/>
                <a:uFillTx/>
                <a:latin typeface="Calibri"/>
                <a:ea typeface="+mn-ea"/>
                <a:cs typeface="+mn-cs"/>
              </a:rPr>
              <a:t>Formel: Ø |y − ŷ|</a:t>
            </a:r>
          </a:p>
          <a:p>
            <a:pPr marL="0" marR="0" lvl="0" indent="0" algn="l" defTabSz="912114" rtl="0" eaLnBrk="1" fontAlgn="auto" latinLnBrk="0" hangingPunct="1">
              <a:lnSpc>
                <a:spcPct val="100000"/>
              </a:lnSpc>
              <a:spcBef>
                <a:spcPts val="399"/>
              </a:spcBef>
              <a:spcAft>
                <a:spcPts val="0"/>
              </a:spcAft>
              <a:buClrTx/>
              <a:buSzTx/>
              <a:buFontTx/>
              <a:buNone/>
              <a:tabLst/>
              <a:defRPr/>
            </a:pPr>
            <a:r>
              <a:rPr kumimoji="0" sz="1197" b="0" i="0" u="none" strike="noStrike" kern="1200" cap="none" spc="0" normalizeH="0" baseline="0" noProof="0" dirty="0" err="1">
                <a:ln>
                  <a:noFill/>
                </a:ln>
                <a:solidFill>
                  <a:srgbClr val="6C7278"/>
                </a:solidFill>
                <a:effectLst/>
                <a:uLnTx/>
                <a:uFillTx/>
                <a:latin typeface="Calibri"/>
                <a:ea typeface="+mn-ea"/>
                <a:cs typeface="+mn-cs"/>
              </a:rPr>
              <a:t>Vorteil</a:t>
            </a:r>
            <a:r>
              <a:rPr kumimoji="0" sz="1197" b="0" i="0" u="none" strike="noStrike" kern="1200" cap="none" spc="0" normalizeH="0" baseline="0" noProof="0" dirty="0">
                <a:ln>
                  <a:noFill/>
                </a:ln>
                <a:solidFill>
                  <a:srgbClr val="6C7278"/>
                </a:solidFill>
                <a:effectLst/>
                <a:uLnTx/>
                <a:uFillTx/>
                <a:latin typeface="Calibri"/>
                <a:ea typeface="+mn-ea"/>
                <a:cs typeface="+mn-cs"/>
              </a:rPr>
              <a:t>: gut </a:t>
            </a:r>
            <a:r>
              <a:rPr kumimoji="0" sz="1197" b="0" i="0" u="none" strike="noStrike" kern="1200" cap="none" spc="0" normalizeH="0" baseline="0" noProof="0" dirty="0" err="1">
                <a:ln>
                  <a:noFill/>
                </a:ln>
                <a:solidFill>
                  <a:srgbClr val="6C7278"/>
                </a:solidFill>
                <a:effectLst/>
                <a:uLnTx/>
                <a:uFillTx/>
                <a:latin typeface="Calibri"/>
                <a:ea typeface="+mn-ea"/>
                <a:cs typeface="+mn-cs"/>
              </a:rPr>
              <a:t>interpretierbar</a:t>
            </a:r>
            <a:r>
              <a:rPr kumimoji="0" sz="1197" b="0" i="0" u="none" strike="noStrike" kern="1200" cap="none" spc="0" normalizeH="0" baseline="0" noProof="0" dirty="0">
                <a:ln>
                  <a:noFill/>
                </a:ln>
                <a:solidFill>
                  <a:srgbClr val="6C7278"/>
                </a:solidFill>
                <a:effectLst/>
                <a:uLnTx/>
                <a:uFillTx/>
                <a:latin typeface="Calibri"/>
                <a:ea typeface="+mn-ea"/>
                <a:cs typeface="+mn-cs"/>
              </a:rPr>
              <a:t> (µg/m³), robust </a:t>
            </a:r>
            <a:r>
              <a:rPr kumimoji="0" lang="de-DE" sz="1197" b="0" i="0" u="none" strike="noStrike" kern="1200" cap="none" spc="0" normalizeH="0" baseline="0" noProof="0" dirty="0">
                <a:ln>
                  <a:noFill/>
                </a:ln>
                <a:solidFill>
                  <a:srgbClr val="6C7278"/>
                </a:solidFill>
                <a:effectLst/>
                <a:uLnTx/>
                <a:uFillTx/>
                <a:latin typeface="Calibri"/>
                <a:ea typeface="+mn-ea"/>
                <a:cs typeface="+mn-cs"/>
              </a:rPr>
              <a:t>gegenüber </a:t>
            </a:r>
            <a:r>
              <a:rPr kumimoji="0" sz="1197" b="0" i="0" u="none" strike="noStrike" kern="1200" cap="none" spc="0" normalizeH="0" baseline="0" noProof="0" dirty="0" err="1">
                <a:ln>
                  <a:noFill/>
                </a:ln>
                <a:solidFill>
                  <a:srgbClr val="6C7278"/>
                </a:solidFill>
                <a:effectLst/>
                <a:uLnTx/>
                <a:uFillTx/>
                <a:latin typeface="Calibri"/>
                <a:ea typeface="+mn-ea"/>
                <a:cs typeface="+mn-cs"/>
              </a:rPr>
              <a:t>Ausreißern</a:t>
            </a:r>
            <a:r>
              <a:rPr kumimoji="0" sz="1197" b="0" i="0" u="none" strike="noStrike" kern="1200" cap="none" spc="0" normalizeH="0" baseline="0" noProof="0" dirty="0">
                <a:ln>
                  <a:noFill/>
                </a:ln>
                <a:solidFill>
                  <a:srgbClr val="6C7278"/>
                </a:solidFill>
                <a:effectLst/>
                <a:uLnTx/>
                <a:uFillTx/>
                <a:latin typeface="Calibri"/>
                <a:ea typeface="+mn-ea"/>
                <a:cs typeface="+mn-cs"/>
              </a:rPr>
              <a:t>.</a:t>
            </a:r>
          </a:p>
          <a:p>
            <a:pPr marL="0" marR="0" lvl="0" indent="0" algn="l" defTabSz="912114" rtl="0" eaLnBrk="1" fontAlgn="auto" latinLnBrk="0" hangingPunct="1">
              <a:lnSpc>
                <a:spcPct val="100000"/>
              </a:lnSpc>
              <a:spcBef>
                <a:spcPts val="399"/>
              </a:spcBef>
              <a:spcAft>
                <a:spcPts val="0"/>
              </a:spcAft>
              <a:buClrTx/>
              <a:buSzTx/>
              <a:buFontTx/>
              <a:buNone/>
              <a:tabLst/>
              <a:defRPr/>
            </a:pPr>
            <a:r>
              <a:rPr kumimoji="0" sz="1197" b="0" i="0" u="none" strike="noStrike" kern="1200" cap="none" spc="0" normalizeH="0" baseline="0" noProof="0" dirty="0" err="1">
                <a:ln>
                  <a:noFill/>
                </a:ln>
                <a:solidFill>
                  <a:srgbClr val="6C7278"/>
                </a:solidFill>
                <a:effectLst/>
                <a:uLnTx/>
                <a:uFillTx/>
                <a:latin typeface="Calibri"/>
                <a:ea typeface="+mn-ea"/>
                <a:cs typeface="+mn-cs"/>
              </a:rPr>
              <a:t>Nachteil</a:t>
            </a:r>
            <a:r>
              <a:rPr kumimoji="0" sz="1197" b="0" i="0" u="none" strike="noStrike" kern="1200" cap="none" spc="0" normalizeH="0" baseline="0" noProof="0" dirty="0">
                <a:ln>
                  <a:noFill/>
                </a:ln>
                <a:solidFill>
                  <a:srgbClr val="6C7278"/>
                </a:solidFill>
                <a:effectLst/>
                <a:uLnTx/>
                <a:uFillTx/>
                <a:latin typeface="Calibri"/>
                <a:ea typeface="+mn-ea"/>
                <a:cs typeface="+mn-cs"/>
              </a:rPr>
              <a:t>: nicht </a:t>
            </a:r>
            <a:r>
              <a:rPr kumimoji="0" sz="1197" b="0" i="0" u="none" strike="noStrike" kern="1200" cap="none" spc="0" normalizeH="0" baseline="0" noProof="0" dirty="0" err="1">
                <a:ln>
                  <a:noFill/>
                </a:ln>
                <a:solidFill>
                  <a:srgbClr val="6C7278"/>
                </a:solidFill>
                <a:effectLst/>
                <a:uLnTx/>
                <a:uFillTx/>
                <a:latin typeface="Calibri"/>
                <a:ea typeface="+mn-ea"/>
                <a:cs typeface="+mn-cs"/>
              </a:rPr>
              <a:t>skaleninvariant</a:t>
            </a:r>
            <a:r>
              <a:rPr kumimoji="0" sz="1197" b="0" i="0" u="none" strike="noStrike" kern="1200" cap="none" spc="0" normalizeH="0" baseline="0" noProof="0" dirty="0">
                <a:ln>
                  <a:noFill/>
                </a:ln>
                <a:solidFill>
                  <a:srgbClr val="6C7278"/>
                </a:solidFill>
                <a:effectLst/>
                <a:uLnTx/>
                <a:uFillTx/>
                <a:latin typeface="Calibri"/>
                <a:ea typeface="+mn-ea"/>
                <a:cs typeface="+mn-cs"/>
              </a:rPr>
              <a:t> – </a:t>
            </a:r>
            <a:r>
              <a:rPr kumimoji="0" sz="1197" b="0" i="0" u="none" strike="noStrike" kern="1200" cap="none" spc="0" normalizeH="0" baseline="0" noProof="0" dirty="0" err="1">
                <a:ln>
                  <a:noFill/>
                </a:ln>
                <a:solidFill>
                  <a:srgbClr val="6C7278"/>
                </a:solidFill>
                <a:effectLst/>
                <a:uLnTx/>
                <a:uFillTx/>
                <a:latin typeface="Calibri"/>
                <a:ea typeface="+mn-ea"/>
                <a:cs typeface="+mn-cs"/>
              </a:rPr>
              <a:t>schwer</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über</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Stationen</a:t>
            </a:r>
            <a:r>
              <a:rPr kumimoji="0" sz="1197" b="0" i="0" u="none" strike="noStrike" kern="1200" cap="none" spc="0" normalizeH="0" baseline="0" noProof="0" dirty="0">
                <a:ln>
                  <a:noFill/>
                </a:ln>
                <a:solidFill>
                  <a:srgbClr val="6C7278"/>
                </a:solidFill>
                <a:effectLst/>
                <a:uLnTx/>
                <a:uFillTx/>
                <a:latin typeface="Calibri"/>
                <a:ea typeface="+mn-ea"/>
                <a:cs typeface="+mn-cs"/>
              </a:rPr>
              <a:t>/</a:t>
            </a:r>
            <a:r>
              <a:rPr kumimoji="0" sz="1197" b="0" i="0" u="none" strike="noStrike" kern="1200" cap="none" spc="0" normalizeH="0" baseline="0" noProof="0" dirty="0" err="1">
                <a:ln>
                  <a:noFill/>
                </a:ln>
                <a:solidFill>
                  <a:srgbClr val="6C7278"/>
                </a:solidFill>
                <a:effectLst/>
                <a:uLnTx/>
                <a:uFillTx/>
                <a:latin typeface="Calibri"/>
                <a:ea typeface="+mn-ea"/>
                <a:cs typeface="+mn-cs"/>
              </a:rPr>
              <a:t>Zeiträume</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vergleichbar</a:t>
            </a:r>
            <a:r>
              <a:rPr kumimoji="0" sz="1197" b="0" i="0" u="none" strike="noStrike" kern="1200" cap="none" spc="0" normalizeH="0" baseline="0" noProof="0" dirty="0">
                <a:ln>
                  <a:noFill/>
                </a:ln>
                <a:solidFill>
                  <a:srgbClr val="6C7278"/>
                </a:solidFill>
                <a:effectLst/>
                <a:uLnTx/>
                <a:uFillTx/>
                <a:latin typeface="Calibri"/>
                <a:ea typeface="+mn-ea"/>
                <a:cs typeface="+mn-cs"/>
              </a:rPr>
              <a:t>.</a:t>
            </a:r>
          </a:p>
        </p:txBody>
      </p:sp>
      <p:sp>
        <p:nvSpPr>
          <p:cNvPr id="11" name="Rounded Rectangle 10">
            <a:extLst>
              <a:ext uri="{FF2B5EF4-FFF2-40B4-BE49-F238E27FC236}">
                <a16:creationId xmlns:a16="http://schemas.microsoft.com/office/drawing/2014/main" id="{2CA35D2B-29C7-6730-E284-A5459F05F73D}"/>
              </a:ext>
            </a:extLst>
          </p:cNvPr>
          <p:cNvSpPr/>
          <p:nvPr/>
        </p:nvSpPr>
        <p:spPr>
          <a:xfrm>
            <a:off x="6263188" y="1650331"/>
            <a:ext cx="5426502" cy="2188413"/>
          </a:xfrm>
          <a:prstGeom prst="roundRect">
            <a:avLst>
              <a:gd name="adj" fmla="val 6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12" name="Oval 11">
            <a:extLst>
              <a:ext uri="{FF2B5EF4-FFF2-40B4-BE49-F238E27FC236}">
                <a16:creationId xmlns:a16="http://schemas.microsoft.com/office/drawing/2014/main" id="{FDE0CA7B-3456-D720-03FF-CBBCA4971725}"/>
              </a:ext>
            </a:extLst>
          </p:cNvPr>
          <p:cNvSpPr/>
          <p:nvPr/>
        </p:nvSpPr>
        <p:spPr>
          <a:xfrm>
            <a:off x="6536829" y="1923973"/>
            <a:ext cx="774599" cy="774599"/>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2195" b="1" i="0" u="none" strike="noStrike" kern="1200" cap="none" spc="0" normalizeH="0" baseline="0" noProof="0" dirty="0">
                <a:ln>
                  <a:noFill/>
                </a:ln>
                <a:solidFill>
                  <a:srgbClr val="FFFFFF"/>
                </a:solidFill>
                <a:effectLst/>
                <a:uLnTx/>
                <a:uFillTx/>
                <a:latin typeface="Cambria"/>
                <a:ea typeface="+mn-ea"/>
                <a:cs typeface="+mn-cs"/>
              </a:rPr>
              <a:t>2</a:t>
            </a:r>
          </a:p>
        </p:txBody>
      </p:sp>
      <p:sp>
        <p:nvSpPr>
          <p:cNvPr id="13" name="TextBox 12">
            <a:extLst>
              <a:ext uri="{FF2B5EF4-FFF2-40B4-BE49-F238E27FC236}">
                <a16:creationId xmlns:a16="http://schemas.microsoft.com/office/drawing/2014/main" id="{E9603162-8D83-BBB2-1AFF-A7E6E8604E96}"/>
              </a:ext>
            </a:extLst>
          </p:cNvPr>
          <p:cNvSpPr txBox="1"/>
          <p:nvPr/>
        </p:nvSpPr>
        <p:spPr>
          <a:xfrm>
            <a:off x="7467601" y="1931954"/>
            <a:ext cx="558832" cy="260323"/>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696" b="1" i="0" u="none" strike="noStrike" kern="1200" cap="none" spc="0" normalizeH="0" baseline="0" noProof="0">
                <a:ln>
                  <a:noFill/>
                </a:ln>
                <a:solidFill>
                  <a:srgbClr val="22272B"/>
                </a:solidFill>
                <a:effectLst/>
                <a:uLnTx/>
                <a:uFillTx/>
                <a:latin typeface="Cambria"/>
                <a:ea typeface="+mn-ea"/>
                <a:cs typeface="+mn-cs"/>
              </a:rPr>
              <a:t>MASE</a:t>
            </a:r>
          </a:p>
        </p:txBody>
      </p:sp>
      <p:sp>
        <p:nvSpPr>
          <p:cNvPr id="14" name="TextBox 13">
            <a:extLst>
              <a:ext uri="{FF2B5EF4-FFF2-40B4-BE49-F238E27FC236}">
                <a16:creationId xmlns:a16="http://schemas.microsoft.com/office/drawing/2014/main" id="{052DD680-F0EE-5C14-610E-3CCDA1A31CC8}"/>
              </a:ext>
            </a:extLst>
          </p:cNvPr>
          <p:cNvSpPr txBox="1"/>
          <p:nvPr/>
        </p:nvSpPr>
        <p:spPr>
          <a:xfrm>
            <a:off x="7467601" y="2231211"/>
            <a:ext cx="1619825" cy="168411"/>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097" b="1" i="0" u="none" strike="noStrike" kern="1200" cap="none" spc="0" normalizeH="0" baseline="0" noProof="0">
                <a:ln>
                  <a:noFill/>
                </a:ln>
                <a:solidFill>
                  <a:srgbClr val="E0912F"/>
                </a:solidFill>
                <a:effectLst/>
                <a:uLnTx/>
                <a:uFillTx/>
                <a:latin typeface="Calibri"/>
                <a:ea typeface="+mn-ea"/>
                <a:cs typeface="+mn-cs"/>
              </a:rPr>
              <a:t>Mean Absolute Scaled Error</a:t>
            </a:r>
          </a:p>
        </p:txBody>
      </p:sp>
      <p:sp>
        <p:nvSpPr>
          <p:cNvPr id="15" name="TextBox 14">
            <a:extLst>
              <a:ext uri="{FF2B5EF4-FFF2-40B4-BE49-F238E27FC236}">
                <a16:creationId xmlns:a16="http://schemas.microsoft.com/office/drawing/2014/main" id="{C44D06DE-8780-8595-195A-1C3E1095096C}"/>
              </a:ext>
            </a:extLst>
          </p:cNvPr>
          <p:cNvSpPr txBox="1"/>
          <p:nvPr/>
        </p:nvSpPr>
        <p:spPr>
          <a:xfrm>
            <a:off x="6536829" y="2808300"/>
            <a:ext cx="4879219" cy="837384"/>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197" b="0" i="0" u="none" strike="noStrike" kern="1200" cap="none" spc="0" normalizeH="0" baseline="0" noProof="0" dirty="0">
                <a:ln>
                  <a:noFill/>
                </a:ln>
                <a:solidFill>
                  <a:srgbClr val="6C7278"/>
                </a:solidFill>
                <a:effectLst/>
                <a:uLnTx/>
                <a:uFillTx/>
                <a:latin typeface="Calibri"/>
                <a:ea typeface="+mn-ea"/>
                <a:cs typeface="+mn-cs"/>
              </a:rPr>
              <a:t>Formel: MAE Modell / MAE Seasonal-Naive-Baseline</a:t>
            </a:r>
          </a:p>
          <a:p>
            <a:pPr marL="0" marR="0" lvl="0" indent="0" algn="l" defTabSz="912114" rtl="0" eaLnBrk="1" fontAlgn="auto" latinLnBrk="0" hangingPunct="1">
              <a:lnSpc>
                <a:spcPct val="100000"/>
              </a:lnSpc>
              <a:spcBef>
                <a:spcPts val="399"/>
              </a:spcBef>
              <a:spcAft>
                <a:spcPts val="0"/>
              </a:spcAft>
              <a:buClrTx/>
              <a:buSzTx/>
              <a:buFontTx/>
              <a:buNone/>
              <a:tabLst/>
              <a:defRPr/>
            </a:pPr>
            <a:r>
              <a:rPr kumimoji="0" sz="1197" b="0" i="0" u="none" strike="noStrike" kern="1200" cap="none" spc="0" normalizeH="0" baseline="0" noProof="0" dirty="0" err="1">
                <a:ln>
                  <a:noFill/>
                </a:ln>
                <a:solidFill>
                  <a:srgbClr val="6C7278"/>
                </a:solidFill>
                <a:effectLst/>
                <a:uLnTx/>
                <a:uFillTx/>
                <a:latin typeface="Calibri"/>
                <a:ea typeface="+mn-ea"/>
                <a:cs typeface="+mn-cs"/>
              </a:rPr>
              <a:t>Vorteil</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skalenunabhängig</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direkter</a:t>
            </a:r>
            <a:r>
              <a:rPr kumimoji="0" sz="1197" b="0" i="0" u="none" strike="noStrike" kern="1200" cap="none" spc="0" normalizeH="0" baseline="0" noProof="0" dirty="0">
                <a:ln>
                  <a:noFill/>
                </a:ln>
                <a:solidFill>
                  <a:srgbClr val="6C7278"/>
                </a:solidFill>
                <a:effectLst/>
                <a:uLnTx/>
                <a:uFillTx/>
                <a:latin typeface="Calibri"/>
                <a:ea typeface="+mn-ea"/>
                <a:cs typeface="+mn-cs"/>
              </a:rPr>
              <a:t> Baseline-</a:t>
            </a:r>
            <a:r>
              <a:rPr kumimoji="0" sz="1197" b="0" i="0" u="none" strike="noStrike" kern="1200" cap="none" spc="0" normalizeH="0" baseline="0" noProof="0" dirty="0" err="1">
                <a:ln>
                  <a:noFill/>
                </a:ln>
                <a:solidFill>
                  <a:srgbClr val="6C7278"/>
                </a:solidFill>
                <a:effectLst/>
                <a:uLnTx/>
                <a:uFillTx/>
                <a:latin typeface="Calibri"/>
                <a:ea typeface="+mn-ea"/>
                <a:cs typeface="+mn-cs"/>
              </a:rPr>
              <a:t>Vergleich</a:t>
            </a:r>
            <a:r>
              <a:rPr kumimoji="0" sz="1197" b="0" i="0" u="none" strike="noStrike" kern="1200" cap="none" spc="0" normalizeH="0" baseline="0" noProof="0" dirty="0">
                <a:ln>
                  <a:noFill/>
                </a:ln>
                <a:solidFill>
                  <a:srgbClr val="6C7278"/>
                </a:solidFill>
                <a:effectLst/>
                <a:uLnTx/>
                <a:uFillTx/>
                <a:latin typeface="Calibri"/>
                <a:ea typeface="+mn-ea"/>
                <a:cs typeface="+mn-cs"/>
              </a:rPr>
              <a:t>, robust </a:t>
            </a:r>
            <a:r>
              <a:rPr kumimoji="0" sz="1197" b="0" i="0" u="none" strike="noStrike" kern="1200" cap="none" spc="0" normalizeH="0" baseline="0" noProof="0" dirty="0" err="1">
                <a:ln>
                  <a:noFill/>
                </a:ln>
                <a:solidFill>
                  <a:srgbClr val="6C7278"/>
                </a:solidFill>
                <a:effectLst/>
                <a:uLnTx/>
                <a:uFillTx/>
                <a:latin typeface="Calibri"/>
                <a:ea typeface="+mn-ea"/>
                <a:cs typeface="+mn-cs"/>
              </a:rPr>
              <a:t>bei</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Werten</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nahe</a:t>
            </a:r>
            <a:r>
              <a:rPr kumimoji="0" sz="1197" b="0" i="0" u="none" strike="noStrike" kern="1200" cap="none" spc="0" normalizeH="0" baseline="0" noProof="0" dirty="0">
                <a:ln>
                  <a:noFill/>
                </a:ln>
                <a:solidFill>
                  <a:srgbClr val="6C7278"/>
                </a:solidFill>
                <a:effectLst/>
                <a:uLnTx/>
                <a:uFillTx/>
                <a:latin typeface="Calibri"/>
                <a:ea typeface="+mn-ea"/>
                <a:cs typeface="+mn-cs"/>
              </a:rPr>
              <a:t> 0.</a:t>
            </a:r>
          </a:p>
          <a:p>
            <a:pPr marL="0" marR="0" lvl="0" indent="0" algn="l" defTabSz="912114" rtl="0" eaLnBrk="1" fontAlgn="auto" latinLnBrk="0" hangingPunct="1">
              <a:lnSpc>
                <a:spcPct val="100000"/>
              </a:lnSpc>
              <a:spcBef>
                <a:spcPts val="399"/>
              </a:spcBef>
              <a:spcAft>
                <a:spcPts val="0"/>
              </a:spcAft>
              <a:buClrTx/>
              <a:buSzTx/>
              <a:buFontTx/>
              <a:buNone/>
              <a:tabLst/>
              <a:defRPr/>
            </a:pPr>
            <a:r>
              <a:rPr kumimoji="0" sz="1197" b="0" i="0" u="none" strike="noStrike" kern="1200" cap="none" spc="0" normalizeH="0" baseline="0" noProof="0" dirty="0" err="1">
                <a:ln>
                  <a:noFill/>
                </a:ln>
                <a:solidFill>
                  <a:srgbClr val="6C7278"/>
                </a:solidFill>
                <a:effectLst/>
                <a:uLnTx/>
                <a:uFillTx/>
                <a:latin typeface="Calibri"/>
                <a:ea typeface="+mn-ea"/>
                <a:cs typeface="+mn-cs"/>
              </a:rPr>
              <a:t>Nachteil</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weniger</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intuitiv</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interpretierbar</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abhängig</a:t>
            </a:r>
            <a:r>
              <a:rPr kumimoji="0" sz="1197" b="0" i="0" u="none" strike="noStrike" kern="1200" cap="none" spc="0" normalizeH="0" baseline="0" noProof="0" dirty="0">
                <a:ln>
                  <a:noFill/>
                </a:ln>
                <a:solidFill>
                  <a:srgbClr val="6C7278"/>
                </a:solidFill>
                <a:effectLst/>
                <a:uLnTx/>
                <a:uFillTx/>
                <a:latin typeface="Calibri"/>
                <a:ea typeface="+mn-ea"/>
                <a:cs typeface="+mn-cs"/>
              </a:rPr>
              <a:t> von Baseline-Wahl.</a:t>
            </a:r>
          </a:p>
        </p:txBody>
      </p:sp>
      <p:sp>
        <p:nvSpPr>
          <p:cNvPr id="16" name="Rounded Rectangle 15">
            <a:extLst>
              <a:ext uri="{FF2B5EF4-FFF2-40B4-BE49-F238E27FC236}">
                <a16:creationId xmlns:a16="http://schemas.microsoft.com/office/drawing/2014/main" id="{FD762FC6-BB7B-D1A2-4B20-22036A44FC24}"/>
              </a:ext>
            </a:extLst>
          </p:cNvPr>
          <p:cNvSpPr/>
          <p:nvPr/>
        </p:nvSpPr>
        <p:spPr>
          <a:xfrm>
            <a:off x="471113" y="4040204"/>
            <a:ext cx="5426502" cy="2188413"/>
          </a:xfrm>
          <a:prstGeom prst="roundRect">
            <a:avLst>
              <a:gd name="adj" fmla="val 6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17" name="Oval 16">
            <a:extLst>
              <a:ext uri="{FF2B5EF4-FFF2-40B4-BE49-F238E27FC236}">
                <a16:creationId xmlns:a16="http://schemas.microsoft.com/office/drawing/2014/main" id="{67F68F11-94C4-06C0-001A-60D2EFF4D5E3}"/>
              </a:ext>
            </a:extLst>
          </p:cNvPr>
          <p:cNvSpPr/>
          <p:nvPr/>
        </p:nvSpPr>
        <p:spPr>
          <a:xfrm>
            <a:off x="744754" y="4313845"/>
            <a:ext cx="774599" cy="774599"/>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2195" b="1" i="0" u="none" strike="noStrike" kern="1200" cap="none" spc="0" normalizeH="0" baseline="0" noProof="0" dirty="0">
                <a:ln>
                  <a:noFill/>
                </a:ln>
                <a:solidFill>
                  <a:srgbClr val="FFFFFF"/>
                </a:solidFill>
                <a:effectLst/>
                <a:uLnTx/>
                <a:uFillTx/>
                <a:latin typeface="Cambria"/>
                <a:ea typeface="+mn-ea"/>
                <a:cs typeface="+mn-cs"/>
              </a:rPr>
              <a:t>3</a:t>
            </a:r>
          </a:p>
        </p:txBody>
      </p:sp>
      <p:sp>
        <p:nvSpPr>
          <p:cNvPr id="18" name="TextBox 17">
            <a:extLst>
              <a:ext uri="{FF2B5EF4-FFF2-40B4-BE49-F238E27FC236}">
                <a16:creationId xmlns:a16="http://schemas.microsoft.com/office/drawing/2014/main" id="{7915FBD7-F4F2-2C45-34A1-C50632C8BFF5}"/>
              </a:ext>
            </a:extLst>
          </p:cNvPr>
          <p:cNvSpPr txBox="1"/>
          <p:nvPr/>
        </p:nvSpPr>
        <p:spPr>
          <a:xfrm>
            <a:off x="1675527" y="4321826"/>
            <a:ext cx="582049" cy="260323"/>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696" b="1" i="0" u="none" strike="noStrike" kern="1200" cap="none" spc="0" normalizeH="0" baseline="0" noProof="0">
                <a:ln>
                  <a:noFill/>
                </a:ln>
                <a:solidFill>
                  <a:srgbClr val="22272B"/>
                </a:solidFill>
                <a:effectLst/>
                <a:uLnTx/>
                <a:uFillTx/>
                <a:latin typeface="Cambria"/>
                <a:ea typeface="+mn-ea"/>
                <a:cs typeface="+mn-cs"/>
              </a:rPr>
              <a:t>MAPE</a:t>
            </a:r>
          </a:p>
        </p:txBody>
      </p:sp>
      <p:sp>
        <p:nvSpPr>
          <p:cNvPr id="19" name="TextBox 18">
            <a:extLst>
              <a:ext uri="{FF2B5EF4-FFF2-40B4-BE49-F238E27FC236}">
                <a16:creationId xmlns:a16="http://schemas.microsoft.com/office/drawing/2014/main" id="{12699D16-4E4E-13CB-A2D6-E0DAE4812F12}"/>
              </a:ext>
            </a:extLst>
          </p:cNvPr>
          <p:cNvSpPr txBox="1"/>
          <p:nvPr/>
        </p:nvSpPr>
        <p:spPr>
          <a:xfrm>
            <a:off x="1675526" y="4621084"/>
            <a:ext cx="1899656" cy="168411"/>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097" b="1" i="0" u="none" strike="noStrike" kern="1200" cap="none" spc="0" normalizeH="0" baseline="0" noProof="0">
                <a:ln>
                  <a:noFill/>
                </a:ln>
                <a:solidFill>
                  <a:srgbClr val="E0912F"/>
                </a:solidFill>
                <a:effectLst/>
                <a:uLnTx/>
                <a:uFillTx/>
                <a:latin typeface="Calibri"/>
                <a:ea typeface="+mn-ea"/>
                <a:cs typeface="+mn-cs"/>
              </a:rPr>
              <a:t>Mean Absolute Percentage Error</a:t>
            </a:r>
          </a:p>
        </p:txBody>
      </p:sp>
      <p:sp>
        <p:nvSpPr>
          <p:cNvPr id="20" name="TextBox 19">
            <a:extLst>
              <a:ext uri="{FF2B5EF4-FFF2-40B4-BE49-F238E27FC236}">
                <a16:creationId xmlns:a16="http://schemas.microsoft.com/office/drawing/2014/main" id="{808F298F-71A0-3E90-C139-A38A4AB298EF}"/>
              </a:ext>
            </a:extLst>
          </p:cNvPr>
          <p:cNvSpPr txBox="1"/>
          <p:nvPr/>
        </p:nvSpPr>
        <p:spPr>
          <a:xfrm>
            <a:off x="744754" y="5198172"/>
            <a:ext cx="4879219" cy="655244"/>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197" b="0" i="0" u="none" strike="noStrike" kern="1200" cap="none" spc="0" normalizeH="0" baseline="0" noProof="0" dirty="0">
                <a:ln>
                  <a:noFill/>
                </a:ln>
                <a:solidFill>
                  <a:srgbClr val="6C7278"/>
                </a:solidFill>
                <a:effectLst/>
                <a:uLnTx/>
                <a:uFillTx/>
                <a:latin typeface="Calibri"/>
                <a:ea typeface="+mn-ea"/>
                <a:cs typeface="+mn-cs"/>
              </a:rPr>
              <a:t>Formel: Ø(|y − ŷ| / |y|) · 100 %</a:t>
            </a:r>
          </a:p>
          <a:p>
            <a:pPr marL="0" marR="0" lvl="0" indent="0" algn="l" defTabSz="912114" rtl="0" eaLnBrk="1" fontAlgn="auto" latinLnBrk="0" hangingPunct="1">
              <a:lnSpc>
                <a:spcPct val="100000"/>
              </a:lnSpc>
              <a:spcBef>
                <a:spcPts val="399"/>
              </a:spcBef>
              <a:spcAft>
                <a:spcPts val="0"/>
              </a:spcAft>
              <a:buClrTx/>
              <a:buSzTx/>
              <a:buFontTx/>
              <a:buNone/>
              <a:tabLst/>
              <a:defRPr/>
            </a:pPr>
            <a:r>
              <a:rPr kumimoji="0" sz="1197" b="0" i="0" u="none" strike="noStrike" kern="1200" cap="none" spc="0" normalizeH="0" baseline="0" noProof="0" dirty="0" err="1">
                <a:ln>
                  <a:noFill/>
                </a:ln>
                <a:solidFill>
                  <a:srgbClr val="6C7278"/>
                </a:solidFill>
                <a:effectLst/>
                <a:uLnTx/>
                <a:uFillTx/>
                <a:latin typeface="Calibri"/>
                <a:ea typeface="+mn-ea"/>
                <a:cs typeface="+mn-cs"/>
              </a:rPr>
              <a:t>Vorteil</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leicht</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verständliche</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skalenunabhängige</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Prozentangabe</a:t>
            </a:r>
            <a:r>
              <a:rPr kumimoji="0" sz="1197" b="0" i="0" u="none" strike="noStrike" kern="1200" cap="none" spc="0" normalizeH="0" baseline="0" noProof="0" dirty="0">
                <a:ln>
                  <a:noFill/>
                </a:ln>
                <a:solidFill>
                  <a:srgbClr val="6C7278"/>
                </a:solidFill>
                <a:effectLst/>
                <a:uLnTx/>
                <a:uFillTx/>
                <a:latin typeface="Calibri"/>
                <a:ea typeface="+mn-ea"/>
                <a:cs typeface="+mn-cs"/>
              </a:rPr>
              <a:t>.</a:t>
            </a:r>
          </a:p>
          <a:p>
            <a:pPr marL="0" marR="0" lvl="0" indent="0" algn="l" defTabSz="912114" rtl="0" eaLnBrk="1" fontAlgn="auto" latinLnBrk="0" hangingPunct="1">
              <a:lnSpc>
                <a:spcPct val="100000"/>
              </a:lnSpc>
              <a:spcBef>
                <a:spcPts val="399"/>
              </a:spcBef>
              <a:spcAft>
                <a:spcPts val="0"/>
              </a:spcAft>
              <a:buClrTx/>
              <a:buSzTx/>
              <a:buFontTx/>
              <a:buNone/>
              <a:tabLst/>
              <a:defRPr/>
            </a:pPr>
            <a:r>
              <a:rPr kumimoji="0" sz="1197" b="0" i="0" u="none" strike="noStrike" kern="1200" cap="none" spc="0" normalizeH="0" baseline="0" noProof="0" dirty="0" err="1">
                <a:ln>
                  <a:noFill/>
                </a:ln>
                <a:solidFill>
                  <a:srgbClr val="6C7278"/>
                </a:solidFill>
                <a:effectLst/>
                <a:uLnTx/>
                <a:uFillTx/>
                <a:latin typeface="Calibri"/>
                <a:ea typeface="+mn-ea"/>
                <a:cs typeface="+mn-cs"/>
              </a:rPr>
              <a:t>Nachteil</a:t>
            </a:r>
            <a:r>
              <a:rPr kumimoji="0" lang="de-DE" sz="1197" b="0" i="0" u="none" strike="noStrike" kern="1200" cap="none" spc="0" normalizeH="0" baseline="0" noProof="0" dirty="0">
                <a:ln>
                  <a:noFill/>
                </a:ln>
                <a:solidFill>
                  <a:srgbClr val="6C7278"/>
                </a:solidFill>
                <a:effectLst/>
                <a:uLnTx/>
                <a:uFillTx/>
                <a:latin typeface="Calibri"/>
                <a:ea typeface="+mn-ea"/>
                <a:cs typeface="+mn-cs"/>
              </a:rPr>
              <a:t>e</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instabil</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bei</a:t>
            </a:r>
            <a:r>
              <a:rPr kumimoji="0" sz="1197" b="0" i="0" u="none" strike="noStrike" kern="1200" cap="none" spc="0" normalizeH="0" baseline="0" noProof="0" dirty="0">
                <a:ln>
                  <a:noFill/>
                </a:ln>
                <a:solidFill>
                  <a:srgbClr val="6C7278"/>
                </a:solidFill>
                <a:effectLst/>
                <a:uLnTx/>
                <a:uFillTx/>
                <a:latin typeface="Calibri"/>
                <a:ea typeface="+mn-ea"/>
                <a:cs typeface="+mn-cs"/>
              </a:rPr>
              <a:t> PM2.5-Werten </a:t>
            </a:r>
            <a:r>
              <a:rPr kumimoji="0" sz="1197" b="0" i="0" u="none" strike="noStrike" kern="1200" cap="none" spc="0" normalizeH="0" baseline="0" noProof="0" dirty="0" err="1">
                <a:ln>
                  <a:noFill/>
                </a:ln>
                <a:solidFill>
                  <a:srgbClr val="6C7278"/>
                </a:solidFill>
                <a:effectLst/>
                <a:uLnTx/>
                <a:uFillTx/>
                <a:latin typeface="Calibri"/>
                <a:ea typeface="+mn-ea"/>
                <a:cs typeface="+mn-cs"/>
              </a:rPr>
              <a:t>nahe</a:t>
            </a:r>
            <a:r>
              <a:rPr kumimoji="0" sz="1197" b="0" i="0" u="none" strike="noStrike" kern="1200" cap="none" spc="0" normalizeH="0" baseline="0" noProof="0" dirty="0">
                <a:ln>
                  <a:noFill/>
                </a:ln>
                <a:solidFill>
                  <a:srgbClr val="6C7278"/>
                </a:solidFill>
                <a:effectLst/>
                <a:uLnTx/>
                <a:uFillTx/>
                <a:latin typeface="Calibri"/>
                <a:ea typeface="+mn-ea"/>
                <a:cs typeface="+mn-cs"/>
              </a:rPr>
              <a:t> 0</a:t>
            </a:r>
          </a:p>
        </p:txBody>
      </p:sp>
      <p:sp>
        <p:nvSpPr>
          <p:cNvPr id="21" name="Rounded Rectangle 20">
            <a:extLst>
              <a:ext uri="{FF2B5EF4-FFF2-40B4-BE49-F238E27FC236}">
                <a16:creationId xmlns:a16="http://schemas.microsoft.com/office/drawing/2014/main" id="{F3A170D3-7664-83BF-6C1D-43E8E37F2CA2}"/>
              </a:ext>
            </a:extLst>
          </p:cNvPr>
          <p:cNvSpPr/>
          <p:nvPr/>
        </p:nvSpPr>
        <p:spPr>
          <a:xfrm>
            <a:off x="6263188" y="4040204"/>
            <a:ext cx="5426502" cy="2188413"/>
          </a:xfrm>
          <a:prstGeom prst="roundRect">
            <a:avLst>
              <a:gd name="adj" fmla="val 6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22" name="Oval 21">
            <a:extLst>
              <a:ext uri="{FF2B5EF4-FFF2-40B4-BE49-F238E27FC236}">
                <a16:creationId xmlns:a16="http://schemas.microsoft.com/office/drawing/2014/main" id="{8A93F7CA-B490-F623-6DED-39B5AC479CBD}"/>
              </a:ext>
            </a:extLst>
          </p:cNvPr>
          <p:cNvSpPr/>
          <p:nvPr/>
        </p:nvSpPr>
        <p:spPr>
          <a:xfrm>
            <a:off x="6536829" y="4313845"/>
            <a:ext cx="774599" cy="774599"/>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2195" b="1" i="0" u="none" strike="noStrike" kern="1200" cap="none" spc="0" normalizeH="0" baseline="0" noProof="0" dirty="0">
                <a:ln>
                  <a:noFill/>
                </a:ln>
                <a:solidFill>
                  <a:srgbClr val="FFFFFF"/>
                </a:solidFill>
                <a:effectLst/>
                <a:uLnTx/>
                <a:uFillTx/>
                <a:latin typeface="Cambria"/>
                <a:ea typeface="+mn-ea"/>
                <a:cs typeface="+mn-cs"/>
              </a:rPr>
              <a:t>4</a:t>
            </a:r>
          </a:p>
        </p:txBody>
      </p:sp>
      <p:sp>
        <p:nvSpPr>
          <p:cNvPr id="23" name="TextBox 22">
            <a:extLst>
              <a:ext uri="{FF2B5EF4-FFF2-40B4-BE49-F238E27FC236}">
                <a16:creationId xmlns:a16="http://schemas.microsoft.com/office/drawing/2014/main" id="{583EBEAA-CE4B-7B2D-ED32-242D04AB3698}"/>
              </a:ext>
            </a:extLst>
          </p:cNvPr>
          <p:cNvSpPr txBox="1"/>
          <p:nvPr/>
        </p:nvSpPr>
        <p:spPr>
          <a:xfrm>
            <a:off x="7467601" y="4321826"/>
            <a:ext cx="564461" cy="260323"/>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696" b="1" i="0" u="none" strike="noStrike" kern="1200" cap="none" spc="0" normalizeH="0" baseline="0" noProof="0">
                <a:ln>
                  <a:noFill/>
                </a:ln>
                <a:solidFill>
                  <a:srgbClr val="22272B"/>
                </a:solidFill>
                <a:effectLst/>
                <a:uLnTx/>
                <a:uFillTx/>
                <a:latin typeface="Cambria"/>
                <a:ea typeface="+mn-ea"/>
                <a:cs typeface="+mn-cs"/>
              </a:rPr>
              <a:t>RMSE</a:t>
            </a:r>
          </a:p>
        </p:txBody>
      </p:sp>
      <p:sp>
        <p:nvSpPr>
          <p:cNvPr id="24" name="TextBox 23">
            <a:extLst>
              <a:ext uri="{FF2B5EF4-FFF2-40B4-BE49-F238E27FC236}">
                <a16:creationId xmlns:a16="http://schemas.microsoft.com/office/drawing/2014/main" id="{3A9F236E-4347-B017-5300-6D4216B1DD44}"/>
              </a:ext>
            </a:extLst>
          </p:cNvPr>
          <p:cNvSpPr txBox="1"/>
          <p:nvPr/>
        </p:nvSpPr>
        <p:spPr>
          <a:xfrm>
            <a:off x="7467601" y="4621084"/>
            <a:ext cx="1482308" cy="168411"/>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097" b="1" i="0" u="none" strike="noStrike" kern="1200" cap="none" spc="0" normalizeH="0" baseline="0" noProof="0">
                <a:ln>
                  <a:noFill/>
                </a:ln>
                <a:solidFill>
                  <a:srgbClr val="E0912F"/>
                </a:solidFill>
                <a:effectLst/>
                <a:uLnTx/>
                <a:uFillTx/>
                <a:latin typeface="Calibri"/>
                <a:ea typeface="+mn-ea"/>
                <a:cs typeface="+mn-cs"/>
              </a:rPr>
              <a:t>Root Mean Squared Error</a:t>
            </a:r>
          </a:p>
        </p:txBody>
      </p:sp>
      <p:sp>
        <p:nvSpPr>
          <p:cNvPr id="25" name="TextBox 24">
            <a:extLst>
              <a:ext uri="{FF2B5EF4-FFF2-40B4-BE49-F238E27FC236}">
                <a16:creationId xmlns:a16="http://schemas.microsoft.com/office/drawing/2014/main" id="{6AB0E13D-9695-A800-F618-033EC391C50B}"/>
              </a:ext>
            </a:extLst>
          </p:cNvPr>
          <p:cNvSpPr txBox="1"/>
          <p:nvPr/>
        </p:nvSpPr>
        <p:spPr>
          <a:xfrm>
            <a:off x="6536829" y="5198173"/>
            <a:ext cx="4976660" cy="839461"/>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197" b="0" i="0" u="none" strike="noStrike" kern="1200" cap="none" spc="0" normalizeH="0" baseline="0" noProof="0" dirty="0">
                <a:ln>
                  <a:noFill/>
                </a:ln>
                <a:solidFill>
                  <a:srgbClr val="6C7278"/>
                </a:solidFill>
                <a:effectLst/>
                <a:uLnTx/>
                <a:uFillTx/>
                <a:latin typeface="Calibri"/>
                <a:ea typeface="+mn-ea"/>
                <a:cs typeface="+mn-cs"/>
              </a:rPr>
              <a:t>Formel: √(Ø (y − ŷ)²)</a:t>
            </a:r>
          </a:p>
          <a:p>
            <a:pPr marL="0" marR="0" lvl="0" indent="0" algn="l" defTabSz="912114" rtl="0" eaLnBrk="1" fontAlgn="auto" latinLnBrk="0" hangingPunct="1">
              <a:lnSpc>
                <a:spcPct val="100000"/>
              </a:lnSpc>
              <a:spcBef>
                <a:spcPts val="399"/>
              </a:spcBef>
              <a:spcAft>
                <a:spcPts val="0"/>
              </a:spcAft>
              <a:buClrTx/>
              <a:buSzTx/>
              <a:buFontTx/>
              <a:buNone/>
              <a:tabLst/>
              <a:defRPr/>
            </a:pPr>
            <a:r>
              <a:rPr kumimoji="0" sz="1197" b="0" i="0" u="none" strike="noStrike" kern="1200" cap="none" spc="0" normalizeH="0" baseline="0" noProof="0" dirty="0" err="1">
                <a:ln>
                  <a:noFill/>
                </a:ln>
                <a:solidFill>
                  <a:srgbClr val="6C7278"/>
                </a:solidFill>
                <a:effectLst/>
                <a:uLnTx/>
                <a:uFillTx/>
                <a:latin typeface="Calibri"/>
                <a:ea typeface="+mn-ea"/>
                <a:cs typeface="+mn-cs"/>
              </a:rPr>
              <a:t>Vorteil</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bestraft</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große</a:t>
            </a:r>
            <a:r>
              <a:rPr kumimoji="0" sz="1197" b="0" i="0" u="none" strike="noStrike" kern="1200" cap="none" spc="0" normalizeH="0" baseline="0" noProof="0" dirty="0">
                <a:ln>
                  <a:noFill/>
                </a:ln>
                <a:solidFill>
                  <a:srgbClr val="6C7278"/>
                </a:solidFill>
                <a:effectLst/>
                <a:uLnTx/>
                <a:uFillTx/>
                <a:latin typeface="Calibri"/>
                <a:ea typeface="+mn-ea"/>
                <a:cs typeface="+mn-cs"/>
              </a:rPr>
              <a:t> Fehler/</a:t>
            </a:r>
            <a:r>
              <a:rPr kumimoji="0" sz="1197" b="0" i="0" u="none" strike="noStrike" kern="1200" cap="none" spc="0" normalizeH="0" baseline="0" noProof="0" dirty="0" err="1">
                <a:ln>
                  <a:noFill/>
                </a:ln>
                <a:solidFill>
                  <a:srgbClr val="6C7278"/>
                </a:solidFill>
                <a:effectLst/>
                <a:uLnTx/>
                <a:uFillTx/>
                <a:latin typeface="Calibri"/>
                <a:ea typeface="+mn-ea"/>
                <a:cs typeface="+mn-cs"/>
              </a:rPr>
              <a:t>Ausreißer</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stärker</a:t>
            </a:r>
            <a:r>
              <a:rPr kumimoji="0" sz="1197" b="0" i="0" u="none" strike="noStrike" kern="1200" cap="none" spc="0" normalizeH="0" baseline="0" noProof="0" dirty="0">
                <a:ln>
                  <a:noFill/>
                </a:ln>
                <a:solidFill>
                  <a:srgbClr val="6C7278"/>
                </a:solidFill>
                <a:effectLst/>
                <a:uLnTx/>
                <a:uFillTx/>
                <a:latin typeface="Calibri"/>
                <a:ea typeface="+mn-ea"/>
                <a:cs typeface="+mn-cs"/>
              </a:rPr>
              <a:t> – </a:t>
            </a:r>
            <a:r>
              <a:rPr kumimoji="0" sz="1197" b="0" i="0" u="none" strike="noStrike" kern="1200" cap="none" spc="0" normalizeH="0" baseline="0" noProof="0" dirty="0" err="1">
                <a:ln>
                  <a:noFill/>
                </a:ln>
                <a:solidFill>
                  <a:srgbClr val="6C7278"/>
                </a:solidFill>
                <a:effectLst/>
                <a:uLnTx/>
                <a:uFillTx/>
                <a:latin typeface="Calibri"/>
                <a:ea typeface="+mn-ea"/>
                <a:cs typeface="+mn-cs"/>
              </a:rPr>
              <a:t>wichtig</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bei</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Belastungsspitzen</a:t>
            </a:r>
            <a:r>
              <a:rPr kumimoji="0" sz="1197" b="0" i="0" u="none" strike="noStrike" kern="1200" cap="none" spc="0" normalizeH="0" baseline="0" noProof="0" dirty="0">
                <a:ln>
                  <a:noFill/>
                </a:ln>
                <a:solidFill>
                  <a:srgbClr val="6C7278"/>
                </a:solidFill>
                <a:effectLst/>
                <a:uLnTx/>
                <a:uFillTx/>
                <a:latin typeface="Calibri"/>
                <a:ea typeface="+mn-ea"/>
                <a:cs typeface="+mn-cs"/>
              </a:rPr>
              <a:t>.</a:t>
            </a:r>
          </a:p>
          <a:p>
            <a:pPr marL="0" marR="0" lvl="0" indent="0" algn="l" defTabSz="912114" rtl="0" eaLnBrk="1" fontAlgn="auto" latinLnBrk="0" hangingPunct="1">
              <a:lnSpc>
                <a:spcPct val="100000"/>
              </a:lnSpc>
              <a:spcBef>
                <a:spcPts val="399"/>
              </a:spcBef>
              <a:spcAft>
                <a:spcPts val="0"/>
              </a:spcAft>
              <a:buClrTx/>
              <a:buSzTx/>
              <a:buFontTx/>
              <a:buNone/>
              <a:tabLst/>
              <a:defRPr/>
            </a:pPr>
            <a:r>
              <a:rPr kumimoji="0" sz="1197" b="0" i="0" u="none" strike="noStrike" kern="1200" cap="none" spc="0" normalizeH="0" baseline="0" noProof="0" dirty="0" err="1">
                <a:ln>
                  <a:noFill/>
                </a:ln>
                <a:solidFill>
                  <a:srgbClr val="6C7278"/>
                </a:solidFill>
                <a:effectLst/>
                <a:uLnTx/>
                <a:uFillTx/>
                <a:latin typeface="Calibri"/>
                <a:ea typeface="+mn-ea"/>
                <a:cs typeface="+mn-cs"/>
              </a:rPr>
              <a:t>Nachteil</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schwerer</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interpretierbar</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sehr</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sensitiv</a:t>
            </a:r>
            <a:r>
              <a:rPr kumimoji="0" sz="1197" b="0" i="0" u="none" strike="noStrike" kern="1200" cap="none" spc="0" normalizeH="0" baseline="0" noProof="0" dirty="0">
                <a:ln>
                  <a:noFill/>
                </a:ln>
                <a:solidFill>
                  <a:srgbClr val="6C7278"/>
                </a:solidFill>
                <a:effectLst/>
                <a:uLnTx/>
                <a:uFillTx/>
                <a:latin typeface="Calibri"/>
                <a:ea typeface="+mn-ea"/>
                <a:cs typeface="+mn-cs"/>
              </a:rPr>
              <a:t> g</a:t>
            </a:r>
            <a:r>
              <a:rPr kumimoji="0" lang="de-DE" sz="1197" b="0" i="0" u="none" strike="noStrike" kern="1200" cap="none" spc="0" normalizeH="0" baseline="0" noProof="0" dirty="0" err="1">
                <a:ln>
                  <a:noFill/>
                </a:ln>
                <a:solidFill>
                  <a:srgbClr val="6C7278"/>
                </a:solidFill>
                <a:effectLst/>
                <a:uLnTx/>
                <a:uFillTx/>
                <a:latin typeface="Calibri"/>
                <a:ea typeface="+mn-ea"/>
                <a:cs typeface="+mn-cs"/>
              </a:rPr>
              <a:t>egenüber</a:t>
            </a:r>
            <a:r>
              <a:rPr kumimoji="0" sz="1197" b="0" i="0" u="none" strike="noStrike" kern="1200" cap="none" spc="0" normalizeH="0" baseline="0" noProof="0" dirty="0">
                <a:ln>
                  <a:noFill/>
                </a:ln>
                <a:solidFill>
                  <a:srgbClr val="6C7278"/>
                </a:solidFill>
                <a:effectLst/>
                <a:uLnTx/>
                <a:uFillTx/>
                <a:latin typeface="Calibri"/>
                <a:ea typeface="+mn-ea"/>
                <a:cs typeface="+mn-cs"/>
              </a:rPr>
              <a:t> </a:t>
            </a:r>
            <a:r>
              <a:rPr kumimoji="0" sz="1197" b="0" i="0" u="none" strike="noStrike" kern="1200" cap="none" spc="0" normalizeH="0" baseline="0" noProof="0" dirty="0" err="1">
                <a:ln>
                  <a:noFill/>
                </a:ln>
                <a:solidFill>
                  <a:srgbClr val="6C7278"/>
                </a:solidFill>
                <a:effectLst/>
                <a:uLnTx/>
                <a:uFillTx/>
                <a:latin typeface="Calibri"/>
                <a:ea typeface="+mn-ea"/>
                <a:cs typeface="+mn-cs"/>
              </a:rPr>
              <a:t>Ausreißern</a:t>
            </a:r>
            <a:r>
              <a:rPr kumimoji="0" sz="1197" b="0" i="0" u="none" strike="noStrike" kern="1200" cap="none" spc="0" normalizeH="0" baseline="0" noProof="0" dirty="0">
                <a:ln>
                  <a:noFill/>
                </a:ln>
                <a:solidFill>
                  <a:srgbClr val="6C7278"/>
                </a:solidFill>
                <a:effectLst/>
                <a:uLnTx/>
                <a:uFillTx/>
                <a:latin typeface="Calibri"/>
                <a:ea typeface="+mn-ea"/>
                <a:cs typeface="+mn-cs"/>
              </a:rPr>
              <a:t>/</a:t>
            </a:r>
            <a:r>
              <a:rPr kumimoji="0" sz="1197" b="0" i="0" u="none" strike="noStrike" kern="1200" cap="none" spc="0" normalizeH="0" baseline="0" noProof="0" dirty="0" err="1">
                <a:ln>
                  <a:noFill/>
                </a:ln>
                <a:solidFill>
                  <a:srgbClr val="6C7278"/>
                </a:solidFill>
                <a:effectLst/>
                <a:uLnTx/>
                <a:uFillTx/>
                <a:latin typeface="Calibri"/>
                <a:ea typeface="+mn-ea"/>
                <a:cs typeface="+mn-cs"/>
              </a:rPr>
              <a:t>Messfehlern</a:t>
            </a:r>
            <a:r>
              <a:rPr kumimoji="0" sz="1197" b="0" i="0" u="none" strike="noStrike" kern="1200" cap="none" spc="0" normalizeH="0" baseline="0" noProof="0" dirty="0">
                <a:ln>
                  <a:noFill/>
                </a:ln>
                <a:solidFill>
                  <a:srgbClr val="6C7278"/>
                </a:solidFill>
                <a:effectLst/>
                <a:uLnTx/>
                <a:uFillTx/>
                <a:latin typeface="Calibri"/>
                <a:ea typeface="+mn-ea"/>
                <a:cs typeface="+mn-cs"/>
              </a:rPr>
              <a:t>.</a:t>
            </a:r>
          </a:p>
        </p:txBody>
      </p:sp>
    </p:spTree>
    <p:extLst>
      <p:ext uri="{BB962C8B-B14F-4D97-AF65-F5344CB8AC3E}">
        <p14:creationId xmlns:p14="http://schemas.microsoft.com/office/powerpoint/2010/main" val="14046580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EA434-B950-7783-98A4-561C0CA784F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BD366B0-E0A0-729F-6067-92FD7D76F953}"/>
              </a:ext>
            </a:extLst>
          </p:cNvPr>
          <p:cNvSpPr/>
          <p:nvPr/>
        </p:nvSpPr>
        <p:spPr>
          <a:xfrm>
            <a:off x="15044" y="8483"/>
            <a:ext cx="12130715" cy="6840315"/>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2114"/>
            <a:endParaRPr sz="1795">
              <a:solidFill>
                <a:srgbClr val="FFFFFF"/>
              </a:solidFill>
              <a:latin typeface="Calibri"/>
            </a:endParaRPr>
          </a:p>
        </p:txBody>
      </p:sp>
      <p:sp>
        <p:nvSpPr>
          <p:cNvPr id="3" name="TextBox 2">
            <a:extLst>
              <a:ext uri="{FF2B5EF4-FFF2-40B4-BE49-F238E27FC236}">
                <a16:creationId xmlns:a16="http://schemas.microsoft.com/office/drawing/2014/main" id="{FA7F9AEB-B0FD-D608-1C91-3B429086A7E7}"/>
              </a:ext>
            </a:extLst>
          </p:cNvPr>
          <p:cNvSpPr txBox="1"/>
          <p:nvPr/>
        </p:nvSpPr>
        <p:spPr>
          <a:xfrm>
            <a:off x="471113" y="418946"/>
            <a:ext cx="9793771" cy="491225"/>
          </a:xfrm>
          <a:prstGeom prst="rect">
            <a:avLst/>
          </a:prstGeom>
          <a:noFill/>
        </p:spPr>
        <p:txBody>
          <a:bodyPr wrap="none" lIns="0" tIns="0" rIns="0" bIns="0">
            <a:spAutoFit/>
          </a:bodyPr>
          <a:lstStyle/>
          <a:p>
            <a:pPr defTabSz="912114"/>
            <a:r>
              <a:rPr lang="de-DE" sz="3192" b="1" dirty="0">
                <a:solidFill>
                  <a:srgbClr val="22272B"/>
                </a:solidFill>
                <a:latin typeface="Cambria"/>
              </a:rPr>
              <a:t>Datenaufbereitung für </a:t>
            </a:r>
            <a:r>
              <a:rPr sz="3192" b="1" dirty="0">
                <a:solidFill>
                  <a:srgbClr val="22272B"/>
                </a:solidFill>
                <a:latin typeface="Cambria"/>
              </a:rPr>
              <a:t>Chronos-2: </a:t>
            </a:r>
            <a:r>
              <a:rPr lang="de-DE" sz="3192" b="1" dirty="0">
                <a:solidFill>
                  <a:srgbClr val="22272B"/>
                </a:solidFill>
                <a:latin typeface="Cambria"/>
              </a:rPr>
              <a:t>Datenaggregation</a:t>
            </a:r>
            <a:endParaRPr sz="3192" b="1" dirty="0">
              <a:solidFill>
                <a:srgbClr val="22272B"/>
              </a:solidFill>
              <a:latin typeface="Cambria"/>
            </a:endParaRPr>
          </a:p>
        </p:txBody>
      </p:sp>
      <p:sp>
        <p:nvSpPr>
          <p:cNvPr id="4" name="TextBox 3">
            <a:extLst>
              <a:ext uri="{FF2B5EF4-FFF2-40B4-BE49-F238E27FC236}">
                <a16:creationId xmlns:a16="http://schemas.microsoft.com/office/drawing/2014/main" id="{DBB6AD04-2B9C-FB11-EB4A-8A6801B2C8F2}"/>
              </a:ext>
            </a:extLst>
          </p:cNvPr>
          <p:cNvSpPr txBox="1"/>
          <p:nvPr/>
        </p:nvSpPr>
        <p:spPr>
          <a:xfrm>
            <a:off x="489427" y="1057442"/>
            <a:ext cx="10488867" cy="221947"/>
          </a:xfrm>
          <a:prstGeom prst="rect">
            <a:avLst/>
          </a:prstGeom>
          <a:noFill/>
        </p:spPr>
        <p:txBody>
          <a:bodyPr wrap="square" lIns="0" tIns="0" rIns="0" bIns="0">
            <a:spAutoFit/>
          </a:bodyPr>
          <a:lstStyle/>
          <a:p>
            <a:pPr defTabSz="912114"/>
            <a:r>
              <a:rPr lang="de-DE" sz="1446" dirty="0">
                <a:solidFill>
                  <a:srgbClr val="6C7278"/>
                </a:solidFill>
                <a:latin typeface="Calibri"/>
              </a:rPr>
              <a:t>Exemplarische </a:t>
            </a:r>
            <a:r>
              <a:rPr sz="1446" dirty="0">
                <a:solidFill>
                  <a:srgbClr val="6C7278"/>
                </a:solidFill>
                <a:latin typeface="Calibri"/>
              </a:rPr>
              <a:t>PM2.5-Zeitreihen </a:t>
            </a:r>
            <a:r>
              <a:rPr sz="1446" dirty="0" err="1">
                <a:solidFill>
                  <a:srgbClr val="6C7278"/>
                </a:solidFill>
                <a:latin typeface="Calibri"/>
              </a:rPr>
              <a:t>zweier</a:t>
            </a:r>
            <a:r>
              <a:rPr sz="1446" dirty="0">
                <a:solidFill>
                  <a:srgbClr val="6C7278"/>
                </a:solidFill>
                <a:latin typeface="Calibri"/>
              </a:rPr>
              <a:t> </a:t>
            </a:r>
            <a:r>
              <a:rPr sz="1446" dirty="0" err="1">
                <a:solidFill>
                  <a:srgbClr val="6C7278"/>
                </a:solidFill>
                <a:latin typeface="Calibri"/>
              </a:rPr>
              <a:t>Stationen</a:t>
            </a:r>
            <a:r>
              <a:rPr sz="1446" dirty="0">
                <a:solidFill>
                  <a:srgbClr val="6C7278"/>
                </a:solidFill>
                <a:latin typeface="Calibri"/>
              </a:rPr>
              <a:t> </a:t>
            </a:r>
            <a:r>
              <a:rPr sz="1446" dirty="0" err="1">
                <a:solidFill>
                  <a:srgbClr val="6C7278"/>
                </a:solidFill>
                <a:latin typeface="Calibri"/>
              </a:rPr>
              <a:t>mit</a:t>
            </a:r>
            <a:r>
              <a:rPr sz="1446" dirty="0">
                <a:solidFill>
                  <a:srgbClr val="6C7278"/>
                </a:solidFill>
                <a:latin typeface="Calibri"/>
              </a:rPr>
              <a:t> Train/Test-Cut – Aggregation </a:t>
            </a:r>
            <a:r>
              <a:rPr sz="1446" dirty="0" err="1">
                <a:solidFill>
                  <a:srgbClr val="6C7278"/>
                </a:solidFill>
                <a:latin typeface="Calibri"/>
              </a:rPr>
              <a:t>sichert</a:t>
            </a:r>
            <a:r>
              <a:rPr sz="1446" dirty="0">
                <a:solidFill>
                  <a:srgbClr val="6C7278"/>
                </a:solidFill>
                <a:latin typeface="Calibri"/>
              </a:rPr>
              <a:t> </a:t>
            </a:r>
            <a:r>
              <a:rPr sz="1446" dirty="0" err="1">
                <a:solidFill>
                  <a:srgbClr val="6C7278"/>
                </a:solidFill>
                <a:latin typeface="Calibri"/>
              </a:rPr>
              <a:t>ein</a:t>
            </a:r>
            <a:r>
              <a:rPr sz="1446" dirty="0">
                <a:solidFill>
                  <a:srgbClr val="6C7278"/>
                </a:solidFill>
                <a:latin typeface="Calibri"/>
              </a:rPr>
              <a:t> </a:t>
            </a:r>
            <a:r>
              <a:rPr sz="1446" dirty="0" err="1">
                <a:solidFill>
                  <a:srgbClr val="6C7278"/>
                </a:solidFill>
                <a:latin typeface="Calibri"/>
              </a:rPr>
              <a:t>volles</a:t>
            </a:r>
            <a:r>
              <a:rPr sz="1446" dirty="0">
                <a:solidFill>
                  <a:srgbClr val="6C7278"/>
                </a:solidFill>
                <a:latin typeface="Calibri"/>
              </a:rPr>
              <a:t> Jahr </a:t>
            </a:r>
            <a:r>
              <a:rPr sz="1446" dirty="0" err="1">
                <a:solidFill>
                  <a:srgbClr val="6C7278"/>
                </a:solidFill>
                <a:latin typeface="Calibri"/>
              </a:rPr>
              <a:t>im</a:t>
            </a:r>
            <a:r>
              <a:rPr sz="1446" dirty="0">
                <a:solidFill>
                  <a:srgbClr val="6C7278"/>
                </a:solidFill>
                <a:latin typeface="Calibri"/>
              </a:rPr>
              <a:t> </a:t>
            </a:r>
            <a:r>
              <a:rPr sz="1446" dirty="0" err="1">
                <a:solidFill>
                  <a:srgbClr val="6C7278"/>
                </a:solidFill>
                <a:latin typeface="Calibri"/>
              </a:rPr>
              <a:t>Kontextfenster</a:t>
            </a:r>
            <a:r>
              <a:rPr sz="1446" dirty="0">
                <a:solidFill>
                  <a:srgbClr val="6C7278"/>
                </a:solidFill>
                <a:latin typeface="Calibri"/>
              </a:rPr>
              <a:t> von Chronos-2.</a:t>
            </a:r>
          </a:p>
        </p:txBody>
      </p:sp>
      <p:sp>
        <p:nvSpPr>
          <p:cNvPr id="5" name="TextBox 4">
            <a:extLst>
              <a:ext uri="{FF2B5EF4-FFF2-40B4-BE49-F238E27FC236}">
                <a16:creationId xmlns:a16="http://schemas.microsoft.com/office/drawing/2014/main" id="{16F46705-3266-F522-D5F0-ED927CBB697C}"/>
              </a:ext>
            </a:extLst>
          </p:cNvPr>
          <p:cNvSpPr txBox="1"/>
          <p:nvPr/>
        </p:nvSpPr>
        <p:spPr>
          <a:xfrm>
            <a:off x="471113" y="6411763"/>
            <a:ext cx="2963953" cy="138179"/>
          </a:xfrm>
          <a:prstGeom prst="rect">
            <a:avLst/>
          </a:prstGeom>
          <a:noFill/>
        </p:spPr>
        <p:txBody>
          <a:bodyPr wrap="none" lIns="0" tIns="0" rIns="0" bIns="0">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sp>
        <p:nvSpPr>
          <p:cNvPr id="6" name="Rounded Rectangle 5">
            <a:extLst>
              <a:ext uri="{FF2B5EF4-FFF2-40B4-BE49-F238E27FC236}">
                <a16:creationId xmlns:a16="http://schemas.microsoft.com/office/drawing/2014/main" id="{001A9501-6646-4BCD-2C2E-9A151E7B97AC}"/>
              </a:ext>
            </a:extLst>
          </p:cNvPr>
          <p:cNvSpPr/>
          <p:nvPr/>
        </p:nvSpPr>
        <p:spPr>
          <a:xfrm>
            <a:off x="471113" y="1484822"/>
            <a:ext cx="11218577" cy="3391589"/>
          </a:xfrm>
          <a:prstGeom prst="roundRect">
            <a:avLst>
              <a:gd name="adj" fmla="val 5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2114"/>
            <a:endParaRPr sz="1795">
              <a:solidFill>
                <a:srgbClr val="FFFFFF"/>
              </a:solidFill>
              <a:latin typeface="Calibri"/>
            </a:endParaRPr>
          </a:p>
        </p:txBody>
      </p:sp>
      <p:pic>
        <p:nvPicPr>
          <p:cNvPr id="7" name="Picture 6" descr="timeseries_cut.png">
            <a:extLst>
              <a:ext uri="{FF2B5EF4-FFF2-40B4-BE49-F238E27FC236}">
                <a16:creationId xmlns:a16="http://schemas.microsoft.com/office/drawing/2014/main" id="{4105057B-379C-97BA-4873-D37C373B20A1}"/>
              </a:ext>
            </a:extLst>
          </p:cNvPr>
          <p:cNvPicPr>
            <a:picLocks noChangeAspect="1"/>
          </p:cNvPicPr>
          <p:nvPr/>
        </p:nvPicPr>
        <p:blipFill>
          <a:blip r:embed="rId2"/>
          <a:stretch>
            <a:fillRect/>
          </a:stretch>
        </p:blipFill>
        <p:spPr>
          <a:xfrm>
            <a:off x="1687128" y="1624476"/>
            <a:ext cx="8786546" cy="3112281"/>
          </a:xfrm>
          <a:prstGeom prst="rect">
            <a:avLst/>
          </a:prstGeom>
        </p:spPr>
      </p:pic>
      <p:sp>
        <p:nvSpPr>
          <p:cNvPr id="8" name="Rounded Rectangle 7">
            <a:extLst>
              <a:ext uri="{FF2B5EF4-FFF2-40B4-BE49-F238E27FC236}">
                <a16:creationId xmlns:a16="http://schemas.microsoft.com/office/drawing/2014/main" id="{6C297D1F-2C32-4669-48E7-5147FB903574}"/>
              </a:ext>
            </a:extLst>
          </p:cNvPr>
          <p:cNvSpPr/>
          <p:nvPr/>
        </p:nvSpPr>
        <p:spPr>
          <a:xfrm>
            <a:off x="471113" y="4996114"/>
            <a:ext cx="11218577" cy="1396536"/>
          </a:xfrm>
          <a:prstGeom prst="roundRect">
            <a:avLst>
              <a:gd name="adj" fmla="val 5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2114"/>
            <a:endParaRPr sz="1795">
              <a:solidFill>
                <a:srgbClr val="FFFFFF"/>
              </a:solidFill>
              <a:latin typeface="Calibri"/>
            </a:endParaRPr>
          </a:p>
        </p:txBody>
      </p:sp>
      <p:sp>
        <p:nvSpPr>
          <p:cNvPr id="9" name="TextBox 8">
            <a:extLst>
              <a:ext uri="{FF2B5EF4-FFF2-40B4-BE49-F238E27FC236}">
                <a16:creationId xmlns:a16="http://schemas.microsoft.com/office/drawing/2014/main" id="{D9E9BD08-112A-250E-716C-CB30BD7C0A53}"/>
              </a:ext>
            </a:extLst>
          </p:cNvPr>
          <p:cNvSpPr txBox="1"/>
          <p:nvPr/>
        </p:nvSpPr>
        <p:spPr>
          <a:xfrm>
            <a:off x="730470" y="5085700"/>
            <a:ext cx="4009106" cy="229622"/>
          </a:xfrm>
          <a:prstGeom prst="rect">
            <a:avLst/>
          </a:prstGeom>
          <a:noFill/>
        </p:spPr>
        <p:txBody>
          <a:bodyPr wrap="none" lIns="0" tIns="0" rIns="0" bIns="0">
            <a:spAutoFit/>
          </a:bodyPr>
          <a:lstStyle/>
          <a:p>
            <a:pPr defTabSz="912114"/>
            <a:r>
              <a:rPr sz="1496" b="1" dirty="0" err="1">
                <a:solidFill>
                  <a:srgbClr val="22272B"/>
                </a:solidFill>
                <a:latin typeface="Cambria"/>
              </a:rPr>
              <a:t>Warum</a:t>
            </a:r>
            <a:r>
              <a:rPr sz="1496" b="1" dirty="0">
                <a:solidFill>
                  <a:srgbClr val="22272B"/>
                </a:solidFill>
                <a:latin typeface="Cambria"/>
              </a:rPr>
              <a:t> Aggregation für Chronos-2 </a:t>
            </a:r>
            <a:r>
              <a:rPr sz="1496" b="1" dirty="0" err="1">
                <a:solidFill>
                  <a:srgbClr val="22272B"/>
                </a:solidFill>
                <a:latin typeface="Cambria"/>
              </a:rPr>
              <a:t>sinnvoll</a:t>
            </a:r>
            <a:r>
              <a:rPr sz="1496" b="1" dirty="0">
                <a:solidFill>
                  <a:srgbClr val="22272B"/>
                </a:solidFill>
                <a:latin typeface="Cambria"/>
              </a:rPr>
              <a:t> </a:t>
            </a:r>
            <a:r>
              <a:rPr sz="1496" b="1" dirty="0" err="1">
                <a:solidFill>
                  <a:srgbClr val="22272B"/>
                </a:solidFill>
                <a:latin typeface="Cambria"/>
              </a:rPr>
              <a:t>ist</a:t>
            </a:r>
            <a:endParaRPr sz="1496" b="1" dirty="0">
              <a:solidFill>
                <a:srgbClr val="22272B"/>
              </a:solidFill>
              <a:latin typeface="Cambria"/>
            </a:endParaRPr>
          </a:p>
        </p:txBody>
      </p:sp>
      <p:sp>
        <p:nvSpPr>
          <p:cNvPr id="10" name="TextBox 9">
            <a:extLst>
              <a:ext uri="{FF2B5EF4-FFF2-40B4-BE49-F238E27FC236}">
                <a16:creationId xmlns:a16="http://schemas.microsoft.com/office/drawing/2014/main" id="{AA8AE1F3-4FC6-879E-D74B-68D7AA2460B6}"/>
              </a:ext>
            </a:extLst>
          </p:cNvPr>
          <p:cNvSpPr txBox="1"/>
          <p:nvPr/>
        </p:nvSpPr>
        <p:spPr>
          <a:xfrm>
            <a:off x="730469" y="5373178"/>
            <a:ext cx="10699863" cy="925894"/>
          </a:xfrm>
          <a:prstGeom prst="rect">
            <a:avLst/>
          </a:prstGeom>
          <a:noFill/>
        </p:spPr>
        <p:txBody>
          <a:bodyPr wrap="square" lIns="0" tIns="0" rIns="0" bIns="0">
            <a:spAutoFit/>
          </a:bodyPr>
          <a:lstStyle/>
          <a:p>
            <a:pPr defTabSz="912114"/>
            <a:r>
              <a:rPr sz="1400" dirty="0">
                <a:solidFill>
                  <a:srgbClr val="6C7278"/>
                </a:solidFill>
                <a:latin typeface="Calibri"/>
              </a:rPr>
              <a:t>• </a:t>
            </a:r>
            <a:r>
              <a:rPr sz="1400" dirty="0">
                <a:solidFill>
                  <a:srgbClr val="000000"/>
                </a:solidFill>
                <a:latin typeface="Arial"/>
              </a:rPr>
              <a:t>Chronos-2 </a:t>
            </a:r>
            <a:r>
              <a:rPr sz="1400" dirty="0" err="1">
                <a:solidFill>
                  <a:srgbClr val="000000"/>
                </a:solidFill>
                <a:latin typeface="Arial"/>
              </a:rPr>
              <a:t>verarbeitet</a:t>
            </a:r>
            <a:r>
              <a:rPr sz="1400" dirty="0">
                <a:solidFill>
                  <a:srgbClr val="000000"/>
                </a:solidFill>
                <a:latin typeface="Arial"/>
              </a:rPr>
              <a:t> max. 8.192 </a:t>
            </a:r>
            <a:r>
              <a:rPr sz="1400" dirty="0" err="1">
                <a:solidFill>
                  <a:srgbClr val="000000"/>
                </a:solidFill>
                <a:latin typeface="Arial"/>
              </a:rPr>
              <a:t>Zeitschritte</a:t>
            </a:r>
            <a:r>
              <a:rPr sz="1400" dirty="0">
                <a:solidFill>
                  <a:srgbClr val="000000"/>
                </a:solidFill>
                <a:latin typeface="Arial"/>
              </a:rPr>
              <a:t> </a:t>
            </a:r>
            <a:r>
              <a:rPr sz="1400" dirty="0" err="1">
                <a:solidFill>
                  <a:srgbClr val="000000"/>
                </a:solidFill>
                <a:latin typeface="Arial"/>
              </a:rPr>
              <a:t>Kontext</a:t>
            </a:r>
            <a:r>
              <a:rPr sz="1400" dirty="0">
                <a:solidFill>
                  <a:srgbClr val="000000"/>
                </a:solidFill>
                <a:latin typeface="Arial"/>
              </a:rPr>
              <a:t> je Serie. Bei </a:t>
            </a:r>
            <a:r>
              <a:rPr sz="1400" dirty="0" err="1">
                <a:solidFill>
                  <a:srgbClr val="000000"/>
                </a:solidFill>
                <a:latin typeface="Arial"/>
              </a:rPr>
              <a:t>stündlicher</a:t>
            </a:r>
            <a:r>
              <a:rPr sz="1400" dirty="0">
                <a:solidFill>
                  <a:srgbClr val="000000"/>
                </a:solidFill>
                <a:latin typeface="Arial"/>
              </a:rPr>
              <a:t> </a:t>
            </a:r>
            <a:r>
              <a:rPr sz="1400" dirty="0" err="1">
                <a:solidFill>
                  <a:srgbClr val="000000"/>
                </a:solidFill>
                <a:latin typeface="Arial"/>
              </a:rPr>
              <a:t>Auflösung</a:t>
            </a:r>
            <a:r>
              <a:rPr sz="1400" dirty="0">
                <a:solidFill>
                  <a:srgbClr val="000000"/>
                </a:solidFill>
                <a:latin typeface="Arial"/>
              </a:rPr>
              <a:t> (</a:t>
            </a:r>
            <a:r>
              <a:rPr sz="1400" dirty="0" err="1">
                <a:solidFill>
                  <a:srgbClr val="000000"/>
                </a:solidFill>
                <a:latin typeface="Arial"/>
              </a:rPr>
              <a:t>violettes</a:t>
            </a:r>
            <a:r>
              <a:rPr sz="1400" dirty="0">
                <a:solidFill>
                  <a:srgbClr val="000000"/>
                </a:solidFill>
                <a:latin typeface="Arial"/>
              </a:rPr>
              <a:t> Band) </a:t>
            </a:r>
            <a:r>
              <a:rPr sz="1400" dirty="0" err="1">
                <a:solidFill>
                  <a:srgbClr val="000000"/>
                </a:solidFill>
                <a:latin typeface="Arial"/>
              </a:rPr>
              <a:t>sind</a:t>
            </a:r>
            <a:r>
              <a:rPr sz="1400" dirty="0">
                <a:solidFill>
                  <a:srgbClr val="000000"/>
                </a:solidFill>
                <a:latin typeface="Arial"/>
              </a:rPr>
              <a:t> das </a:t>
            </a:r>
            <a:r>
              <a:rPr sz="1400" dirty="0" err="1">
                <a:solidFill>
                  <a:srgbClr val="000000"/>
                </a:solidFill>
                <a:latin typeface="Arial"/>
              </a:rPr>
              <a:t>nur</a:t>
            </a:r>
            <a:r>
              <a:rPr sz="1400" dirty="0">
                <a:solidFill>
                  <a:srgbClr val="000000"/>
                </a:solidFill>
                <a:latin typeface="Arial"/>
              </a:rPr>
              <a:t> ≈ 341 Tage – </a:t>
            </a:r>
            <a:r>
              <a:rPr sz="1400" dirty="0" err="1">
                <a:solidFill>
                  <a:srgbClr val="000000"/>
                </a:solidFill>
                <a:latin typeface="Arial"/>
              </a:rPr>
              <a:t>knapp</a:t>
            </a:r>
            <a:r>
              <a:rPr sz="1400" dirty="0">
                <a:solidFill>
                  <a:srgbClr val="000000"/>
                </a:solidFill>
                <a:latin typeface="Arial"/>
              </a:rPr>
              <a:t> </a:t>
            </a:r>
            <a:r>
              <a:rPr sz="1400" dirty="0" err="1">
                <a:solidFill>
                  <a:srgbClr val="000000"/>
                </a:solidFill>
                <a:latin typeface="Arial"/>
              </a:rPr>
              <a:t>unter</a:t>
            </a:r>
            <a:r>
              <a:rPr sz="1400" dirty="0">
                <a:solidFill>
                  <a:srgbClr val="000000"/>
                </a:solidFill>
                <a:latin typeface="Arial"/>
              </a:rPr>
              <a:t> </a:t>
            </a:r>
            <a:r>
              <a:rPr sz="1400" dirty="0" err="1">
                <a:solidFill>
                  <a:srgbClr val="000000"/>
                </a:solidFill>
                <a:latin typeface="Arial"/>
              </a:rPr>
              <a:t>einem</a:t>
            </a:r>
            <a:r>
              <a:rPr sz="1400" dirty="0">
                <a:solidFill>
                  <a:srgbClr val="000000"/>
                </a:solidFill>
                <a:latin typeface="Arial"/>
              </a:rPr>
              <a:t> </a:t>
            </a:r>
            <a:r>
              <a:rPr sz="1400" dirty="0" err="1">
                <a:solidFill>
                  <a:srgbClr val="000000"/>
                </a:solidFill>
                <a:latin typeface="Arial"/>
              </a:rPr>
              <a:t>vollen</a:t>
            </a:r>
            <a:r>
              <a:rPr sz="1400" dirty="0">
                <a:solidFill>
                  <a:srgbClr val="000000"/>
                </a:solidFill>
                <a:latin typeface="Arial"/>
              </a:rPr>
              <a:t> Jahr, die </a:t>
            </a:r>
            <a:r>
              <a:rPr sz="1400" dirty="0" err="1">
                <a:solidFill>
                  <a:srgbClr val="000000"/>
                </a:solidFill>
                <a:latin typeface="Arial"/>
              </a:rPr>
              <a:t>Jahressaisonalität</a:t>
            </a:r>
            <a:r>
              <a:rPr sz="1400" dirty="0">
                <a:solidFill>
                  <a:srgbClr val="000000"/>
                </a:solidFill>
                <a:latin typeface="Arial"/>
              </a:rPr>
              <a:t> (Winter-Smog vs. Sommer) </a:t>
            </a:r>
            <a:r>
              <a:rPr sz="1400" dirty="0" err="1">
                <a:solidFill>
                  <a:srgbClr val="000000"/>
                </a:solidFill>
                <a:latin typeface="Arial"/>
              </a:rPr>
              <a:t>wird</a:t>
            </a:r>
            <a:r>
              <a:rPr sz="1400" dirty="0">
                <a:solidFill>
                  <a:srgbClr val="000000"/>
                </a:solidFill>
                <a:latin typeface="Arial"/>
              </a:rPr>
              <a:t> so nicht </a:t>
            </a:r>
            <a:r>
              <a:rPr sz="1400" dirty="0" err="1">
                <a:solidFill>
                  <a:srgbClr val="000000"/>
                </a:solidFill>
                <a:latin typeface="Arial"/>
              </a:rPr>
              <a:t>zuverlässig</a:t>
            </a:r>
            <a:r>
              <a:rPr sz="1400" dirty="0">
                <a:solidFill>
                  <a:srgbClr val="000000"/>
                </a:solidFill>
                <a:latin typeface="Arial"/>
              </a:rPr>
              <a:t> </a:t>
            </a:r>
            <a:r>
              <a:rPr sz="1400" dirty="0" err="1">
                <a:solidFill>
                  <a:srgbClr val="000000"/>
                </a:solidFill>
                <a:latin typeface="Arial"/>
              </a:rPr>
              <a:t>erfasst</a:t>
            </a:r>
            <a:r>
              <a:rPr sz="1400" dirty="0">
                <a:solidFill>
                  <a:srgbClr val="000000"/>
                </a:solidFill>
                <a:latin typeface="Arial"/>
              </a:rPr>
              <a:t>.</a:t>
            </a:r>
          </a:p>
          <a:p>
            <a:pPr defTabSz="912114">
              <a:spcBef>
                <a:spcPts val="499"/>
              </a:spcBef>
            </a:pPr>
            <a:r>
              <a:rPr sz="1400" dirty="0">
                <a:solidFill>
                  <a:srgbClr val="6C7278"/>
                </a:solidFill>
                <a:latin typeface="Calibri"/>
              </a:rPr>
              <a:t>• </a:t>
            </a:r>
            <a:r>
              <a:rPr sz="1400" dirty="0">
                <a:solidFill>
                  <a:srgbClr val="000000"/>
                </a:solidFill>
                <a:latin typeface="Arial"/>
              </a:rPr>
              <a:t>Bei 4-stündlicher Aggregation (</a:t>
            </a:r>
            <a:r>
              <a:rPr sz="1400" dirty="0" err="1">
                <a:solidFill>
                  <a:srgbClr val="000000"/>
                </a:solidFill>
                <a:latin typeface="Arial"/>
              </a:rPr>
              <a:t>grünes</a:t>
            </a:r>
            <a:r>
              <a:rPr sz="1400" dirty="0">
                <a:solidFill>
                  <a:srgbClr val="000000"/>
                </a:solidFill>
                <a:latin typeface="Arial"/>
              </a:rPr>
              <a:t> Band) </a:t>
            </a:r>
            <a:r>
              <a:rPr sz="1400" dirty="0" err="1">
                <a:solidFill>
                  <a:srgbClr val="000000"/>
                </a:solidFill>
                <a:latin typeface="Arial"/>
              </a:rPr>
              <a:t>wächst</a:t>
            </a:r>
            <a:r>
              <a:rPr sz="1400" dirty="0">
                <a:solidFill>
                  <a:srgbClr val="000000"/>
                </a:solidFill>
                <a:latin typeface="Arial"/>
              </a:rPr>
              <a:t> das Fenster auf ≈ 3,7 Jahre – </a:t>
            </a:r>
            <a:r>
              <a:rPr sz="1400" dirty="0" err="1">
                <a:solidFill>
                  <a:srgbClr val="000000"/>
                </a:solidFill>
                <a:latin typeface="Arial"/>
              </a:rPr>
              <a:t>nahezu</a:t>
            </a:r>
            <a:r>
              <a:rPr sz="1400" dirty="0">
                <a:solidFill>
                  <a:srgbClr val="000000"/>
                </a:solidFill>
                <a:latin typeface="Arial"/>
              </a:rPr>
              <a:t> die </a:t>
            </a:r>
            <a:r>
              <a:rPr sz="1400" dirty="0" err="1">
                <a:solidFill>
                  <a:srgbClr val="000000"/>
                </a:solidFill>
                <a:latin typeface="Arial"/>
              </a:rPr>
              <a:t>gesamte</a:t>
            </a:r>
            <a:r>
              <a:rPr sz="1400" dirty="0">
                <a:solidFill>
                  <a:srgbClr val="000000"/>
                </a:solidFill>
                <a:latin typeface="Arial"/>
              </a:rPr>
              <a:t> </a:t>
            </a:r>
            <a:r>
              <a:rPr sz="1400" dirty="0" err="1">
                <a:solidFill>
                  <a:srgbClr val="000000"/>
                </a:solidFill>
                <a:latin typeface="Arial"/>
              </a:rPr>
              <a:t>verfügbare</a:t>
            </a:r>
            <a:r>
              <a:rPr sz="1400" dirty="0">
                <a:solidFill>
                  <a:srgbClr val="000000"/>
                </a:solidFill>
                <a:latin typeface="Arial"/>
              </a:rPr>
              <a:t> </a:t>
            </a:r>
            <a:r>
              <a:rPr sz="1400" dirty="0" err="1">
                <a:solidFill>
                  <a:srgbClr val="000000"/>
                </a:solidFill>
                <a:latin typeface="Arial"/>
              </a:rPr>
              <a:t>Historie</a:t>
            </a:r>
            <a:r>
              <a:rPr sz="1400" dirty="0">
                <a:solidFill>
                  <a:srgbClr val="000000"/>
                </a:solidFill>
                <a:latin typeface="Arial"/>
              </a:rPr>
              <a:t> </a:t>
            </a:r>
            <a:r>
              <a:rPr sz="1400" dirty="0" err="1">
                <a:solidFill>
                  <a:srgbClr val="000000"/>
                </a:solidFill>
                <a:latin typeface="Arial"/>
              </a:rPr>
              <a:t>passt</a:t>
            </a:r>
            <a:r>
              <a:rPr sz="1400" dirty="0">
                <a:solidFill>
                  <a:srgbClr val="000000"/>
                </a:solidFill>
                <a:latin typeface="Arial"/>
              </a:rPr>
              <a:t> </a:t>
            </a:r>
            <a:r>
              <a:rPr sz="1400" dirty="0" err="1">
                <a:solidFill>
                  <a:srgbClr val="000000"/>
                </a:solidFill>
                <a:latin typeface="Arial"/>
              </a:rPr>
              <a:t>hinein</a:t>
            </a:r>
            <a:r>
              <a:rPr sz="1400" dirty="0">
                <a:solidFill>
                  <a:srgbClr val="000000"/>
                </a:solidFill>
                <a:latin typeface="Arial"/>
              </a:rPr>
              <a:t> und </a:t>
            </a:r>
            <a:r>
              <a:rPr sz="1400" dirty="0" err="1">
                <a:solidFill>
                  <a:srgbClr val="000000"/>
                </a:solidFill>
                <a:latin typeface="Arial"/>
              </a:rPr>
              <a:t>mehrere</a:t>
            </a:r>
            <a:r>
              <a:rPr sz="1400" dirty="0">
                <a:solidFill>
                  <a:srgbClr val="000000"/>
                </a:solidFill>
                <a:latin typeface="Arial"/>
              </a:rPr>
              <a:t> </a:t>
            </a:r>
            <a:r>
              <a:rPr sz="1400" dirty="0" err="1">
                <a:solidFill>
                  <a:srgbClr val="000000"/>
                </a:solidFill>
                <a:latin typeface="Arial"/>
              </a:rPr>
              <a:t>volle</a:t>
            </a:r>
            <a:r>
              <a:rPr sz="1400" dirty="0">
                <a:solidFill>
                  <a:srgbClr val="000000"/>
                </a:solidFill>
                <a:latin typeface="Arial"/>
              </a:rPr>
              <a:t> </a:t>
            </a:r>
            <a:r>
              <a:rPr sz="1400" dirty="0" err="1">
                <a:solidFill>
                  <a:srgbClr val="000000"/>
                </a:solidFill>
                <a:latin typeface="Arial"/>
              </a:rPr>
              <a:t>Jahreszyklen</a:t>
            </a:r>
            <a:r>
              <a:rPr sz="1400" dirty="0">
                <a:solidFill>
                  <a:srgbClr val="000000"/>
                </a:solidFill>
                <a:latin typeface="Arial"/>
              </a:rPr>
              <a:t> </a:t>
            </a:r>
            <a:r>
              <a:rPr sz="1400" dirty="0" err="1">
                <a:solidFill>
                  <a:srgbClr val="000000"/>
                </a:solidFill>
                <a:latin typeface="Arial"/>
              </a:rPr>
              <a:t>stehen</a:t>
            </a:r>
            <a:r>
              <a:rPr sz="1400" dirty="0">
                <a:solidFill>
                  <a:srgbClr val="000000"/>
                </a:solidFill>
                <a:latin typeface="Arial"/>
              </a:rPr>
              <a:t> </a:t>
            </a:r>
            <a:r>
              <a:rPr sz="1400" dirty="0" err="1">
                <a:solidFill>
                  <a:srgbClr val="000000"/>
                </a:solidFill>
                <a:latin typeface="Arial"/>
              </a:rPr>
              <a:t>als</a:t>
            </a:r>
            <a:r>
              <a:rPr sz="1400" dirty="0">
                <a:solidFill>
                  <a:srgbClr val="000000"/>
                </a:solidFill>
                <a:latin typeface="Arial"/>
              </a:rPr>
              <a:t> </a:t>
            </a:r>
            <a:r>
              <a:rPr sz="1400" dirty="0" err="1">
                <a:solidFill>
                  <a:srgbClr val="000000"/>
                </a:solidFill>
                <a:latin typeface="Arial"/>
              </a:rPr>
              <a:t>Kontext</a:t>
            </a:r>
            <a:r>
              <a:rPr sz="1400" dirty="0">
                <a:solidFill>
                  <a:srgbClr val="000000"/>
                </a:solidFill>
                <a:latin typeface="Arial"/>
              </a:rPr>
              <a:t> </a:t>
            </a:r>
            <a:r>
              <a:rPr sz="1400" dirty="0" err="1">
                <a:solidFill>
                  <a:srgbClr val="000000"/>
                </a:solidFill>
                <a:latin typeface="Arial"/>
              </a:rPr>
              <a:t>bereit</a:t>
            </a:r>
            <a:r>
              <a:rPr sz="1400" dirty="0">
                <a:solidFill>
                  <a:srgbClr val="000000"/>
                </a:solidFill>
                <a:latin typeface="Arial"/>
              </a:rPr>
              <a:t>.</a:t>
            </a:r>
          </a:p>
        </p:txBody>
      </p:sp>
    </p:spTree>
    <p:extLst>
      <p:ext uri="{BB962C8B-B14F-4D97-AF65-F5344CB8AC3E}">
        <p14:creationId xmlns:p14="http://schemas.microsoft.com/office/powerpoint/2010/main" val="1448756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68123-0313-006F-7A74-7240A46B1B1B}"/>
            </a:ext>
          </a:extLst>
        </p:cNvPr>
        <p:cNvGrpSpPr/>
        <p:nvPr/>
      </p:nvGrpSpPr>
      <p:grpSpPr>
        <a:xfrm>
          <a:off x="0" y="0"/>
          <a:ext cx="0" cy="0"/>
          <a:chOff x="0" y="0"/>
          <a:chExt cx="0" cy="0"/>
        </a:xfrm>
      </p:grpSpPr>
      <p:sp>
        <p:nvSpPr>
          <p:cNvPr id="8" name="Rectangle 1">
            <a:extLst>
              <a:ext uri="{FF2B5EF4-FFF2-40B4-BE49-F238E27FC236}">
                <a16:creationId xmlns:a16="http://schemas.microsoft.com/office/drawing/2014/main" id="{ACEF664E-B97B-7641-EC5F-3D9E6D66A5D9}"/>
              </a:ext>
            </a:extLst>
          </p:cNvPr>
          <p:cNvSpPr/>
          <p:nvPr/>
        </p:nvSpPr>
        <p:spPr>
          <a:xfrm>
            <a:off x="15044" y="8483"/>
            <a:ext cx="12130715" cy="6840315"/>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283" name="TextBox 23">
            <a:extLst>
              <a:ext uri="{FF2B5EF4-FFF2-40B4-BE49-F238E27FC236}">
                <a16:creationId xmlns:a16="http://schemas.microsoft.com/office/drawing/2014/main" id="{2D984C9F-0281-B10F-36EB-8D0799F184A9}"/>
              </a:ext>
            </a:extLst>
          </p:cNvPr>
          <p:cNvSpPr/>
          <p:nvPr/>
        </p:nvSpPr>
        <p:spPr>
          <a:xfrm>
            <a:off x="457200" y="753840"/>
            <a:ext cx="1051200" cy="45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dirty="0">
                <a:solidFill>
                  <a:srgbClr val="FFFFFF"/>
                </a:solidFill>
                <a:latin typeface="Cambria"/>
              </a:rPr>
              <a:t>4</a:t>
            </a:r>
            <a:endParaRPr lang="de-DE" sz="3000" b="0" u="none" strike="noStrike" dirty="0">
              <a:solidFill>
                <a:srgbClr val="000000"/>
              </a:solidFill>
              <a:effectLst/>
              <a:uFillTx/>
              <a:latin typeface="Arial"/>
            </a:endParaRPr>
          </a:p>
        </p:txBody>
      </p:sp>
      <p:sp>
        <p:nvSpPr>
          <p:cNvPr id="285" name="TextBox 29">
            <a:extLst>
              <a:ext uri="{FF2B5EF4-FFF2-40B4-BE49-F238E27FC236}">
                <a16:creationId xmlns:a16="http://schemas.microsoft.com/office/drawing/2014/main" id="{B28AB539-0CF1-6A24-6815-FE33930DE4F4}"/>
              </a:ext>
            </a:extLst>
          </p:cNvPr>
          <p:cNvSpPr/>
          <p:nvPr/>
        </p:nvSpPr>
        <p:spPr>
          <a:xfrm>
            <a:off x="1710000" y="1115640"/>
            <a:ext cx="9143640" cy="213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endParaRPr lang="de-DE" sz="1800" b="0" u="none" strike="noStrike">
              <a:solidFill>
                <a:srgbClr val="000000"/>
              </a:solidFill>
              <a:effectLst/>
              <a:uFillTx/>
              <a:latin typeface="Arial"/>
            </a:endParaRPr>
          </a:p>
        </p:txBody>
      </p:sp>
      <p:sp>
        <p:nvSpPr>
          <p:cNvPr id="286" name="TextBox 65">
            <a:extLst>
              <a:ext uri="{FF2B5EF4-FFF2-40B4-BE49-F238E27FC236}">
                <a16:creationId xmlns:a16="http://schemas.microsoft.com/office/drawing/2014/main" id="{1421455C-6A99-C8F2-505F-56EFE9E0BCA8}"/>
              </a:ext>
            </a:extLst>
          </p:cNvP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pic>
        <p:nvPicPr>
          <p:cNvPr id="7" name="Grafik 6">
            <a:extLst>
              <a:ext uri="{FF2B5EF4-FFF2-40B4-BE49-F238E27FC236}">
                <a16:creationId xmlns:a16="http://schemas.microsoft.com/office/drawing/2014/main" id="{2E3378C2-2DB5-7DA7-09F0-DE22DAB054C1}"/>
              </a:ext>
            </a:extLst>
          </p:cNvPr>
          <p:cNvPicPr>
            <a:picLocks noChangeAspect="1"/>
          </p:cNvPicPr>
          <p:nvPr/>
        </p:nvPicPr>
        <p:blipFill>
          <a:blip r:embed="rId3"/>
          <a:stretch>
            <a:fillRect/>
          </a:stretch>
        </p:blipFill>
        <p:spPr>
          <a:xfrm>
            <a:off x="334504" y="70114"/>
            <a:ext cx="11704697" cy="6152556"/>
          </a:xfrm>
          <a:prstGeom prst="rect">
            <a:avLst/>
          </a:prstGeom>
        </p:spPr>
      </p:pic>
    </p:spTree>
    <p:extLst>
      <p:ext uri="{BB962C8B-B14F-4D97-AF65-F5344CB8AC3E}">
        <p14:creationId xmlns:p14="http://schemas.microsoft.com/office/powerpoint/2010/main" val="28785513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039FC-A376-A3C8-8B17-D5C29D5D8DD8}"/>
            </a:ext>
          </a:extLst>
        </p:cNvPr>
        <p:cNvGrpSpPr/>
        <p:nvPr/>
      </p:nvGrpSpPr>
      <p:grpSpPr>
        <a:xfrm>
          <a:off x="0" y="0"/>
          <a:ext cx="0" cy="0"/>
          <a:chOff x="0" y="0"/>
          <a:chExt cx="0" cy="0"/>
        </a:xfrm>
      </p:grpSpPr>
      <p:sp>
        <p:nvSpPr>
          <p:cNvPr id="8" name="Rectangle 1">
            <a:extLst>
              <a:ext uri="{FF2B5EF4-FFF2-40B4-BE49-F238E27FC236}">
                <a16:creationId xmlns:a16="http://schemas.microsoft.com/office/drawing/2014/main" id="{8DFC8ABA-3210-DF0A-9E57-0EE4C7662625}"/>
              </a:ext>
            </a:extLst>
          </p:cNvPr>
          <p:cNvSpPr/>
          <p:nvPr/>
        </p:nvSpPr>
        <p:spPr>
          <a:xfrm>
            <a:off x="15044" y="8483"/>
            <a:ext cx="12130715" cy="6840315"/>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282" name="Oval 12">
            <a:extLst>
              <a:ext uri="{FF2B5EF4-FFF2-40B4-BE49-F238E27FC236}">
                <a16:creationId xmlns:a16="http://schemas.microsoft.com/office/drawing/2014/main" id="{7B2BA9B4-FC0D-54DF-3DC3-F23B4311E40A}"/>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83" name="TextBox 23">
            <a:extLst>
              <a:ext uri="{FF2B5EF4-FFF2-40B4-BE49-F238E27FC236}">
                <a16:creationId xmlns:a16="http://schemas.microsoft.com/office/drawing/2014/main" id="{842B687E-D014-FF0E-6E77-189BDFCF2146}"/>
              </a:ext>
            </a:extLst>
          </p:cNvPr>
          <p:cNvSpPr/>
          <p:nvPr/>
        </p:nvSpPr>
        <p:spPr>
          <a:xfrm>
            <a:off x="457200" y="753840"/>
            <a:ext cx="1051200" cy="45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dirty="0">
                <a:solidFill>
                  <a:srgbClr val="FFFFFF"/>
                </a:solidFill>
                <a:latin typeface="Cambria"/>
              </a:rPr>
              <a:t>4</a:t>
            </a:r>
            <a:endParaRPr lang="de-DE" sz="3000" b="0" u="none" strike="noStrike" dirty="0">
              <a:solidFill>
                <a:srgbClr val="000000"/>
              </a:solidFill>
              <a:effectLst/>
              <a:uFillTx/>
              <a:latin typeface="Arial"/>
            </a:endParaRPr>
          </a:p>
        </p:txBody>
      </p:sp>
      <p:sp>
        <p:nvSpPr>
          <p:cNvPr id="284" name="TextBox 28">
            <a:extLst>
              <a:ext uri="{FF2B5EF4-FFF2-40B4-BE49-F238E27FC236}">
                <a16:creationId xmlns:a16="http://schemas.microsoft.com/office/drawing/2014/main" id="{C01FAD77-16BC-21AD-0337-E388F1163DC7}"/>
              </a:ext>
            </a:extLst>
          </p:cNvPr>
          <p:cNvSpPr/>
          <p:nvPr/>
        </p:nvSpPr>
        <p:spPr>
          <a:xfrm>
            <a:off x="1691640" y="369034"/>
            <a:ext cx="9573840" cy="861774"/>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ctr">
            <a:spAutoFit/>
          </a:bodyPr>
          <a:lstStyle/>
          <a:p>
            <a:pPr defTabSz="457200">
              <a:lnSpc>
                <a:spcPct val="100000"/>
              </a:lnSpc>
            </a:pPr>
            <a:r>
              <a:rPr lang="en-US" sz="2800" b="1" dirty="0" err="1">
                <a:solidFill>
                  <a:srgbClr val="22272B"/>
                </a:solidFill>
                <a:latin typeface="Cambria"/>
              </a:rPr>
              <a:t>Exemplarische</a:t>
            </a:r>
            <a:r>
              <a:rPr lang="en-US" sz="2800" b="1" dirty="0">
                <a:solidFill>
                  <a:srgbClr val="22272B"/>
                </a:solidFill>
                <a:latin typeface="Cambria"/>
              </a:rPr>
              <a:t> </a:t>
            </a:r>
            <a:r>
              <a:rPr lang="en-US" sz="2800" b="1" dirty="0" err="1">
                <a:solidFill>
                  <a:srgbClr val="22272B"/>
                </a:solidFill>
                <a:latin typeface="Cambria"/>
              </a:rPr>
              <a:t>Vorhersagen</a:t>
            </a:r>
            <a:r>
              <a:rPr lang="en-US" sz="2800" b="1" dirty="0">
                <a:solidFill>
                  <a:srgbClr val="22272B"/>
                </a:solidFill>
                <a:latin typeface="Cambria"/>
              </a:rPr>
              <a:t> </a:t>
            </a:r>
            <a:r>
              <a:rPr lang="en-US" sz="2800" b="1" dirty="0" err="1">
                <a:solidFill>
                  <a:srgbClr val="22272B"/>
                </a:solidFill>
                <a:latin typeface="Cambria"/>
              </a:rPr>
              <a:t>inkl</a:t>
            </a:r>
            <a:r>
              <a:rPr lang="en-US" sz="2800" b="1" dirty="0">
                <a:solidFill>
                  <a:srgbClr val="22272B"/>
                </a:solidFill>
                <a:latin typeface="Cambria"/>
              </a:rPr>
              <a:t>. </a:t>
            </a:r>
            <a:r>
              <a:rPr lang="en-US" sz="2800" b="1" dirty="0" err="1">
                <a:solidFill>
                  <a:srgbClr val="22272B"/>
                </a:solidFill>
                <a:latin typeface="Cambria"/>
              </a:rPr>
              <a:t>Konfidenzintervallen</a:t>
            </a:r>
            <a:r>
              <a:rPr lang="en-US" sz="2800" b="1" dirty="0">
                <a:solidFill>
                  <a:srgbClr val="22272B"/>
                </a:solidFill>
                <a:latin typeface="Cambria"/>
              </a:rPr>
              <a:t> für Prophet*, Chronos-2 und TFT</a:t>
            </a:r>
            <a:endParaRPr lang="de-DE" sz="2800" b="0" u="none" strike="noStrike" dirty="0">
              <a:solidFill>
                <a:srgbClr val="000000"/>
              </a:solidFill>
              <a:effectLst/>
              <a:uFillTx/>
              <a:latin typeface="Arial"/>
            </a:endParaRPr>
          </a:p>
        </p:txBody>
      </p:sp>
      <p:sp>
        <p:nvSpPr>
          <p:cNvPr id="285" name="TextBox 29">
            <a:extLst>
              <a:ext uri="{FF2B5EF4-FFF2-40B4-BE49-F238E27FC236}">
                <a16:creationId xmlns:a16="http://schemas.microsoft.com/office/drawing/2014/main" id="{DB1D6BFE-32C7-866A-1665-E0E2E8E96A2D}"/>
              </a:ext>
            </a:extLst>
          </p:cNvPr>
          <p:cNvSpPr/>
          <p:nvPr/>
        </p:nvSpPr>
        <p:spPr>
          <a:xfrm>
            <a:off x="1710000" y="1115640"/>
            <a:ext cx="9143640" cy="213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endParaRPr lang="de-DE" sz="1800" b="0" u="none" strike="noStrike">
              <a:solidFill>
                <a:srgbClr val="000000"/>
              </a:solidFill>
              <a:effectLst/>
              <a:uFillTx/>
              <a:latin typeface="Arial"/>
            </a:endParaRPr>
          </a:p>
        </p:txBody>
      </p:sp>
      <p:sp>
        <p:nvSpPr>
          <p:cNvPr id="286" name="TextBox 65">
            <a:extLst>
              <a:ext uri="{FF2B5EF4-FFF2-40B4-BE49-F238E27FC236}">
                <a16:creationId xmlns:a16="http://schemas.microsoft.com/office/drawing/2014/main" id="{5892D3ED-A220-94B3-A758-6C59B0D0E726}"/>
              </a:ext>
            </a:extLst>
          </p:cNvP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sp>
        <p:nvSpPr>
          <p:cNvPr id="14" name="Textfeld 13">
            <a:extLst>
              <a:ext uri="{FF2B5EF4-FFF2-40B4-BE49-F238E27FC236}">
                <a16:creationId xmlns:a16="http://schemas.microsoft.com/office/drawing/2014/main" id="{2459F48C-617B-1D2C-4D58-87F06CE09D4E}"/>
              </a:ext>
            </a:extLst>
          </p:cNvPr>
          <p:cNvSpPr txBox="1"/>
          <p:nvPr/>
        </p:nvSpPr>
        <p:spPr>
          <a:xfrm>
            <a:off x="345420" y="5415219"/>
            <a:ext cx="10992960" cy="829543"/>
          </a:xfrm>
          <a:prstGeom prst="rect">
            <a:avLst/>
          </a:prstGeom>
          <a:noFill/>
          <a:ln w="0">
            <a:noFill/>
          </a:ln>
        </p:spPr>
        <p:txBody>
          <a:bodyPr wrap="square" lIns="90000" tIns="45000" rIns="90000" bIns="45000" anchor="t">
            <a:spAutoFit/>
          </a:bodyPr>
          <a:lstStyle/>
          <a:p>
            <a:pPr algn="ctr"/>
            <a:r>
              <a:rPr lang="de-DE" sz="1600" dirty="0">
                <a:solidFill>
                  <a:srgbClr val="000000"/>
                </a:solidFill>
                <a:latin typeface="Arial"/>
                <a:sym typeface="Wingdings" panose="05000000000000000000" pitchFamily="2" charset="2"/>
              </a:rPr>
              <a:t> Alle Algorithmen bieten neben der Punktvorhersage auch die Möglichkeit, Konfidenzintervalle vorherzusagen. Das Konfidenzintervall bei TFT zeigt eine geringere Schwankungsbreite als bei Chronos.</a:t>
            </a:r>
            <a:endParaRPr lang="de-DE" sz="1600" dirty="0"/>
          </a:p>
          <a:p>
            <a:pPr algn="ctr"/>
            <a:r>
              <a:rPr lang="de-DE" sz="1600" b="0" u="none" strike="noStrike" dirty="0">
                <a:solidFill>
                  <a:srgbClr val="000000"/>
                </a:solidFill>
                <a:effectLst/>
                <a:uFillTx/>
                <a:latin typeface="Arial"/>
              </a:rPr>
              <a:t> </a:t>
            </a:r>
          </a:p>
        </p:txBody>
      </p:sp>
      <p:sp>
        <p:nvSpPr>
          <p:cNvPr id="2" name="Textfeld 1">
            <a:extLst>
              <a:ext uri="{FF2B5EF4-FFF2-40B4-BE49-F238E27FC236}">
                <a16:creationId xmlns:a16="http://schemas.microsoft.com/office/drawing/2014/main" id="{80BDBF3C-3092-06B9-E7E4-761469988CEF}"/>
              </a:ext>
            </a:extLst>
          </p:cNvPr>
          <p:cNvSpPr txBox="1"/>
          <p:nvPr/>
        </p:nvSpPr>
        <p:spPr>
          <a:xfrm>
            <a:off x="5231757" y="6303434"/>
            <a:ext cx="6811701" cy="369332"/>
          </a:xfrm>
          <a:prstGeom prst="rect">
            <a:avLst/>
          </a:prstGeom>
          <a:noFill/>
        </p:spPr>
        <p:txBody>
          <a:bodyPr wrap="square" rtlCol="0">
            <a:spAutoFit/>
          </a:bodyPr>
          <a:lstStyle/>
          <a:p>
            <a:r>
              <a:rPr lang="de-DE" dirty="0"/>
              <a:t>* Hier reine MAP-Schätzung, alternativ auch MCMC-Sampling möglich.</a:t>
            </a:r>
          </a:p>
        </p:txBody>
      </p:sp>
      <p:pic>
        <p:nvPicPr>
          <p:cNvPr id="4" name="Grafik 3">
            <a:extLst>
              <a:ext uri="{FF2B5EF4-FFF2-40B4-BE49-F238E27FC236}">
                <a16:creationId xmlns:a16="http://schemas.microsoft.com/office/drawing/2014/main" id="{3695B6C5-873F-1EA2-CA67-7CEF3BA94F5F}"/>
              </a:ext>
            </a:extLst>
          </p:cNvPr>
          <p:cNvPicPr>
            <a:picLocks noChangeAspect="1"/>
          </p:cNvPicPr>
          <p:nvPr/>
        </p:nvPicPr>
        <p:blipFill>
          <a:blip r:embed="rId3"/>
          <a:stretch>
            <a:fillRect/>
          </a:stretch>
        </p:blipFill>
        <p:spPr>
          <a:xfrm>
            <a:off x="252162" y="1805040"/>
            <a:ext cx="11669762" cy="3251331"/>
          </a:xfrm>
          <a:prstGeom prst="rect">
            <a:avLst/>
          </a:prstGeom>
        </p:spPr>
      </p:pic>
    </p:spTree>
    <p:extLst>
      <p:ext uri="{BB962C8B-B14F-4D97-AF65-F5344CB8AC3E}">
        <p14:creationId xmlns:p14="http://schemas.microsoft.com/office/powerpoint/2010/main" val="17016172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1191E-02C3-7628-72A1-ECF93BCD564C}"/>
            </a:ext>
          </a:extLst>
        </p:cNvPr>
        <p:cNvGrpSpPr/>
        <p:nvPr/>
      </p:nvGrpSpPr>
      <p:grpSpPr>
        <a:xfrm>
          <a:off x="0" y="0"/>
          <a:ext cx="0" cy="0"/>
          <a:chOff x="0" y="0"/>
          <a:chExt cx="0" cy="0"/>
        </a:xfrm>
      </p:grpSpPr>
      <p:sp>
        <p:nvSpPr>
          <p:cNvPr id="8" name="Rectangle 1">
            <a:extLst>
              <a:ext uri="{FF2B5EF4-FFF2-40B4-BE49-F238E27FC236}">
                <a16:creationId xmlns:a16="http://schemas.microsoft.com/office/drawing/2014/main" id="{E5E29F2A-225B-6302-088B-43F6B2956B21}"/>
              </a:ext>
            </a:extLst>
          </p:cNvPr>
          <p:cNvSpPr/>
          <p:nvPr/>
        </p:nvSpPr>
        <p:spPr>
          <a:xfrm>
            <a:off x="15044" y="8483"/>
            <a:ext cx="12130715" cy="6840315"/>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282" name="Oval 12">
            <a:extLst>
              <a:ext uri="{FF2B5EF4-FFF2-40B4-BE49-F238E27FC236}">
                <a16:creationId xmlns:a16="http://schemas.microsoft.com/office/drawing/2014/main" id="{905C5B16-8F90-D9A7-8779-1340CBEBCB04}"/>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83" name="TextBox 23">
            <a:extLst>
              <a:ext uri="{FF2B5EF4-FFF2-40B4-BE49-F238E27FC236}">
                <a16:creationId xmlns:a16="http://schemas.microsoft.com/office/drawing/2014/main" id="{0DEB5E2E-D1C7-E777-3CC1-95268094A4FC}"/>
              </a:ext>
            </a:extLst>
          </p:cNvPr>
          <p:cNvSpPr/>
          <p:nvPr/>
        </p:nvSpPr>
        <p:spPr>
          <a:xfrm>
            <a:off x="457200" y="753840"/>
            <a:ext cx="1051200" cy="45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dirty="0">
                <a:solidFill>
                  <a:srgbClr val="FFFFFF"/>
                </a:solidFill>
                <a:latin typeface="Cambria"/>
              </a:rPr>
              <a:t>4</a:t>
            </a:r>
            <a:endParaRPr lang="de-DE" sz="3000" b="0" u="none" strike="noStrike" dirty="0">
              <a:solidFill>
                <a:srgbClr val="000000"/>
              </a:solidFill>
              <a:effectLst/>
              <a:uFillTx/>
              <a:latin typeface="Arial"/>
            </a:endParaRPr>
          </a:p>
        </p:txBody>
      </p:sp>
      <p:sp>
        <p:nvSpPr>
          <p:cNvPr id="284" name="TextBox 28">
            <a:extLst>
              <a:ext uri="{FF2B5EF4-FFF2-40B4-BE49-F238E27FC236}">
                <a16:creationId xmlns:a16="http://schemas.microsoft.com/office/drawing/2014/main" id="{822B94BE-31C9-CF03-E6B2-3D7D3596A545}"/>
              </a:ext>
            </a:extLst>
          </p:cNvPr>
          <p:cNvSpPr/>
          <p:nvPr/>
        </p:nvSpPr>
        <p:spPr>
          <a:xfrm>
            <a:off x="1691640" y="369034"/>
            <a:ext cx="9573840" cy="861774"/>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ctr">
            <a:spAutoFit/>
          </a:bodyPr>
          <a:lstStyle/>
          <a:p>
            <a:pPr defTabSz="457200">
              <a:lnSpc>
                <a:spcPct val="100000"/>
              </a:lnSpc>
            </a:pPr>
            <a:r>
              <a:rPr lang="en-US" sz="2800" b="1" dirty="0" err="1">
                <a:solidFill>
                  <a:srgbClr val="22272B"/>
                </a:solidFill>
                <a:latin typeface="Cambria"/>
              </a:rPr>
              <a:t>Exemplarische</a:t>
            </a:r>
            <a:r>
              <a:rPr lang="en-US" sz="2800" b="1" dirty="0">
                <a:solidFill>
                  <a:srgbClr val="22272B"/>
                </a:solidFill>
                <a:latin typeface="Cambria"/>
              </a:rPr>
              <a:t> </a:t>
            </a:r>
            <a:r>
              <a:rPr lang="en-US" sz="2800" b="1" dirty="0" err="1">
                <a:solidFill>
                  <a:srgbClr val="22272B"/>
                </a:solidFill>
                <a:latin typeface="Cambria"/>
              </a:rPr>
              <a:t>Vorhersagen</a:t>
            </a:r>
            <a:r>
              <a:rPr lang="en-US" sz="2800" b="1" dirty="0">
                <a:solidFill>
                  <a:srgbClr val="22272B"/>
                </a:solidFill>
                <a:latin typeface="Cambria"/>
              </a:rPr>
              <a:t> </a:t>
            </a:r>
            <a:r>
              <a:rPr lang="en-US" sz="2800" b="1" dirty="0" err="1">
                <a:solidFill>
                  <a:srgbClr val="22272B"/>
                </a:solidFill>
                <a:latin typeface="Cambria"/>
              </a:rPr>
              <a:t>inkl</a:t>
            </a:r>
            <a:r>
              <a:rPr lang="en-US" sz="2800" b="1" dirty="0">
                <a:solidFill>
                  <a:srgbClr val="22272B"/>
                </a:solidFill>
                <a:latin typeface="Cambria"/>
              </a:rPr>
              <a:t>. </a:t>
            </a:r>
            <a:r>
              <a:rPr lang="en-US" sz="2800" b="1" dirty="0" err="1">
                <a:solidFill>
                  <a:srgbClr val="22272B"/>
                </a:solidFill>
                <a:latin typeface="Cambria"/>
              </a:rPr>
              <a:t>Konfidenzintervallen</a:t>
            </a:r>
            <a:r>
              <a:rPr lang="en-US" sz="2800" b="1" dirty="0">
                <a:solidFill>
                  <a:srgbClr val="22272B"/>
                </a:solidFill>
                <a:latin typeface="Cambria"/>
              </a:rPr>
              <a:t> für Prophet*, Chronos-2 und TFT</a:t>
            </a:r>
            <a:endParaRPr lang="de-DE" sz="2800" b="0" u="none" strike="noStrike" dirty="0">
              <a:solidFill>
                <a:srgbClr val="000000"/>
              </a:solidFill>
              <a:effectLst/>
              <a:uFillTx/>
              <a:latin typeface="Arial"/>
            </a:endParaRPr>
          </a:p>
        </p:txBody>
      </p:sp>
      <p:sp>
        <p:nvSpPr>
          <p:cNvPr id="285" name="TextBox 29">
            <a:extLst>
              <a:ext uri="{FF2B5EF4-FFF2-40B4-BE49-F238E27FC236}">
                <a16:creationId xmlns:a16="http://schemas.microsoft.com/office/drawing/2014/main" id="{3325BC72-49A5-C604-7715-9B90557FCFA0}"/>
              </a:ext>
            </a:extLst>
          </p:cNvPr>
          <p:cNvSpPr/>
          <p:nvPr/>
        </p:nvSpPr>
        <p:spPr>
          <a:xfrm>
            <a:off x="1710000" y="1115640"/>
            <a:ext cx="9143640" cy="213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endParaRPr lang="de-DE" sz="1800" b="0" u="none" strike="noStrike">
              <a:solidFill>
                <a:srgbClr val="000000"/>
              </a:solidFill>
              <a:effectLst/>
              <a:uFillTx/>
              <a:latin typeface="Arial"/>
            </a:endParaRPr>
          </a:p>
        </p:txBody>
      </p:sp>
      <p:sp>
        <p:nvSpPr>
          <p:cNvPr id="286" name="TextBox 65">
            <a:extLst>
              <a:ext uri="{FF2B5EF4-FFF2-40B4-BE49-F238E27FC236}">
                <a16:creationId xmlns:a16="http://schemas.microsoft.com/office/drawing/2014/main" id="{A4425F47-BC7E-36C6-80B9-2279C0128BC8}"/>
              </a:ext>
            </a:extLst>
          </p:cNvP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sp>
        <p:nvSpPr>
          <p:cNvPr id="14" name="Textfeld 13">
            <a:extLst>
              <a:ext uri="{FF2B5EF4-FFF2-40B4-BE49-F238E27FC236}">
                <a16:creationId xmlns:a16="http://schemas.microsoft.com/office/drawing/2014/main" id="{07D97D60-AD65-3A78-AA5C-61B9E7A1E5F6}"/>
              </a:ext>
            </a:extLst>
          </p:cNvPr>
          <p:cNvSpPr txBox="1"/>
          <p:nvPr/>
        </p:nvSpPr>
        <p:spPr>
          <a:xfrm>
            <a:off x="345420" y="5415219"/>
            <a:ext cx="10992960" cy="583321"/>
          </a:xfrm>
          <a:prstGeom prst="rect">
            <a:avLst/>
          </a:prstGeom>
          <a:noFill/>
          <a:ln w="0">
            <a:noFill/>
          </a:ln>
        </p:spPr>
        <p:txBody>
          <a:bodyPr wrap="square" lIns="90000" tIns="45000" rIns="90000" bIns="45000" anchor="t">
            <a:spAutoFit/>
          </a:bodyPr>
          <a:lstStyle/>
          <a:p>
            <a:pPr algn="ctr"/>
            <a:r>
              <a:rPr lang="de-DE" sz="1600" dirty="0">
                <a:solidFill>
                  <a:srgbClr val="000000"/>
                </a:solidFill>
                <a:latin typeface="Arial"/>
                <a:sym typeface="Wingdings" panose="05000000000000000000" pitchFamily="2" charset="2"/>
              </a:rPr>
              <a:t> TFT hat wieder die höchste Genauigkeit und das kleinste Konfidenzintervall.</a:t>
            </a:r>
            <a:endParaRPr lang="de-DE" sz="1600" dirty="0"/>
          </a:p>
          <a:p>
            <a:pPr algn="ctr"/>
            <a:r>
              <a:rPr lang="de-DE" sz="1600" b="0" u="none" strike="noStrike" dirty="0">
                <a:solidFill>
                  <a:srgbClr val="000000"/>
                </a:solidFill>
                <a:effectLst/>
                <a:uFillTx/>
                <a:latin typeface="Arial"/>
              </a:rPr>
              <a:t> </a:t>
            </a:r>
          </a:p>
        </p:txBody>
      </p:sp>
      <p:sp>
        <p:nvSpPr>
          <p:cNvPr id="2" name="Textfeld 1">
            <a:extLst>
              <a:ext uri="{FF2B5EF4-FFF2-40B4-BE49-F238E27FC236}">
                <a16:creationId xmlns:a16="http://schemas.microsoft.com/office/drawing/2014/main" id="{65DDD3BB-DB48-5BE0-D937-FAC56F9C4D75}"/>
              </a:ext>
            </a:extLst>
          </p:cNvPr>
          <p:cNvSpPr txBox="1"/>
          <p:nvPr/>
        </p:nvSpPr>
        <p:spPr>
          <a:xfrm>
            <a:off x="5231757" y="6303434"/>
            <a:ext cx="6811701" cy="369332"/>
          </a:xfrm>
          <a:prstGeom prst="rect">
            <a:avLst/>
          </a:prstGeom>
          <a:noFill/>
        </p:spPr>
        <p:txBody>
          <a:bodyPr wrap="square" rtlCol="0">
            <a:spAutoFit/>
          </a:bodyPr>
          <a:lstStyle/>
          <a:p>
            <a:r>
              <a:rPr lang="de-DE" dirty="0"/>
              <a:t>* Hier reine MAP-Schätzung, alternativ auch MCMC-Sampling möglich.</a:t>
            </a:r>
          </a:p>
        </p:txBody>
      </p:sp>
      <p:pic>
        <p:nvPicPr>
          <p:cNvPr id="5" name="Grafik 4">
            <a:extLst>
              <a:ext uri="{FF2B5EF4-FFF2-40B4-BE49-F238E27FC236}">
                <a16:creationId xmlns:a16="http://schemas.microsoft.com/office/drawing/2014/main" id="{5A92B500-17A8-433E-1DB9-62DCD39F9933}"/>
              </a:ext>
            </a:extLst>
          </p:cNvPr>
          <p:cNvPicPr>
            <a:picLocks noChangeAspect="1"/>
          </p:cNvPicPr>
          <p:nvPr/>
        </p:nvPicPr>
        <p:blipFill>
          <a:blip r:embed="rId3"/>
          <a:stretch>
            <a:fillRect/>
          </a:stretch>
        </p:blipFill>
        <p:spPr>
          <a:xfrm>
            <a:off x="252161" y="1805040"/>
            <a:ext cx="11646614" cy="3244882"/>
          </a:xfrm>
          <a:prstGeom prst="rect">
            <a:avLst/>
          </a:prstGeom>
        </p:spPr>
      </p:pic>
    </p:spTree>
    <p:extLst>
      <p:ext uri="{BB962C8B-B14F-4D97-AF65-F5344CB8AC3E}">
        <p14:creationId xmlns:p14="http://schemas.microsoft.com/office/powerpoint/2010/main" val="14895182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CD9F8-8CC8-CB4A-9326-87B7D7F748F5}"/>
            </a:ext>
          </a:extLst>
        </p:cNvPr>
        <p:cNvGrpSpPr/>
        <p:nvPr/>
      </p:nvGrpSpPr>
      <p:grpSpPr>
        <a:xfrm>
          <a:off x="0" y="0"/>
          <a:ext cx="0" cy="0"/>
          <a:chOff x="0" y="0"/>
          <a:chExt cx="0" cy="0"/>
        </a:xfrm>
      </p:grpSpPr>
      <p:sp>
        <p:nvSpPr>
          <p:cNvPr id="8" name="Rectangle 1">
            <a:extLst>
              <a:ext uri="{FF2B5EF4-FFF2-40B4-BE49-F238E27FC236}">
                <a16:creationId xmlns:a16="http://schemas.microsoft.com/office/drawing/2014/main" id="{3AA82FBB-009C-424B-D445-F363B862C333}"/>
              </a:ext>
            </a:extLst>
          </p:cNvPr>
          <p:cNvSpPr/>
          <p:nvPr/>
        </p:nvSpPr>
        <p:spPr>
          <a:xfrm>
            <a:off x="15044" y="8483"/>
            <a:ext cx="12130715" cy="6840315"/>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282" name="Oval 12">
            <a:extLst>
              <a:ext uri="{FF2B5EF4-FFF2-40B4-BE49-F238E27FC236}">
                <a16:creationId xmlns:a16="http://schemas.microsoft.com/office/drawing/2014/main" id="{28B211B0-4527-E495-2160-AF0D891FD686}"/>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83" name="TextBox 23">
            <a:extLst>
              <a:ext uri="{FF2B5EF4-FFF2-40B4-BE49-F238E27FC236}">
                <a16:creationId xmlns:a16="http://schemas.microsoft.com/office/drawing/2014/main" id="{3BAEC000-21E7-B993-7001-F748155D90F3}"/>
              </a:ext>
            </a:extLst>
          </p:cNvPr>
          <p:cNvSpPr/>
          <p:nvPr/>
        </p:nvSpPr>
        <p:spPr>
          <a:xfrm>
            <a:off x="457200" y="753840"/>
            <a:ext cx="1051200" cy="45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de-DE" sz="3000" b="1" u="none" strike="noStrike" dirty="0">
                <a:solidFill>
                  <a:schemeClr val="bg1"/>
                </a:solidFill>
                <a:effectLst/>
                <a:uFillTx/>
                <a:latin typeface="Arial"/>
              </a:rPr>
              <a:t>4</a:t>
            </a:r>
          </a:p>
        </p:txBody>
      </p:sp>
      <p:sp>
        <p:nvSpPr>
          <p:cNvPr id="284" name="TextBox 28">
            <a:extLst>
              <a:ext uri="{FF2B5EF4-FFF2-40B4-BE49-F238E27FC236}">
                <a16:creationId xmlns:a16="http://schemas.microsoft.com/office/drawing/2014/main" id="{B47D6311-A2A9-D8EB-055A-E8B0B79F3000}"/>
              </a:ext>
            </a:extLst>
          </p:cNvPr>
          <p:cNvSpPr/>
          <p:nvPr/>
        </p:nvSpPr>
        <p:spPr>
          <a:xfrm>
            <a:off x="1691640" y="584477"/>
            <a:ext cx="9573840" cy="430887"/>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ctr">
            <a:spAutoFit/>
          </a:bodyPr>
          <a:lstStyle/>
          <a:p>
            <a:pPr defTabSz="457200">
              <a:lnSpc>
                <a:spcPct val="100000"/>
              </a:lnSpc>
            </a:pPr>
            <a:r>
              <a:rPr lang="en-US" sz="2800" b="1" u="none" strike="noStrike" dirty="0">
                <a:solidFill>
                  <a:srgbClr val="22272B"/>
                </a:solidFill>
                <a:effectLst/>
                <a:uFillTx/>
                <a:latin typeface="Cambria"/>
              </a:rPr>
              <a:t>Prophet - </a:t>
            </a:r>
            <a:r>
              <a:rPr lang="en-US" sz="2800" b="1" u="none" strike="noStrike" dirty="0" err="1">
                <a:solidFill>
                  <a:srgbClr val="22272B"/>
                </a:solidFill>
                <a:effectLst/>
                <a:uFillTx/>
                <a:latin typeface="Cambria"/>
              </a:rPr>
              <a:t>Komponentenzerlegung</a:t>
            </a:r>
            <a:endParaRPr lang="de-DE" sz="2800" b="0" u="none" strike="noStrike" dirty="0">
              <a:solidFill>
                <a:srgbClr val="000000"/>
              </a:solidFill>
              <a:effectLst/>
              <a:uFillTx/>
              <a:latin typeface="Arial"/>
            </a:endParaRPr>
          </a:p>
        </p:txBody>
      </p:sp>
      <p:sp>
        <p:nvSpPr>
          <p:cNvPr id="285" name="TextBox 29">
            <a:extLst>
              <a:ext uri="{FF2B5EF4-FFF2-40B4-BE49-F238E27FC236}">
                <a16:creationId xmlns:a16="http://schemas.microsoft.com/office/drawing/2014/main" id="{5A83F453-4F01-E16F-2A85-27E412AC4097}"/>
              </a:ext>
            </a:extLst>
          </p:cNvPr>
          <p:cNvSpPr/>
          <p:nvPr/>
        </p:nvSpPr>
        <p:spPr>
          <a:xfrm>
            <a:off x="1710000" y="1115640"/>
            <a:ext cx="9143640" cy="213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endParaRPr lang="de-DE" sz="1800" b="0" u="none" strike="noStrike">
              <a:solidFill>
                <a:srgbClr val="000000"/>
              </a:solidFill>
              <a:effectLst/>
              <a:uFillTx/>
              <a:latin typeface="Arial"/>
            </a:endParaRPr>
          </a:p>
        </p:txBody>
      </p:sp>
      <p:sp>
        <p:nvSpPr>
          <p:cNvPr id="286" name="TextBox 65">
            <a:extLst>
              <a:ext uri="{FF2B5EF4-FFF2-40B4-BE49-F238E27FC236}">
                <a16:creationId xmlns:a16="http://schemas.microsoft.com/office/drawing/2014/main" id="{667886BB-F403-8761-190A-2172A13CCA70}"/>
              </a:ext>
            </a:extLst>
          </p:cNvP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sp>
        <p:nvSpPr>
          <p:cNvPr id="6" name="Textfeld 5">
            <a:extLst>
              <a:ext uri="{FF2B5EF4-FFF2-40B4-BE49-F238E27FC236}">
                <a16:creationId xmlns:a16="http://schemas.microsoft.com/office/drawing/2014/main" id="{22C1A58B-F6B7-8506-1D7C-F58493DCF234}"/>
              </a:ext>
            </a:extLst>
          </p:cNvPr>
          <p:cNvSpPr txBox="1"/>
          <p:nvPr/>
        </p:nvSpPr>
        <p:spPr>
          <a:xfrm>
            <a:off x="448878" y="5752804"/>
            <a:ext cx="10992960" cy="829543"/>
          </a:xfrm>
          <a:prstGeom prst="rect">
            <a:avLst/>
          </a:prstGeom>
          <a:noFill/>
          <a:ln w="0">
            <a:noFill/>
          </a:ln>
        </p:spPr>
        <p:txBody>
          <a:bodyPr wrap="square" lIns="90000" tIns="45000" rIns="90000" bIns="45000" anchor="t">
            <a:spAutoFit/>
          </a:bodyPr>
          <a:lstStyle/>
          <a:p>
            <a:pPr algn="ctr"/>
            <a:r>
              <a:rPr lang="de-DE" sz="1600" dirty="0">
                <a:solidFill>
                  <a:srgbClr val="000000"/>
                </a:solidFill>
                <a:latin typeface="Arial"/>
                <a:sym typeface="Wingdings" panose="05000000000000000000" pitchFamily="2" charset="2"/>
              </a:rPr>
              <a:t> Die Komponentenzerlegung bei Prophet zeigt insbesondere den leicht abnehmenden Trend der Feinstaubbelastung sowie den jährlichen Verlauf, der im Winter durch ungünstige Wetterlagen und mehr Heizen höhere Werte aufweist.</a:t>
            </a:r>
            <a:endParaRPr lang="de-DE" sz="1600" dirty="0"/>
          </a:p>
          <a:p>
            <a:pPr algn="ctr"/>
            <a:r>
              <a:rPr lang="de-DE" sz="1600" b="0" u="none" strike="noStrike" dirty="0">
                <a:solidFill>
                  <a:srgbClr val="000000"/>
                </a:solidFill>
                <a:effectLst/>
                <a:uFillTx/>
                <a:latin typeface="Arial"/>
              </a:rPr>
              <a:t> </a:t>
            </a:r>
          </a:p>
        </p:txBody>
      </p:sp>
      <p:grpSp>
        <p:nvGrpSpPr>
          <p:cNvPr id="2" name="Gruppieren 1">
            <a:extLst>
              <a:ext uri="{FF2B5EF4-FFF2-40B4-BE49-F238E27FC236}">
                <a16:creationId xmlns:a16="http://schemas.microsoft.com/office/drawing/2014/main" id="{BDBDC4C4-E4EA-5B10-D0B2-0C1CA6792865}"/>
              </a:ext>
            </a:extLst>
          </p:cNvPr>
          <p:cNvGrpSpPr/>
          <p:nvPr/>
        </p:nvGrpSpPr>
        <p:grpSpPr>
          <a:xfrm>
            <a:off x="1498476" y="1097871"/>
            <a:ext cx="9164887" cy="4609607"/>
            <a:chOff x="1601913" y="1097871"/>
            <a:chExt cx="9164887" cy="4609607"/>
          </a:xfrm>
        </p:grpSpPr>
        <p:pic>
          <p:nvPicPr>
            <p:cNvPr id="3" name="Grafik 2">
              <a:extLst>
                <a:ext uri="{FF2B5EF4-FFF2-40B4-BE49-F238E27FC236}">
                  <a16:creationId xmlns:a16="http://schemas.microsoft.com/office/drawing/2014/main" id="{F8E2DBF1-9548-D368-DC1D-E7296B899715}"/>
                </a:ext>
              </a:extLst>
            </p:cNvPr>
            <p:cNvPicPr>
              <a:picLocks noChangeAspect="1"/>
            </p:cNvPicPr>
            <p:nvPr/>
          </p:nvPicPr>
          <p:blipFill>
            <a:blip r:embed="rId3"/>
            <a:srcRect t="1789" b="49728"/>
            <a:stretch>
              <a:fillRect/>
            </a:stretch>
          </p:blipFill>
          <p:spPr>
            <a:xfrm>
              <a:off x="1601913" y="1097871"/>
              <a:ext cx="4582443" cy="4609607"/>
            </a:xfrm>
            <a:prstGeom prst="rect">
              <a:avLst/>
            </a:prstGeom>
          </p:spPr>
        </p:pic>
        <p:pic>
          <p:nvPicPr>
            <p:cNvPr id="7" name="Grafik 6">
              <a:extLst>
                <a:ext uri="{FF2B5EF4-FFF2-40B4-BE49-F238E27FC236}">
                  <a16:creationId xmlns:a16="http://schemas.microsoft.com/office/drawing/2014/main" id="{A5FF6BCA-3A03-C50D-D1C4-D5816196EABA}"/>
                </a:ext>
              </a:extLst>
            </p:cNvPr>
            <p:cNvPicPr>
              <a:picLocks noChangeAspect="1"/>
            </p:cNvPicPr>
            <p:nvPr/>
          </p:nvPicPr>
          <p:blipFill>
            <a:blip r:embed="rId3"/>
            <a:srcRect t="50301" b="-120"/>
            <a:stretch>
              <a:fillRect/>
            </a:stretch>
          </p:blipFill>
          <p:spPr>
            <a:xfrm>
              <a:off x="6324492" y="1115639"/>
              <a:ext cx="4442308" cy="4591839"/>
            </a:xfrm>
            <a:prstGeom prst="rect">
              <a:avLst/>
            </a:prstGeom>
          </p:spPr>
        </p:pic>
      </p:grpSp>
    </p:spTree>
    <p:extLst>
      <p:ext uri="{BB962C8B-B14F-4D97-AF65-F5344CB8AC3E}">
        <p14:creationId xmlns:p14="http://schemas.microsoft.com/office/powerpoint/2010/main" val="35694080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44" y="8483"/>
            <a:ext cx="12130715" cy="6840315"/>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3" name="TextBox 2"/>
          <p:cNvSpPr txBox="1"/>
          <p:nvPr/>
        </p:nvSpPr>
        <p:spPr>
          <a:xfrm>
            <a:off x="471113" y="418945"/>
            <a:ext cx="9797041" cy="522002"/>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3392" b="1" i="0" u="none" strike="noStrike" kern="1200" cap="none" spc="0" normalizeH="0" baseline="0" noProof="0" dirty="0" err="1">
                <a:ln>
                  <a:noFill/>
                </a:ln>
                <a:solidFill>
                  <a:srgbClr val="22272B"/>
                </a:solidFill>
                <a:effectLst/>
                <a:uLnTx/>
                <a:uFillTx/>
                <a:latin typeface="Cambria"/>
                <a:ea typeface="+mn-ea"/>
                <a:cs typeface="+mn-cs"/>
              </a:rPr>
              <a:t>Hyperparameteroptimierung</a:t>
            </a:r>
            <a:r>
              <a:rPr kumimoji="0" sz="3392" b="1" i="0" u="none" strike="noStrike" kern="1200" cap="none" spc="0" normalizeH="0" baseline="0" noProof="0" dirty="0">
                <a:ln>
                  <a:noFill/>
                </a:ln>
                <a:solidFill>
                  <a:srgbClr val="22272B"/>
                </a:solidFill>
                <a:effectLst/>
                <a:uLnTx/>
                <a:uFillTx/>
                <a:latin typeface="Cambria"/>
                <a:ea typeface="+mn-ea"/>
                <a:cs typeface="+mn-cs"/>
              </a:rPr>
              <a:t> </a:t>
            </a:r>
            <a:r>
              <a:rPr kumimoji="0" sz="3392" b="1" i="0" u="none" strike="noStrike" kern="1200" cap="none" spc="0" normalizeH="0" baseline="0" noProof="0" dirty="0" err="1">
                <a:ln>
                  <a:noFill/>
                </a:ln>
                <a:solidFill>
                  <a:srgbClr val="22272B"/>
                </a:solidFill>
                <a:effectLst/>
                <a:uLnTx/>
                <a:uFillTx/>
                <a:latin typeface="Cambria"/>
                <a:ea typeface="+mn-ea"/>
                <a:cs typeface="+mn-cs"/>
              </a:rPr>
              <a:t>mit</a:t>
            </a:r>
            <a:r>
              <a:rPr kumimoji="0" sz="3392" b="1" i="0" u="none" strike="noStrike" kern="1200" cap="none" spc="0" normalizeH="0" baseline="0" noProof="0" dirty="0">
                <a:ln>
                  <a:noFill/>
                </a:ln>
                <a:solidFill>
                  <a:srgbClr val="22272B"/>
                </a:solidFill>
                <a:effectLst/>
                <a:uLnTx/>
                <a:uFillTx/>
                <a:latin typeface="Cambria"/>
                <a:ea typeface="+mn-ea"/>
                <a:cs typeface="+mn-cs"/>
              </a:rPr>
              <a:t> </a:t>
            </a:r>
            <a:r>
              <a:rPr kumimoji="0" sz="3392" b="1" i="0" u="none" strike="noStrike" kern="1200" cap="none" spc="0" normalizeH="0" baseline="0" noProof="0" dirty="0" err="1">
                <a:ln>
                  <a:noFill/>
                </a:ln>
                <a:solidFill>
                  <a:srgbClr val="22272B"/>
                </a:solidFill>
                <a:effectLst/>
                <a:uLnTx/>
                <a:uFillTx/>
                <a:latin typeface="Cambria"/>
                <a:ea typeface="+mn-ea"/>
                <a:cs typeface="+mn-cs"/>
              </a:rPr>
              <a:t>Optuna</a:t>
            </a:r>
            <a:r>
              <a:rPr kumimoji="0" lang="de-DE" sz="3392" b="1" i="0" u="none" strike="noStrike" kern="1200" cap="none" spc="0" normalizeH="0" baseline="0" noProof="0" dirty="0">
                <a:ln>
                  <a:noFill/>
                </a:ln>
                <a:solidFill>
                  <a:srgbClr val="22272B"/>
                </a:solidFill>
                <a:effectLst/>
                <a:uLnTx/>
                <a:uFillTx/>
                <a:latin typeface="Cambria"/>
                <a:ea typeface="+mn-ea"/>
                <a:cs typeface="+mn-cs"/>
              </a:rPr>
              <a:t> für TFT</a:t>
            </a:r>
            <a:endParaRPr kumimoji="0" sz="3392" b="1" i="0" u="none" strike="noStrike" kern="1200" cap="none" spc="0" normalizeH="0" baseline="0" noProof="0" dirty="0">
              <a:ln>
                <a:noFill/>
              </a:ln>
              <a:solidFill>
                <a:srgbClr val="22272B"/>
              </a:solidFill>
              <a:effectLst/>
              <a:uLnTx/>
              <a:uFillTx/>
              <a:latin typeface="Cambria"/>
              <a:ea typeface="+mn-ea"/>
              <a:cs typeface="+mn-cs"/>
            </a:endParaRPr>
          </a:p>
        </p:txBody>
      </p:sp>
      <p:sp>
        <p:nvSpPr>
          <p:cNvPr id="4" name="TextBox 3"/>
          <p:cNvSpPr txBox="1"/>
          <p:nvPr/>
        </p:nvSpPr>
        <p:spPr>
          <a:xfrm>
            <a:off x="489427" y="1057442"/>
            <a:ext cx="10488867" cy="229622"/>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496" b="0" i="0" u="none" strike="noStrike" kern="1200" cap="none" spc="0" normalizeH="0" baseline="0" noProof="0">
                <a:ln>
                  <a:noFill/>
                </a:ln>
                <a:solidFill>
                  <a:srgbClr val="6C7278"/>
                </a:solidFill>
                <a:effectLst/>
                <a:uLnTx/>
                <a:uFillTx/>
                <a:latin typeface="Calibri"/>
                <a:ea typeface="+mn-ea"/>
                <a:cs typeface="+mn-cs"/>
              </a:rPr>
              <a:t>Automatisierte Suche nach optimalen Modellparametern – verfügbare Sampler-Algorithmen und schematischer Ablauf einer Study.</a:t>
            </a:r>
          </a:p>
        </p:txBody>
      </p:sp>
      <p:sp>
        <p:nvSpPr>
          <p:cNvPr id="5" name="TextBox 4"/>
          <p:cNvSpPr txBox="1"/>
          <p:nvPr/>
        </p:nvSpPr>
        <p:spPr>
          <a:xfrm>
            <a:off x="471113" y="6411763"/>
            <a:ext cx="3079746" cy="137837"/>
          </a:xfrm>
          <a:prstGeom prst="rect">
            <a:avLst/>
          </a:prstGeom>
          <a:noFill/>
        </p:spPr>
        <p:txBody>
          <a:bodyPr wrap="none" lIns="0" tIns="0" rIns="0" bIns="0">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sp>
        <p:nvSpPr>
          <p:cNvPr id="6" name="Rounded Rectangle 5"/>
          <p:cNvSpPr/>
          <p:nvPr/>
        </p:nvSpPr>
        <p:spPr>
          <a:xfrm>
            <a:off x="471113" y="1424970"/>
            <a:ext cx="5426502" cy="1995052"/>
          </a:xfrm>
          <a:prstGeom prst="roundRect">
            <a:avLst>
              <a:gd name="adj" fmla="val 6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7" name="Oval 6"/>
          <p:cNvSpPr/>
          <p:nvPr/>
        </p:nvSpPr>
        <p:spPr>
          <a:xfrm>
            <a:off x="700544" y="1654401"/>
            <a:ext cx="648392" cy="648392"/>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FFFFFF"/>
                </a:solidFill>
                <a:effectLst/>
                <a:uLnTx/>
                <a:uFillTx/>
                <a:latin typeface="Cambria"/>
                <a:ea typeface="+mn-ea"/>
                <a:cs typeface="+mn-cs"/>
              </a:rPr>
              <a:t>01</a:t>
            </a:r>
          </a:p>
        </p:txBody>
      </p:sp>
      <p:sp>
        <p:nvSpPr>
          <p:cNvPr id="8" name="TextBox 7"/>
          <p:cNvSpPr txBox="1"/>
          <p:nvPr/>
        </p:nvSpPr>
        <p:spPr>
          <a:xfrm>
            <a:off x="1505109" y="1662382"/>
            <a:ext cx="1850150" cy="260323"/>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696" b="1" i="0" u="none" strike="noStrike" kern="1200" cap="none" spc="0" normalizeH="0" baseline="0" noProof="0">
                <a:ln>
                  <a:noFill/>
                </a:ln>
                <a:solidFill>
                  <a:srgbClr val="22272B"/>
                </a:solidFill>
                <a:effectLst/>
                <a:uLnTx/>
                <a:uFillTx/>
                <a:latin typeface="Cambria"/>
                <a:ea typeface="+mn-ea"/>
                <a:cs typeface="+mn-cs"/>
              </a:rPr>
              <a:t>Suchraum &amp; Trials</a:t>
            </a:r>
          </a:p>
        </p:txBody>
      </p:sp>
      <p:sp>
        <p:nvSpPr>
          <p:cNvPr id="9" name="TextBox 8"/>
          <p:cNvSpPr txBox="1"/>
          <p:nvPr/>
        </p:nvSpPr>
        <p:spPr>
          <a:xfrm>
            <a:off x="1505109" y="1961640"/>
            <a:ext cx="1554264" cy="168411"/>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097" b="1" i="0" u="none" strike="noStrike" kern="1200" cap="none" spc="0" normalizeH="0" baseline="0" noProof="0">
                <a:ln>
                  <a:noFill/>
                </a:ln>
                <a:solidFill>
                  <a:srgbClr val="E0912F"/>
                </a:solidFill>
                <a:effectLst/>
                <a:uLnTx/>
                <a:uFillTx/>
                <a:latin typeface="Calibri"/>
                <a:ea typeface="+mn-ea"/>
                <a:cs typeface="+mn-cs"/>
              </a:rPr>
              <a:t>Parameterraum definieren</a:t>
            </a:r>
          </a:p>
        </p:txBody>
      </p:sp>
      <p:sp>
        <p:nvSpPr>
          <p:cNvPr id="10" name="TextBox 9"/>
          <p:cNvSpPr txBox="1"/>
          <p:nvPr/>
        </p:nvSpPr>
        <p:spPr>
          <a:xfrm>
            <a:off x="700544" y="2412521"/>
            <a:ext cx="4967640" cy="574311"/>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247" b="0" i="1" u="none" strike="noStrike" kern="1200" cap="none" spc="0" normalizeH="0" baseline="0" noProof="0" dirty="0" err="1">
                <a:ln>
                  <a:noFill/>
                </a:ln>
                <a:solidFill>
                  <a:srgbClr val="6C7278"/>
                </a:solidFill>
                <a:effectLst/>
                <a:uLnTx/>
                <a:uFillTx/>
                <a:latin typeface="Calibri"/>
                <a:ea typeface="+mn-ea"/>
                <a:cs typeface="+mn-cs"/>
              </a:rPr>
              <a:t>Definiert</a:t>
            </a:r>
            <a:r>
              <a:rPr kumimoji="0" sz="1247" b="0" i="1" u="none" strike="noStrike" kern="1200" cap="none" spc="0" normalizeH="0" baseline="0" noProof="0" dirty="0">
                <a:ln>
                  <a:noFill/>
                </a:ln>
                <a:solidFill>
                  <a:srgbClr val="6C7278"/>
                </a:solidFill>
                <a:effectLst/>
                <a:uLnTx/>
                <a:uFillTx/>
                <a:latin typeface="Calibri"/>
                <a:ea typeface="+mn-ea"/>
                <a:cs typeface="+mn-cs"/>
              </a:rPr>
              <a:t> </a:t>
            </a:r>
            <a:r>
              <a:rPr kumimoji="0" sz="1247" b="0" i="1" u="none" strike="noStrike" kern="1200" cap="none" spc="0" normalizeH="0" baseline="0" noProof="0" dirty="0" err="1">
                <a:ln>
                  <a:noFill/>
                </a:ln>
                <a:solidFill>
                  <a:srgbClr val="6C7278"/>
                </a:solidFill>
                <a:effectLst/>
                <a:uLnTx/>
                <a:uFillTx/>
                <a:latin typeface="Calibri"/>
                <a:ea typeface="+mn-ea"/>
                <a:cs typeface="+mn-cs"/>
              </a:rPr>
              <a:t>einen</a:t>
            </a:r>
            <a:r>
              <a:rPr kumimoji="0" sz="1247" b="0" i="1" u="none" strike="noStrike" kern="1200" cap="none" spc="0" normalizeH="0" baseline="0" noProof="0" dirty="0">
                <a:ln>
                  <a:noFill/>
                </a:ln>
                <a:solidFill>
                  <a:srgbClr val="6C7278"/>
                </a:solidFill>
                <a:effectLst/>
                <a:uLnTx/>
                <a:uFillTx/>
                <a:latin typeface="Calibri"/>
                <a:ea typeface="+mn-ea"/>
                <a:cs typeface="+mn-cs"/>
              </a:rPr>
              <a:t> </a:t>
            </a:r>
            <a:r>
              <a:rPr kumimoji="0" sz="1247" b="0" i="1" u="none" strike="noStrike" kern="1200" cap="none" spc="0" normalizeH="0" baseline="0" noProof="0" dirty="0" err="1">
                <a:ln>
                  <a:noFill/>
                </a:ln>
                <a:solidFill>
                  <a:srgbClr val="6C7278"/>
                </a:solidFill>
                <a:effectLst/>
                <a:uLnTx/>
                <a:uFillTx/>
                <a:latin typeface="Calibri"/>
                <a:ea typeface="+mn-ea"/>
                <a:cs typeface="+mn-cs"/>
              </a:rPr>
              <a:t>Suchraum</a:t>
            </a:r>
            <a:r>
              <a:rPr kumimoji="0" sz="1247" b="0" i="1" u="none" strike="noStrike" kern="1200" cap="none" spc="0" normalizeH="0" baseline="0" noProof="0" dirty="0">
                <a:ln>
                  <a:noFill/>
                </a:ln>
                <a:solidFill>
                  <a:srgbClr val="6C7278"/>
                </a:solidFill>
                <a:effectLst/>
                <a:uLnTx/>
                <a:uFillTx/>
                <a:latin typeface="Calibri"/>
                <a:ea typeface="+mn-ea"/>
                <a:cs typeface="+mn-cs"/>
              </a:rPr>
              <a:t> (z. B. </a:t>
            </a:r>
            <a:r>
              <a:rPr kumimoji="0" sz="1247" b="0" i="1" u="none" strike="noStrike" kern="1200" cap="none" spc="0" normalizeH="0" baseline="0" noProof="0" dirty="0" err="1">
                <a:ln>
                  <a:noFill/>
                </a:ln>
                <a:solidFill>
                  <a:srgbClr val="6C7278"/>
                </a:solidFill>
                <a:effectLst/>
                <a:uLnTx/>
                <a:uFillTx/>
                <a:latin typeface="Calibri"/>
                <a:ea typeface="+mn-ea"/>
                <a:cs typeface="+mn-cs"/>
              </a:rPr>
              <a:t>Lernrate</a:t>
            </a:r>
            <a:r>
              <a:rPr kumimoji="0" sz="1247" b="0" i="1" u="none" strike="noStrike" kern="1200" cap="none" spc="0" normalizeH="0" baseline="0" noProof="0" dirty="0">
                <a:ln>
                  <a:noFill/>
                </a:ln>
                <a:solidFill>
                  <a:srgbClr val="6C7278"/>
                </a:solidFill>
                <a:effectLst/>
                <a:uLnTx/>
                <a:uFillTx/>
                <a:latin typeface="Calibri"/>
                <a:ea typeface="+mn-ea"/>
                <a:cs typeface="+mn-cs"/>
              </a:rPr>
              <a:t>, Dropout, Hidden Size, Attention Heads); </a:t>
            </a:r>
            <a:r>
              <a:rPr kumimoji="0" sz="1247" b="0" i="1" u="none" strike="noStrike" kern="1200" cap="none" spc="0" normalizeH="0" baseline="0" noProof="0" dirty="0" err="1">
                <a:ln>
                  <a:noFill/>
                </a:ln>
                <a:solidFill>
                  <a:srgbClr val="6C7278"/>
                </a:solidFill>
                <a:effectLst/>
                <a:uLnTx/>
                <a:uFillTx/>
                <a:latin typeface="Calibri"/>
                <a:ea typeface="+mn-ea"/>
                <a:cs typeface="+mn-cs"/>
              </a:rPr>
              <a:t>jeder</a:t>
            </a:r>
            <a:r>
              <a:rPr kumimoji="0" sz="1247" b="0" i="1" u="none" strike="noStrike" kern="1200" cap="none" spc="0" normalizeH="0" baseline="0" noProof="0" dirty="0">
                <a:ln>
                  <a:noFill/>
                </a:ln>
                <a:solidFill>
                  <a:srgbClr val="6C7278"/>
                </a:solidFill>
                <a:effectLst/>
                <a:uLnTx/>
                <a:uFillTx/>
                <a:latin typeface="Calibri"/>
                <a:ea typeface="+mn-ea"/>
                <a:cs typeface="+mn-cs"/>
              </a:rPr>
              <a:t> „Trial“ </a:t>
            </a:r>
            <a:r>
              <a:rPr kumimoji="0" sz="1247" b="0" i="1" u="none" strike="noStrike" kern="1200" cap="none" spc="0" normalizeH="0" baseline="0" noProof="0" dirty="0" err="1">
                <a:ln>
                  <a:noFill/>
                </a:ln>
                <a:solidFill>
                  <a:srgbClr val="6C7278"/>
                </a:solidFill>
                <a:effectLst/>
                <a:uLnTx/>
                <a:uFillTx/>
                <a:latin typeface="Calibri"/>
                <a:ea typeface="+mn-ea"/>
                <a:cs typeface="+mn-cs"/>
              </a:rPr>
              <a:t>testet</a:t>
            </a:r>
            <a:r>
              <a:rPr kumimoji="0" sz="1247" b="0" i="1" u="none" strike="noStrike" kern="1200" cap="none" spc="0" normalizeH="0" baseline="0" noProof="0" dirty="0">
                <a:ln>
                  <a:noFill/>
                </a:ln>
                <a:solidFill>
                  <a:srgbClr val="6C7278"/>
                </a:solidFill>
                <a:effectLst/>
                <a:uLnTx/>
                <a:uFillTx/>
                <a:latin typeface="Calibri"/>
                <a:ea typeface="+mn-ea"/>
                <a:cs typeface="+mn-cs"/>
              </a:rPr>
              <a:t> </a:t>
            </a:r>
            <a:r>
              <a:rPr kumimoji="0" sz="1247" b="0" i="1" u="none" strike="noStrike" kern="1200" cap="none" spc="0" normalizeH="0" baseline="0" noProof="0" dirty="0" err="1">
                <a:ln>
                  <a:noFill/>
                </a:ln>
                <a:solidFill>
                  <a:srgbClr val="6C7278"/>
                </a:solidFill>
                <a:effectLst/>
                <a:uLnTx/>
                <a:uFillTx/>
                <a:latin typeface="Calibri"/>
                <a:ea typeface="+mn-ea"/>
                <a:cs typeface="+mn-cs"/>
              </a:rPr>
              <a:t>eine</a:t>
            </a:r>
            <a:r>
              <a:rPr kumimoji="0" sz="1247" b="0" i="1" u="none" strike="noStrike" kern="1200" cap="none" spc="0" normalizeH="0" baseline="0" noProof="0" dirty="0">
                <a:ln>
                  <a:noFill/>
                </a:ln>
                <a:solidFill>
                  <a:srgbClr val="6C7278"/>
                </a:solidFill>
                <a:effectLst/>
                <a:uLnTx/>
                <a:uFillTx/>
                <a:latin typeface="Calibri"/>
                <a:ea typeface="+mn-ea"/>
                <a:cs typeface="+mn-cs"/>
              </a:rPr>
              <a:t> </a:t>
            </a:r>
            <a:r>
              <a:rPr kumimoji="0" sz="1247" b="0" i="1" u="none" strike="noStrike" kern="1200" cap="none" spc="0" normalizeH="0" baseline="0" noProof="0" dirty="0" err="1">
                <a:ln>
                  <a:noFill/>
                </a:ln>
                <a:solidFill>
                  <a:srgbClr val="6C7278"/>
                </a:solidFill>
                <a:effectLst/>
                <a:uLnTx/>
                <a:uFillTx/>
                <a:latin typeface="Calibri"/>
                <a:ea typeface="+mn-ea"/>
                <a:cs typeface="+mn-cs"/>
              </a:rPr>
              <a:t>Parameterkombination</a:t>
            </a:r>
            <a:r>
              <a:rPr kumimoji="0" sz="1247" b="0" i="1" u="none" strike="noStrike" kern="1200" cap="none" spc="0" normalizeH="0" baseline="0" noProof="0" dirty="0">
                <a:ln>
                  <a:noFill/>
                </a:ln>
                <a:solidFill>
                  <a:srgbClr val="6C7278"/>
                </a:solidFill>
                <a:effectLst/>
                <a:uLnTx/>
                <a:uFillTx/>
                <a:latin typeface="Calibri"/>
                <a:ea typeface="+mn-ea"/>
                <a:cs typeface="+mn-cs"/>
              </a:rPr>
              <a:t> und </a:t>
            </a:r>
            <a:r>
              <a:rPr kumimoji="0" sz="1247" b="0" i="1" u="none" strike="noStrike" kern="1200" cap="none" spc="0" normalizeH="0" baseline="0" noProof="0" dirty="0" err="1">
                <a:ln>
                  <a:noFill/>
                </a:ln>
                <a:solidFill>
                  <a:srgbClr val="6C7278"/>
                </a:solidFill>
                <a:effectLst/>
                <a:uLnTx/>
                <a:uFillTx/>
                <a:latin typeface="Calibri"/>
                <a:ea typeface="+mn-ea"/>
                <a:cs typeface="+mn-cs"/>
              </a:rPr>
              <a:t>liefert</a:t>
            </a:r>
            <a:r>
              <a:rPr kumimoji="0" sz="1247" b="0" i="1" u="none" strike="noStrike" kern="1200" cap="none" spc="0" normalizeH="0" baseline="0" noProof="0" dirty="0">
                <a:ln>
                  <a:noFill/>
                </a:ln>
                <a:solidFill>
                  <a:srgbClr val="6C7278"/>
                </a:solidFill>
                <a:effectLst/>
                <a:uLnTx/>
                <a:uFillTx/>
                <a:latin typeface="Calibri"/>
                <a:ea typeface="+mn-ea"/>
                <a:cs typeface="+mn-cs"/>
              </a:rPr>
              <a:t> </a:t>
            </a:r>
            <a:r>
              <a:rPr kumimoji="0" sz="1247" b="0" i="1" u="none" strike="noStrike" kern="1200" cap="none" spc="0" normalizeH="0" baseline="0" noProof="0" dirty="0" err="1">
                <a:ln>
                  <a:noFill/>
                </a:ln>
                <a:solidFill>
                  <a:srgbClr val="6C7278"/>
                </a:solidFill>
                <a:effectLst/>
                <a:uLnTx/>
                <a:uFillTx/>
                <a:latin typeface="Calibri"/>
                <a:ea typeface="+mn-ea"/>
                <a:cs typeface="+mn-cs"/>
              </a:rPr>
              <a:t>einen</a:t>
            </a:r>
            <a:r>
              <a:rPr kumimoji="0" sz="1247" b="0" i="1" u="none" strike="noStrike" kern="1200" cap="none" spc="0" normalizeH="0" baseline="0" noProof="0" dirty="0">
                <a:ln>
                  <a:noFill/>
                </a:ln>
                <a:solidFill>
                  <a:srgbClr val="6C7278"/>
                </a:solidFill>
                <a:effectLst/>
                <a:uLnTx/>
                <a:uFillTx/>
                <a:latin typeface="Calibri"/>
                <a:ea typeface="+mn-ea"/>
                <a:cs typeface="+mn-cs"/>
              </a:rPr>
              <a:t> </a:t>
            </a:r>
            <a:r>
              <a:rPr kumimoji="0" sz="1247" b="0" i="1" u="none" strike="noStrike" kern="1200" cap="none" spc="0" normalizeH="0" baseline="0" noProof="0" dirty="0" err="1">
                <a:ln>
                  <a:noFill/>
                </a:ln>
                <a:solidFill>
                  <a:srgbClr val="6C7278"/>
                </a:solidFill>
                <a:effectLst/>
                <a:uLnTx/>
                <a:uFillTx/>
                <a:latin typeface="Calibri"/>
                <a:ea typeface="+mn-ea"/>
                <a:cs typeface="+mn-cs"/>
              </a:rPr>
              <a:t>Zielwert</a:t>
            </a:r>
            <a:r>
              <a:rPr kumimoji="0" sz="1247" b="0" i="1" u="none" strike="noStrike" kern="1200" cap="none" spc="0" normalizeH="0" baseline="0" noProof="0" dirty="0">
                <a:ln>
                  <a:noFill/>
                </a:ln>
                <a:solidFill>
                  <a:srgbClr val="6C7278"/>
                </a:solidFill>
                <a:effectLst/>
                <a:uLnTx/>
                <a:uFillTx/>
                <a:latin typeface="Calibri"/>
                <a:ea typeface="+mn-ea"/>
                <a:cs typeface="+mn-cs"/>
              </a:rPr>
              <a:t> (</a:t>
            </a:r>
            <a:r>
              <a:rPr kumimoji="0" sz="1247" b="0" i="1" u="none" strike="noStrike" kern="1200" cap="none" spc="0" normalizeH="0" baseline="0" noProof="0" dirty="0" err="1">
                <a:ln>
                  <a:noFill/>
                </a:ln>
                <a:solidFill>
                  <a:srgbClr val="6C7278"/>
                </a:solidFill>
                <a:effectLst/>
                <a:uLnTx/>
                <a:uFillTx/>
                <a:latin typeface="Calibri"/>
                <a:ea typeface="+mn-ea"/>
                <a:cs typeface="+mn-cs"/>
              </a:rPr>
              <a:t>hier</a:t>
            </a:r>
            <a:r>
              <a:rPr kumimoji="0" sz="1247" b="0" i="1" u="none" strike="noStrike" kern="1200" cap="none" spc="0" normalizeH="0" baseline="0" noProof="0" dirty="0">
                <a:ln>
                  <a:noFill/>
                </a:ln>
                <a:solidFill>
                  <a:srgbClr val="6C7278"/>
                </a:solidFill>
                <a:effectLst/>
                <a:uLnTx/>
                <a:uFillTx/>
                <a:latin typeface="Calibri"/>
                <a:ea typeface="+mn-ea"/>
                <a:cs typeface="+mn-cs"/>
              </a:rPr>
              <a:t>: </a:t>
            </a:r>
            <a:r>
              <a:rPr kumimoji="0" sz="1247" b="0" i="1" u="none" strike="noStrike" kern="1200" cap="none" spc="0" normalizeH="0" baseline="0" noProof="0" dirty="0" err="1">
                <a:ln>
                  <a:noFill/>
                </a:ln>
                <a:solidFill>
                  <a:srgbClr val="6C7278"/>
                </a:solidFill>
                <a:effectLst/>
                <a:uLnTx/>
                <a:uFillTx/>
                <a:latin typeface="Calibri"/>
                <a:ea typeface="+mn-ea"/>
                <a:cs typeface="+mn-cs"/>
              </a:rPr>
              <a:t>Validierungs</a:t>
            </a:r>
            <a:r>
              <a:rPr kumimoji="0" sz="1247" b="0" i="1" u="none" strike="noStrike" kern="1200" cap="none" spc="0" normalizeH="0" baseline="0" noProof="0" dirty="0">
                <a:ln>
                  <a:noFill/>
                </a:ln>
                <a:solidFill>
                  <a:srgbClr val="6C7278"/>
                </a:solidFill>
                <a:effectLst/>
                <a:uLnTx/>
                <a:uFillTx/>
                <a:latin typeface="Calibri"/>
                <a:ea typeface="+mn-ea"/>
                <a:cs typeface="+mn-cs"/>
              </a:rPr>
              <a:t>-MAE </a:t>
            </a:r>
            <a:r>
              <a:rPr kumimoji="0" lang="de-DE" sz="1247" b="0" i="1" u="none" strike="noStrike" kern="1200" cap="none" spc="0" normalizeH="0" baseline="0" noProof="0" dirty="0">
                <a:ln>
                  <a:noFill/>
                </a:ln>
                <a:solidFill>
                  <a:srgbClr val="6C7278"/>
                </a:solidFill>
                <a:effectLst/>
                <a:uLnTx/>
                <a:uFillTx/>
                <a:latin typeface="Calibri"/>
                <a:ea typeface="+mn-ea"/>
                <a:cs typeface="+mn-cs"/>
              </a:rPr>
              <a:t>über 72 h </a:t>
            </a:r>
            <a:r>
              <a:rPr kumimoji="0" sz="1247" b="0" i="1" u="none" strike="noStrike" kern="1200" cap="none" spc="0" normalizeH="0" baseline="0" noProof="0" dirty="0">
                <a:ln>
                  <a:noFill/>
                </a:ln>
                <a:solidFill>
                  <a:srgbClr val="6C7278"/>
                </a:solidFill>
                <a:effectLst/>
                <a:uLnTx/>
                <a:uFillTx/>
                <a:latin typeface="Calibri"/>
                <a:ea typeface="+mn-ea"/>
                <a:cs typeface="+mn-cs"/>
              </a:rPr>
              <a:t>des TFT-</a:t>
            </a:r>
            <a:r>
              <a:rPr kumimoji="0" sz="1247" b="0" i="1" u="none" strike="noStrike" kern="1200" cap="none" spc="0" normalizeH="0" baseline="0" noProof="0" dirty="0" err="1">
                <a:ln>
                  <a:noFill/>
                </a:ln>
                <a:solidFill>
                  <a:srgbClr val="6C7278"/>
                </a:solidFill>
                <a:effectLst/>
                <a:uLnTx/>
                <a:uFillTx/>
                <a:latin typeface="Calibri"/>
                <a:ea typeface="+mn-ea"/>
                <a:cs typeface="+mn-cs"/>
              </a:rPr>
              <a:t>Modells</a:t>
            </a:r>
            <a:r>
              <a:rPr kumimoji="0" sz="1247" b="0" i="1" u="none" strike="noStrike" kern="1200" cap="none" spc="0" normalizeH="0" baseline="0" noProof="0" dirty="0">
                <a:ln>
                  <a:noFill/>
                </a:ln>
                <a:solidFill>
                  <a:srgbClr val="6C7278"/>
                </a:solidFill>
                <a:effectLst/>
                <a:uLnTx/>
                <a:uFillTx/>
                <a:latin typeface="Calibri"/>
                <a:ea typeface="+mn-ea"/>
                <a:cs typeface="+mn-cs"/>
              </a:rPr>
              <a:t>).</a:t>
            </a:r>
          </a:p>
        </p:txBody>
      </p:sp>
      <p:sp>
        <p:nvSpPr>
          <p:cNvPr id="11" name="Rounded Rectangle 10"/>
          <p:cNvSpPr/>
          <p:nvPr/>
        </p:nvSpPr>
        <p:spPr>
          <a:xfrm>
            <a:off x="6263188" y="1424970"/>
            <a:ext cx="5426502" cy="1995052"/>
          </a:xfrm>
          <a:prstGeom prst="roundRect">
            <a:avLst>
              <a:gd name="adj" fmla="val 6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12" name="Oval 11"/>
          <p:cNvSpPr/>
          <p:nvPr/>
        </p:nvSpPr>
        <p:spPr>
          <a:xfrm>
            <a:off x="6462693" y="1624476"/>
            <a:ext cx="548639" cy="548639"/>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FFFFFF"/>
                </a:solidFill>
                <a:effectLst/>
                <a:uLnTx/>
                <a:uFillTx/>
                <a:latin typeface="Cambria"/>
                <a:ea typeface="+mn-ea"/>
                <a:cs typeface="+mn-cs"/>
              </a:rPr>
              <a:t>02</a:t>
            </a:r>
          </a:p>
        </p:txBody>
      </p:sp>
      <p:sp>
        <p:nvSpPr>
          <p:cNvPr id="13" name="TextBox 12"/>
          <p:cNvSpPr txBox="1"/>
          <p:nvPr/>
        </p:nvSpPr>
        <p:spPr>
          <a:xfrm>
            <a:off x="7167506" y="1632456"/>
            <a:ext cx="2142198" cy="260323"/>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696" b="1" i="0" u="none" strike="noStrike" kern="1200" cap="none" spc="0" normalizeH="0" baseline="0" noProof="0">
                <a:ln>
                  <a:noFill/>
                </a:ln>
                <a:solidFill>
                  <a:srgbClr val="22272B"/>
                </a:solidFill>
                <a:effectLst/>
                <a:uLnTx/>
                <a:uFillTx/>
                <a:latin typeface="Cambria"/>
                <a:ea typeface="+mn-ea"/>
                <a:cs typeface="+mn-cs"/>
              </a:rPr>
              <a:t>Optimieralgorithmen</a:t>
            </a:r>
          </a:p>
        </p:txBody>
      </p:sp>
      <p:sp>
        <p:nvSpPr>
          <p:cNvPr id="14" name="TextBox 13"/>
          <p:cNvSpPr txBox="1"/>
          <p:nvPr/>
        </p:nvSpPr>
        <p:spPr>
          <a:xfrm>
            <a:off x="7167506" y="1931714"/>
            <a:ext cx="1774931" cy="168411"/>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097" b="1" i="0" u="none" strike="noStrike" kern="1200" cap="none" spc="0" normalizeH="0" baseline="0" noProof="0">
                <a:ln>
                  <a:noFill/>
                </a:ln>
                <a:solidFill>
                  <a:srgbClr val="E0912F"/>
                </a:solidFill>
                <a:effectLst/>
                <a:uLnTx/>
                <a:uFillTx/>
                <a:latin typeface="Calibri"/>
                <a:ea typeface="+mn-ea"/>
                <a:cs typeface="+mn-cs"/>
              </a:rPr>
              <a:t>Verfügbare Sampler in Optuna</a:t>
            </a:r>
          </a:p>
        </p:txBody>
      </p:sp>
      <p:sp>
        <p:nvSpPr>
          <p:cNvPr id="15" name="TextBox 14"/>
          <p:cNvSpPr txBox="1"/>
          <p:nvPr/>
        </p:nvSpPr>
        <p:spPr>
          <a:xfrm>
            <a:off x="6462693" y="2282842"/>
            <a:ext cx="5027491" cy="1033938"/>
          </a:xfrm>
          <a:prstGeom prst="rect">
            <a:avLst/>
          </a:prstGeom>
          <a:noFill/>
        </p:spPr>
        <p:txBody>
          <a:bodyPr wrap="squar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147" b="0" i="0" u="none" strike="noStrike" kern="1200" cap="none" spc="0" normalizeH="0" baseline="0" noProof="0">
                <a:ln>
                  <a:noFill/>
                </a:ln>
                <a:solidFill>
                  <a:srgbClr val="6C7278"/>
                </a:solidFill>
                <a:effectLst/>
                <a:uLnTx/>
                <a:uFillTx/>
                <a:latin typeface="Calibri"/>
                <a:ea typeface="+mn-ea"/>
                <a:cs typeface="+mn-cs"/>
              </a:rPr>
              <a:t>• TPE – Standard, bayesianische Suche</a:t>
            </a:r>
          </a:p>
          <a:p>
            <a:pPr marL="0" marR="0" lvl="0" indent="0" algn="l" defTabSz="912114" rtl="0" eaLnBrk="1" fontAlgn="auto" latinLnBrk="0" hangingPunct="1">
              <a:lnSpc>
                <a:spcPct val="100000"/>
              </a:lnSpc>
              <a:spcBef>
                <a:spcPts val="299"/>
              </a:spcBef>
              <a:spcAft>
                <a:spcPts val="0"/>
              </a:spcAft>
              <a:buClrTx/>
              <a:buSzTx/>
              <a:buFontTx/>
              <a:buNone/>
              <a:tabLst/>
              <a:defRPr/>
            </a:pPr>
            <a:r>
              <a:rPr kumimoji="0" sz="1147" b="0" i="0" u="none" strike="noStrike" kern="1200" cap="none" spc="0" normalizeH="0" baseline="0" noProof="0">
                <a:ln>
                  <a:noFill/>
                </a:ln>
                <a:solidFill>
                  <a:srgbClr val="6C7278"/>
                </a:solidFill>
                <a:effectLst/>
                <a:uLnTx/>
                <a:uFillTx/>
                <a:latin typeface="Calibri"/>
                <a:ea typeface="+mn-ea"/>
                <a:cs typeface="+mn-cs"/>
              </a:rPr>
              <a:t>• CMA-ES – kontinuierliche, korrelierte Parameter</a:t>
            </a:r>
          </a:p>
          <a:p>
            <a:pPr marL="0" marR="0" lvl="0" indent="0" algn="l" defTabSz="912114" rtl="0" eaLnBrk="1" fontAlgn="auto" latinLnBrk="0" hangingPunct="1">
              <a:lnSpc>
                <a:spcPct val="100000"/>
              </a:lnSpc>
              <a:spcBef>
                <a:spcPts val="299"/>
              </a:spcBef>
              <a:spcAft>
                <a:spcPts val="0"/>
              </a:spcAft>
              <a:buClrTx/>
              <a:buSzTx/>
              <a:buFontTx/>
              <a:buNone/>
              <a:tabLst/>
              <a:defRPr/>
            </a:pPr>
            <a:r>
              <a:rPr kumimoji="0" sz="1147" b="0" i="0" u="none" strike="noStrike" kern="1200" cap="none" spc="0" normalizeH="0" baseline="0" noProof="0">
                <a:ln>
                  <a:noFill/>
                </a:ln>
                <a:solidFill>
                  <a:srgbClr val="6C7278"/>
                </a:solidFill>
                <a:effectLst/>
                <a:uLnTx/>
                <a:uFillTx/>
                <a:latin typeface="Calibri"/>
                <a:ea typeface="+mn-ea"/>
                <a:cs typeface="+mn-cs"/>
              </a:rPr>
              <a:t>• Random- / Grid-Search – einfache Baseline-Sampler</a:t>
            </a:r>
          </a:p>
          <a:p>
            <a:pPr marL="0" marR="0" lvl="0" indent="0" algn="l" defTabSz="912114" rtl="0" eaLnBrk="1" fontAlgn="auto" latinLnBrk="0" hangingPunct="1">
              <a:lnSpc>
                <a:spcPct val="100000"/>
              </a:lnSpc>
              <a:spcBef>
                <a:spcPts val="299"/>
              </a:spcBef>
              <a:spcAft>
                <a:spcPts val="0"/>
              </a:spcAft>
              <a:buClrTx/>
              <a:buSzTx/>
              <a:buFontTx/>
              <a:buNone/>
              <a:tabLst/>
              <a:defRPr/>
            </a:pPr>
            <a:r>
              <a:rPr kumimoji="0" sz="1147" b="0" i="0" u="none" strike="noStrike" kern="1200" cap="none" spc="0" normalizeH="0" baseline="0" noProof="0">
                <a:ln>
                  <a:noFill/>
                </a:ln>
                <a:solidFill>
                  <a:srgbClr val="6C7278"/>
                </a:solidFill>
                <a:effectLst/>
                <a:uLnTx/>
                <a:uFillTx/>
                <a:latin typeface="Calibri"/>
                <a:ea typeface="+mn-ea"/>
                <a:cs typeface="+mn-cs"/>
              </a:rPr>
              <a:t>• GPSampler – Gaussian-Process-Alternative zu TPE</a:t>
            </a:r>
          </a:p>
          <a:p>
            <a:pPr marL="0" marR="0" lvl="0" indent="0" algn="l" defTabSz="912114" rtl="0" eaLnBrk="1" fontAlgn="auto" latinLnBrk="0" hangingPunct="1">
              <a:lnSpc>
                <a:spcPct val="100000"/>
              </a:lnSpc>
              <a:spcBef>
                <a:spcPts val="299"/>
              </a:spcBef>
              <a:spcAft>
                <a:spcPts val="0"/>
              </a:spcAft>
              <a:buClrTx/>
              <a:buSzTx/>
              <a:buFontTx/>
              <a:buNone/>
              <a:tabLst/>
              <a:defRPr/>
            </a:pPr>
            <a:r>
              <a:rPr kumimoji="0" sz="1147" b="0" i="0" u="none" strike="noStrike" kern="1200" cap="none" spc="0" normalizeH="0" baseline="0" noProof="0">
                <a:ln>
                  <a:noFill/>
                </a:ln>
                <a:solidFill>
                  <a:srgbClr val="6C7278"/>
                </a:solidFill>
                <a:effectLst/>
                <a:uLnTx/>
                <a:uFillTx/>
                <a:latin typeface="Calibri"/>
                <a:ea typeface="+mn-ea"/>
                <a:cs typeface="+mn-cs"/>
              </a:rPr>
              <a:t>• NSGA-II / NSGA-III – Multi-Objective-Optimierung</a:t>
            </a:r>
          </a:p>
        </p:txBody>
      </p:sp>
      <p:sp>
        <p:nvSpPr>
          <p:cNvPr id="16" name="Rounded Rectangle 15"/>
          <p:cNvSpPr/>
          <p:nvPr/>
        </p:nvSpPr>
        <p:spPr>
          <a:xfrm>
            <a:off x="471113" y="3549701"/>
            <a:ext cx="11218577" cy="2723246"/>
          </a:xfrm>
          <a:prstGeom prst="roundRect">
            <a:avLst>
              <a:gd name="adj" fmla="val 5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17" name="TextBox 16"/>
          <p:cNvSpPr txBox="1"/>
          <p:nvPr/>
        </p:nvSpPr>
        <p:spPr>
          <a:xfrm>
            <a:off x="770371" y="3759181"/>
            <a:ext cx="3861227" cy="244972"/>
          </a:xfrm>
          <a:prstGeom prst="rect">
            <a:avLst/>
          </a:prstGeom>
          <a:noFill/>
        </p:spPr>
        <p:txBody>
          <a:bodyPr wrap="none" lIns="0" tIns="0" rIns="0" bIns="0">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22272B"/>
                </a:solidFill>
                <a:effectLst/>
                <a:uLnTx/>
                <a:uFillTx/>
                <a:latin typeface="Cambria"/>
                <a:ea typeface="+mn-ea"/>
                <a:cs typeface="+mn-cs"/>
              </a:rPr>
              <a:t>Ablauf einer Optuna-Study (schematisch)</a:t>
            </a:r>
          </a:p>
        </p:txBody>
      </p:sp>
      <p:sp>
        <p:nvSpPr>
          <p:cNvPr id="18" name="Rounded Rectangle 17"/>
          <p:cNvSpPr/>
          <p:nvPr/>
        </p:nvSpPr>
        <p:spPr>
          <a:xfrm>
            <a:off x="770371" y="4247969"/>
            <a:ext cx="1852685" cy="1147155"/>
          </a:xfrm>
          <a:prstGeom prst="roundRect">
            <a:avLst>
              <a:gd name="adj" fmla="val 10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19" name="Oval 18"/>
          <p:cNvSpPr/>
          <p:nvPr/>
        </p:nvSpPr>
        <p:spPr>
          <a:xfrm>
            <a:off x="1537109" y="4347722"/>
            <a:ext cx="319208" cy="319208"/>
          </a:xfrm>
          <a:prstGeom prst="ellipse">
            <a:avLst/>
          </a:prstGeom>
          <a:solidFill>
            <a:srgbClr val="E0912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297" b="1" i="0" u="none" strike="noStrike" kern="1200" cap="none" spc="0" normalizeH="0" baseline="0" noProof="0">
                <a:ln>
                  <a:noFill/>
                </a:ln>
                <a:solidFill>
                  <a:srgbClr val="FFFFFF"/>
                </a:solidFill>
                <a:effectLst/>
                <a:uLnTx/>
                <a:uFillTx/>
                <a:latin typeface="Cambria"/>
                <a:ea typeface="+mn-ea"/>
                <a:cs typeface="+mn-cs"/>
              </a:rPr>
              <a:t>1</a:t>
            </a:r>
          </a:p>
        </p:txBody>
      </p:sp>
      <p:sp>
        <p:nvSpPr>
          <p:cNvPr id="20" name="TextBox 19"/>
          <p:cNvSpPr txBox="1"/>
          <p:nvPr/>
        </p:nvSpPr>
        <p:spPr>
          <a:xfrm>
            <a:off x="820247" y="4716806"/>
            <a:ext cx="1752933" cy="183762"/>
          </a:xfrm>
          <a:prstGeom prst="rect">
            <a:avLst/>
          </a:prstGeom>
          <a:noFill/>
        </p:spPr>
        <p:txBody>
          <a:bodyPr wrap="square" lIns="0" tIns="0" rIns="0" bIns="0">
            <a:spAutoFit/>
          </a:bodyP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197" b="1" i="0" u="none" strike="noStrike" kern="1200" cap="none" spc="0" normalizeH="0" baseline="0" noProof="0">
                <a:ln>
                  <a:noFill/>
                </a:ln>
                <a:solidFill>
                  <a:srgbClr val="22272B"/>
                </a:solidFill>
                <a:effectLst/>
                <a:uLnTx/>
                <a:uFillTx/>
                <a:latin typeface="Cambria"/>
                <a:ea typeface="+mn-ea"/>
                <a:cs typeface="+mn-cs"/>
              </a:rPr>
              <a:t>Suchraum definieren</a:t>
            </a:r>
          </a:p>
        </p:txBody>
      </p:sp>
      <p:sp>
        <p:nvSpPr>
          <p:cNvPr id="21" name="TextBox 20"/>
          <p:cNvSpPr txBox="1"/>
          <p:nvPr/>
        </p:nvSpPr>
        <p:spPr>
          <a:xfrm>
            <a:off x="820247" y="5055965"/>
            <a:ext cx="1752933" cy="145513"/>
          </a:xfrm>
          <a:prstGeom prst="rect">
            <a:avLst/>
          </a:prstGeom>
          <a:noFill/>
        </p:spPr>
        <p:txBody>
          <a:bodyPr wrap="square" lIns="0" tIns="0" rIns="0" bIns="0">
            <a:spAutoFit/>
          </a:bodyP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948" b="0" i="0" u="none" strike="noStrike" kern="1200" cap="none" spc="0" normalizeH="0" baseline="0" noProof="0">
                <a:ln>
                  <a:noFill/>
                </a:ln>
                <a:solidFill>
                  <a:srgbClr val="6C7278"/>
                </a:solidFill>
                <a:effectLst/>
                <a:uLnTx/>
                <a:uFillTx/>
                <a:latin typeface="Calibri"/>
                <a:ea typeface="+mn-ea"/>
                <a:cs typeface="+mn-cs"/>
              </a:rPr>
              <a:t>Parameter-Ranges festlegen</a:t>
            </a:r>
          </a:p>
        </p:txBody>
      </p:sp>
      <p:sp>
        <p:nvSpPr>
          <p:cNvPr id="22" name="TextBox 21"/>
          <p:cNvSpPr txBox="1"/>
          <p:nvPr/>
        </p:nvSpPr>
        <p:spPr>
          <a:xfrm>
            <a:off x="2677505" y="4668423"/>
            <a:ext cx="230261" cy="306247"/>
          </a:xfrm>
          <a:prstGeom prst="rect">
            <a:avLst/>
          </a:prstGeom>
          <a:noFill/>
        </p:spPr>
        <p:txBody>
          <a:bodyPr wrap="none" lIns="0" tIns="0" rIns="0" bIns="0" anchor="ctr">
            <a:spAutoFit/>
          </a:bodyP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995" b="1" i="0" u="none" strike="noStrike" kern="1200" cap="none" spc="0" normalizeH="0" baseline="0" noProof="0">
                <a:ln>
                  <a:noFill/>
                </a:ln>
                <a:solidFill>
                  <a:srgbClr val="E0912F"/>
                </a:solidFill>
                <a:effectLst/>
                <a:uLnTx/>
                <a:uFillTx/>
                <a:latin typeface="Calibri"/>
                <a:ea typeface="+mn-ea"/>
                <a:cs typeface="+mn-cs"/>
              </a:rPr>
              <a:t>→</a:t>
            </a:r>
          </a:p>
        </p:txBody>
      </p:sp>
      <p:sp>
        <p:nvSpPr>
          <p:cNvPr id="23" name="Rounded Rectangle 22"/>
          <p:cNvSpPr/>
          <p:nvPr/>
        </p:nvSpPr>
        <p:spPr>
          <a:xfrm>
            <a:off x="2962215" y="4247969"/>
            <a:ext cx="1852685" cy="1147155"/>
          </a:xfrm>
          <a:prstGeom prst="roundRect">
            <a:avLst>
              <a:gd name="adj" fmla="val 10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24" name="Oval 23"/>
          <p:cNvSpPr/>
          <p:nvPr/>
        </p:nvSpPr>
        <p:spPr>
          <a:xfrm>
            <a:off x="3728953" y="4347722"/>
            <a:ext cx="319208" cy="319208"/>
          </a:xfrm>
          <a:prstGeom prst="ellipse">
            <a:avLst/>
          </a:prstGeom>
          <a:solidFill>
            <a:srgbClr val="E0912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297" b="1" i="0" u="none" strike="noStrike" kern="1200" cap="none" spc="0" normalizeH="0" baseline="0" noProof="0">
                <a:ln>
                  <a:noFill/>
                </a:ln>
                <a:solidFill>
                  <a:srgbClr val="FFFFFF"/>
                </a:solidFill>
                <a:effectLst/>
                <a:uLnTx/>
                <a:uFillTx/>
                <a:latin typeface="Cambria"/>
                <a:ea typeface="+mn-ea"/>
                <a:cs typeface="+mn-cs"/>
              </a:rPr>
              <a:t>2</a:t>
            </a:r>
          </a:p>
        </p:txBody>
      </p:sp>
      <p:sp>
        <p:nvSpPr>
          <p:cNvPr id="25" name="TextBox 24"/>
          <p:cNvSpPr txBox="1"/>
          <p:nvPr/>
        </p:nvSpPr>
        <p:spPr>
          <a:xfrm>
            <a:off x="3012091" y="4716806"/>
            <a:ext cx="1752933" cy="183762"/>
          </a:xfrm>
          <a:prstGeom prst="rect">
            <a:avLst/>
          </a:prstGeom>
          <a:noFill/>
        </p:spPr>
        <p:txBody>
          <a:bodyPr wrap="square" lIns="0" tIns="0" rIns="0" bIns="0">
            <a:spAutoFit/>
          </a:bodyP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197" b="1" i="0" u="none" strike="noStrike" kern="1200" cap="none" spc="0" normalizeH="0" baseline="0" noProof="0">
                <a:ln>
                  <a:noFill/>
                </a:ln>
                <a:solidFill>
                  <a:srgbClr val="22272B"/>
                </a:solidFill>
                <a:effectLst/>
                <a:uLnTx/>
                <a:uFillTx/>
                <a:latin typeface="Cambria"/>
                <a:ea typeface="+mn-ea"/>
                <a:cs typeface="+mn-cs"/>
              </a:rPr>
              <a:t>Sampler schlägt vor</a:t>
            </a:r>
          </a:p>
        </p:txBody>
      </p:sp>
      <p:sp>
        <p:nvSpPr>
          <p:cNvPr id="26" name="TextBox 25"/>
          <p:cNvSpPr txBox="1"/>
          <p:nvPr/>
        </p:nvSpPr>
        <p:spPr>
          <a:xfrm>
            <a:off x="3012091" y="5055965"/>
            <a:ext cx="1752933" cy="145513"/>
          </a:xfrm>
          <a:prstGeom prst="rect">
            <a:avLst/>
          </a:prstGeom>
          <a:noFill/>
        </p:spPr>
        <p:txBody>
          <a:bodyPr wrap="square" lIns="0" tIns="0" rIns="0" bIns="0">
            <a:spAutoFit/>
          </a:bodyP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948" b="0" i="0" u="none" strike="noStrike" kern="1200" cap="none" spc="0" normalizeH="0" baseline="0" noProof="0">
                <a:ln>
                  <a:noFill/>
                </a:ln>
                <a:solidFill>
                  <a:srgbClr val="6C7278"/>
                </a:solidFill>
                <a:effectLst/>
                <a:uLnTx/>
                <a:uFillTx/>
                <a:latin typeface="Calibri"/>
                <a:ea typeface="+mn-ea"/>
                <a:cs typeface="+mn-cs"/>
              </a:rPr>
              <a:t>TPE / CMA-ES / GPSampler …</a:t>
            </a:r>
          </a:p>
        </p:txBody>
      </p:sp>
      <p:sp>
        <p:nvSpPr>
          <p:cNvPr id="27" name="TextBox 26"/>
          <p:cNvSpPr txBox="1"/>
          <p:nvPr/>
        </p:nvSpPr>
        <p:spPr>
          <a:xfrm>
            <a:off x="4869349" y="4668423"/>
            <a:ext cx="230261" cy="306247"/>
          </a:xfrm>
          <a:prstGeom prst="rect">
            <a:avLst/>
          </a:prstGeom>
          <a:noFill/>
        </p:spPr>
        <p:txBody>
          <a:bodyPr wrap="none" lIns="0" tIns="0" rIns="0" bIns="0" anchor="ctr">
            <a:spAutoFit/>
          </a:bodyP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995" b="1" i="0" u="none" strike="noStrike" kern="1200" cap="none" spc="0" normalizeH="0" baseline="0" noProof="0">
                <a:ln>
                  <a:noFill/>
                </a:ln>
                <a:solidFill>
                  <a:srgbClr val="E0912F"/>
                </a:solidFill>
                <a:effectLst/>
                <a:uLnTx/>
                <a:uFillTx/>
                <a:latin typeface="Calibri"/>
                <a:ea typeface="+mn-ea"/>
                <a:cs typeface="+mn-cs"/>
              </a:rPr>
              <a:t>→</a:t>
            </a:r>
          </a:p>
        </p:txBody>
      </p:sp>
      <p:sp>
        <p:nvSpPr>
          <p:cNvPr id="28" name="Rounded Rectangle 27"/>
          <p:cNvSpPr/>
          <p:nvPr/>
        </p:nvSpPr>
        <p:spPr>
          <a:xfrm>
            <a:off x="5154059" y="4247969"/>
            <a:ext cx="1852685" cy="1147155"/>
          </a:xfrm>
          <a:prstGeom prst="roundRect">
            <a:avLst>
              <a:gd name="adj" fmla="val 10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29" name="Oval 28"/>
          <p:cNvSpPr/>
          <p:nvPr/>
        </p:nvSpPr>
        <p:spPr>
          <a:xfrm>
            <a:off x="5920797" y="4347722"/>
            <a:ext cx="319208" cy="319208"/>
          </a:xfrm>
          <a:prstGeom prst="ellipse">
            <a:avLst/>
          </a:prstGeom>
          <a:solidFill>
            <a:srgbClr val="E0912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297" b="1" i="0" u="none" strike="noStrike" kern="1200" cap="none" spc="0" normalizeH="0" baseline="0" noProof="0">
                <a:ln>
                  <a:noFill/>
                </a:ln>
                <a:solidFill>
                  <a:srgbClr val="FFFFFF"/>
                </a:solidFill>
                <a:effectLst/>
                <a:uLnTx/>
                <a:uFillTx/>
                <a:latin typeface="Cambria"/>
                <a:ea typeface="+mn-ea"/>
                <a:cs typeface="+mn-cs"/>
              </a:rPr>
              <a:t>3</a:t>
            </a:r>
          </a:p>
        </p:txBody>
      </p:sp>
      <p:sp>
        <p:nvSpPr>
          <p:cNvPr id="30" name="TextBox 29"/>
          <p:cNvSpPr txBox="1"/>
          <p:nvPr/>
        </p:nvSpPr>
        <p:spPr>
          <a:xfrm>
            <a:off x="5203935" y="4716806"/>
            <a:ext cx="1752933" cy="183762"/>
          </a:xfrm>
          <a:prstGeom prst="rect">
            <a:avLst/>
          </a:prstGeom>
          <a:noFill/>
        </p:spPr>
        <p:txBody>
          <a:bodyPr wrap="square" lIns="0" tIns="0" rIns="0" bIns="0">
            <a:spAutoFit/>
          </a:bodyP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197" b="1" i="0" u="none" strike="noStrike" kern="1200" cap="none" spc="0" normalizeH="0" baseline="0" noProof="0">
                <a:ln>
                  <a:noFill/>
                </a:ln>
                <a:solidFill>
                  <a:srgbClr val="22272B"/>
                </a:solidFill>
                <a:effectLst/>
                <a:uLnTx/>
                <a:uFillTx/>
                <a:latin typeface="Cambria"/>
                <a:ea typeface="+mn-ea"/>
                <a:cs typeface="+mn-cs"/>
              </a:rPr>
              <a:t>Trial: Training &amp; Eval.</a:t>
            </a:r>
          </a:p>
        </p:txBody>
      </p:sp>
      <p:sp>
        <p:nvSpPr>
          <p:cNvPr id="31" name="TextBox 30"/>
          <p:cNvSpPr txBox="1"/>
          <p:nvPr/>
        </p:nvSpPr>
        <p:spPr>
          <a:xfrm>
            <a:off x="5203935" y="5055965"/>
            <a:ext cx="1752933" cy="145513"/>
          </a:xfrm>
          <a:prstGeom prst="rect">
            <a:avLst/>
          </a:prstGeom>
          <a:noFill/>
        </p:spPr>
        <p:txBody>
          <a:bodyPr wrap="square" lIns="0" tIns="0" rIns="0" bIns="0">
            <a:spAutoFit/>
          </a:bodyP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948" b="0" i="0" u="none" strike="noStrike" kern="1200" cap="none" spc="0" normalizeH="0" baseline="0" noProof="0" dirty="0">
                <a:ln>
                  <a:noFill/>
                </a:ln>
                <a:solidFill>
                  <a:srgbClr val="6C7278"/>
                </a:solidFill>
                <a:effectLst/>
                <a:uLnTx/>
                <a:uFillTx/>
                <a:latin typeface="Calibri"/>
                <a:ea typeface="+mn-ea"/>
                <a:cs typeface="+mn-cs"/>
              </a:rPr>
              <a:t>Objective</a:t>
            </a:r>
            <a:r>
              <a:rPr kumimoji="0" lang="de-DE" sz="948" b="0" i="0" u="none" strike="noStrike" kern="1200" cap="none" spc="0" normalizeH="0" baseline="0" noProof="0" dirty="0">
                <a:ln>
                  <a:noFill/>
                </a:ln>
                <a:solidFill>
                  <a:srgbClr val="6C7278"/>
                </a:solidFill>
                <a:effectLst/>
                <a:uLnTx/>
                <a:uFillTx/>
                <a:latin typeface="Calibri"/>
                <a:ea typeface="+mn-ea"/>
                <a:cs typeface="+mn-cs"/>
              </a:rPr>
              <a:t>, hier MAE</a:t>
            </a:r>
            <a:endParaRPr kumimoji="0" sz="948" b="0" i="0" u="none" strike="noStrike" kern="1200" cap="none" spc="0" normalizeH="0" baseline="0" noProof="0" dirty="0">
              <a:ln>
                <a:noFill/>
              </a:ln>
              <a:solidFill>
                <a:srgbClr val="6C7278"/>
              </a:solidFill>
              <a:effectLst/>
              <a:uLnTx/>
              <a:uFillTx/>
              <a:latin typeface="Calibri"/>
              <a:ea typeface="+mn-ea"/>
              <a:cs typeface="+mn-cs"/>
            </a:endParaRPr>
          </a:p>
        </p:txBody>
      </p:sp>
      <p:sp>
        <p:nvSpPr>
          <p:cNvPr id="32" name="TextBox 31"/>
          <p:cNvSpPr txBox="1"/>
          <p:nvPr/>
        </p:nvSpPr>
        <p:spPr>
          <a:xfrm>
            <a:off x="7061193" y="4668423"/>
            <a:ext cx="230261" cy="306247"/>
          </a:xfrm>
          <a:prstGeom prst="rect">
            <a:avLst/>
          </a:prstGeom>
          <a:noFill/>
        </p:spPr>
        <p:txBody>
          <a:bodyPr wrap="none" lIns="0" tIns="0" rIns="0" bIns="0" anchor="ctr">
            <a:spAutoFit/>
          </a:bodyP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995" b="1" i="0" u="none" strike="noStrike" kern="1200" cap="none" spc="0" normalizeH="0" baseline="0" noProof="0">
                <a:ln>
                  <a:noFill/>
                </a:ln>
                <a:solidFill>
                  <a:srgbClr val="E0912F"/>
                </a:solidFill>
                <a:effectLst/>
                <a:uLnTx/>
                <a:uFillTx/>
                <a:latin typeface="Calibri"/>
                <a:ea typeface="+mn-ea"/>
                <a:cs typeface="+mn-cs"/>
              </a:rPr>
              <a:t>→</a:t>
            </a:r>
          </a:p>
        </p:txBody>
      </p:sp>
      <p:sp>
        <p:nvSpPr>
          <p:cNvPr id="33" name="Rounded Rectangle 32"/>
          <p:cNvSpPr/>
          <p:nvPr/>
        </p:nvSpPr>
        <p:spPr>
          <a:xfrm>
            <a:off x="7345903" y="4247969"/>
            <a:ext cx="1852685" cy="1147155"/>
          </a:xfrm>
          <a:prstGeom prst="roundRect">
            <a:avLst>
              <a:gd name="adj" fmla="val 10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34" name="Oval 33"/>
          <p:cNvSpPr/>
          <p:nvPr/>
        </p:nvSpPr>
        <p:spPr>
          <a:xfrm>
            <a:off x="8112641" y="4347722"/>
            <a:ext cx="319208" cy="319208"/>
          </a:xfrm>
          <a:prstGeom prst="ellipse">
            <a:avLst/>
          </a:prstGeom>
          <a:solidFill>
            <a:srgbClr val="E0912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297" b="1" i="0" u="none" strike="noStrike" kern="1200" cap="none" spc="0" normalizeH="0" baseline="0" noProof="0">
                <a:ln>
                  <a:noFill/>
                </a:ln>
                <a:solidFill>
                  <a:srgbClr val="FFFFFF"/>
                </a:solidFill>
                <a:effectLst/>
                <a:uLnTx/>
                <a:uFillTx/>
                <a:latin typeface="Cambria"/>
                <a:ea typeface="+mn-ea"/>
                <a:cs typeface="+mn-cs"/>
              </a:rPr>
              <a:t>4</a:t>
            </a:r>
          </a:p>
        </p:txBody>
      </p:sp>
      <p:sp>
        <p:nvSpPr>
          <p:cNvPr id="35" name="TextBox 34"/>
          <p:cNvSpPr txBox="1"/>
          <p:nvPr/>
        </p:nvSpPr>
        <p:spPr>
          <a:xfrm>
            <a:off x="7395779" y="4716806"/>
            <a:ext cx="1752933" cy="183762"/>
          </a:xfrm>
          <a:prstGeom prst="rect">
            <a:avLst/>
          </a:prstGeom>
          <a:noFill/>
        </p:spPr>
        <p:txBody>
          <a:bodyPr wrap="square" lIns="0" tIns="0" rIns="0" bIns="0">
            <a:spAutoFit/>
          </a:bodyP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197" b="1" i="0" u="none" strike="noStrike" kern="1200" cap="none" spc="0" normalizeH="0" baseline="0" noProof="0">
                <a:ln>
                  <a:noFill/>
                </a:ln>
                <a:solidFill>
                  <a:srgbClr val="22272B"/>
                </a:solidFill>
                <a:effectLst/>
                <a:uLnTx/>
                <a:uFillTx/>
                <a:latin typeface="Cambria"/>
                <a:ea typeface="+mn-ea"/>
                <a:cs typeface="+mn-cs"/>
              </a:rPr>
              <a:t>Pruning-Check</a:t>
            </a:r>
          </a:p>
        </p:txBody>
      </p:sp>
      <p:sp>
        <p:nvSpPr>
          <p:cNvPr id="36" name="TextBox 35"/>
          <p:cNvSpPr txBox="1"/>
          <p:nvPr/>
        </p:nvSpPr>
        <p:spPr>
          <a:xfrm>
            <a:off x="7395779" y="5055965"/>
            <a:ext cx="1752933" cy="145513"/>
          </a:xfrm>
          <a:prstGeom prst="rect">
            <a:avLst/>
          </a:prstGeom>
          <a:noFill/>
        </p:spPr>
        <p:txBody>
          <a:bodyPr wrap="square" lIns="0" tIns="0" rIns="0" bIns="0">
            <a:spAutoFit/>
          </a:bodyP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948" b="0" i="0" u="none" strike="noStrike" kern="1200" cap="none" spc="0" normalizeH="0" baseline="0" noProof="0">
                <a:ln>
                  <a:noFill/>
                </a:ln>
                <a:solidFill>
                  <a:srgbClr val="6C7278"/>
                </a:solidFill>
                <a:effectLst/>
                <a:uLnTx/>
                <a:uFillTx/>
                <a:latin typeface="Calibri"/>
                <a:ea typeface="+mn-ea"/>
                <a:cs typeface="+mn-cs"/>
              </a:rPr>
              <a:t>ggf. früher Abbruch</a:t>
            </a:r>
          </a:p>
        </p:txBody>
      </p:sp>
      <p:sp>
        <p:nvSpPr>
          <p:cNvPr id="37" name="TextBox 36"/>
          <p:cNvSpPr txBox="1"/>
          <p:nvPr/>
        </p:nvSpPr>
        <p:spPr>
          <a:xfrm>
            <a:off x="9253037" y="4668423"/>
            <a:ext cx="230261" cy="306247"/>
          </a:xfrm>
          <a:prstGeom prst="rect">
            <a:avLst/>
          </a:prstGeom>
          <a:noFill/>
        </p:spPr>
        <p:txBody>
          <a:bodyPr wrap="none" lIns="0" tIns="0" rIns="0" bIns="0" anchor="ctr">
            <a:spAutoFit/>
          </a:bodyP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995" b="1" i="0" u="none" strike="noStrike" kern="1200" cap="none" spc="0" normalizeH="0" baseline="0" noProof="0">
                <a:ln>
                  <a:noFill/>
                </a:ln>
                <a:solidFill>
                  <a:srgbClr val="E0912F"/>
                </a:solidFill>
                <a:effectLst/>
                <a:uLnTx/>
                <a:uFillTx/>
                <a:latin typeface="Calibri"/>
                <a:ea typeface="+mn-ea"/>
                <a:cs typeface="+mn-cs"/>
              </a:rPr>
              <a:t>→</a:t>
            </a:r>
          </a:p>
        </p:txBody>
      </p:sp>
      <p:sp>
        <p:nvSpPr>
          <p:cNvPr id="38" name="Rounded Rectangle 37"/>
          <p:cNvSpPr/>
          <p:nvPr/>
        </p:nvSpPr>
        <p:spPr>
          <a:xfrm>
            <a:off x="9537747" y="4247969"/>
            <a:ext cx="1852685" cy="1147155"/>
          </a:xfrm>
          <a:prstGeom prst="roundRect">
            <a:avLst>
              <a:gd name="adj" fmla="val 10000"/>
            </a:avLst>
          </a:prstGeom>
          <a:solidFill>
            <a:srgbClr val="FFFFFF"/>
          </a:solidFill>
          <a:ln w="12700">
            <a:solidFill>
              <a:srgbClr val="E1E3E6"/>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39" name="Oval 38"/>
          <p:cNvSpPr/>
          <p:nvPr/>
        </p:nvSpPr>
        <p:spPr>
          <a:xfrm>
            <a:off x="10304485" y="4347722"/>
            <a:ext cx="319208" cy="319208"/>
          </a:xfrm>
          <a:prstGeom prst="ellipse">
            <a:avLst/>
          </a:prstGeom>
          <a:solidFill>
            <a:srgbClr val="E0912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297" b="1" i="0" u="none" strike="noStrike" kern="1200" cap="none" spc="0" normalizeH="0" baseline="0" noProof="0">
                <a:ln>
                  <a:noFill/>
                </a:ln>
                <a:solidFill>
                  <a:srgbClr val="FFFFFF"/>
                </a:solidFill>
                <a:effectLst/>
                <a:uLnTx/>
                <a:uFillTx/>
                <a:latin typeface="Cambria"/>
                <a:ea typeface="+mn-ea"/>
                <a:cs typeface="+mn-cs"/>
              </a:rPr>
              <a:t>5</a:t>
            </a:r>
          </a:p>
        </p:txBody>
      </p:sp>
      <p:sp>
        <p:nvSpPr>
          <p:cNvPr id="40" name="TextBox 39"/>
          <p:cNvSpPr txBox="1"/>
          <p:nvPr/>
        </p:nvSpPr>
        <p:spPr>
          <a:xfrm>
            <a:off x="9587623" y="4716806"/>
            <a:ext cx="1752933" cy="183762"/>
          </a:xfrm>
          <a:prstGeom prst="rect">
            <a:avLst/>
          </a:prstGeom>
          <a:noFill/>
        </p:spPr>
        <p:txBody>
          <a:bodyPr wrap="square" lIns="0" tIns="0" rIns="0" bIns="0">
            <a:spAutoFit/>
          </a:bodyP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197" b="1" i="0" u="none" strike="noStrike" kern="1200" cap="none" spc="0" normalizeH="0" baseline="0" noProof="0">
                <a:ln>
                  <a:noFill/>
                </a:ln>
                <a:solidFill>
                  <a:srgbClr val="22272B"/>
                </a:solidFill>
                <a:effectLst/>
                <a:uLnTx/>
                <a:uFillTx/>
                <a:latin typeface="Cambria"/>
                <a:ea typeface="+mn-ea"/>
                <a:cs typeface="+mn-cs"/>
              </a:rPr>
              <a:t>Study: Best Params</a:t>
            </a:r>
          </a:p>
        </p:txBody>
      </p:sp>
      <p:sp>
        <p:nvSpPr>
          <p:cNvPr id="41" name="TextBox 40"/>
          <p:cNvSpPr txBox="1"/>
          <p:nvPr/>
        </p:nvSpPr>
        <p:spPr>
          <a:xfrm>
            <a:off x="9587623" y="5055965"/>
            <a:ext cx="1752933" cy="145513"/>
          </a:xfrm>
          <a:prstGeom prst="rect">
            <a:avLst/>
          </a:prstGeom>
          <a:noFill/>
        </p:spPr>
        <p:txBody>
          <a:bodyPr wrap="square" lIns="0" tIns="0" rIns="0" bIns="0">
            <a:spAutoFit/>
          </a:bodyP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948" b="0" i="0" u="none" strike="noStrike" kern="1200" cap="none" spc="0" normalizeH="0" baseline="0" noProof="0">
                <a:ln>
                  <a:noFill/>
                </a:ln>
                <a:solidFill>
                  <a:srgbClr val="6C7278"/>
                </a:solidFill>
                <a:effectLst/>
                <a:uLnTx/>
                <a:uFillTx/>
                <a:latin typeface="Calibri"/>
                <a:ea typeface="+mn-ea"/>
                <a:cs typeface="+mn-cs"/>
              </a:rPr>
              <a:t>nach n Trials</a:t>
            </a:r>
          </a:p>
        </p:txBody>
      </p:sp>
      <p:sp>
        <p:nvSpPr>
          <p:cNvPr id="42" name="Rounded Rectangle 41"/>
          <p:cNvSpPr/>
          <p:nvPr/>
        </p:nvSpPr>
        <p:spPr>
          <a:xfrm>
            <a:off x="770371" y="5574678"/>
            <a:ext cx="10620061" cy="448887"/>
          </a:xfrm>
          <a:prstGeom prst="roundRect">
            <a:avLst>
              <a:gd name="adj" fmla="val 50000"/>
            </a:avLst>
          </a:prstGeom>
          <a:solidFill>
            <a:srgbClr val="F3E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43" name="Oval 42"/>
          <p:cNvSpPr/>
          <p:nvPr/>
        </p:nvSpPr>
        <p:spPr>
          <a:xfrm>
            <a:off x="900049" y="5654480"/>
            <a:ext cx="289283" cy="289283"/>
          </a:xfrm>
          <a:prstGeom prst="ellipse">
            <a:avLst/>
          </a:prstGeom>
          <a:solidFill>
            <a:srgbClr val="E0912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r>
              <a:rPr kumimoji="0" sz="1596" b="1" i="0" u="none" strike="noStrike" kern="1200" cap="none" spc="0" normalizeH="0" baseline="0" noProof="0">
                <a:ln>
                  <a:noFill/>
                </a:ln>
                <a:solidFill>
                  <a:srgbClr val="FFFFFF"/>
                </a:solidFill>
                <a:effectLst/>
                <a:uLnTx/>
                <a:uFillTx/>
                <a:latin typeface="Calibri"/>
                <a:ea typeface="+mn-ea"/>
                <a:cs typeface="+mn-cs"/>
              </a:rPr>
              <a:t>↻</a:t>
            </a:r>
          </a:p>
        </p:txBody>
      </p:sp>
      <p:sp>
        <p:nvSpPr>
          <p:cNvPr id="44" name="TextBox 43"/>
          <p:cNvSpPr txBox="1"/>
          <p:nvPr/>
        </p:nvSpPr>
        <p:spPr>
          <a:xfrm>
            <a:off x="1328985" y="5707241"/>
            <a:ext cx="9911818" cy="183762"/>
          </a:xfrm>
          <a:prstGeom prst="rect">
            <a:avLst/>
          </a:prstGeom>
          <a:noFill/>
        </p:spPr>
        <p:txBody>
          <a:bodyPr wrap="square" lIns="0" tIns="0" rIns="0" bIns="0" anchor="ctr">
            <a:spAutoFit/>
          </a:bodyP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sz="1197" b="0" i="0" u="none" strike="noStrike" kern="1200" cap="none" spc="0" normalizeH="0" baseline="0" noProof="0">
                <a:ln>
                  <a:noFill/>
                </a:ln>
                <a:solidFill>
                  <a:srgbClr val="22272B"/>
                </a:solidFill>
                <a:effectLst/>
                <a:uLnTx/>
                <a:uFillTx/>
                <a:latin typeface="Calibri"/>
                <a:ea typeface="+mn-ea"/>
                <a:cs typeface="+mn-cs"/>
              </a:rPr>
              <a:t>Schritte 2–4 wiederholen sich für n Trials – der Sampler lernt aus jedem Ergebnis, bis das Trial-Budget erreicht ist.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0E4A3-EF10-4D54-C930-69AAD9ECAF35}"/>
            </a:ext>
          </a:extLst>
        </p:cNvPr>
        <p:cNvGrpSpPr/>
        <p:nvPr/>
      </p:nvGrpSpPr>
      <p:grpSpPr>
        <a:xfrm>
          <a:off x="0" y="0"/>
          <a:ext cx="0" cy="0"/>
          <a:chOff x="0" y="0"/>
          <a:chExt cx="0" cy="0"/>
        </a:xfrm>
      </p:grpSpPr>
      <p:sp>
        <p:nvSpPr>
          <p:cNvPr id="8" name="Rectangle 1">
            <a:extLst>
              <a:ext uri="{FF2B5EF4-FFF2-40B4-BE49-F238E27FC236}">
                <a16:creationId xmlns:a16="http://schemas.microsoft.com/office/drawing/2014/main" id="{978C424F-21E7-B019-4712-667F6D6D24B2}"/>
              </a:ext>
            </a:extLst>
          </p:cNvPr>
          <p:cNvSpPr/>
          <p:nvPr/>
        </p:nvSpPr>
        <p:spPr>
          <a:xfrm>
            <a:off x="15044" y="8483"/>
            <a:ext cx="12130715" cy="6840315"/>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a:ln>
                <a:noFill/>
              </a:ln>
              <a:solidFill>
                <a:srgbClr val="FFFFFF"/>
              </a:solidFill>
              <a:effectLst/>
              <a:uLnTx/>
              <a:uFillTx/>
              <a:latin typeface="Calibri"/>
              <a:ea typeface="+mn-ea"/>
              <a:cs typeface="+mn-cs"/>
            </a:endParaRPr>
          </a:p>
        </p:txBody>
      </p:sp>
      <p:sp>
        <p:nvSpPr>
          <p:cNvPr id="282" name="Oval 12">
            <a:extLst>
              <a:ext uri="{FF2B5EF4-FFF2-40B4-BE49-F238E27FC236}">
                <a16:creationId xmlns:a16="http://schemas.microsoft.com/office/drawing/2014/main" id="{1ECBAA7F-DF04-E67D-F20B-D6BE80DDE6C6}"/>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83" name="TextBox 23">
            <a:extLst>
              <a:ext uri="{FF2B5EF4-FFF2-40B4-BE49-F238E27FC236}">
                <a16:creationId xmlns:a16="http://schemas.microsoft.com/office/drawing/2014/main" id="{1719863F-3D1E-E20A-0790-48792548E4F9}"/>
              </a:ext>
            </a:extLst>
          </p:cNvPr>
          <p:cNvSpPr/>
          <p:nvPr/>
        </p:nvSpPr>
        <p:spPr>
          <a:xfrm>
            <a:off x="457200" y="753840"/>
            <a:ext cx="1051200" cy="45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dirty="0">
                <a:solidFill>
                  <a:srgbClr val="FFFFFF"/>
                </a:solidFill>
                <a:effectLst/>
                <a:uFillTx/>
                <a:latin typeface="Cambria"/>
              </a:rPr>
              <a:t>05</a:t>
            </a:r>
            <a:endParaRPr lang="de-DE" sz="3000" b="0" u="none" strike="noStrike" dirty="0">
              <a:solidFill>
                <a:srgbClr val="000000"/>
              </a:solidFill>
              <a:effectLst/>
              <a:uFillTx/>
              <a:latin typeface="Arial"/>
            </a:endParaRPr>
          </a:p>
        </p:txBody>
      </p:sp>
      <p:sp>
        <p:nvSpPr>
          <p:cNvPr id="284" name="TextBox 28">
            <a:extLst>
              <a:ext uri="{FF2B5EF4-FFF2-40B4-BE49-F238E27FC236}">
                <a16:creationId xmlns:a16="http://schemas.microsoft.com/office/drawing/2014/main" id="{15B4CD49-05CF-0CD6-5DD2-C4D5E2F5CBB1}"/>
              </a:ext>
            </a:extLst>
          </p:cNvPr>
          <p:cNvSpPr/>
          <p:nvPr/>
        </p:nvSpPr>
        <p:spPr>
          <a:xfrm>
            <a:off x="1691640" y="584477"/>
            <a:ext cx="9573840" cy="430887"/>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ctr">
            <a:spAutoFit/>
          </a:bodyPr>
          <a:lstStyle/>
          <a:p>
            <a:pPr defTabSz="457200">
              <a:lnSpc>
                <a:spcPct val="100000"/>
              </a:lnSpc>
            </a:pPr>
            <a:r>
              <a:rPr lang="en-US" sz="2800" b="1" u="none" strike="noStrike" dirty="0" err="1">
                <a:solidFill>
                  <a:srgbClr val="22272B"/>
                </a:solidFill>
                <a:effectLst/>
                <a:uFillTx/>
                <a:latin typeface="Cambria"/>
              </a:rPr>
              <a:t>Modelltraining</a:t>
            </a:r>
            <a:r>
              <a:rPr lang="en-US" sz="2800" b="1" u="none" strike="noStrike" dirty="0">
                <a:solidFill>
                  <a:srgbClr val="22272B"/>
                </a:solidFill>
                <a:effectLst/>
                <a:uFillTx/>
                <a:latin typeface="Cambria"/>
              </a:rPr>
              <a:t> TFT – </a:t>
            </a:r>
            <a:r>
              <a:rPr lang="en-US" sz="2800" b="1" u="none" strike="noStrike" dirty="0" err="1">
                <a:solidFill>
                  <a:srgbClr val="22272B"/>
                </a:solidFill>
                <a:effectLst/>
                <a:uFillTx/>
                <a:latin typeface="Cambria"/>
              </a:rPr>
              <a:t>Verlauf</a:t>
            </a:r>
            <a:r>
              <a:rPr lang="en-US" sz="2800" b="1" u="none" strike="noStrike" dirty="0">
                <a:solidFill>
                  <a:srgbClr val="22272B"/>
                </a:solidFill>
                <a:effectLst/>
                <a:uFillTx/>
                <a:latin typeface="Cambria"/>
              </a:rPr>
              <a:t> Validation loss</a:t>
            </a:r>
            <a:endParaRPr lang="de-DE" sz="2800" b="0" u="none" strike="noStrike" dirty="0">
              <a:solidFill>
                <a:srgbClr val="000000"/>
              </a:solidFill>
              <a:effectLst/>
              <a:uFillTx/>
              <a:latin typeface="Arial"/>
            </a:endParaRPr>
          </a:p>
        </p:txBody>
      </p:sp>
      <p:sp>
        <p:nvSpPr>
          <p:cNvPr id="285" name="TextBox 29">
            <a:extLst>
              <a:ext uri="{FF2B5EF4-FFF2-40B4-BE49-F238E27FC236}">
                <a16:creationId xmlns:a16="http://schemas.microsoft.com/office/drawing/2014/main" id="{40963149-B7A3-AB38-3B04-95FEF9BB0244}"/>
              </a:ext>
            </a:extLst>
          </p:cNvPr>
          <p:cNvSpPr/>
          <p:nvPr/>
        </p:nvSpPr>
        <p:spPr>
          <a:xfrm>
            <a:off x="1710000" y="1115640"/>
            <a:ext cx="9143640" cy="213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endParaRPr lang="de-DE" sz="1800" b="0" u="none" strike="noStrike">
              <a:solidFill>
                <a:srgbClr val="000000"/>
              </a:solidFill>
              <a:effectLst/>
              <a:uFillTx/>
              <a:latin typeface="Arial"/>
            </a:endParaRPr>
          </a:p>
        </p:txBody>
      </p:sp>
      <p:sp>
        <p:nvSpPr>
          <p:cNvPr id="286" name="TextBox 65">
            <a:extLst>
              <a:ext uri="{FF2B5EF4-FFF2-40B4-BE49-F238E27FC236}">
                <a16:creationId xmlns:a16="http://schemas.microsoft.com/office/drawing/2014/main" id="{34F679C5-2762-C47B-B9D0-A33672DA72FB}"/>
              </a:ext>
            </a:extLst>
          </p:cNvP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pic>
        <p:nvPicPr>
          <p:cNvPr id="4" name="Grafik 3">
            <a:extLst>
              <a:ext uri="{FF2B5EF4-FFF2-40B4-BE49-F238E27FC236}">
                <a16:creationId xmlns:a16="http://schemas.microsoft.com/office/drawing/2014/main" id="{997C3013-01BD-E738-2013-E759B4662E00}"/>
              </a:ext>
            </a:extLst>
          </p:cNvPr>
          <p:cNvPicPr>
            <a:picLocks noChangeAspect="1"/>
          </p:cNvPicPr>
          <p:nvPr/>
        </p:nvPicPr>
        <p:blipFill>
          <a:blip r:embed="rId3"/>
          <a:stretch>
            <a:fillRect/>
          </a:stretch>
        </p:blipFill>
        <p:spPr>
          <a:xfrm>
            <a:off x="5414510" y="1780448"/>
            <a:ext cx="6239683" cy="3088257"/>
          </a:xfrm>
          <a:prstGeom prst="rect">
            <a:avLst/>
          </a:prstGeom>
        </p:spPr>
      </p:pic>
      <p:sp>
        <p:nvSpPr>
          <p:cNvPr id="6" name="Textfeld 5">
            <a:extLst>
              <a:ext uri="{FF2B5EF4-FFF2-40B4-BE49-F238E27FC236}">
                <a16:creationId xmlns:a16="http://schemas.microsoft.com/office/drawing/2014/main" id="{04DBDDF6-259A-7124-40E1-77ABE09F4F41}"/>
              </a:ext>
            </a:extLst>
          </p:cNvPr>
          <p:cNvSpPr txBox="1"/>
          <p:nvPr/>
        </p:nvSpPr>
        <p:spPr>
          <a:xfrm>
            <a:off x="5330475" y="4912817"/>
            <a:ext cx="6636895" cy="829543"/>
          </a:xfrm>
          <a:prstGeom prst="rect">
            <a:avLst/>
          </a:prstGeom>
          <a:noFill/>
          <a:ln w="0">
            <a:noFill/>
          </a:ln>
        </p:spPr>
        <p:txBody>
          <a:bodyPr wrap="square" lIns="90000" tIns="45000" rIns="90000" bIns="45000" anchor="t">
            <a:spAutoFit/>
          </a:bodyPr>
          <a:lstStyle/>
          <a:p>
            <a:r>
              <a:rPr lang="de-DE" sz="1600" dirty="0">
                <a:solidFill>
                  <a:srgbClr val="000000"/>
                </a:solidFill>
                <a:latin typeface="Arial"/>
                <a:sym typeface="Wingdings" panose="05000000000000000000" pitchFamily="2" charset="2"/>
              </a:rPr>
              <a:t> Eine weitere Verbesserung im Validation </a:t>
            </a:r>
            <a:r>
              <a:rPr lang="de-DE" sz="1600" dirty="0" err="1">
                <a:solidFill>
                  <a:srgbClr val="000000"/>
                </a:solidFill>
                <a:latin typeface="Arial"/>
                <a:sym typeface="Wingdings" panose="05000000000000000000" pitchFamily="2" charset="2"/>
              </a:rPr>
              <a:t>loss</a:t>
            </a:r>
            <a:r>
              <a:rPr lang="de-DE" sz="1600" dirty="0">
                <a:solidFill>
                  <a:srgbClr val="000000"/>
                </a:solidFill>
                <a:latin typeface="Arial"/>
                <a:sym typeface="Wingdings" panose="05000000000000000000" pitchFamily="2" charset="2"/>
              </a:rPr>
              <a:t> ist nicht zu erwarten, das beste Modell bzgl. Validation </a:t>
            </a:r>
            <a:r>
              <a:rPr lang="de-DE" sz="1600" dirty="0" err="1">
                <a:solidFill>
                  <a:srgbClr val="000000"/>
                </a:solidFill>
                <a:latin typeface="Arial"/>
                <a:sym typeface="Wingdings" panose="05000000000000000000" pitchFamily="2" charset="2"/>
              </a:rPr>
              <a:t>loss</a:t>
            </a:r>
            <a:r>
              <a:rPr lang="de-DE" sz="1600" dirty="0">
                <a:solidFill>
                  <a:srgbClr val="000000"/>
                </a:solidFill>
                <a:latin typeface="Arial"/>
                <a:sym typeface="Wingdings" panose="05000000000000000000" pitchFamily="2" charset="2"/>
              </a:rPr>
              <a:t> wird im Folgenden verwendet.</a:t>
            </a:r>
            <a:endParaRPr lang="de-DE" sz="1600" dirty="0"/>
          </a:p>
          <a:p>
            <a:r>
              <a:rPr lang="de-DE" sz="1600" b="0" u="none" strike="noStrike" dirty="0">
                <a:solidFill>
                  <a:srgbClr val="000000"/>
                </a:solidFill>
                <a:effectLst/>
                <a:uFillTx/>
                <a:latin typeface="Arial"/>
              </a:rPr>
              <a:t> </a:t>
            </a:r>
          </a:p>
        </p:txBody>
      </p:sp>
      <p:sp>
        <p:nvSpPr>
          <p:cNvPr id="2" name="Textfeld 1">
            <a:extLst>
              <a:ext uri="{FF2B5EF4-FFF2-40B4-BE49-F238E27FC236}">
                <a16:creationId xmlns:a16="http://schemas.microsoft.com/office/drawing/2014/main" id="{955AAA79-9CA4-52FB-BF70-211DC3F56EAA}"/>
              </a:ext>
            </a:extLst>
          </p:cNvPr>
          <p:cNvSpPr txBox="1"/>
          <p:nvPr/>
        </p:nvSpPr>
        <p:spPr>
          <a:xfrm>
            <a:off x="457200" y="1682489"/>
            <a:ext cx="4832430" cy="4832092"/>
          </a:xfrm>
          <a:prstGeom prst="rect">
            <a:avLst/>
          </a:prstGeom>
          <a:noFill/>
        </p:spPr>
        <p:txBody>
          <a:bodyPr wrap="square" rtlCol="0">
            <a:spAutoFit/>
          </a:bodyPr>
          <a:lstStyle/>
          <a:p>
            <a:pPr marL="171450" indent="-171450">
              <a:buFont typeface="Arial" panose="020B0604020202020204" pitchFamily="34" charset="0"/>
              <a:buChar char="•"/>
            </a:pPr>
            <a:r>
              <a:rPr lang="de-DE" sz="1400" dirty="0">
                <a:solidFill>
                  <a:srgbClr val="000000"/>
                </a:solidFill>
                <a:latin typeface="Arial"/>
              </a:rPr>
              <a:t>Training TFT auf 11 Stationen wegen Datenlücke in </a:t>
            </a:r>
            <a:r>
              <a:rPr lang="de-DE" sz="1400" dirty="0" err="1">
                <a:solidFill>
                  <a:srgbClr val="000000"/>
                </a:solidFill>
                <a:latin typeface="Arial"/>
              </a:rPr>
              <a:t>Aotizhongxin</a:t>
            </a:r>
            <a:r>
              <a:rPr lang="de-DE" sz="1400" dirty="0">
                <a:solidFill>
                  <a:srgbClr val="000000"/>
                </a:solidFill>
                <a:latin typeface="Arial"/>
              </a:rPr>
              <a:t>, Train-/Test-Split am 01.09.2016 00:00 Uhr</a:t>
            </a:r>
          </a:p>
          <a:p>
            <a:pPr marL="171450" indent="-171450">
              <a:buFont typeface="Arial" panose="020B0604020202020204" pitchFamily="34" charset="0"/>
              <a:buChar char="•"/>
            </a:pPr>
            <a:endParaRPr lang="de-DE" sz="1400" dirty="0">
              <a:solidFill>
                <a:srgbClr val="000000"/>
              </a:solidFill>
              <a:latin typeface="Arial"/>
            </a:endParaRPr>
          </a:p>
          <a:p>
            <a:pPr marL="171450" indent="-171450">
              <a:buFont typeface="Arial" panose="020B0604020202020204" pitchFamily="34" charset="0"/>
              <a:buChar char="•"/>
            </a:pPr>
            <a:r>
              <a:rPr lang="de-DE" sz="1400" dirty="0">
                <a:solidFill>
                  <a:srgbClr val="000000"/>
                </a:solidFill>
                <a:latin typeface="Arial"/>
              </a:rPr>
              <a:t>Externe </a:t>
            </a:r>
            <a:r>
              <a:rPr lang="de-DE" sz="1400" dirty="0" err="1">
                <a:solidFill>
                  <a:srgbClr val="000000"/>
                </a:solidFill>
                <a:latin typeface="Arial"/>
              </a:rPr>
              <a:t>Kovariate</a:t>
            </a:r>
            <a:r>
              <a:rPr lang="de-DE" sz="1400" dirty="0">
                <a:solidFill>
                  <a:srgbClr val="000000"/>
                </a:solidFill>
                <a:latin typeface="Arial"/>
              </a:rPr>
              <a:t>:</a:t>
            </a:r>
          </a:p>
          <a:p>
            <a:pPr marL="628650" lvl="1" indent="-171450">
              <a:buFont typeface="Arial" panose="020B0604020202020204" pitchFamily="34" charset="0"/>
              <a:buChar char="•"/>
            </a:pPr>
            <a:r>
              <a:rPr lang="de-DE" sz="1400" dirty="0">
                <a:solidFill>
                  <a:srgbClr val="000000"/>
                </a:solidFill>
                <a:latin typeface="Arial"/>
              </a:rPr>
              <a:t>Statisch: Stationstyp</a:t>
            </a:r>
          </a:p>
          <a:p>
            <a:pPr marL="628650" lvl="1" indent="-171450">
              <a:buFont typeface="Arial" panose="020B0604020202020204" pitchFamily="34" charset="0"/>
              <a:buChar char="•"/>
            </a:pPr>
            <a:r>
              <a:rPr lang="de-DE" sz="1400" dirty="0">
                <a:solidFill>
                  <a:srgbClr val="000000"/>
                </a:solidFill>
                <a:latin typeface="Arial"/>
              </a:rPr>
              <a:t>Nur historisch: sonstige Schadstoffe</a:t>
            </a:r>
          </a:p>
          <a:p>
            <a:pPr marL="628650" lvl="1" indent="-171450">
              <a:buFont typeface="Arial" panose="020B0604020202020204" pitchFamily="34" charset="0"/>
              <a:buChar char="•"/>
            </a:pPr>
            <a:r>
              <a:rPr lang="de-DE" sz="1400" dirty="0">
                <a:solidFill>
                  <a:srgbClr val="000000"/>
                </a:solidFill>
                <a:latin typeface="Arial"/>
              </a:rPr>
              <a:t>Historisch &amp; Zukünftig: Wetter + Kalender</a:t>
            </a:r>
          </a:p>
          <a:p>
            <a:endParaRPr lang="de-DE" sz="1400" dirty="0">
              <a:solidFill>
                <a:srgbClr val="000000"/>
              </a:solidFill>
              <a:latin typeface="Arial"/>
            </a:endParaRPr>
          </a:p>
          <a:p>
            <a:pPr marL="171450" indent="-171450">
              <a:buFont typeface="Arial" panose="020B0604020202020204" pitchFamily="34" charset="0"/>
              <a:buChar char="•"/>
            </a:pPr>
            <a:r>
              <a:rPr lang="de-DE" sz="1400" dirty="0">
                <a:solidFill>
                  <a:srgbClr val="000000"/>
                </a:solidFill>
                <a:latin typeface="Arial"/>
              </a:rPr>
              <a:t>Fixe Hyperparameter*:</a:t>
            </a:r>
          </a:p>
          <a:p>
            <a:pPr marL="628650" lvl="1" indent="-171450">
              <a:buFont typeface="Arial" panose="020B0604020202020204" pitchFamily="34" charset="0"/>
              <a:buChar char="•"/>
            </a:pPr>
            <a:r>
              <a:rPr lang="de-DE" sz="1400" dirty="0">
                <a:solidFill>
                  <a:srgbClr val="000000"/>
                </a:solidFill>
                <a:latin typeface="Arial"/>
              </a:rPr>
              <a:t>Kontext: 336</a:t>
            </a:r>
          </a:p>
          <a:p>
            <a:pPr marL="628650" lvl="1" indent="-171450">
              <a:buFont typeface="Arial" panose="020B0604020202020204" pitchFamily="34" charset="0"/>
              <a:buChar char="•"/>
            </a:pPr>
            <a:r>
              <a:rPr lang="de-DE" sz="1400" dirty="0" err="1">
                <a:solidFill>
                  <a:srgbClr val="000000"/>
                </a:solidFill>
                <a:latin typeface="Arial"/>
              </a:rPr>
              <a:t>Hidden_Size</a:t>
            </a:r>
            <a:r>
              <a:rPr lang="de-DE" sz="1400" dirty="0">
                <a:solidFill>
                  <a:srgbClr val="000000"/>
                </a:solidFill>
                <a:latin typeface="Arial"/>
              </a:rPr>
              <a:t>: 128</a:t>
            </a:r>
          </a:p>
          <a:p>
            <a:pPr marL="628650" lvl="1" indent="-171450">
              <a:buFont typeface="Arial" panose="020B0604020202020204" pitchFamily="34" charset="0"/>
              <a:buChar char="•"/>
            </a:pPr>
            <a:r>
              <a:rPr lang="de-DE" sz="1400" dirty="0" err="1">
                <a:solidFill>
                  <a:srgbClr val="000000"/>
                </a:solidFill>
                <a:latin typeface="Arial"/>
              </a:rPr>
              <a:t>Early_stop_Patience</a:t>
            </a:r>
            <a:r>
              <a:rPr lang="de-DE" sz="1400" dirty="0">
                <a:solidFill>
                  <a:srgbClr val="000000"/>
                </a:solidFill>
                <a:latin typeface="Arial"/>
              </a:rPr>
              <a:t>: 20</a:t>
            </a:r>
          </a:p>
          <a:p>
            <a:pPr marL="628650" lvl="1" indent="-171450">
              <a:buFont typeface="Arial" panose="020B0604020202020204" pitchFamily="34" charset="0"/>
              <a:buChar char="•"/>
            </a:pPr>
            <a:r>
              <a:rPr lang="de-DE" sz="1400" dirty="0" err="1">
                <a:solidFill>
                  <a:srgbClr val="000000"/>
                </a:solidFill>
                <a:latin typeface="Arial"/>
              </a:rPr>
              <a:t>Max_steps</a:t>
            </a:r>
            <a:r>
              <a:rPr lang="de-DE" sz="1400" dirty="0">
                <a:solidFill>
                  <a:srgbClr val="000000"/>
                </a:solidFill>
                <a:latin typeface="Arial"/>
              </a:rPr>
              <a:t>: 1000</a:t>
            </a:r>
          </a:p>
          <a:p>
            <a:pPr marL="171450" indent="-171450">
              <a:buFont typeface="Arial" panose="020B0604020202020204" pitchFamily="34" charset="0"/>
              <a:buChar char="•"/>
            </a:pPr>
            <a:endParaRPr lang="de-DE" sz="1400" dirty="0">
              <a:solidFill>
                <a:srgbClr val="000000"/>
              </a:solidFill>
              <a:latin typeface="Arial"/>
            </a:endParaRPr>
          </a:p>
          <a:p>
            <a:pPr marL="171450" indent="-171450">
              <a:buFont typeface="Arial" panose="020B0604020202020204" pitchFamily="34" charset="0"/>
              <a:buChar char="•"/>
            </a:pPr>
            <a:r>
              <a:rPr lang="de-DE" sz="1400" dirty="0">
                <a:solidFill>
                  <a:srgbClr val="000000"/>
                </a:solidFill>
                <a:latin typeface="Arial"/>
              </a:rPr>
              <a:t>Hyperparameter, die durch </a:t>
            </a:r>
            <a:r>
              <a:rPr lang="de-DE" sz="1400" dirty="0" err="1">
                <a:solidFill>
                  <a:srgbClr val="000000"/>
                </a:solidFill>
                <a:latin typeface="Arial"/>
              </a:rPr>
              <a:t>optuna</a:t>
            </a:r>
            <a:r>
              <a:rPr lang="de-DE" sz="1400" dirty="0">
                <a:solidFill>
                  <a:srgbClr val="000000"/>
                </a:solidFill>
                <a:latin typeface="Arial"/>
              </a:rPr>
              <a:t> Optimierung gefunden wurden:</a:t>
            </a:r>
          </a:p>
          <a:p>
            <a:pPr marL="628650" lvl="1" indent="-171450">
              <a:buFont typeface="Arial" panose="020B0604020202020204" pitchFamily="34" charset="0"/>
              <a:buChar char="•"/>
            </a:pPr>
            <a:r>
              <a:rPr lang="de-DE" sz="1400" dirty="0" err="1">
                <a:solidFill>
                  <a:srgbClr val="000000"/>
                </a:solidFill>
                <a:latin typeface="Arial"/>
              </a:rPr>
              <a:t>Lernrate</a:t>
            </a:r>
            <a:r>
              <a:rPr lang="de-DE" sz="1400" dirty="0">
                <a:solidFill>
                  <a:srgbClr val="000000"/>
                </a:solidFill>
                <a:latin typeface="Arial"/>
              </a:rPr>
              <a:t>: 0.0017</a:t>
            </a:r>
          </a:p>
          <a:p>
            <a:pPr marL="628650" lvl="1" indent="-171450">
              <a:buFont typeface="Arial" panose="020B0604020202020204" pitchFamily="34" charset="0"/>
              <a:buChar char="•"/>
            </a:pPr>
            <a:r>
              <a:rPr lang="de-DE" sz="1400" dirty="0" err="1">
                <a:solidFill>
                  <a:srgbClr val="000000"/>
                </a:solidFill>
                <a:latin typeface="Arial"/>
              </a:rPr>
              <a:t>Scaler_Type</a:t>
            </a:r>
            <a:r>
              <a:rPr lang="de-DE" sz="1400" dirty="0">
                <a:solidFill>
                  <a:srgbClr val="000000"/>
                </a:solidFill>
                <a:latin typeface="Arial"/>
              </a:rPr>
              <a:t>: ‚Robust‘</a:t>
            </a:r>
          </a:p>
          <a:p>
            <a:pPr marL="628650" lvl="1" indent="-171450">
              <a:buFont typeface="Arial" panose="020B0604020202020204" pitchFamily="34" charset="0"/>
              <a:buChar char="•"/>
            </a:pPr>
            <a:r>
              <a:rPr lang="de-DE" sz="1400" dirty="0" err="1">
                <a:solidFill>
                  <a:srgbClr val="000000"/>
                </a:solidFill>
                <a:latin typeface="Arial"/>
              </a:rPr>
              <a:t>Attn_dropout</a:t>
            </a:r>
            <a:r>
              <a:rPr lang="de-DE" sz="1400" dirty="0">
                <a:solidFill>
                  <a:srgbClr val="000000"/>
                </a:solidFill>
                <a:latin typeface="Arial"/>
              </a:rPr>
              <a:t>: 0.137</a:t>
            </a:r>
          </a:p>
          <a:p>
            <a:pPr marL="628650" lvl="1" indent="-171450">
              <a:buFont typeface="Arial" panose="020B0604020202020204" pitchFamily="34" charset="0"/>
              <a:buChar char="•"/>
            </a:pPr>
            <a:r>
              <a:rPr lang="de-DE" sz="1400" dirty="0" err="1">
                <a:solidFill>
                  <a:srgbClr val="000000"/>
                </a:solidFill>
                <a:latin typeface="Arial"/>
              </a:rPr>
              <a:t>dropout</a:t>
            </a:r>
            <a:r>
              <a:rPr lang="de-DE" sz="1400" dirty="0">
                <a:solidFill>
                  <a:srgbClr val="000000"/>
                </a:solidFill>
                <a:latin typeface="Arial"/>
              </a:rPr>
              <a:t>: 0.142</a:t>
            </a:r>
          </a:p>
          <a:p>
            <a:pPr marL="628650" lvl="1" indent="-171450">
              <a:buFont typeface="Arial" panose="020B0604020202020204" pitchFamily="34" charset="0"/>
              <a:buChar char="•"/>
            </a:pPr>
            <a:r>
              <a:rPr lang="de-DE" sz="1400" dirty="0" err="1">
                <a:solidFill>
                  <a:srgbClr val="000000"/>
                </a:solidFill>
                <a:latin typeface="Arial"/>
              </a:rPr>
              <a:t>n_head</a:t>
            </a:r>
            <a:r>
              <a:rPr lang="de-DE" sz="1400" dirty="0">
                <a:solidFill>
                  <a:srgbClr val="000000"/>
                </a:solidFill>
                <a:latin typeface="Arial"/>
              </a:rPr>
              <a:t>: 4</a:t>
            </a:r>
          </a:p>
          <a:p>
            <a:pPr marL="171450" indent="-171450">
              <a:buFont typeface="Arial" panose="020B0604020202020204" pitchFamily="34" charset="0"/>
              <a:buChar char="•"/>
            </a:pPr>
            <a:endParaRPr lang="de-DE" sz="1400" dirty="0">
              <a:solidFill>
                <a:srgbClr val="000000"/>
              </a:solidFill>
              <a:latin typeface="Arial"/>
            </a:endParaRPr>
          </a:p>
        </p:txBody>
      </p:sp>
      <p:sp>
        <p:nvSpPr>
          <p:cNvPr id="7" name="Textfeld 6">
            <a:extLst>
              <a:ext uri="{FF2B5EF4-FFF2-40B4-BE49-F238E27FC236}">
                <a16:creationId xmlns:a16="http://schemas.microsoft.com/office/drawing/2014/main" id="{3FEC9BCF-BB36-45BF-A80B-8F33686860A6}"/>
              </a:ext>
            </a:extLst>
          </p:cNvPr>
          <p:cNvSpPr txBox="1"/>
          <p:nvPr/>
        </p:nvSpPr>
        <p:spPr>
          <a:xfrm>
            <a:off x="8270111" y="6157550"/>
            <a:ext cx="3559215" cy="523220"/>
          </a:xfrm>
          <a:prstGeom prst="rect">
            <a:avLst/>
          </a:prstGeom>
          <a:noFill/>
        </p:spPr>
        <p:txBody>
          <a:bodyPr wrap="square" rtlCol="0">
            <a:spAutoFit/>
          </a:bodyPr>
          <a:lstStyle/>
          <a:p>
            <a:pPr algn="ctr"/>
            <a:r>
              <a:rPr lang="de-DE" sz="1400" dirty="0"/>
              <a:t>* Zum Teil wegen Hardwareeinschränkungen bzw. bereits manuell iterativ optimiert</a:t>
            </a:r>
          </a:p>
        </p:txBody>
      </p:sp>
    </p:spTree>
    <p:extLst>
      <p:ext uri="{BB962C8B-B14F-4D97-AF65-F5344CB8AC3E}">
        <p14:creationId xmlns:p14="http://schemas.microsoft.com/office/powerpoint/2010/main" val="23225841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20262E"/>
        </a:solidFill>
        <a:effectLst/>
      </p:bgPr>
    </p:bg>
    <p:spTree>
      <p:nvGrpSpPr>
        <p:cNvPr id="1" name="">
          <a:extLst>
            <a:ext uri="{FF2B5EF4-FFF2-40B4-BE49-F238E27FC236}">
              <a16:creationId xmlns:a16="http://schemas.microsoft.com/office/drawing/2014/main" id="{543429F4-05DC-495A-1E16-CF36DE9088F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F1605F7-DD5F-31C8-99C9-DF858F7B15C1}"/>
              </a:ext>
            </a:extLst>
          </p:cNvPr>
          <p:cNvSpPr/>
          <p:nvPr/>
        </p:nvSpPr>
        <p:spPr>
          <a:xfrm>
            <a:off x="538880" y="1507842"/>
            <a:ext cx="10672012" cy="547283"/>
          </a:xfrm>
          <a:prstGeom prst="rect">
            <a:avLst/>
          </a:prstGeom>
          <a:noFill/>
          <a:ln/>
        </p:spPr>
        <p:txBody>
          <a:bodyPr wrap="square" lIns="0" tIns="0" rIns="0" bIns="0" rtlCol="0" anchor="ctr"/>
          <a:lstStyle/>
          <a:p>
            <a:pPr marL="0" marR="0" lvl="0" indent="0" algn="l" defTabSz="912114" rtl="0" eaLnBrk="1" fontAlgn="auto" latinLnBrk="0" hangingPunct="1">
              <a:lnSpc>
                <a:spcPct val="100000"/>
              </a:lnSpc>
              <a:spcBef>
                <a:spcPts val="0"/>
              </a:spcBef>
              <a:spcAft>
                <a:spcPts val="0"/>
              </a:spcAft>
              <a:buClrTx/>
              <a:buSzTx/>
              <a:buFontTx/>
              <a:buNone/>
              <a:tabLst/>
              <a:defRPr/>
            </a:pPr>
            <a:endParaRPr kumimoji="0" lang="en-US" sz="179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3DF8A82C-D8EA-034E-7B09-39DF6567E748}"/>
              </a:ext>
            </a:extLst>
          </p:cNvPr>
          <p:cNvSpPr/>
          <p:nvPr/>
        </p:nvSpPr>
        <p:spPr>
          <a:xfrm>
            <a:off x="729711" y="2197614"/>
            <a:ext cx="10672012" cy="2736413"/>
          </a:xfrm>
          <a:prstGeom prst="rect">
            <a:avLst/>
          </a:prstGeom>
          <a:noFill/>
          <a:ln/>
        </p:spPr>
        <p:txBody>
          <a:bodyPr wrap="square" lIns="0" tIns="0" rIns="0" bIns="0" rtlCol="0" anchor="ctr"/>
          <a:lstStyle/>
          <a:p>
            <a:pPr marL="0" marR="0" lvl="0" indent="0" algn="l" defTabSz="912114" rtl="0" eaLnBrk="1" fontAlgn="auto" latinLnBrk="0" hangingPunct="1">
              <a:lnSpc>
                <a:spcPct val="115000"/>
              </a:lnSpc>
              <a:spcBef>
                <a:spcPts val="0"/>
              </a:spcBef>
              <a:spcAft>
                <a:spcPts val="0"/>
              </a:spcAft>
              <a:buClrTx/>
              <a:buSzTx/>
              <a:buFontTx/>
              <a:buNone/>
              <a:tabLst/>
              <a:defRPr/>
            </a:pP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Cambria" pitchFamily="34" charset="-120"/>
              </a:rPr>
              <a:t>Möglichkeiten</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 und </a:t>
            </a: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Cambria" pitchFamily="34" charset="-120"/>
              </a:rPr>
              <a:t>Grenzen</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 Welches  Modell </a:t>
            </a: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Cambria" pitchFamily="34" charset="-120"/>
              </a:rPr>
              <a:t>gewinnt</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 und </a:t>
            </a: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Cambria" pitchFamily="34" charset="-120"/>
              </a:rPr>
              <a:t>erreichen</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 </a:t>
            </a: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Cambria" pitchFamily="34" charset="-120"/>
              </a:rPr>
              <a:t>wir</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 </a:t>
            </a: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Cambria" pitchFamily="34" charset="-120"/>
              </a:rPr>
              <a:t>unser</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 Ziel?</a:t>
            </a:r>
            <a:endParaRPr kumimoji="0" lang="en-US" sz="299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9" name="Gruppieren 8">
            <a:extLst>
              <a:ext uri="{FF2B5EF4-FFF2-40B4-BE49-F238E27FC236}">
                <a16:creationId xmlns:a16="http://schemas.microsoft.com/office/drawing/2014/main" id="{C43ED717-C123-F8B9-EE14-D0135F35479F}"/>
              </a:ext>
            </a:extLst>
          </p:cNvPr>
          <p:cNvGrpSpPr/>
          <p:nvPr/>
        </p:nvGrpSpPr>
        <p:grpSpPr>
          <a:xfrm>
            <a:off x="457200" y="457200"/>
            <a:ext cx="1051200" cy="1051200"/>
            <a:chOff x="457200" y="457200"/>
            <a:chExt cx="1051200" cy="1051200"/>
          </a:xfrm>
        </p:grpSpPr>
        <p:sp>
          <p:nvSpPr>
            <p:cNvPr id="6" name="Oval 2">
              <a:extLst>
                <a:ext uri="{FF2B5EF4-FFF2-40B4-BE49-F238E27FC236}">
                  <a16:creationId xmlns:a16="http://schemas.microsoft.com/office/drawing/2014/main" id="{3179F2A6-F96D-C211-4FBF-728428F73404}"/>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3">
              <a:extLst>
                <a:ext uri="{FF2B5EF4-FFF2-40B4-BE49-F238E27FC236}">
                  <a16:creationId xmlns:a16="http://schemas.microsoft.com/office/drawing/2014/main" id="{A4F47A99-F492-3B01-4743-76D89451FF3B}"/>
                </a:ext>
              </a:extLst>
            </p:cNvPr>
            <p:cNvSpPr/>
            <p:nvPr/>
          </p:nvSpPr>
          <p:spPr>
            <a:xfrm>
              <a:off x="457200" y="730284"/>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Cambria"/>
                  <a:ea typeface="+mn-ea"/>
                  <a:cs typeface="+mn-cs"/>
                </a:rPr>
                <a:t>5</a:t>
              </a:r>
              <a:endParaRPr kumimoji="0" lang="de-DE" sz="3000" b="0" i="0" u="none" strike="noStrike" kern="1200" cap="none" spc="0" normalizeH="0" baseline="0" noProof="0" dirty="0">
                <a:ln>
                  <a:noFill/>
                </a:ln>
                <a:solidFill>
                  <a:srgbClr val="000000"/>
                </a:solidFill>
                <a:effectLst/>
                <a:uLnTx/>
                <a:uFillTx/>
                <a:latin typeface="Arial"/>
                <a:ea typeface="+mn-ea"/>
                <a:cs typeface="+mn-cs"/>
              </a:endParaRPr>
            </a:p>
          </p:txBody>
        </p:sp>
      </p:grpSp>
      <p:sp>
        <p:nvSpPr>
          <p:cNvPr id="10" name="Textfeld 9">
            <a:extLst>
              <a:ext uri="{FF2B5EF4-FFF2-40B4-BE49-F238E27FC236}">
                <a16:creationId xmlns:a16="http://schemas.microsoft.com/office/drawing/2014/main" id="{D409510C-5440-C06F-C6BC-1928FC326E78}"/>
              </a:ext>
            </a:extLst>
          </p:cNvPr>
          <p:cNvSpPr txBox="1"/>
          <p:nvPr/>
        </p:nvSpPr>
        <p:spPr>
          <a:xfrm>
            <a:off x="298174" y="1573527"/>
            <a:ext cx="6082748" cy="368562"/>
          </a:xfrm>
          <a:prstGeom prst="rect">
            <a:avLst/>
          </a:prstGeom>
          <a:noFill/>
        </p:spPr>
        <p:txBody>
          <a:bodyPr wrap="square">
            <a:spAutoFit/>
          </a:bodyPr>
          <a:lstStyle/>
          <a:p>
            <a:pPr defTabSz="912114"/>
            <a:r>
              <a:rPr lang="en-US" sz="1795" dirty="0">
                <a:solidFill>
                  <a:srgbClr val="E0912F"/>
                </a:solidFill>
                <a:latin typeface="Calibri" pitchFamily="34" charset="0"/>
                <a:ea typeface="Calibri" pitchFamily="34" charset="-122"/>
                <a:cs typeface="Calibri" pitchFamily="34" charset="-120"/>
              </a:rPr>
              <a:t>Evaluation</a:t>
            </a:r>
            <a:endParaRPr lang="en-US" sz="1795" dirty="0">
              <a:solidFill>
                <a:prstClr val="black"/>
              </a:solidFill>
              <a:latin typeface="Calibri" panose="020F0502020204030204"/>
            </a:endParaRPr>
          </a:p>
        </p:txBody>
      </p:sp>
    </p:spTree>
    <p:extLst>
      <p:ext uri="{BB962C8B-B14F-4D97-AF65-F5344CB8AC3E}">
        <p14:creationId xmlns:p14="http://schemas.microsoft.com/office/powerpoint/2010/main" val="38022801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6292A-CA79-C880-75D3-57036854200B}"/>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A1D2E14C-6B13-49E4-AE7F-7E7E01E58D03}"/>
              </a:ext>
            </a:extLst>
          </p:cNvPr>
          <p:cNvSpPr/>
          <p:nvPr/>
        </p:nvSpPr>
        <p:spPr>
          <a:xfrm>
            <a:off x="0" y="0"/>
            <a:ext cx="12161160" cy="6857640"/>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08" name="Oval 2">
            <a:extLst>
              <a:ext uri="{FF2B5EF4-FFF2-40B4-BE49-F238E27FC236}">
                <a16:creationId xmlns:a16="http://schemas.microsoft.com/office/drawing/2014/main" id="{B2B01B0C-4AD4-0078-E7C8-63302A6742F1}"/>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09" name="TextBox 3">
            <a:extLst>
              <a:ext uri="{FF2B5EF4-FFF2-40B4-BE49-F238E27FC236}">
                <a16:creationId xmlns:a16="http://schemas.microsoft.com/office/drawing/2014/main" id="{69887628-E87D-3434-8A1A-109123C39CF2}"/>
              </a:ext>
            </a:extLst>
          </p:cNvPr>
          <p:cNvSpPr/>
          <p:nvPr/>
        </p:nvSpPr>
        <p:spPr>
          <a:xfrm>
            <a:off x="457200" y="751967"/>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dirty="0">
                <a:solidFill>
                  <a:srgbClr val="FFFFFF"/>
                </a:solidFill>
                <a:effectLst/>
                <a:uFillTx/>
                <a:latin typeface="Cambria"/>
              </a:rPr>
              <a:t>5</a:t>
            </a:r>
            <a:endParaRPr lang="de-DE" sz="3000" b="0" u="none" strike="noStrike" dirty="0">
              <a:solidFill>
                <a:srgbClr val="000000"/>
              </a:solidFill>
              <a:effectLst/>
              <a:uFillTx/>
              <a:latin typeface="Arial"/>
            </a:endParaRPr>
          </a:p>
        </p:txBody>
      </p:sp>
      <p:sp>
        <p:nvSpPr>
          <p:cNvPr id="210" name="TextBox 4">
            <a:extLst>
              <a:ext uri="{FF2B5EF4-FFF2-40B4-BE49-F238E27FC236}">
                <a16:creationId xmlns:a16="http://schemas.microsoft.com/office/drawing/2014/main" id="{77C5EFE4-4566-0E3F-FFEF-84A9675629C8}"/>
              </a:ext>
            </a:extLst>
          </p:cNvPr>
          <p:cNvSpPr/>
          <p:nvPr/>
        </p:nvSpPr>
        <p:spPr>
          <a:xfrm>
            <a:off x="1691640" y="553699"/>
            <a:ext cx="9143640" cy="49244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dirty="0" err="1">
                <a:solidFill>
                  <a:srgbClr val="22272B"/>
                </a:solidFill>
                <a:effectLst/>
                <a:uFillTx/>
                <a:latin typeface="Cambria"/>
              </a:rPr>
              <a:t>Exemplarischer</a:t>
            </a:r>
            <a:r>
              <a:rPr lang="en-US" sz="3200" b="1" u="none" strike="noStrike" dirty="0">
                <a:solidFill>
                  <a:srgbClr val="22272B"/>
                </a:solidFill>
                <a:effectLst/>
                <a:uFillTx/>
                <a:latin typeface="Cambria"/>
              </a:rPr>
              <a:t> </a:t>
            </a:r>
            <a:r>
              <a:rPr lang="en-US" sz="3200" b="1" u="none" strike="noStrike" dirty="0" err="1">
                <a:solidFill>
                  <a:srgbClr val="22272B"/>
                </a:solidFill>
                <a:effectLst/>
                <a:uFillTx/>
                <a:latin typeface="Cambria"/>
              </a:rPr>
              <a:t>Vergleich</a:t>
            </a:r>
            <a:r>
              <a:rPr lang="en-US" sz="3200" b="1" u="none" strike="noStrike" dirty="0">
                <a:solidFill>
                  <a:srgbClr val="22272B"/>
                </a:solidFill>
                <a:effectLst/>
                <a:uFillTx/>
                <a:latin typeface="Cambria"/>
              </a:rPr>
              <a:t> </a:t>
            </a:r>
            <a:r>
              <a:rPr lang="en-US" sz="3200" b="1" dirty="0">
                <a:solidFill>
                  <a:srgbClr val="22272B"/>
                </a:solidFill>
                <a:latin typeface="Cambria"/>
              </a:rPr>
              <a:t>für alle</a:t>
            </a:r>
            <a:r>
              <a:rPr lang="en-US" sz="3200" b="1" u="none" strike="noStrike" dirty="0">
                <a:solidFill>
                  <a:srgbClr val="22272B"/>
                </a:solidFill>
                <a:effectLst/>
                <a:uFillTx/>
                <a:latin typeface="Cambria"/>
              </a:rPr>
              <a:t> </a:t>
            </a:r>
            <a:r>
              <a:rPr lang="en-US" sz="3200" b="1" u="none" strike="noStrike" dirty="0" err="1">
                <a:solidFill>
                  <a:srgbClr val="22272B"/>
                </a:solidFill>
                <a:effectLst/>
                <a:uFillTx/>
                <a:latin typeface="Cambria"/>
              </a:rPr>
              <a:t>Algorithmen</a:t>
            </a:r>
            <a:r>
              <a:rPr lang="en-US" sz="3200" b="1" u="none" strike="noStrike" dirty="0">
                <a:solidFill>
                  <a:srgbClr val="22272B"/>
                </a:solidFill>
                <a:effectLst/>
                <a:uFillTx/>
                <a:latin typeface="Cambria"/>
              </a:rPr>
              <a:t> I</a:t>
            </a:r>
            <a:endParaRPr lang="de-DE" sz="3200" b="0" u="none" strike="noStrike" dirty="0">
              <a:solidFill>
                <a:srgbClr val="000000"/>
              </a:solidFill>
              <a:effectLst/>
              <a:uFillTx/>
              <a:latin typeface="Arial"/>
            </a:endParaRPr>
          </a:p>
        </p:txBody>
      </p:sp>
      <p:sp>
        <p:nvSpPr>
          <p:cNvPr id="211" name="TextBox 5">
            <a:extLst>
              <a:ext uri="{FF2B5EF4-FFF2-40B4-BE49-F238E27FC236}">
                <a16:creationId xmlns:a16="http://schemas.microsoft.com/office/drawing/2014/main" id="{5623D920-D63B-E50C-8F9C-2B62CF007A63}"/>
              </a:ext>
            </a:extLst>
          </p:cNvPr>
          <p:cNvSpPr/>
          <p:nvPr/>
        </p:nvSpPr>
        <p:spPr>
          <a:xfrm>
            <a:off x="1710000" y="1115640"/>
            <a:ext cx="9143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E0912F"/>
                </a:solidFill>
                <a:effectLst/>
                <a:uFillTx/>
                <a:latin typeface="Calibri"/>
              </a:rPr>
              <a:t>CRISP-DM  ·  Evaluation</a:t>
            </a:r>
            <a:endParaRPr lang="de-DE" sz="1400" b="0" u="none" strike="noStrike">
              <a:solidFill>
                <a:srgbClr val="000000"/>
              </a:solidFill>
              <a:effectLst/>
              <a:uFillTx/>
              <a:latin typeface="Arial"/>
            </a:endParaRPr>
          </a:p>
        </p:txBody>
      </p:sp>
      <p:sp>
        <p:nvSpPr>
          <p:cNvPr id="222" name="TextBox 16">
            <a:extLst>
              <a:ext uri="{FF2B5EF4-FFF2-40B4-BE49-F238E27FC236}">
                <a16:creationId xmlns:a16="http://schemas.microsoft.com/office/drawing/2014/main" id="{FAD66B25-9E55-0A3B-312D-EBFE4427490F}"/>
              </a:ext>
            </a:extLst>
          </p:cNvP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sp>
        <p:nvSpPr>
          <p:cNvPr id="7" name="EvalCallout">
            <a:extLst>
              <a:ext uri="{FF2B5EF4-FFF2-40B4-BE49-F238E27FC236}">
                <a16:creationId xmlns:a16="http://schemas.microsoft.com/office/drawing/2014/main" id="{FA91903B-B98C-5C36-BF23-BEB7FEF4B3C3}"/>
              </a:ext>
            </a:extLst>
          </p:cNvPr>
          <p:cNvSpPr/>
          <p:nvPr/>
        </p:nvSpPr>
        <p:spPr>
          <a:xfrm>
            <a:off x="502920" y="5895600"/>
            <a:ext cx="11155320" cy="420000"/>
          </a:xfrm>
          <a:prstGeom prst="roundRect">
            <a:avLst>
              <a:gd name="adj" fmla="val 12000"/>
            </a:avLst>
          </a:prstGeom>
          <a:solidFill>
            <a:srgbClr val="F3E4CB"/>
          </a:solidFill>
          <a:ln w="12700">
            <a:solidFill>
              <a:srgbClr val="E0912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mn-ea"/>
              <a:cs typeface="+mn-cs"/>
            </a:endParaRPr>
          </a:p>
        </p:txBody>
      </p:sp>
      <p:sp>
        <p:nvSpPr>
          <p:cNvPr id="9" name="EvalCalloutText">
            <a:extLst>
              <a:ext uri="{FF2B5EF4-FFF2-40B4-BE49-F238E27FC236}">
                <a16:creationId xmlns:a16="http://schemas.microsoft.com/office/drawing/2014/main" id="{7956BB51-8ADF-EFD4-844D-6F2B34F29844}"/>
              </a:ext>
            </a:extLst>
          </p:cNvPr>
          <p:cNvSpPr/>
          <p:nvPr/>
        </p:nvSpPr>
        <p:spPr>
          <a:xfrm>
            <a:off x="502920" y="5994031"/>
            <a:ext cx="11155320" cy="22313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1450" b="1" i="0" u="none" strike="noStrike" kern="1200" cap="none" spc="0" normalizeH="0" baseline="0" noProof="0" dirty="0">
                <a:ln>
                  <a:noFill/>
                </a:ln>
                <a:solidFill>
                  <a:srgbClr val="22272B"/>
                </a:solidFill>
                <a:effectLst/>
                <a:uLnTx/>
                <a:uFillTx/>
                <a:latin typeface="Calibri"/>
                <a:ea typeface="+mn-ea"/>
                <a:cs typeface="+mn-cs"/>
                <a:sym typeface="Wingdings" panose="05000000000000000000" pitchFamily="2" charset="2"/>
              </a:rPr>
              <a:t> Alle Algorithmen bis auf </a:t>
            </a:r>
            <a:r>
              <a:rPr kumimoji="0" lang="de-DE" sz="1450" b="1" i="0" u="none" strike="noStrike" kern="1200" cap="none" spc="0" normalizeH="0" baseline="0" noProof="0" dirty="0" err="1">
                <a:ln>
                  <a:noFill/>
                </a:ln>
                <a:solidFill>
                  <a:srgbClr val="22272B"/>
                </a:solidFill>
                <a:effectLst/>
                <a:uLnTx/>
                <a:uFillTx/>
                <a:latin typeface="Calibri"/>
                <a:ea typeface="+mn-ea"/>
                <a:cs typeface="+mn-cs"/>
                <a:sym typeface="Wingdings" panose="05000000000000000000" pitchFamily="2" charset="2"/>
              </a:rPr>
              <a:t>Seasonal</a:t>
            </a:r>
            <a:r>
              <a:rPr kumimoji="0" lang="de-DE" sz="1450" b="1" i="0" u="none" strike="noStrike" kern="1200" cap="none" spc="0" normalizeH="0" baseline="0" noProof="0" dirty="0">
                <a:ln>
                  <a:noFill/>
                </a:ln>
                <a:solidFill>
                  <a:srgbClr val="22272B"/>
                </a:solidFill>
                <a:effectLst/>
                <a:uLnTx/>
                <a:uFillTx/>
                <a:latin typeface="Calibri"/>
                <a:ea typeface="+mn-ea"/>
                <a:cs typeface="+mn-cs"/>
                <a:sym typeface="Wingdings" panose="05000000000000000000" pitchFamily="2" charset="2"/>
              </a:rPr>
              <a:t> Baseline erfassen den zeitlichen Verlauf der Feinstaubbelastung recht gut, TFT schneidet am besten ab!</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3" name="Grafik 2">
            <a:extLst>
              <a:ext uri="{FF2B5EF4-FFF2-40B4-BE49-F238E27FC236}">
                <a16:creationId xmlns:a16="http://schemas.microsoft.com/office/drawing/2014/main" id="{A42F336A-F3ED-4E29-2EF8-108185D7E94D}"/>
              </a:ext>
            </a:extLst>
          </p:cNvPr>
          <p:cNvPicPr>
            <a:picLocks noChangeAspect="1"/>
          </p:cNvPicPr>
          <p:nvPr/>
        </p:nvPicPr>
        <p:blipFill>
          <a:blip r:embed="rId3"/>
          <a:stretch>
            <a:fillRect/>
          </a:stretch>
        </p:blipFill>
        <p:spPr>
          <a:xfrm>
            <a:off x="503259" y="1700225"/>
            <a:ext cx="11155320" cy="3957415"/>
          </a:xfrm>
          <a:prstGeom prst="rect">
            <a:avLst/>
          </a:prstGeom>
        </p:spPr>
      </p:pic>
    </p:spTree>
    <p:extLst>
      <p:ext uri="{BB962C8B-B14F-4D97-AF65-F5344CB8AC3E}">
        <p14:creationId xmlns:p14="http://schemas.microsoft.com/office/powerpoint/2010/main" val="15093188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F7B07-6DCB-CCDD-8341-55B677A131A8}"/>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63272FD6-8433-ACD9-8F62-8DBF90BF95AB}"/>
              </a:ext>
            </a:extLst>
          </p:cNvPr>
          <p:cNvSpPr/>
          <p:nvPr/>
        </p:nvSpPr>
        <p:spPr>
          <a:xfrm>
            <a:off x="0" y="0"/>
            <a:ext cx="12161160" cy="6857640"/>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08" name="Oval 2">
            <a:extLst>
              <a:ext uri="{FF2B5EF4-FFF2-40B4-BE49-F238E27FC236}">
                <a16:creationId xmlns:a16="http://schemas.microsoft.com/office/drawing/2014/main" id="{DD73F40E-1681-302B-22EC-3EF4F2D19C94}"/>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09" name="TextBox 3">
            <a:extLst>
              <a:ext uri="{FF2B5EF4-FFF2-40B4-BE49-F238E27FC236}">
                <a16:creationId xmlns:a16="http://schemas.microsoft.com/office/drawing/2014/main" id="{BEA83650-4E1C-6202-43F1-1A6DC19A1377}"/>
              </a:ext>
            </a:extLst>
          </p:cNvPr>
          <p:cNvSpPr/>
          <p:nvPr/>
        </p:nvSpPr>
        <p:spPr>
          <a:xfrm>
            <a:off x="457200" y="751967"/>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dirty="0">
                <a:solidFill>
                  <a:srgbClr val="FFFFFF"/>
                </a:solidFill>
                <a:effectLst/>
                <a:uFillTx/>
                <a:latin typeface="Cambria"/>
              </a:rPr>
              <a:t>5</a:t>
            </a:r>
            <a:endParaRPr lang="de-DE" sz="3000" b="0" u="none" strike="noStrike" dirty="0">
              <a:solidFill>
                <a:srgbClr val="000000"/>
              </a:solidFill>
              <a:effectLst/>
              <a:uFillTx/>
              <a:latin typeface="Arial"/>
            </a:endParaRPr>
          </a:p>
        </p:txBody>
      </p:sp>
      <p:sp>
        <p:nvSpPr>
          <p:cNvPr id="210" name="TextBox 4">
            <a:extLst>
              <a:ext uri="{FF2B5EF4-FFF2-40B4-BE49-F238E27FC236}">
                <a16:creationId xmlns:a16="http://schemas.microsoft.com/office/drawing/2014/main" id="{5F199801-B4F9-2441-0D37-A1DDBA7FCB76}"/>
              </a:ext>
            </a:extLst>
          </p:cNvPr>
          <p:cNvSpPr/>
          <p:nvPr/>
        </p:nvSpPr>
        <p:spPr>
          <a:xfrm>
            <a:off x="1691640" y="553699"/>
            <a:ext cx="9143640" cy="49244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dirty="0" err="1">
                <a:solidFill>
                  <a:srgbClr val="22272B"/>
                </a:solidFill>
                <a:latin typeface="Cambria"/>
              </a:rPr>
              <a:t>Exemplarischer</a:t>
            </a:r>
            <a:r>
              <a:rPr lang="en-US" sz="3200" b="1" dirty="0">
                <a:solidFill>
                  <a:srgbClr val="22272B"/>
                </a:solidFill>
                <a:latin typeface="Cambria"/>
              </a:rPr>
              <a:t> </a:t>
            </a:r>
            <a:r>
              <a:rPr lang="en-US" sz="3200" b="1" dirty="0" err="1">
                <a:solidFill>
                  <a:srgbClr val="22272B"/>
                </a:solidFill>
                <a:latin typeface="Cambria"/>
              </a:rPr>
              <a:t>Vergleich</a:t>
            </a:r>
            <a:r>
              <a:rPr lang="en-US" sz="3200" b="1" dirty="0">
                <a:solidFill>
                  <a:srgbClr val="22272B"/>
                </a:solidFill>
                <a:latin typeface="Cambria"/>
              </a:rPr>
              <a:t> für alle </a:t>
            </a:r>
            <a:r>
              <a:rPr lang="en-US" sz="3200" b="1" dirty="0" err="1">
                <a:solidFill>
                  <a:srgbClr val="22272B"/>
                </a:solidFill>
                <a:latin typeface="Cambria"/>
              </a:rPr>
              <a:t>Algorithmen</a:t>
            </a:r>
            <a:r>
              <a:rPr lang="en-US" sz="3200" b="1" dirty="0">
                <a:solidFill>
                  <a:srgbClr val="22272B"/>
                </a:solidFill>
                <a:latin typeface="Cambria"/>
              </a:rPr>
              <a:t> II</a:t>
            </a:r>
            <a:endParaRPr lang="de-DE" sz="3200" dirty="0">
              <a:solidFill>
                <a:srgbClr val="000000"/>
              </a:solidFill>
              <a:latin typeface="Arial"/>
            </a:endParaRPr>
          </a:p>
        </p:txBody>
      </p:sp>
      <p:sp>
        <p:nvSpPr>
          <p:cNvPr id="211" name="TextBox 5">
            <a:extLst>
              <a:ext uri="{FF2B5EF4-FFF2-40B4-BE49-F238E27FC236}">
                <a16:creationId xmlns:a16="http://schemas.microsoft.com/office/drawing/2014/main" id="{C762CB50-59C7-59E8-782E-6B4069B96DC4}"/>
              </a:ext>
            </a:extLst>
          </p:cNvPr>
          <p:cNvSpPr/>
          <p:nvPr/>
        </p:nvSpPr>
        <p:spPr>
          <a:xfrm>
            <a:off x="1710000" y="1115640"/>
            <a:ext cx="9143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E0912F"/>
                </a:solidFill>
                <a:effectLst/>
                <a:uFillTx/>
                <a:latin typeface="Calibri"/>
              </a:rPr>
              <a:t>CRISP-DM  ·  Evaluation</a:t>
            </a:r>
            <a:endParaRPr lang="de-DE" sz="1400" b="0" u="none" strike="noStrike">
              <a:solidFill>
                <a:srgbClr val="000000"/>
              </a:solidFill>
              <a:effectLst/>
              <a:uFillTx/>
              <a:latin typeface="Arial"/>
            </a:endParaRPr>
          </a:p>
        </p:txBody>
      </p:sp>
      <p:sp>
        <p:nvSpPr>
          <p:cNvPr id="222" name="TextBox 16">
            <a:extLst>
              <a:ext uri="{FF2B5EF4-FFF2-40B4-BE49-F238E27FC236}">
                <a16:creationId xmlns:a16="http://schemas.microsoft.com/office/drawing/2014/main" id="{EEEA46AF-A6AC-0E43-3084-A7DF17506813}"/>
              </a:ext>
            </a:extLst>
          </p:cNvP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sp>
        <p:nvSpPr>
          <p:cNvPr id="7" name="EvalCallout">
            <a:extLst>
              <a:ext uri="{FF2B5EF4-FFF2-40B4-BE49-F238E27FC236}">
                <a16:creationId xmlns:a16="http://schemas.microsoft.com/office/drawing/2014/main" id="{4538CAAD-F628-9129-C889-A5D8B5153631}"/>
              </a:ext>
            </a:extLst>
          </p:cNvPr>
          <p:cNvSpPr/>
          <p:nvPr/>
        </p:nvSpPr>
        <p:spPr>
          <a:xfrm>
            <a:off x="502920" y="5895600"/>
            <a:ext cx="11155320" cy="420000"/>
          </a:xfrm>
          <a:prstGeom prst="roundRect">
            <a:avLst>
              <a:gd name="adj" fmla="val 12000"/>
            </a:avLst>
          </a:prstGeom>
          <a:solidFill>
            <a:srgbClr val="F3E4CB"/>
          </a:solidFill>
          <a:ln w="12700">
            <a:solidFill>
              <a:srgbClr val="E0912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mn-ea"/>
              <a:cs typeface="+mn-cs"/>
            </a:endParaRPr>
          </a:p>
        </p:txBody>
      </p:sp>
      <p:sp>
        <p:nvSpPr>
          <p:cNvPr id="9" name="EvalCalloutText">
            <a:extLst>
              <a:ext uri="{FF2B5EF4-FFF2-40B4-BE49-F238E27FC236}">
                <a16:creationId xmlns:a16="http://schemas.microsoft.com/office/drawing/2014/main" id="{E5E708C1-06B8-19BC-0CCE-58A3F1A537B5}"/>
              </a:ext>
            </a:extLst>
          </p:cNvPr>
          <p:cNvSpPr/>
          <p:nvPr/>
        </p:nvSpPr>
        <p:spPr>
          <a:xfrm>
            <a:off x="502920" y="5994031"/>
            <a:ext cx="11155320" cy="22313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1450" b="1" i="0" u="none" strike="noStrike" kern="1200" cap="none" spc="0" normalizeH="0" baseline="0" noProof="0" dirty="0">
                <a:ln>
                  <a:noFill/>
                </a:ln>
                <a:solidFill>
                  <a:srgbClr val="22272B"/>
                </a:solidFill>
                <a:effectLst/>
                <a:uLnTx/>
                <a:uFillTx/>
                <a:latin typeface="Calibri"/>
                <a:ea typeface="+mn-ea"/>
                <a:cs typeface="+mn-cs"/>
                <a:sym typeface="Wingdings" panose="05000000000000000000" pitchFamily="2" charset="2"/>
              </a:rPr>
              <a:t> </a:t>
            </a:r>
            <a:r>
              <a:rPr lang="de-DE" sz="1450" b="1" dirty="0">
                <a:solidFill>
                  <a:srgbClr val="22272B"/>
                </a:solidFill>
                <a:latin typeface="Calibri"/>
                <a:sym typeface="Wingdings" panose="05000000000000000000" pitchFamily="2" charset="2"/>
              </a:rPr>
              <a:t>Der </a:t>
            </a:r>
            <a:r>
              <a:rPr lang="de-DE" sz="1450" b="1" dirty="0" err="1">
                <a:solidFill>
                  <a:srgbClr val="22272B"/>
                </a:solidFill>
                <a:latin typeface="Calibri"/>
                <a:sym typeface="Wingdings" panose="05000000000000000000" pitchFamily="2" charset="2"/>
              </a:rPr>
              <a:t>anstiegende</a:t>
            </a:r>
            <a:r>
              <a:rPr lang="de-DE" sz="1450" b="1" dirty="0">
                <a:solidFill>
                  <a:srgbClr val="22272B"/>
                </a:solidFill>
                <a:latin typeface="Calibri"/>
                <a:sym typeface="Wingdings" panose="05000000000000000000" pitchFamily="2" charset="2"/>
              </a:rPr>
              <a:t> Verlauf wird von allen Algorithmen grob erfasst</a:t>
            </a:r>
            <a:r>
              <a:rPr kumimoji="0" lang="de-DE" sz="1450" b="1" i="0" u="none" strike="noStrike" kern="1200" cap="none" spc="0" normalizeH="0" baseline="0" noProof="0" dirty="0">
                <a:ln>
                  <a:noFill/>
                </a:ln>
                <a:solidFill>
                  <a:srgbClr val="22272B"/>
                </a:solidFill>
                <a:effectLst/>
                <a:uLnTx/>
                <a:uFillTx/>
                <a:latin typeface="Calibri"/>
                <a:ea typeface="+mn-ea"/>
                <a:cs typeface="+mn-cs"/>
                <a:sym typeface="Wingdings" panose="05000000000000000000" pitchFamily="2" charset="2"/>
              </a:rPr>
              <a:t>! Prophet überschätzt  hier deutlich.</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11" name="Grafik 10">
            <a:extLst>
              <a:ext uri="{FF2B5EF4-FFF2-40B4-BE49-F238E27FC236}">
                <a16:creationId xmlns:a16="http://schemas.microsoft.com/office/drawing/2014/main" id="{47BB36B4-C702-E700-65D0-D0CCCE7BCC35}"/>
              </a:ext>
            </a:extLst>
          </p:cNvPr>
          <p:cNvPicPr>
            <a:picLocks noChangeAspect="1"/>
          </p:cNvPicPr>
          <p:nvPr/>
        </p:nvPicPr>
        <p:blipFill>
          <a:blip r:embed="rId3"/>
          <a:stretch>
            <a:fillRect/>
          </a:stretch>
        </p:blipFill>
        <p:spPr>
          <a:xfrm>
            <a:off x="322514" y="1584600"/>
            <a:ext cx="11516810" cy="4085655"/>
          </a:xfrm>
          <a:prstGeom prst="rect">
            <a:avLst/>
          </a:prstGeom>
        </p:spPr>
      </p:pic>
    </p:spTree>
    <p:extLst>
      <p:ext uri="{BB962C8B-B14F-4D97-AF65-F5344CB8AC3E}">
        <p14:creationId xmlns:p14="http://schemas.microsoft.com/office/powerpoint/2010/main" val="30628708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BD995-13E4-8103-9ECC-349F577304E9}"/>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7BF55F19-4504-9CCD-6EB3-EAB6F46805F6}"/>
              </a:ext>
            </a:extLst>
          </p:cNvPr>
          <p:cNvSpPr/>
          <p:nvPr/>
        </p:nvSpPr>
        <p:spPr>
          <a:xfrm>
            <a:off x="0" y="0"/>
            <a:ext cx="12161160" cy="6857640"/>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08" name="Oval 2">
            <a:extLst>
              <a:ext uri="{FF2B5EF4-FFF2-40B4-BE49-F238E27FC236}">
                <a16:creationId xmlns:a16="http://schemas.microsoft.com/office/drawing/2014/main" id="{B508D7B2-9435-9152-EAC2-2902DF9D66B6}"/>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09" name="TextBox 3">
            <a:extLst>
              <a:ext uri="{FF2B5EF4-FFF2-40B4-BE49-F238E27FC236}">
                <a16:creationId xmlns:a16="http://schemas.microsoft.com/office/drawing/2014/main" id="{8170E650-6CD0-0C4D-0118-5A56ECB90031}"/>
              </a:ext>
            </a:extLst>
          </p:cNvPr>
          <p:cNvSpPr/>
          <p:nvPr/>
        </p:nvSpPr>
        <p:spPr>
          <a:xfrm>
            <a:off x="457200" y="751967"/>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dirty="0">
                <a:solidFill>
                  <a:srgbClr val="FFFFFF"/>
                </a:solidFill>
                <a:effectLst/>
                <a:uFillTx/>
                <a:latin typeface="Cambria"/>
              </a:rPr>
              <a:t>5</a:t>
            </a:r>
            <a:endParaRPr lang="de-DE" sz="3000" b="0" u="none" strike="noStrike" dirty="0">
              <a:solidFill>
                <a:srgbClr val="000000"/>
              </a:solidFill>
              <a:effectLst/>
              <a:uFillTx/>
              <a:latin typeface="Arial"/>
            </a:endParaRPr>
          </a:p>
        </p:txBody>
      </p:sp>
      <p:sp>
        <p:nvSpPr>
          <p:cNvPr id="210" name="TextBox 4">
            <a:extLst>
              <a:ext uri="{FF2B5EF4-FFF2-40B4-BE49-F238E27FC236}">
                <a16:creationId xmlns:a16="http://schemas.microsoft.com/office/drawing/2014/main" id="{8D968A90-A0D9-9F4B-153D-B75A31A94F1D}"/>
              </a:ext>
            </a:extLst>
          </p:cNvPr>
          <p:cNvSpPr/>
          <p:nvPr/>
        </p:nvSpPr>
        <p:spPr>
          <a:xfrm>
            <a:off x="1691640" y="553699"/>
            <a:ext cx="9417960" cy="492443"/>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ctr">
            <a:spAutoFit/>
          </a:bodyPr>
          <a:lstStyle/>
          <a:p>
            <a:pPr defTabSz="457200">
              <a:lnSpc>
                <a:spcPct val="100000"/>
              </a:lnSpc>
            </a:pPr>
            <a:r>
              <a:rPr lang="en-US" sz="3200" b="1" dirty="0" err="1">
                <a:solidFill>
                  <a:srgbClr val="22272B"/>
                </a:solidFill>
                <a:latin typeface="Cambria"/>
              </a:rPr>
              <a:t>Exemplarischer</a:t>
            </a:r>
            <a:r>
              <a:rPr lang="en-US" sz="3200" b="1" dirty="0">
                <a:solidFill>
                  <a:srgbClr val="22272B"/>
                </a:solidFill>
                <a:latin typeface="Cambria"/>
              </a:rPr>
              <a:t> </a:t>
            </a:r>
            <a:r>
              <a:rPr lang="en-US" sz="3200" b="1" dirty="0" err="1">
                <a:solidFill>
                  <a:srgbClr val="22272B"/>
                </a:solidFill>
                <a:latin typeface="Cambria"/>
              </a:rPr>
              <a:t>Vergleich</a:t>
            </a:r>
            <a:r>
              <a:rPr lang="en-US" sz="3200" b="1" dirty="0">
                <a:solidFill>
                  <a:srgbClr val="22272B"/>
                </a:solidFill>
                <a:latin typeface="Cambria"/>
              </a:rPr>
              <a:t> für alle </a:t>
            </a:r>
            <a:r>
              <a:rPr lang="en-US" sz="3200" b="1" dirty="0" err="1">
                <a:solidFill>
                  <a:srgbClr val="22272B"/>
                </a:solidFill>
                <a:latin typeface="Cambria"/>
              </a:rPr>
              <a:t>Algorithmen</a:t>
            </a:r>
            <a:r>
              <a:rPr lang="en-US" sz="3200" b="1" dirty="0">
                <a:solidFill>
                  <a:srgbClr val="22272B"/>
                </a:solidFill>
                <a:latin typeface="Cambria"/>
              </a:rPr>
              <a:t> III</a:t>
            </a:r>
            <a:endParaRPr lang="de-DE" sz="3200" dirty="0">
              <a:solidFill>
                <a:srgbClr val="000000"/>
              </a:solidFill>
              <a:latin typeface="Arial"/>
            </a:endParaRPr>
          </a:p>
        </p:txBody>
      </p:sp>
      <p:sp>
        <p:nvSpPr>
          <p:cNvPr id="211" name="TextBox 5">
            <a:extLst>
              <a:ext uri="{FF2B5EF4-FFF2-40B4-BE49-F238E27FC236}">
                <a16:creationId xmlns:a16="http://schemas.microsoft.com/office/drawing/2014/main" id="{CDA5A700-E3E7-320D-7690-BF90F455F1B0}"/>
              </a:ext>
            </a:extLst>
          </p:cNvPr>
          <p:cNvSpPr/>
          <p:nvPr/>
        </p:nvSpPr>
        <p:spPr>
          <a:xfrm>
            <a:off x="1710000" y="1115640"/>
            <a:ext cx="9143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E0912F"/>
                </a:solidFill>
                <a:effectLst/>
                <a:uFillTx/>
                <a:latin typeface="Calibri"/>
              </a:rPr>
              <a:t>CRISP-DM  ·  Evaluation</a:t>
            </a:r>
            <a:endParaRPr lang="de-DE" sz="1400" b="0" u="none" strike="noStrike">
              <a:solidFill>
                <a:srgbClr val="000000"/>
              </a:solidFill>
              <a:effectLst/>
              <a:uFillTx/>
              <a:latin typeface="Arial"/>
            </a:endParaRPr>
          </a:p>
        </p:txBody>
      </p:sp>
      <p:sp>
        <p:nvSpPr>
          <p:cNvPr id="222" name="TextBox 16">
            <a:extLst>
              <a:ext uri="{FF2B5EF4-FFF2-40B4-BE49-F238E27FC236}">
                <a16:creationId xmlns:a16="http://schemas.microsoft.com/office/drawing/2014/main" id="{C54B6939-DC83-D09C-012F-9E4EB3421171}"/>
              </a:ext>
            </a:extLst>
          </p:cNvP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sp>
        <p:nvSpPr>
          <p:cNvPr id="7" name="EvalCallout">
            <a:extLst>
              <a:ext uri="{FF2B5EF4-FFF2-40B4-BE49-F238E27FC236}">
                <a16:creationId xmlns:a16="http://schemas.microsoft.com/office/drawing/2014/main" id="{94653179-C982-1683-B131-4F33163F4BB4}"/>
              </a:ext>
            </a:extLst>
          </p:cNvPr>
          <p:cNvSpPr/>
          <p:nvPr/>
        </p:nvSpPr>
        <p:spPr>
          <a:xfrm>
            <a:off x="502920" y="5895600"/>
            <a:ext cx="11155320" cy="420000"/>
          </a:xfrm>
          <a:prstGeom prst="roundRect">
            <a:avLst>
              <a:gd name="adj" fmla="val 12000"/>
            </a:avLst>
          </a:prstGeom>
          <a:solidFill>
            <a:srgbClr val="F3E4CB"/>
          </a:solidFill>
          <a:ln w="12700">
            <a:solidFill>
              <a:srgbClr val="E0912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mn-ea"/>
              <a:cs typeface="+mn-cs"/>
            </a:endParaRPr>
          </a:p>
        </p:txBody>
      </p:sp>
      <p:sp>
        <p:nvSpPr>
          <p:cNvPr id="9" name="EvalCalloutText">
            <a:extLst>
              <a:ext uri="{FF2B5EF4-FFF2-40B4-BE49-F238E27FC236}">
                <a16:creationId xmlns:a16="http://schemas.microsoft.com/office/drawing/2014/main" id="{DB1A837C-BC7B-F0AC-E573-B399A2C00A7A}"/>
              </a:ext>
            </a:extLst>
          </p:cNvPr>
          <p:cNvSpPr/>
          <p:nvPr/>
        </p:nvSpPr>
        <p:spPr>
          <a:xfrm>
            <a:off x="502920" y="5994031"/>
            <a:ext cx="11155320" cy="22313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1450" b="1" i="0" u="none" strike="noStrike" kern="1200" cap="none" spc="0" normalizeH="0" baseline="0" noProof="0" dirty="0">
                <a:ln>
                  <a:noFill/>
                </a:ln>
                <a:solidFill>
                  <a:srgbClr val="22272B"/>
                </a:solidFill>
                <a:effectLst/>
                <a:uLnTx/>
                <a:uFillTx/>
                <a:latin typeface="Calibri"/>
                <a:ea typeface="+mn-ea"/>
                <a:cs typeface="+mn-cs"/>
                <a:sym typeface="Wingdings" panose="05000000000000000000" pitchFamily="2" charset="2"/>
              </a:rPr>
              <a:t> Alle Algorithmen bis auf </a:t>
            </a:r>
            <a:r>
              <a:rPr kumimoji="0" lang="de-DE" sz="1450" b="1" i="0" u="none" strike="noStrike" kern="1200" cap="none" spc="0" normalizeH="0" baseline="0" noProof="0" dirty="0" err="1">
                <a:ln>
                  <a:noFill/>
                </a:ln>
                <a:solidFill>
                  <a:srgbClr val="22272B"/>
                </a:solidFill>
                <a:effectLst/>
                <a:uLnTx/>
                <a:uFillTx/>
                <a:latin typeface="Calibri"/>
                <a:ea typeface="+mn-ea"/>
                <a:cs typeface="+mn-cs"/>
                <a:sym typeface="Wingdings" panose="05000000000000000000" pitchFamily="2" charset="2"/>
              </a:rPr>
              <a:t>Seasonal</a:t>
            </a:r>
            <a:r>
              <a:rPr kumimoji="0" lang="de-DE" sz="1450" b="1" i="0" u="none" strike="noStrike" kern="1200" cap="none" spc="0" normalizeH="0" baseline="0" noProof="0" dirty="0">
                <a:ln>
                  <a:noFill/>
                </a:ln>
                <a:solidFill>
                  <a:srgbClr val="22272B"/>
                </a:solidFill>
                <a:effectLst/>
                <a:uLnTx/>
                <a:uFillTx/>
                <a:latin typeface="Calibri"/>
                <a:ea typeface="+mn-ea"/>
                <a:cs typeface="+mn-cs"/>
                <a:sym typeface="Wingdings" panose="05000000000000000000" pitchFamily="2" charset="2"/>
              </a:rPr>
              <a:t> Baseline erfassen den abrupten Einbruch, TFT schneidet auch hier am besten ab!</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3" name="Grafik 2">
            <a:extLst>
              <a:ext uri="{FF2B5EF4-FFF2-40B4-BE49-F238E27FC236}">
                <a16:creationId xmlns:a16="http://schemas.microsoft.com/office/drawing/2014/main" id="{36BEB29A-9FEA-D1FD-4B51-556A55D63655}"/>
              </a:ext>
            </a:extLst>
          </p:cNvPr>
          <p:cNvPicPr>
            <a:picLocks noChangeAspect="1"/>
          </p:cNvPicPr>
          <p:nvPr/>
        </p:nvPicPr>
        <p:blipFill>
          <a:blip r:embed="rId3"/>
          <a:stretch>
            <a:fillRect/>
          </a:stretch>
        </p:blipFill>
        <p:spPr>
          <a:xfrm>
            <a:off x="239115" y="1577898"/>
            <a:ext cx="11683608" cy="4144827"/>
          </a:xfrm>
          <a:prstGeom prst="rect">
            <a:avLst/>
          </a:prstGeom>
        </p:spPr>
      </p:pic>
    </p:spTree>
    <p:extLst>
      <p:ext uri="{BB962C8B-B14F-4D97-AF65-F5344CB8AC3E}">
        <p14:creationId xmlns:p14="http://schemas.microsoft.com/office/powerpoint/2010/main" val="29778357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Rectangle Background"/>
          <p:cNvSpPr/>
          <p:nvPr/>
        </p:nvSpPr>
        <p:spPr>
          <a:xfrm>
            <a:off x="0" y="0"/>
            <a:ext cx="12161160" cy="6857640"/>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mn-ea"/>
              <a:cs typeface="+mn-cs"/>
            </a:endParaRPr>
          </a:p>
        </p:txBody>
      </p:sp>
      <p:sp>
        <p:nvSpPr>
          <p:cNvPr id="200" name="NumberBadgeCircle"/>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mn-ea"/>
              <a:cs typeface="+mn-cs"/>
            </a:endParaRPr>
          </a:p>
        </p:txBody>
      </p:sp>
      <p:sp>
        <p:nvSpPr>
          <p:cNvPr id="201" name="NumberBadgeText"/>
          <p:cNvSpPr/>
          <p:nvPr/>
        </p:nvSpPr>
        <p:spPr>
          <a:xfrm>
            <a:off x="457200" y="751967"/>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3000" b="1" i="0" u="none" strike="noStrike" kern="1200" cap="none" spc="0" normalizeH="0" baseline="0" noProof="0" dirty="0">
                <a:ln>
                  <a:noFill/>
                </a:ln>
                <a:solidFill>
                  <a:srgbClr val="FFFFFF"/>
                </a:solidFill>
                <a:effectLst/>
                <a:uLnTx/>
                <a:uFillTx/>
                <a:latin typeface="Cambria"/>
                <a:ea typeface="+mn-ea"/>
                <a:cs typeface="+mn-cs"/>
              </a:rPr>
              <a:t>5</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02" name="TitleText"/>
          <p:cNvSpPr/>
          <p:nvPr/>
        </p:nvSpPr>
        <p:spPr>
          <a:xfrm>
            <a:off x="1691640" y="457200"/>
            <a:ext cx="9143640" cy="49244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de-DE" sz="3200" b="1" i="0" u="none" strike="noStrike" kern="1200" cap="none" spc="0" normalizeH="0" baseline="0" noProof="0" dirty="0">
                <a:ln>
                  <a:noFill/>
                </a:ln>
                <a:solidFill>
                  <a:srgbClr val="22272B"/>
                </a:solidFill>
                <a:effectLst/>
                <a:uLnTx/>
                <a:uFillTx/>
                <a:latin typeface="Cambria"/>
                <a:ea typeface="+mn-ea"/>
                <a:cs typeface="+mn-cs"/>
              </a:rPr>
              <a:t>Validierungs-Ansatz: Rolling-</a:t>
            </a:r>
            <a:r>
              <a:rPr kumimoji="0" lang="de-DE" sz="3200" b="1" i="0" u="none" strike="noStrike" kern="1200" cap="none" spc="0" normalizeH="0" baseline="0" noProof="0" dirty="0" err="1">
                <a:ln>
                  <a:noFill/>
                </a:ln>
                <a:solidFill>
                  <a:srgbClr val="22272B"/>
                </a:solidFill>
                <a:effectLst/>
                <a:uLnTx/>
                <a:uFillTx/>
                <a:latin typeface="Cambria"/>
                <a:ea typeface="+mn-ea"/>
                <a:cs typeface="+mn-cs"/>
              </a:rPr>
              <a:t>Window</a:t>
            </a:r>
            <a:r>
              <a:rPr kumimoji="0" lang="de-DE" sz="3200" b="1" i="0" u="none" strike="noStrike" kern="1200" cap="none" spc="0" normalizeH="0" baseline="0" noProof="0" dirty="0">
                <a:ln>
                  <a:noFill/>
                </a:ln>
                <a:solidFill>
                  <a:srgbClr val="22272B"/>
                </a:solidFill>
                <a:effectLst/>
                <a:uLnTx/>
                <a:uFillTx/>
                <a:latin typeface="Cambria"/>
                <a:ea typeface="+mn-ea"/>
                <a:cs typeface="+mn-cs"/>
              </a:rPr>
              <a:t>-Backtest</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03" name="KickerText"/>
          <p:cNvSpPr/>
          <p:nvPr/>
        </p:nvSpPr>
        <p:spPr>
          <a:xfrm>
            <a:off x="1710000" y="1115640"/>
            <a:ext cx="9143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a:ln>
                  <a:noFill/>
                </a:ln>
                <a:solidFill>
                  <a:srgbClr val="E0912F"/>
                </a:solidFill>
                <a:effectLst/>
                <a:uLnTx/>
                <a:uFillTx/>
                <a:latin typeface="Calibri"/>
                <a:ea typeface="+mn-ea"/>
                <a:cs typeface="+mn-cs"/>
              </a:rPr>
              <a:t>CRISP-DM   ·   Evaluation   ·   Validierungsansatz</a:t>
            </a:r>
            <a:endParaRPr kumimoji="0" lang="de-DE" sz="1200" b="0" i="0" u="none" strike="noStrike" kern="1200" cap="none" spc="0" normalizeH="0" baseline="0" noProof="0">
              <a:ln>
                <a:noFill/>
              </a:ln>
              <a:solidFill>
                <a:srgbClr val="000000"/>
              </a:solidFill>
              <a:effectLst/>
              <a:uLnTx/>
              <a:uFillTx/>
              <a:latin typeface="Calibri"/>
              <a:ea typeface="+mn-ea"/>
              <a:cs typeface="+mn-cs"/>
            </a:endParaRPr>
          </a:p>
        </p:txBody>
      </p:sp>
      <p:sp>
        <p:nvSpPr>
          <p:cNvPr id="205" name="IntroParagraph"/>
          <p:cNvSpPr/>
          <p:nvPr/>
        </p:nvSpPr>
        <p:spPr>
          <a:xfrm>
            <a:off x="487579" y="1778577"/>
            <a:ext cx="11155320" cy="74655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lvl="0" defTabSz="457200">
              <a:lnSpc>
                <a:spcPct val="118000"/>
              </a:lnSpc>
              <a:defRPr/>
            </a:pPr>
            <a:r>
              <a:rPr kumimoji="0" lang="de-DE" sz="1400" b="0" i="0" u="none" strike="noStrike" kern="1200" cap="none" spc="0" normalizeH="0" baseline="0" noProof="0" dirty="0">
                <a:ln>
                  <a:noFill/>
                </a:ln>
                <a:solidFill>
                  <a:srgbClr val="22272B"/>
                </a:solidFill>
                <a:effectLst/>
                <a:uLnTx/>
                <a:uFillTx/>
                <a:latin typeface="Calibri"/>
                <a:ea typeface="+mn-ea"/>
                <a:cs typeface="+mn-cs"/>
              </a:rPr>
              <a:t>Alle Modelle (</a:t>
            </a:r>
            <a:r>
              <a:rPr kumimoji="0" lang="de-DE" sz="1400" b="0" i="0" u="none" strike="noStrike" kern="1200" cap="none" spc="0" normalizeH="0" baseline="0" noProof="0" dirty="0" err="1">
                <a:ln>
                  <a:noFill/>
                </a:ln>
                <a:solidFill>
                  <a:srgbClr val="22272B"/>
                </a:solidFill>
                <a:effectLst/>
                <a:uLnTx/>
                <a:uFillTx/>
                <a:latin typeface="Calibri"/>
                <a:ea typeface="+mn-ea"/>
                <a:cs typeface="+mn-cs"/>
              </a:rPr>
              <a:t>Seasonal</a:t>
            </a:r>
            <a:r>
              <a:rPr kumimoji="0" lang="de-DE" sz="1400" b="0" i="0" u="none" strike="noStrike" kern="1200" cap="none" spc="0" normalizeH="0" baseline="0" noProof="0" dirty="0">
                <a:ln>
                  <a:noFill/>
                </a:ln>
                <a:solidFill>
                  <a:srgbClr val="22272B"/>
                </a:solidFill>
                <a:effectLst/>
                <a:uLnTx/>
                <a:uFillTx/>
                <a:latin typeface="Calibri"/>
                <a:ea typeface="+mn-ea"/>
                <a:cs typeface="+mn-cs"/>
              </a:rPr>
              <a:t> Naive, Prophet, Chronos-2, TFT) werden auf denselben Zeitfenstern verglichen: Testzeitraum </a:t>
            </a:r>
            <a:r>
              <a:rPr kumimoji="0" lang="de-DE" sz="1400" b="1" i="0" u="none" strike="noStrike" kern="1200" cap="none" spc="0" normalizeH="0" baseline="0" noProof="0" dirty="0">
                <a:ln>
                  <a:noFill/>
                </a:ln>
                <a:solidFill>
                  <a:srgbClr val="22272B"/>
                </a:solidFill>
                <a:effectLst/>
                <a:uLnTx/>
                <a:uFillTx/>
                <a:latin typeface="Calibri"/>
                <a:ea typeface="+mn-ea"/>
                <a:cs typeface="+mn-cs"/>
              </a:rPr>
              <a:t>01.09.2016–28.02.2017</a:t>
            </a:r>
            <a:r>
              <a:rPr kumimoji="0" lang="de-DE" sz="1400" b="0" i="0" u="none" strike="noStrike" kern="1200" cap="none" spc="0" normalizeH="0" baseline="0" noProof="0" dirty="0">
                <a:ln>
                  <a:noFill/>
                </a:ln>
                <a:solidFill>
                  <a:srgbClr val="22272B"/>
                </a:solidFill>
                <a:effectLst/>
                <a:uLnTx/>
                <a:uFillTx/>
                <a:latin typeface="Calibri"/>
                <a:ea typeface="+mn-ea"/>
                <a:cs typeface="+mn-cs"/>
              </a:rPr>
              <a:t>, Fenstergröße </a:t>
            </a:r>
            <a:r>
              <a:rPr kumimoji="0" lang="de-DE" sz="1400" b="1" i="0" u="none" strike="noStrike" kern="1200" cap="none" spc="0" normalizeH="0" baseline="0" noProof="0" dirty="0">
                <a:ln>
                  <a:noFill/>
                </a:ln>
                <a:solidFill>
                  <a:srgbClr val="22272B"/>
                </a:solidFill>
                <a:effectLst/>
                <a:uLnTx/>
                <a:uFillTx/>
                <a:latin typeface="Calibri"/>
                <a:ea typeface="+mn-ea"/>
                <a:cs typeface="+mn-cs"/>
              </a:rPr>
              <a:t>3 Tage</a:t>
            </a:r>
            <a:r>
              <a:rPr kumimoji="0" lang="de-DE" sz="1400" b="0" i="0" u="none" strike="noStrike" kern="1200" cap="none" spc="0" normalizeH="0" baseline="0" noProof="0" dirty="0">
                <a:ln>
                  <a:noFill/>
                </a:ln>
                <a:solidFill>
                  <a:srgbClr val="22272B"/>
                </a:solidFill>
                <a:effectLst/>
                <a:uLnTx/>
                <a:uFillTx/>
                <a:latin typeface="Calibri"/>
                <a:ea typeface="+mn-ea"/>
                <a:cs typeface="+mn-cs"/>
              </a:rPr>
              <a:t>, Versatz </a:t>
            </a:r>
            <a:r>
              <a:rPr kumimoji="0" lang="de-DE" sz="1400" b="1" i="0" u="none" strike="noStrike" kern="1200" cap="none" spc="0" normalizeH="0" baseline="0" noProof="0" dirty="0">
                <a:ln>
                  <a:noFill/>
                </a:ln>
                <a:solidFill>
                  <a:srgbClr val="22272B"/>
                </a:solidFill>
                <a:effectLst/>
                <a:uLnTx/>
                <a:uFillTx/>
                <a:latin typeface="Calibri"/>
                <a:ea typeface="+mn-ea"/>
                <a:cs typeface="+mn-cs"/>
              </a:rPr>
              <a:t>fest (15 Tage)</a:t>
            </a:r>
            <a:r>
              <a:rPr kumimoji="0" lang="de-DE" sz="1400" b="0" i="0" u="none" strike="noStrike" kern="1200" cap="none" spc="0" normalizeH="0" baseline="0" noProof="0" dirty="0">
                <a:ln>
                  <a:noFill/>
                </a:ln>
                <a:solidFill>
                  <a:srgbClr val="22272B"/>
                </a:solidFill>
                <a:effectLst/>
                <a:uLnTx/>
                <a:uFillTx/>
                <a:latin typeface="Calibri"/>
                <a:ea typeface="+mn-ea"/>
                <a:cs typeface="+mn-cs"/>
              </a:rPr>
              <a:t> — für alle 12 Stationen zu denselben Zeitpunkten. Der Versatz von 15 Tagen vermeidet systematische </a:t>
            </a:r>
            <a:r>
              <a:rPr kumimoji="0" lang="de-DE" sz="1400" b="0" i="0" u="none" strike="noStrike" kern="1200" cap="none" spc="0" normalizeH="0" baseline="0" noProof="0" dirty="0" err="1">
                <a:ln>
                  <a:noFill/>
                </a:ln>
                <a:solidFill>
                  <a:srgbClr val="22272B"/>
                </a:solidFill>
                <a:effectLst/>
                <a:uLnTx/>
                <a:uFillTx/>
                <a:latin typeface="Calibri"/>
                <a:ea typeface="+mn-ea"/>
                <a:cs typeface="+mn-cs"/>
              </a:rPr>
              <a:t>Wochentagseffekte</a:t>
            </a:r>
            <a:r>
              <a:rPr kumimoji="0" lang="de-DE" sz="1400" b="0" i="0" u="none" strike="noStrike" kern="1200" cap="none" spc="0" normalizeH="0" baseline="0" noProof="0" dirty="0">
                <a:ln>
                  <a:noFill/>
                </a:ln>
                <a:solidFill>
                  <a:srgbClr val="22272B"/>
                </a:solidFill>
                <a:effectLst/>
                <a:uLnTx/>
                <a:uFillTx/>
                <a:latin typeface="Calibri"/>
                <a:ea typeface="+mn-ea"/>
                <a:cs typeface="+mn-cs"/>
              </a:rPr>
              <a:t>. Bei Prophet wird der Train-Test Split analog zu Chronos-2 mit verschoben,</a:t>
            </a:r>
            <a:r>
              <a:rPr lang="de-DE" sz="1400" dirty="0">
                <a:solidFill>
                  <a:srgbClr val="22272B"/>
                </a:solidFill>
                <a:latin typeface="Calibri"/>
              </a:rPr>
              <a:t> um die jeweiligen Vorteile der Methoden zu nutzen.</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206" name="RollingDiagram"/>
          <p:cNvPicPr>
            <a:picLocks noChangeAspect="1"/>
          </p:cNvPicPr>
          <p:nvPr/>
        </p:nvPicPr>
        <p:blipFill>
          <a:blip r:embed="rId2"/>
          <a:stretch>
            <a:fillRect/>
          </a:stretch>
        </p:blipFill>
        <p:spPr>
          <a:xfrm>
            <a:off x="1361962" y="2700674"/>
            <a:ext cx="9313957" cy="2992757"/>
          </a:xfrm>
          <a:prstGeom prst="rect">
            <a:avLst/>
          </a:prstGeom>
        </p:spPr>
      </p:pic>
      <p:sp>
        <p:nvSpPr>
          <p:cNvPr id="207" name="EvalCallout"/>
          <p:cNvSpPr/>
          <p:nvPr/>
        </p:nvSpPr>
        <p:spPr>
          <a:xfrm>
            <a:off x="502920" y="5895600"/>
            <a:ext cx="11155320" cy="420000"/>
          </a:xfrm>
          <a:prstGeom prst="roundRect">
            <a:avLst>
              <a:gd name="adj" fmla="val 12000"/>
            </a:avLst>
          </a:prstGeom>
          <a:solidFill>
            <a:srgbClr val="F3E4CB"/>
          </a:solidFill>
          <a:ln w="12700">
            <a:solidFill>
              <a:srgbClr val="E0912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mn-ea"/>
              <a:cs typeface="+mn-cs"/>
            </a:endParaRPr>
          </a:p>
        </p:txBody>
      </p:sp>
      <p:sp>
        <p:nvSpPr>
          <p:cNvPr id="208" name="EvalCalloutText"/>
          <p:cNvSpPr/>
          <p:nvPr/>
        </p:nvSpPr>
        <p:spPr>
          <a:xfrm>
            <a:off x="502920" y="5994031"/>
            <a:ext cx="11155320" cy="22313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1450" b="1" i="0" u="none" strike="noStrike" kern="1200" cap="none" spc="0" normalizeH="0" baseline="0" noProof="0" dirty="0">
                <a:ln>
                  <a:noFill/>
                </a:ln>
                <a:solidFill>
                  <a:srgbClr val="22272B"/>
                </a:solidFill>
                <a:effectLst/>
                <a:uLnTx/>
                <a:uFillTx/>
                <a:latin typeface="Calibri"/>
                <a:ea typeface="+mn-ea"/>
                <a:cs typeface="+mn-cs"/>
              </a:rPr>
              <a:t>Gesamtbewertung  =  </a:t>
            </a:r>
            <a:r>
              <a:rPr kumimoji="0" lang="de-DE" sz="1450" b="1" i="0" u="none" strike="noStrike" kern="1200" cap="none" spc="0" normalizeH="0" baseline="0" noProof="0" dirty="0">
                <a:ln>
                  <a:noFill/>
                </a:ln>
                <a:solidFill>
                  <a:srgbClr val="E0912F"/>
                </a:solidFill>
                <a:effectLst/>
                <a:uLnTx/>
                <a:uFillTx/>
                <a:latin typeface="Calibri"/>
                <a:ea typeface="+mn-ea"/>
                <a:cs typeface="+mn-cs"/>
              </a:rPr>
              <a:t>Durchschnitts-MAE</a:t>
            </a:r>
            <a:r>
              <a:rPr kumimoji="0" lang="de-DE" sz="1450" b="1" i="0" u="none" strike="noStrike" kern="1200" cap="none" spc="0" normalizeH="0" baseline="0" noProof="0" dirty="0">
                <a:ln>
                  <a:noFill/>
                </a:ln>
                <a:solidFill>
                  <a:srgbClr val="22272B"/>
                </a:solidFill>
                <a:effectLst/>
                <a:uLnTx/>
                <a:uFillTx/>
                <a:latin typeface="Calibri"/>
                <a:ea typeface="+mn-ea"/>
                <a:cs typeface="+mn-cs"/>
              </a:rPr>
              <a:t>  +  </a:t>
            </a:r>
            <a:r>
              <a:rPr kumimoji="0" lang="de-DE" sz="1450" b="1" i="0" u="none" strike="noStrike" kern="1200" cap="none" spc="0" normalizeH="0" baseline="0" noProof="0" dirty="0">
                <a:ln>
                  <a:noFill/>
                </a:ln>
                <a:solidFill>
                  <a:srgbClr val="E0912F"/>
                </a:solidFill>
                <a:effectLst/>
                <a:uLnTx/>
                <a:uFillTx/>
                <a:latin typeface="Calibri"/>
                <a:ea typeface="+mn-ea"/>
                <a:cs typeface="+mn-cs"/>
              </a:rPr>
              <a:t>Durchschnitts-MASE</a:t>
            </a:r>
            <a:r>
              <a:rPr kumimoji="0" lang="de-DE" sz="1450" b="0" i="0" u="none" strike="noStrike" kern="1200" cap="none" spc="0" normalizeH="0" baseline="0" noProof="0" dirty="0">
                <a:ln>
                  <a:noFill/>
                </a:ln>
                <a:solidFill>
                  <a:srgbClr val="22272B"/>
                </a:solidFill>
                <a:effectLst/>
                <a:uLnTx/>
                <a:uFillTx/>
                <a:latin typeface="Calibri"/>
                <a:ea typeface="+mn-ea"/>
                <a:cs typeface="+mn-cs"/>
              </a:rPr>
              <a:t>  über alle Testfenster des Testzeitraums</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09" name="FooterText"/>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Rectangle 1"/>
          <p:cNvSpPr/>
          <p:nvPr/>
        </p:nvSpPr>
        <p:spPr>
          <a:xfrm>
            <a:off x="0" y="0"/>
            <a:ext cx="12161160" cy="6857640"/>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dirty="0">
              <a:solidFill>
                <a:schemeClr val="lt1"/>
              </a:solidFill>
              <a:effectLst/>
              <a:uFillTx/>
              <a:latin typeface="Calibri"/>
            </a:endParaRPr>
          </a:p>
        </p:txBody>
      </p:sp>
      <p:sp>
        <p:nvSpPr>
          <p:cNvPr id="230" name="Oval 2"/>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31" name="TextBox 3"/>
          <p:cNvSpPr/>
          <p:nvPr/>
        </p:nvSpPr>
        <p:spPr>
          <a:xfrm>
            <a:off x="457200" y="751967"/>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dirty="0">
                <a:solidFill>
                  <a:srgbClr val="FFFFFF"/>
                </a:solidFill>
                <a:latin typeface="Cambria"/>
              </a:rPr>
              <a:t>5</a:t>
            </a:r>
            <a:endParaRPr lang="de-DE" sz="3000" b="0" u="none" strike="noStrike" dirty="0">
              <a:solidFill>
                <a:srgbClr val="000000"/>
              </a:solidFill>
              <a:effectLst/>
              <a:uFillTx/>
              <a:latin typeface="Arial"/>
            </a:endParaRPr>
          </a:p>
        </p:txBody>
      </p:sp>
      <p:sp>
        <p:nvSpPr>
          <p:cNvPr id="232" name="TextBox 4"/>
          <p:cNvSpPr/>
          <p:nvPr/>
        </p:nvSpPr>
        <p:spPr>
          <a:xfrm>
            <a:off x="1691640" y="307478"/>
            <a:ext cx="10012998" cy="984885"/>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ctr">
            <a:spAutoFit/>
          </a:bodyPr>
          <a:lstStyle/>
          <a:p>
            <a:pPr defTabSz="457200">
              <a:lnSpc>
                <a:spcPct val="100000"/>
              </a:lnSpc>
            </a:pPr>
            <a:r>
              <a:rPr lang="en-US" sz="3200" b="1" u="none" strike="noStrike" dirty="0" err="1">
                <a:solidFill>
                  <a:srgbClr val="22272B"/>
                </a:solidFill>
                <a:effectLst/>
                <a:uFillTx/>
                <a:latin typeface="Cambria"/>
              </a:rPr>
              <a:t>Ergebnisse</a:t>
            </a:r>
            <a:r>
              <a:rPr lang="en-US" sz="3200" b="1" u="none" strike="noStrike" dirty="0">
                <a:solidFill>
                  <a:srgbClr val="22272B"/>
                </a:solidFill>
                <a:effectLst/>
                <a:uFillTx/>
                <a:latin typeface="Cambria"/>
              </a:rPr>
              <a:t> Rolling-Window-</a:t>
            </a:r>
            <a:r>
              <a:rPr lang="en-US" sz="3200" b="1" u="none" strike="noStrike" dirty="0" err="1">
                <a:solidFill>
                  <a:srgbClr val="22272B"/>
                </a:solidFill>
                <a:effectLst/>
                <a:uFillTx/>
                <a:latin typeface="Cambria"/>
              </a:rPr>
              <a:t>Backtest</a:t>
            </a:r>
            <a:r>
              <a:rPr lang="en-US" sz="3200" b="1" u="none" strike="noStrike" dirty="0">
                <a:solidFill>
                  <a:srgbClr val="22272B"/>
                </a:solidFill>
                <a:effectLst/>
                <a:uFillTx/>
                <a:latin typeface="Cambria"/>
              </a:rPr>
              <a:t> </a:t>
            </a:r>
            <a:r>
              <a:rPr lang="en-US" sz="3200" b="1" u="none" strike="noStrike" dirty="0" err="1">
                <a:solidFill>
                  <a:srgbClr val="22272B"/>
                </a:solidFill>
                <a:effectLst/>
                <a:uFillTx/>
                <a:latin typeface="Cambria"/>
              </a:rPr>
              <a:t>als</a:t>
            </a:r>
            <a:r>
              <a:rPr lang="en-US" sz="3200" b="1" u="none" strike="noStrike" dirty="0">
                <a:solidFill>
                  <a:srgbClr val="22272B"/>
                </a:solidFill>
                <a:effectLst/>
                <a:uFillTx/>
                <a:latin typeface="Cambria"/>
              </a:rPr>
              <a:t> Durch-</a:t>
            </a:r>
            <a:r>
              <a:rPr lang="en-US" sz="3200" b="1" u="none" strike="noStrike" dirty="0" err="1">
                <a:solidFill>
                  <a:srgbClr val="22272B"/>
                </a:solidFill>
                <a:effectLst/>
                <a:uFillTx/>
                <a:latin typeface="Cambria"/>
              </a:rPr>
              <a:t>schnitt</a:t>
            </a:r>
            <a:r>
              <a:rPr lang="en-US" sz="3200" b="1" u="none" strike="noStrike" dirty="0">
                <a:solidFill>
                  <a:srgbClr val="22272B"/>
                </a:solidFill>
                <a:effectLst/>
                <a:uFillTx/>
                <a:latin typeface="Cambria"/>
              </a:rPr>
              <a:t> </a:t>
            </a:r>
            <a:r>
              <a:rPr lang="en-US" sz="3200" b="1" u="none" strike="noStrike" dirty="0" err="1">
                <a:solidFill>
                  <a:srgbClr val="22272B"/>
                </a:solidFill>
                <a:effectLst/>
                <a:uFillTx/>
                <a:latin typeface="Cambria"/>
              </a:rPr>
              <a:t>über</a:t>
            </a:r>
            <a:r>
              <a:rPr lang="en-US" sz="3200" b="1" u="none" strike="noStrike" dirty="0">
                <a:solidFill>
                  <a:srgbClr val="22272B"/>
                </a:solidFill>
                <a:effectLst/>
                <a:uFillTx/>
                <a:latin typeface="Cambria"/>
              </a:rPr>
              <a:t> alle </a:t>
            </a:r>
            <a:r>
              <a:rPr lang="en-US" sz="3200" b="1" u="none" strike="noStrike" dirty="0" err="1">
                <a:solidFill>
                  <a:srgbClr val="22272B"/>
                </a:solidFill>
                <a:effectLst/>
                <a:uFillTx/>
                <a:latin typeface="Cambria"/>
              </a:rPr>
              <a:t>Stationen</a:t>
            </a:r>
            <a:endParaRPr lang="de-DE" sz="3200" b="0" u="none" strike="noStrike" dirty="0">
              <a:solidFill>
                <a:srgbClr val="000000"/>
              </a:solidFill>
              <a:effectLst/>
              <a:uFillTx/>
              <a:latin typeface="Arial"/>
            </a:endParaRPr>
          </a:p>
        </p:txBody>
      </p:sp>
      <p:sp>
        <p:nvSpPr>
          <p:cNvPr id="233" name="TextBox 5"/>
          <p:cNvSpPr/>
          <p:nvPr/>
        </p:nvSpPr>
        <p:spPr>
          <a:xfrm>
            <a:off x="1749756" y="1325700"/>
            <a:ext cx="9143640" cy="21544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dirty="0">
                <a:solidFill>
                  <a:srgbClr val="E0912F"/>
                </a:solidFill>
                <a:effectLst/>
                <a:uFillTx/>
                <a:latin typeface="Calibri"/>
              </a:rPr>
              <a:t>CRISP-DM  ·  Evaluation</a:t>
            </a:r>
            <a:endParaRPr lang="de-DE" sz="1400" b="0" u="none" strike="noStrike" dirty="0">
              <a:solidFill>
                <a:srgbClr val="000000"/>
              </a:solidFill>
              <a:effectLst/>
              <a:uFillTx/>
              <a:latin typeface="Arial"/>
            </a:endParaRPr>
          </a:p>
        </p:txBody>
      </p:sp>
      <p:sp>
        <p:nvSpPr>
          <p:cNvPr id="241" name="Rectangle 13"/>
          <p:cNvSpPr/>
          <p:nvPr/>
        </p:nvSpPr>
        <p:spPr>
          <a:xfrm>
            <a:off x="8046720" y="4316040"/>
            <a:ext cx="3337200" cy="10440"/>
          </a:xfrm>
          <a:prstGeom prst="rect">
            <a:avLst/>
          </a:prstGeom>
          <a:solidFill>
            <a:srgbClr val="E1E3E6"/>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44" name="TextBox 16"/>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pic>
        <p:nvPicPr>
          <p:cNvPr id="3" name="Grafik 2">
            <a:extLst>
              <a:ext uri="{FF2B5EF4-FFF2-40B4-BE49-F238E27FC236}">
                <a16:creationId xmlns:a16="http://schemas.microsoft.com/office/drawing/2014/main" id="{2D819C31-4553-49C9-6C04-7DFD4AD0B5B4}"/>
              </a:ext>
            </a:extLst>
          </p:cNvPr>
          <p:cNvPicPr>
            <a:picLocks noChangeAspect="1"/>
          </p:cNvPicPr>
          <p:nvPr/>
        </p:nvPicPr>
        <p:blipFill>
          <a:blip r:embed="rId3"/>
          <a:srcRect l="15989" t="13314" r="15725"/>
          <a:stretch>
            <a:fillRect/>
          </a:stretch>
        </p:blipFill>
        <p:spPr>
          <a:xfrm>
            <a:off x="607889" y="1850346"/>
            <a:ext cx="10776031" cy="3587118"/>
          </a:xfrm>
          <a:prstGeom prst="rect">
            <a:avLst/>
          </a:prstGeom>
        </p:spPr>
      </p:pic>
      <p:sp>
        <p:nvSpPr>
          <p:cNvPr id="5" name="EvalCallout">
            <a:extLst>
              <a:ext uri="{FF2B5EF4-FFF2-40B4-BE49-F238E27FC236}">
                <a16:creationId xmlns:a16="http://schemas.microsoft.com/office/drawing/2014/main" id="{C2CF59DD-CA9B-99E8-7CEA-00C9FB63F544}"/>
              </a:ext>
            </a:extLst>
          </p:cNvPr>
          <p:cNvSpPr/>
          <p:nvPr/>
        </p:nvSpPr>
        <p:spPr>
          <a:xfrm>
            <a:off x="502920" y="5895600"/>
            <a:ext cx="11155320" cy="420000"/>
          </a:xfrm>
          <a:prstGeom prst="roundRect">
            <a:avLst>
              <a:gd name="adj" fmla="val 12000"/>
            </a:avLst>
          </a:prstGeom>
          <a:solidFill>
            <a:srgbClr val="F3E4CB"/>
          </a:solidFill>
          <a:ln w="12700">
            <a:solidFill>
              <a:srgbClr val="E0912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0000"/>
                </a:solidFill>
                <a:effectLst/>
                <a:uLnTx/>
                <a:uFillTx/>
                <a:latin typeface="Calibri"/>
                <a:ea typeface="+mn-ea"/>
                <a:cs typeface="+mn-cs"/>
                <a:sym typeface="Wingdings" panose="05000000000000000000" pitchFamily="2" charset="2"/>
              </a:rPr>
              <a:t> Der spezifisch trainierte TFT und Chronos-2 mit 4h Aggregation liegen nahezu gleichauf und schlagen Prophet deutlich!</a:t>
            </a:r>
            <a:endParaRPr kumimoji="0" sz="1600" b="0" i="0" u="none" strike="noStrike" kern="1200" cap="none" spc="0" normalizeH="0" baseline="0" noProof="0" dirty="0">
              <a:ln>
                <a:noFill/>
              </a:ln>
              <a:solidFill>
                <a:srgbClr val="000000"/>
              </a:solidFill>
              <a:effectLst/>
              <a:uLnTx/>
              <a:uFillTx/>
              <a:latin typeface="Calibri"/>
              <a:ea typeface="+mn-ea"/>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C3B7C-3436-2668-6646-61B8EC74CB73}"/>
            </a:ext>
          </a:extLst>
        </p:cNvPr>
        <p:cNvGrpSpPr/>
        <p:nvPr/>
      </p:nvGrpSpPr>
      <p:grpSpPr>
        <a:xfrm>
          <a:off x="0" y="0"/>
          <a:ext cx="0" cy="0"/>
          <a:chOff x="0" y="0"/>
          <a:chExt cx="0" cy="0"/>
        </a:xfrm>
      </p:grpSpPr>
      <p:sp>
        <p:nvSpPr>
          <p:cNvPr id="229" name="Rectangle 1">
            <a:extLst>
              <a:ext uri="{FF2B5EF4-FFF2-40B4-BE49-F238E27FC236}">
                <a16:creationId xmlns:a16="http://schemas.microsoft.com/office/drawing/2014/main" id="{45275CB0-F178-9841-ADDF-59AFE0561C8D}"/>
              </a:ext>
            </a:extLst>
          </p:cNvPr>
          <p:cNvSpPr/>
          <p:nvPr/>
        </p:nvSpPr>
        <p:spPr>
          <a:xfrm>
            <a:off x="0" y="0"/>
            <a:ext cx="12161160" cy="6857640"/>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dirty="0">
              <a:solidFill>
                <a:schemeClr val="lt1"/>
              </a:solidFill>
              <a:effectLst/>
              <a:uFillTx/>
              <a:latin typeface="Calibri"/>
            </a:endParaRPr>
          </a:p>
        </p:txBody>
      </p:sp>
      <p:sp>
        <p:nvSpPr>
          <p:cNvPr id="230" name="Oval 2">
            <a:extLst>
              <a:ext uri="{FF2B5EF4-FFF2-40B4-BE49-F238E27FC236}">
                <a16:creationId xmlns:a16="http://schemas.microsoft.com/office/drawing/2014/main" id="{E33399B1-E2D6-0C72-E473-A9B835096F9C}"/>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31" name="TextBox 3">
            <a:extLst>
              <a:ext uri="{FF2B5EF4-FFF2-40B4-BE49-F238E27FC236}">
                <a16:creationId xmlns:a16="http://schemas.microsoft.com/office/drawing/2014/main" id="{D37E3238-45C9-1589-2AB5-B2F77A615CCA}"/>
              </a:ext>
            </a:extLst>
          </p:cNvPr>
          <p:cNvSpPr/>
          <p:nvPr/>
        </p:nvSpPr>
        <p:spPr>
          <a:xfrm>
            <a:off x="457200" y="751967"/>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dirty="0">
                <a:solidFill>
                  <a:srgbClr val="FFFFFF"/>
                </a:solidFill>
                <a:effectLst/>
                <a:uFillTx/>
                <a:latin typeface="Cambria"/>
              </a:rPr>
              <a:t>5</a:t>
            </a:r>
            <a:endParaRPr lang="de-DE" sz="3000" b="0" u="none" strike="noStrike" dirty="0">
              <a:solidFill>
                <a:srgbClr val="000000"/>
              </a:solidFill>
              <a:effectLst/>
              <a:uFillTx/>
              <a:latin typeface="Arial"/>
            </a:endParaRPr>
          </a:p>
        </p:txBody>
      </p:sp>
      <p:sp>
        <p:nvSpPr>
          <p:cNvPr id="232" name="TextBox 4">
            <a:extLst>
              <a:ext uri="{FF2B5EF4-FFF2-40B4-BE49-F238E27FC236}">
                <a16:creationId xmlns:a16="http://schemas.microsoft.com/office/drawing/2014/main" id="{D1FC02C9-0253-73E7-F33A-A862EF783FEB}"/>
              </a:ext>
            </a:extLst>
          </p:cNvPr>
          <p:cNvSpPr/>
          <p:nvPr/>
        </p:nvSpPr>
        <p:spPr>
          <a:xfrm>
            <a:off x="1691640" y="307478"/>
            <a:ext cx="9143640" cy="98488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dirty="0" err="1">
                <a:solidFill>
                  <a:srgbClr val="22272B"/>
                </a:solidFill>
                <a:effectLst/>
                <a:uFillTx/>
                <a:latin typeface="Cambria"/>
              </a:rPr>
              <a:t>Ergebnisse</a:t>
            </a:r>
            <a:r>
              <a:rPr lang="en-US" sz="3200" b="1" u="none" strike="noStrike" dirty="0">
                <a:solidFill>
                  <a:srgbClr val="22272B"/>
                </a:solidFill>
                <a:effectLst/>
                <a:uFillTx/>
                <a:latin typeface="Cambria"/>
              </a:rPr>
              <a:t> Rolling-Window-</a:t>
            </a:r>
            <a:r>
              <a:rPr lang="en-US" sz="3200" b="1" u="none" strike="noStrike" dirty="0" err="1">
                <a:solidFill>
                  <a:srgbClr val="22272B"/>
                </a:solidFill>
                <a:effectLst/>
                <a:uFillTx/>
                <a:latin typeface="Cambria"/>
              </a:rPr>
              <a:t>Backtest</a:t>
            </a:r>
            <a:r>
              <a:rPr lang="en-US" sz="3200" b="1" u="none" strike="noStrike" dirty="0">
                <a:solidFill>
                  <a:srgbClr val="22272B"/>
                </a:solidFill>
                <a:effectLst/>
                <a:uFillTx/>
                <a:latin typeface="Cambria"/>
              </a:rPr>
              <a:t> </a:t>
            </a:r>
            <a:r>
              <a:rPr lang="en-US" sz="3200" b="1" u="none" strike="noStrike" dirty="0" err="1">
                <a:solidFill>
                  <a:srgbClr val="22272B"/>
                </a:solidFill>
                <a:effectLst/>
                <a:uFillTx/>
                <a:latin typeface="Cambria"/>
              </a:rPr>
              <a:t>als</a:t>
            </a:r>
            <a:r>
              <a:rPr lang="en-US" sz="3200" b="1" u="none" strike="noStrike" dirty="0">
                <a:solidFill>
                  <a:srgbClr val="22272B"/>
                </a:solidFill>
                <a:effectLst/>
                <a:uFillTx/>
                <a:latin typeface="Cambria"/>
              </a:rPr>
              <a:t> </a:t>
            </a:r>
            <a:r>
              <a:rPr lang="en-US" sz="3200" b="1" u="none" strike="noStrike" dirty="0" err="1">
                <a:solidFill>
                  <a:srgbClr val="22272B"/>
                </a:solidFill>
                <a:effectLst/>
                <a:uFillTx/>
                <a:latin typeface="Cambria"/>
              </a:rPr>
              <a:t>Durchschnitt</a:t>
            </a:r>
            <a:r>
              <a:rPr lang="en-US" sz="3200" b="1" u="none" strike="noStrike" dirty="0">
                <a:solidFill>
                  <a:srgbClr val="22272B"/>
                </a:solidFill>
                <a:effectLst/>
                <a:uFillTx/>
                <a:latin typeface="Cambria"/>
              </a:rPr>
              <a:t> </a:t>
            </a:r>
            <a:r>
              <a:rPr lang="en-US" sz="3200" b="1" u="none" strike="noStrike" dirty="0" err="1">
                <a:solidFill>
                  <a:srgbClr val="22272B"/>
                </a:solidFill>
                <a:effectLst/>
                <a:uFillTx/>
                <a:latin typeface="Cambria"/>
              </a:rPr>
              <a:t>über</a:t>
            </a:r>
            <a:r>
              <a:rPr lang="en-US" sz="3200" b="1" u="none" strike="noStrike" dirty="0">
                <a:solidFill>
                  <a:srgbClr val="22272B"/>
                </a:solidFill>
                <a:effectLst/>
                <a:uFillTx/>
                <a:latin typeface="Cambria"/>
              </a:rPr>
              <a:t> alle </a:t>
            </a:r>
            <a:r>
              <a:rPr lang="en-US" sz="3200" b="1" u="none" strike="noStrike" dirty="0" err="1">
                <a:solidFill>
                  <a:srgbClr val="22272B"/>
                </a:solidFill>
                <a:effectLst/>
                <a:uFillTx/>
                <a:latin typeface="Cambria"/>
              </a:rPr>
              <a:t>Stationen</a:t>
            </a:r>
            <a:endParaRPr lang="de-DE" sz="3200" b="0" u="none" strike="noStrike" dirty="0">
              <a:solidFill>
                <a:srgbClr val="000000"/>
              </a:solidFill>
              <a:effectLst/>
              <a:uFillTx/>
              <a:latin typeface="Arial"/>
            </a:endParaRPr>
          </a:p>
        </p:txBody>
      </p:sp>
      <p:sp>
        <p:nvSpPr>
          <p:cNvPr id="233" name="TextBox 5">
            <a:extLst>
              <a:ext uri="{FF2B5EF4-FFF2-40B4-BE49-F238E27FC236}">
                <a16:creationId xmlns:a16="http://schemas.microsoft.com/office/drawing/2014/main" id="{C4EA9A9D-5D32-11B3-EC46-DE1D192FA3D0}"/>
              </a:ext>
            </a:extLst>
          </p:cNvPr>
          <p:cNvSpPr/>
          <p:nvPr/>
        </p:nvSpPr>
        <p:spPr>
          <a:xfrm>
            <a:off x="1691640" y="1331431"/>
            <a:ext cx="9143640" cy="21544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dirty="0">
                <a:solidFill>
                  <a:srgbClr val="E0912F"/>
                </a:solidFill>
                <a:effectLst/>
                <a:uFillTx/>
                <a:latin typeface="Calibri"/>
              </a:rPr>
              <a:t>CRISP-DM  ·  </a:t>
            </a:r>
            <a:r>
              <a:rPr lang="en-US" sz="1400" b="1" dirty="0">
                <a:solidFill>
                  <a:srgbClr val="E0912F"/>
                </a:solidFill>
                <a:latin typeface="Calibri"/>
              </a:rPr>
              <a:t>Evaluation</a:t>
            </a:r>
            <a:endParaRPr lang="de-DE" sz="1400" b="0" u="none" strike="noStrike" dirty="0">
              <a:solidFill>
                <a:srgbClr val="000000"/>
              </a:solidFill>
              <a:effectLst/>
              <a:uFillTx/>
              <a:latin typeface="Arial"/>
            </a:endParaRPr>
          </a:p>
        </p:txBody>
      </p:sp>
      <p:sp>
        <p:nvSpPr>
          <p:cNvPr id="241" name="Rectangle 13">
            <a:extLst>
              <a:ext uri="{FF2B5EF4-FFF2-40B4-BE49-F238E27FC236}">
                <a16:creationId xmlns:a16="http://schemas.microsoft.com/office/drawing/2014/main" id="{F80330F3-0D3B-36CF-121D-8FDDE07D37BF}"/>
              </a:ext>
            </a:extLst>
          </p:cNvPr>
          <p:cNvSpPr/>
          <p:nvPr/>
        </p:nvSpPr>
        <p:spPr>
          <a:xfrm>
            <a:off x="8046720" y="4316040"/>
            <a:ext cx="3337200" cy="10440"/>
          </a:xfrm>
          <a:prstGeom prst="rect">
            <a:avLst/>
          </a:prstGeom>
          <a:solidFill>
            <a:srgbClr val="E1E3E6"/>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44" name="TextBox 16">
            <a:extLst>
              <a:ext uri="{FF2B5EF4-FFF2-40B4-BE49-F238E27FC236}">
                <a16:creationId xmlns:a16="http://schemas.microsoft.com/office/drawing/2014/main" id="{0E62FC8F-8E97-FDBE-9B68-82DA074883CF}"/>
              </a:ext>
            </a:extLst>
          </p:cNvP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pic>
        <p:nvPicPr>
          <p:cNvPr id="4" name="Grafik 3">
            <a:extLst>
              <a:ext uri="{FF2B5EF4-FFF2-40B4-BE49-F238E27FC236}">
                <a16:creationId xmlns:a16="http://schemas.microsoft.com/office/drawing/2014/main" id="{130CACA1-EA60-D262-F717-EBC00CA0A3C3}"/>
              </a:ext>
            </a:extLst>
          </p:cNvPr>
          <p:cNvPicPr>
            <a:picLocks noChangeAspect="1"/>
          </p:cNvPicPr>
          <p:nvPr/>
        </p:nvPicPr>
        <p:blipFill>
          <a:blip r:embed="rId3"/>
          <a:stretch>
            <a:fillRect/>
          </a:stretch>
        </p:blipFill>
        <p:spPr>
          <a:xfrm>
            <a:off x="46492" y="2043432"/>
            <a:ext cx="12068175" cy="3028950"/>
          </a:xfrm>
          <a:prstGeom prst="rect">
            <a:avLst/>
          </a:prstGeom>
        </p:spPr>
      </p:pic>
      <p:sp>
        <p:nvSpPr>
          <p:cNvPr id="6" name="EvalCallout">
            <a:extLst>
              <a:ext uri="{FF2B5EF4-FFF2-40B4-BE49-F238E27FC236}">
                <a16:creationId xmlns:a16="http://schemas.microsoft.com/office/drawing/2014/main" id="{FA55AC99-B8E2-1092-3230-869B6B109094}"/>
              </a:ext>
            </a:extLst>
          </p:cNvPr>
          <p:cNvSpPr/>
          <p:nvPr/>
        </p:nvSpPr>
        <p:spPr>
          <a:xfrm>
            <a:off x="484740" y="5607415"/>
            <a:ext cx="11155320" cy="420000"/>
          </a:xfrm>
          <a:prstGeom prst="roundRect">
            <a:avLst>
              <a:gd name="adj" fmla="val 12000"/>
            </a:avLst>
          </a:prstGeom>
          <a:solidFill>
            <a:srgbClr val="F3E4CB"/>
          </a:solidFill>
          <a:ln w="12700">
            <a:solidFill>
              <a:srgbClr val="E0912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0000"/>
                </a:solidFill>
                <a:effectLst/>
                <a:uLnTx/>
                <a:uFillTx/>
                <a:latin typeface="Calibri"/>
                <a:ea typeface="+mn-ea"/>
                <a:cs typeface="+mn-cs"/>
                <a:sym typeface="Wingdings" panose="05000000000000000000" pitchFamily="2" charset="2"/>
              </a:rPr>
              <a:t> Bei Prophet kommt es zu deutlich mehr Ausreißern in den Daten, die die durchschnittliche Performance verschlechtern!</a:t>
            </a:r>
            <a:endParaRPr kumimoji="0" sz="1600" b="0" i="0" u="none" strike="noStrike" kern="1200" cap="none" spc="0" normalizeH="0" baseline="0" noProof="0" dirty="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12604827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FE3A0-F52B-30C4-21C8-F94A5425A0C3}"/>
            </a:ext>
          </a:extLst>
        </p:cNvPr>
        <p:cNvGrpSpPr/>
        <p:nvPr/>
      </p:nvGrpSpPr>
      <p:grpSpPr>
        <a:xfrm>
          <a:off x="0" y="0"/>
          <a:ext cx="0" cy="0"/>
          <a:chOff x="0" y="0"/>
          <a:chExt cx="0" cy="0"/>
        </a:xfrm>
      </p:grpSpPr>
      <p:sp>
        <p:nvSpPr>
          <p:cNvPr id="199" name="Rectangle Background">
            <a:extLst>
              <a:ext uri="{FF2B5EF4-FFF2-40B4-BE49-F238E27FC236}">
                <a16:creationId xmlns:a16="http://schemas.microsoft.com/office/drawing/2014/main" id="{7D835CA3-8A4F-AF00-06B9-5884A1C89F8C}"/>
              </a:ext>
            </a:extLst>
          </p:cNvPr>
          <p:cNvSpPr/>
          <p:nvPr/>
        </p:nvSpPr>
        <p:spPr>
          <a:xfrm>
            <a:off x="0" y="0"/>
            <a:ext cx="12161160" cy="6857640"/>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mn-ea"/>
              <a:cs typeface="+mn-cs"/>
            </a:endParaRPr>
          </a:p>
        </p:txBody>
      </p:sp>
      <p:sp>
        <p:nvSpPr>
          <p:cNvPr id="200" name="NumberBadgeCircle">
            <a:extLst>
              <a:ext uri="{FF2B5EF4-FFF2-40B4-BE49-F238E27FC236}">
                <a16:creationId xmlns:a16="http://schemas.microsoft.com/office/drawing/2014/main" id="{595DA65B-A5E4-FCE0-8D78-3745A8757959}"/>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mn-ea"/>
              <a:cs typeface="+mn-cs"/>
            </a:endParaRPr>
          </a:p>
        </p:txBody>
      </p:sp>
      <p:sp>
        <p:nvSpPr>
          <p:cNvPr id="201" name="NumberBadgeText">
            <a:extLst>
              <a:ext uri="{FF2B5EF4-FFF2-40B4-BE49-F238E27FC236}">
                <a16:creationId xmlns:a16="http://schemas.microsoft.com/office/drawing/2014/main" id="{39C74CF5-6439-67CE-37A9-C86445137FEA}"/>
              </a:ext>
            </a:extLst>
          </p:cNvPr>
          <p:cNvSpPr/>
          <p:nvPr/>
        </p:nvSpPr>
        <p:spPr>
          <a:xfrm>
            <a:off x="457200" y="751967"/>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3000" b="1" i="0" u="none" strike="noStrike" kern="1200" cap="none" spc="0" normalizeH="0" baseline="0" noProof="0" dirty="0">
                <a:ln>
                  <a:noFill/>
                </a:ln>
                <a:solidFill>
                  <a:srgbClr val="FFFFFF"/>
                </a:solidFill>
                <a:effectLst/>
                <a:uLnTx/>
                <a:uFillTx/>
                <a:latin typeface="Cambria"/>
                <a:ea typeface="+mn-ea"/>
                <a:cs typeface="+mn-cs"/>
              </a:rPr>
              <a:t>5</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02" name="TitleText">
            <a:extLst>
              <a:ext uri="{FF2B5EF4-FFF2-40B4-BE49-F238E27FC236}">
                <a16:creationId xmlns:a16="http://schemas.microsoft.com/office/drawing/2014/main" id="{8F925D27-5061-84C3-4BEA-E602A081DCE3}"/>
              </a:ext>
            </a:extLst>
          </p:cNvPr>
          <p:cNvSpPr/>
          <p:nvPr/>
        </p:nvSpPr>
        <p:spPr>
          <a:xfrm>
            <a:off x="1691640" y="457200"/>
            <a:ext cx="9143640" cy="49244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de-DE" sz="3200" b="1" i="0" u="none" strike="noStrike" kern="1200" cap="none" spc="0" normalizeH="0" baseline="0" noProof="0" dirty="0">
                <a:ln>
                  <a:noFill/>
                </a:ln>
                <a:solidFill>
                  <a:srgbClr val="22272B"/>
                </a:solidFill>
                <a:effectLst/>
                <a:uLnTx/>
                <a:uFillTx/>
                <a:latin typeface="Cambria"/>
                <a:ea typeface="+mn-ea"/>
                <a:cs typeface="+mn-cs"/>
              </a:rPr>
              <a:t>Modellgüte TFT – weitere Beispielergebnisse</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03" name="KickerText">
            <a:extLst>
              <a:ext uri="{FF2B5EF4-FFF2-40B4-BE49-F238E27FC236}">
                <a16:creationId xmlns:a16="http://schemas.microsoft.com/office/drawing/2014/main" id="{A626E9CF-ABC7-769E-06FE-ADA87FE3F472}"/>
              </a:ext>
            </a:extLst>
          </p:cNvPr>
          <p:cNvSpPr/>
          <p:nvPr/>
        </p:nvSpPr>
        <p:spPr>
          <a:xfrm>
            <a:off x="1710000" y="1115640"/>
            <a:ext cx="9143640" cy="21544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rgbClr val="E0912F"/>
                </a:solidFill>
                <a:effectLst/>
                <a:uLnTx/>
                <a:uFillTx/>
                <a:latin typeface="Calibri"/>
                <a:ea typeface="+mn-ea"/>
                <a:cs typeface="+mn-cs"/>
              </a:rPr>
              <a:t>CRISP-DM   ·   Evaluation</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04" name="SectionLabel">
            <a:extLst>
              <a:ext uri="{FF2B5EF4-FFF2-40B4-BE49-F238E27FC236}">
                <a16:creationId xmlns:a16="http://schemas.microsoft.com/office/drawing/2014/main" id="{D307A75C-2D58-379D-06F3-4A16B75E2E86}"/>
              </a:ext>
            </a:extLst>
          </p:cNvPr>
          <p:cNvSpPr/>
          <p:nvPr/>
        </p:nvSpPr>
        <p:spPr>
          <a:xfrm>
            <a:off x="502920" y="1828800"/>
            <a:ext cx="11155320" cy="18466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DE" sz="1200" b="1" spc="150" dirty="0">
                <a:solidFill>
                  <a:srgbClr val="6C7278"/>
                </a:solidFill>
                <a:latin typeface="Calibri"/>
              </a:rPr>
              <a:t>Exemplarische Ergebnisse für die Stationen </a:t>
            </a:r>
            <a:r>
              <a:rPr lang="de-DE" sz="1200" b="1" spc="150" dirty="0" err="1">
                <a:solidFill>
                  <a:srgbClr val="6C7278"/>
                </a:solidFill>
                <a:latin typeface="Calibri"/>
              </a:rPr>
              <a:t>Wanliu</a:t>
            </a:r>
            <a:r>
              <a:rPr lang="de-DE" sz="1200" b="1" spc="150" dirty="0">
                <a:solidFill>
                  <a:srgbClr val="6C7278"/>
                </a:solidFill>
                <a:latin typeface="Calibri"/>
              </a:rPr>
              <a:t>, </a:t>
            </a:r>
            <a:r>
              <a:rPr lang="de-DE" sz="1200" b="1" spc="150" dirty="0" err="1">
                <a:solidFill>
                  <a:srgbClr val="6C7278"/>
                </a:solidFill>
                <a:latin typeface="Calibri"/>
              </a:rPr>
              <a:t>Tiantan</a:t>
            </a:r>
            <a:r>
              <a:rPr lang="de-DE" sz="1200" b="1" spc="150" dirty="0">
                <a:solidFill>
                  <a:srgbClr val="6C7278"/>
                </a:solidFill>
                <a:latin typeface="Calibri"/>
              </a:rPr>
              <a:t> und </a:t>
            </a:r>
            <a:r>
              <a:rPr lang="de-DE" sz="1200" b="1" spc="150" dirty="0" err="1">
                <a:solidFill>
                  <a:srgbClr val="6C7278"/>
                </a:solidFill>
                <a:latin typeface="Calibri"/>
              </a:rPr>
              <a:t>Dingling</a:t>
            </a:r>
            <a:r>
              <a:rPr lang="de-DE" sz="1200" b="1" spc="150" dirty="0">
                <a:solidFill>
                  <a:srgbClr val="6C7278"/>
                </a:solidFill>
                <a:latin typeface="Calibri"/>
              </a:rPr>
              <a:t>, die in den Trainingsdaten enthalten waren!</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07" name="EvalCallout">
            <a:extLst>
              <a:ext uri="{FF2B5EF4-FFF2-40B4-BE49-F238E27FC236}">
                <a16:creationId xmlns:a16="http://schemas.microsoft.com/office/drawing/2014/main" id="{E8589BAD-C878-1637-F254-8C417DBEEA74}"/>
              </a:ext>
            </a:extLst>
          </p:cNvPr>
          <p:cNvSpPr/>
          <p:nvPr/>
        </p:nvSpPr>
        <p:spPr>
          <a:xfrm>
            <a:off x="502920" y="5895600"/>
            <a:ext cx="11155320" cy="420000"/>
          </a:xfrm>
          <a:prstGeom prst="roundRect">
            <a:avLst>
              <a:gd name="adj" fmla="val 12000"/>
            </a:avLst>
          </a:prstGeom>
          <a:solidFill>
            <a:srgbClr val="F3E4CB"/>
          </a:solidFill>
          <a:ln w="12700">
            <a:solidFill>
              <a:srgbClr val="E0912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mn-ea"/>
              <a:cs typeface="+mn-cs"/>
            </a:endParaRPr>
          </a:p>
        </p:txBody>
      </p:sp>
      <p:sp>
        <p:nvSpPr>
          <p:cNvPr id="208" name="EvalCalloutText">
            <a:extLst>
              <a:ext uri="{FF2B5EF4-FFF2-40B4-BE49-F238E27FC236}">
                <a16:creationId xmlns:a16="http://schemas.microsoft.com/office/drawing/2014/main" id="{F60E5197-2906-96FC-E7A6-1E090B6CC049}"/>
              </a:ext>
            </a:extLst>
          </p:cNvPr>
          <p:cNvSpPr/>
          <p:nvPr/>
        </p:nvSpPr>
        <p:spPr>
          <a:xfrm>
            <a:off x="502920" y="5994031"/>
            <a:ext cx="11155320" cy="22313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1450" b="1" i="0" u="none" strike="noStrike" kern="1200" cap="none" spc="0" normalizeH="0" baseline="0" noProof="0" dirty="0">
                <a:ln>
                  <a:noFill/>
                </a:ln>
                <a:solidFill>
                  <a:srgbClr val="22272B"/>
                </a:solidFill>
                <a:effectLst/>
                <a:uLnTx/>
                <a:uFillTx/>
                <a:latin typeface="Calibri"/>
                <a:ea typeface="+mn-ea"/>
                <a:cs typeface="+mn-cs"/>
                <a:sym typeface="Wingdings" panose="05000000000000000000" pitchFamily="2" charset="2"/>
              </a:rPr>
              <a:t> Für alle Stationen gibt TFT eine gute Prognose der PM2.5 Konzentration!</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09" name="FooterText">
            <a:extLst>
              <a:ext uri="{FF2B5EF4-FFF2-40B4-BE49-F238E27FC236}">
                <a16:creationId xmlns:a16="http://schemas.microsoft.com/office/drawing/2014/main" id="{99A1E24B-B91F-AD2A-0A59-620007D49F8D}"/>
              </a:ext>
            </a:extLst>
          </p:cNvP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pic>
        <p:nvPicPr>
          <p:cNvPr id="15" name="Grafik 14">
            <a:extLst>
              <a:ext uri="{FF2B5EF4-FFF2-40B4-BE49-F238E27FC236}">
                <a16:creationId xmlns:a16="http://schemas.microsoft.com/office/drawing/2014/main" id="{E87D310D-D742-E521-7F13-85D318306250}"/>
              </a:ext>
            </a:extLst>
          </p:cNvPr>
          <p:cNvPicPr>
            <a:picLocks noChangeAspect="1"/>
          </p:cNvPicPr>
          <p:nvPr/>
        </p:nvPicPr>
        <p:blipFill>
          <a:blip r:embed="rId2"/>
          <a:stretch>
            <a:fillRect/>
          </a:stretch>
        </p:blipFill>
        <p:spPr>
          <a:xfrm>
            <a:off x="4350992" y="2557133"/>
            <a:ext cx="3759154" cy="2493316"/>
          </a:xfrm>
          <a:prstGeom prst="rect">
            <a:avLst/>
          </a:prstGeom>
        </p:spPr>
      </p:pic>
      <p:pic>
        <p:nvPicPr>
          <p:cNvPr id="17" name="Grafik 16">
            <a:extLst>
              <a:ext uri="{FF2B5EF4-FFF2-40B4-BE49-F238E27FC236}">
                <a16:creationId xmlns:a16="http://schemas.microsoft.com/office/drawing/2014/main" id="{5564122F-0602-53F7-4FF6-2EA36AC7FDFC}"/>
              </a:ext>
            </a:extLst>
          </p:cNvPr>
          <p:cNvPicPr>
            <a:picLocks noChangeAspect="1"/>
          </p:cNvPicPr>
          <p:nvPr/>
        </p:nvPicPr>
        <p:blipFill>
          <a:blip r:embed="rId3"/>
          <a:stretch>
            <a:fillRect/>
          </a:stretch>
        </p:blipFill>
        <p:spPr>
          <a:xfrm>
            <a:off x="525859" y="2557135"/>
            <a:ext cx="3759154" cy="2493316"/>
          </a:xfrm>
          <a:prstGeom prst="rect">
            <a:avLst/>
          </a:prstGeom>
        </p:spPr>
      </p:pic>
      <p:pic>
        <p:nvPicPr>
          <p:cNvPr id="19" name="Grafik 18">
            <a:extLst>
              <a:ext uri="{FF2B5EF4-FFF2-40B4-BE49-F238E27FC236}">
                <a16:creationId xmlns:a16="http://schemas.microsoft.com/office/drawing/2014/main" id="{EBEBCB3A-3F75-3FA0-AFE3-4784735707CC}"/>
              </a:ext>
            </a:extLst>
          </p:cNvPr>
          <p:cNvPicPr>
            <a:picLocks noChangeAspect="1"/>
          </p:cNvPicPr>
          <p:nvPr/>
        </p:nvPicPr>
        <p:blipFill>
          <a:blip r:embed="rId4"/>
          <a:stretch>
            <a:fillRect/>
          </a:stretch>
        </p:blipFill>
        <p:spPr>
          <a:xfrm>
            <a:off x="8147332" y="2557132"/>
            <a:ext cx="3759154" cy="2493317"/>
          </a:xfrm>
          <a:prstGeom prst="rect">
            <a:avLst/>
          </a:prstGeom>
        </p:spPr>
      </p:pic>
    </p:spTree>
    <p:extLst>
      <p:ext uri="{BB962C8B-B14F-4D97-AF65-F5344CB8AC3E}">
        <p14:creationId xmlns:p14="http://schemas.microsoft.com/office/powerpoint/2010/main" val="39646045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DDD50-8990-411F-7D4B-F91C35D7F48B}"/>
            </a:ext>
          </a:extLst>
        </p:cNvPr>
        <p:cNvGrpSpPr/>
        <p:nvPr/>
      </p:nvGrpSpPr>
      <p:grpSpPr>
        <a:xfrm>
          <a:off x="0" y="0"/>
          <a:ext cx="0" cy="0"/>
          <a:chOff x="0" y="0"/>
          <a:chExt cx="0" cy="0"/>
        </a:xfrm>
      </p:grpSpPr>
      <p:sp>
        <p:nvSpPr>
          <p:cNvPr id="199" name="Rectangle Background">
            <a:extLst>
              <a:ext uri="{FF2B5EF4-FFF2-40B4-BE49-F238E27FC236}">
                <a16:creationId xmlns:a16="http://schemas.microsoft.com/office/drawing/2014/main" id="{BF399F01-F3B2-FBCB-4F29-911D096298A6}"/>
              </a:ext>
            </a:extLst>
          </p:cNvPr>
          <p:cNvSpPr/>
          <p:nvPr/>
        </p:nvSpPr>
        <p:spPr>
          <a:xfrm>
            <a:off x="0" y="0"/>
            <a:ext cx="12161160" cy="6857640"/>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00" name="NumberBadgeCircle">
            <a:extLst>
              <a:ext uri="{FF2B5EF4-FFF2-40B4-BE49-F238E27FC236}">
                <a16:creationId xmlns:a16="http://schemas.microsoft.com/office/drawing/2014/main" id="{54C4CD71-B141-B931-E716-84F45A6C7CC7}"/>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mn-ea"/>
              <a:cs typeface="+mn-cs"/>
            </a:endParaRPr>
          </a:p>
        </p:txBody>
      </p:sp>
      <p:sp>
        <p:nvSpPr>
          <p:cNvPr id="201" name="NumberBadgeText">
            <a:extLst>
              <a:ext uri="{FF2B5EF4-FFF2-40B4-BE49-F238E27FC236}">
                <a16:creationId xmlns:a16="http://schemas.microsoft.com/office/drawing/2014/main" id="{8DB71C9A-BABA-D4E0-E580-9D9232C8F6FF}"/>
              </a:ext>
            </a:extLst>
          </p:cNvPr>
          <p:cNvSpPr/>
          <p:nvPr/>
        </p:nvSpPr>
        <p:spPr>
          <a:xfrm>
            <a:off x="457200" y="751967"/>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3000" b="1" i="0" u="none" strike="noStrike" kern="1200" cap="none" spc="0" normalizeH="0" baseline="0" noProof="0" dirty="0">
                <a:ln>
                  <a:noFill/>
                </a:ln>
                <a:solidFill>
                  <a:srgbClr val="FFFFFF"/>
                </a:solidFill>
                <a:effectLst/>
                <a:uLnTx/>
                <a:uFillTx/>
                <a:latin typeface="Cambria"/>
                <a:ea typeface="+mn-ea"/>
                <a:cs typeface="+mn-cs"/>
              </a:rPr>
              <a:t>5</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02" name="TitleText">
            <a:extLst>
              <a:ext uri="{FF2B5EF4-FFF2-40B4-BE49-F238E27FC236}">
                <a16:creationId xmlns:a16="http://schemas.microsoft.com/office/drawing/2014/main" id="{B6643315-4A40-685D-E1AF-169ABC5D48F9}"/>
              </a:ext>
            </a:extLst>
          </p:cNvPr>
          <p:cNvSpPr/>
          <p:nvPr/>
        </p:nvSpPr>
        <p:spPr>
          <a:xfrm>
            <a:off x="1691639" y="457200"/>
            <a:ext cx="10275073" cy="984885"/>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de-DE" sz="3200" b="1" i="0" u="none" strike="noStrike" kern="1200" cap="none" spc="0" normalizeH="0" baseline="0" noProof="0" dirty="0">
                <a:ln>
                  <a:noFill/>
                </a:ln>
                <a:solidFill>
                  <a:srgbClr val="22272B"/>
                </a:solidFill>
                <a:effectLst/>
                <a:uLnTx/>
                <a:uFillTx/>
                <a:latin typeface="Cambria"/>
                <a:ea typeface="+mn-ea"/>
                <a:cs typeface="+mn-cs"/>
              </a:rPr>
              <a:t>Modellgüte TFT – für Station außerhalb des Trainings-</a:t>
            </a:r>
            <a:r>
              <a:rPr kumimoji="0" lang="de-DE" sz="3200" b="1" i="0" u="none" strike="noStrike" kern="1200" cap="none" spc="0" normalizeH="0" baseline="0" noProof="0" dirty="0" err="1">
                <a:ln>
                  <a:noFill/>
                </a:ln>
                <a:solidFill>
                  <a:srgbClr val="22272B"/>
                </a:solidFill>
                <a:effectLst/>
                <a:uLnTx/>
                <a:uFillTx/>
                <a:latin typeface="Cambria"/>
                <a:ea typeface="+mn-ea"/>
                <a:cs typeface="+mn-cs"/>
              </a:rPr>
              <a:t>datensatzes</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03" name="KickerText">
            <a:extLst>
              <a:ext uri="{FF2B5EF4-FFF2-40B4-BE49-F238E27FC236}">
                <a16:creationId xmlns:a16="http://schemas.microsoft.com/office/drawing/2014/main" id="{619E2962-C643-6A38-941C-9A91FF7AE76D}"/>
              </a:ext>
            </a:extLst>
          </p:cNvPr>
          <p:cNvSpPr/>
          <p:nvPr/>
        </p:nvSpPr>
        <p:spPr>
          <a:xfrm>
            <a:off x="1691640" y="1492643"/>
            <a:ext cx="9143640" cy="21544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rgbClr val="E0912F"/>
                </a:solidFill>
                <a:effectLst/>
                <a:uLnTx/>
                <a:uFillTx/>
                <a:latin typeface="Calibri"/>
                <a:ea typeface="+mn-ea"/>
                <a:cs typeface="+mn-cs"/>
              </a:rPr>
              <a:t>CRISP-DM   ·   Evaluation  </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04" name="SectionLabel">
            <a:extLst>
              <a:ext uri="{FF2B5EF4-FFF2-40B4-BE49-F238E27FC236}">
                <a16:creationId xmlns:a16="http://schemas.microsoft.com/office/drawing/2014/main" id="{4A95FE31-8CE2-3595-1D09-C8BB96FF03E6}"/>
              </a:ext>
            </a:extLst>
          </p:cNvPr>
          <p:cNvSpPr/>
          <p:nvPr/>
        </p:nvSpPr>
        <p:spPr>
          <a:xfrm>
            <a:off x="502920" y="1828800"/>
            <a:ext cx="11155320" cy="36933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lvl="0" defTabSz="457200">
              <a:defRPr/>
            </a:pPr>
            <a:r>
              <a:rPr lang="de-DE" sz="1200" b="1" spc="150" dirty="0">
                <a:solidFill>
                  <a:srgbClr val="6C7278"/>
                </a:solidFill>
                <a:latin typeface="Calibri"/>
              </a:rPr>
              <a:t>Exemplarische Ergebnisse für die gleichen Zeitpunkte aus dem Testzeitraum für die Station </a:t>
            </a:r>
            <a:r>
              <a:rPr lang="de-DE" sz="1200" b="1" spc="150" dirty="0" err="1">
                <a:solidFill>
                  <a:srgbClr val="6C7278"/>
                </a:solidFill>
                <a:latin typeface="Calibri"/>
              </a:rPr>
              <a:t>Aotizhongxin</a:t>
            </a:r>
            <a:r>
              <a:rPr lang="de-DE" sz="1200" b="1" spc="150" dirty="0">
                <a:solidFill>
                  <a:srgbClr val="6C7278"/>
                </a:solidFill>
                <a:latin typeface="Calibri"/>
              </a:rPr>
              <a:t>, die in den Trainingsdaten des TFT nicht enthalten war!  </a:t>
            </a:r>
          </a:p>
        </p:txBody>
      </p:sp>
      <p:sp>
        <p:nvSpPr>
          <p:cNvPr id="207" name="EvalCallout">
            <a:extLst>
              <a:ext uri="{FF2B5EF4-FFF2-40B4-BE49-F238E27FC236}">
                <a16:creationId xmlns:a16="http://schemas.microsoft.com/office/drawing/2014/main" id="{DD7B7C8C-F9D7-A127-E2BC-BD78BF24C448}"/>
              </a:ext>
            </a:extLst>
          </p:cNvPr>
          <p:cNvSpPr/>
          <p:nvPr/>
        </p:nvSpPr>
        <p:spPr>
          <a:xfrm>
            <a:off x="502920" y="5895600"/>
            <a:ext cx="11155320" cy="420000"/>
          </a:xfrm>
          <a:prstGeom prst="roundRect">
            <a:avLst>
              <a:gd name="adj" fmla="val 12000"/>
            </a:avLst>
          </a:prstGeom>
          <a:solidFill>
            <a:srgbClr val="F3E4CB"/>
          </a:solidFill>
          <a:ln w="12700">
            <a:solidFill>
              <a:srgbClr val="E0912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mn-ea"/>
              <a:cs typeface="+mn-cs"/>
            </a:endParaRPr>
          </a:p>
        </p:txBody>
      </p:sp>
      <p:sp>
        <p:nvSpPr>
          <p:cNvPr id="208" name="EvalCalloutText">
            <a:extLst>
              <a:ext uri="{FF2B5EF4-FFF2-40B4-BE49-F238E27FC236}">
                <a16:creationId xmlns:a16="http://schemas.microsoft.com/office/drawing/2014/main" id="{377C4CBD-15A0-441A-108F-A921882ADE6D}"/>
              </a:ext>
            </a:extLst>
          </p:cNvPr>
          <p:cNvSpPr/>
          <p:nvPr/>
        </p:nvSpPr>
        <p:spPr>
          <a:xfrm>
            <a:off x="502920" y="5994031"/>
            <a:ext cx="11155320" cy="22313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lvl="0" algn="ctr" defTabSz="457200">
              <a:defRPr/>
            </a:pPr>
            <a:r>
              <a:rPr kumimoji="0" lang="de-DE" sz="1450" b="1" i="0" u="none" strike="noStrike" kern="1200" cap="none" spc="0" normalizeH="0" baseline="0" noProof="0" dirty="0">
                <a:ln>
                  <a:noFill/>
                </a:ln>
                <a:solidFill>
                  <a:srgbClr val="22272B"/>
                </a:solidFill>
                <a:effectLst/>
                <a:uLnTx/>
                <a:uFillTx/>
                <a:latin typeface="Calibri"/>
                <a:ea typeface="+mn-ea"/>
                <a:cs typeface="+mn-cs"/>
                <a:sym typeface="Wingdings" panose="05000000000000000000" pitchFamily="2" charset="2"/>
              </a:rPr>
              <a:t> Die Modellgüte für die PM2.5 Prognose ist für die </a:t>
            </a:r>
            <a:r>
              <a:rPr lang="de-DE" sz="1450" b="1" dirty="0">
                <a:solidFill>
                  <a:srgbClr val="22272B"/>
                </a:solidFill>
                <a:latin typeface="Calibri"/>
                <a:sym typeface="Wingdings" panose="05000000000000000000" pitchFamily="2" charset="2"/>
              </a:rPr>
              <a:t>Station </a:t>
            </a:r>
            <a:r>
              <a:rPr lang="de-DE" sz="1450" b="1" dirty="0" err="1">
                <a:solidFill>
                  <a:srgbClr val="22272B"/>
                </a:solidFill>
                <a:latin typeface="Calibri"/>
              </a:rPr>
              <a:t>Aotizhongxin</a:t>
            </a:r>
            <a:r>
              <a:rPr lang="de-DE" sz="1450" b="1" dirty="0">
                <a:solidFill>
                  <a:srgbClr val="22272B"/>
                </a:solidFill>
                <a:latin typeface="Calibri"/>
              </a:rPr>
              <a:t> dennoch vergleichbar zu den anderen Stationen!</a:t>
            </a:r>
            <a:r>
              <a:rPr lang="de-DE" sz="1450" b="1" dirty="0">
                <a:solidFill>
                  <a:srgbClr val="22272B"/>
                </a:solidFill>
                <a:latin typeface="Calibri"/>
                <a:sym typeface="Wingdings" panose="05000000000000000000" pitchFamily="2" charset="2"/>
              </a:rPr>
              <a:t> </a:t>
            </a:r>
            <a:endParaRPr lang="de-DE" sz="1450" b="1" dirty="0">
              <a:solidFill>
                <a:srgbClr val="22272B"/>
              </a:solidFill>
              <a:latin typeface="Calibri"/>
            </a:endParaRPr>
          </a:p>
        </p:txBody>
      </p:sp>
      <p:sp>
        <p:nvSpPr>
          <p:cNvPr id="209" name="FooterText">
            <a:extLst>
              <a:ext uri="{FF2B5EF4-FFF2-40B4-BE49-F238E27FC236}">
                <a16:creationId xmlns:a16="http://schemas.microsoft.com/office/drawing/2014/main" id="{3EB15A96-40AB-9CFD-6BC1-EE63DC4B1CF3}"/>
              </a:ext>
            </a:extLst>
          </p:cNvP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pic>
        <p:nvPicPr>
          <p:cNvPr id="14" name="Grafik 13">
            <a:extLst>
              <a:ext uri="{FF2B5EF4-FFF2-40B4-BE49-F238E27FC236}">
                <a16:creationId xmlns:a16="http://schemas.microsoft.com/office/drawing/2014/main" id="{7D31D228-C092-E880-5EDD-0EAF11921A13}"/>
              </a:ext>
            </a:extLst>
          </p:cNvPr>
          <p:cNvPicPr>
            <a:picLocks noChangeAspect="1"/>
          </p:cNvPicPr>
          <p:nvPr/>
        </p:nvPicPr>
        <p:blipFill>
          <a:blip r:embed="rId2"/>
          <a:stretch>
            <a:fillRect/>
          </a:stretch>
        </p:blipFill>
        <p:spPr>
          <a:xfrm>
            <a:off x="3640736" y="2358472"/>
            <a:ext cx="4879688" cy="3236528"/>
          </a:xfrm>
          <a:prstGeom prst="rect">
            <a:avLst/>
          </a:prstGeom>
        </p:spPr>
      </p:pic>
    </p:spTree>
    <p:extLst>
      <p:ext uri="{BB962C8B-B14F-4D97-AF65-F5344CB8AC3E}">
        <p14:creationId xmlns:p14="http://schemas.microsoft.com/office/powerpoint/2010/main" val="2130357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BAC1B-0F0E-85CA-7F25-87AE5CA4AD04}"/>
            </a:ext>
          </a:extLst>
        </p:cNvPr>
        <p:cNvGrpSpPr/>
        <p:nvPr/>
      </p:nvGrpSpPr>
      <p:grpSpPr>
        <a:xfrm>
          <a:off x="0" y="0"/>
          <a:ext cx="0" cy="0"/>
          <a:chOff x="0" y="0"/>
          <a:chExt cx="0" cy="0"/>
        </a:xfrm>
      </p:grpSpPr>
      <p:sp>
        <p:nvSpPr>
          <p:cNvPr id="199" name="Rectangle Background">
            <a:extLst>
              <a:ext uri="{FF2B5EF4-FFF2-40B4-BE49-F238E27FC236}">
                <a16:creationId xmlns:a16="http://schemas.microsoft.com/office/drawing/2014/main" id="{36832B68-EEEE-1A54-9AF9-46FB42D79138}"/>
              </a:ext>
            </a:extLst>
          </p:cNvPr>
          <p:cNvSpPr/>
          <p:nvPr/>
        </p:nvSpPr>
        <p:spPr>
          <a:xfrm>
            <a:off x="0" y="0"/>
            <a:ext cx="12161160" cy="6857640"/>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00" name="NumberBadgeCircle">
            <a:extLst>
              <a:ext uri="{FF2B5EF4-FFF2-40B4-BE49-F238E27FC236}">
                <a16:creationId xmlns:a16="http://schemas.microsoft.com/office/drawing/2014/main" id="{E32856C4-B6ED-13D3-46B0-5AF83715D02C}"/>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mn-ea"/>
              <a:cs typeface="+mn-cs"/>
            </a:endParaRPr>
          </a:p>
        </p:txBody>
      </p:sp>
      <p:sp>
        <p:nvSpPr>
          <p:cNvPr id="201" name="NumberBadgeText">
            <a:extLst>
              <a:ext uri="{FF2B5EF4-FFF2-40B4-BE49-F238E27FC236}">
                <a16:creationId xmlns:a16="http://schemas.microsoft.com/office/drawing/2014/main" id="{E3BA2CEC-BAF9-4D52-D736-F4C7A67F2D4D}"/>
              </a:ext>
            </a:extLst>
          </p:cNvPr>
          <p:cNvSpPr/>
          <p:nvPr/>
        </p:nvSpPr>
        <p:spPr>
          <a:xfrm>
            <a:off x="457200" y="751967"/>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3000" b="1" i="0" u="none" strike="noStrike" kern="1200" cap="none" spc="0" normalizeH="0" baseline="0" noProof="0" dirty="0">
                <a:ln>
                  <a:noFill/>
                </a:ln>
                <a:solidFill>
                  <a:srgbClr val="FFFFFF"/>
                </a:solidFill>
                <a:effectLst/>
                <a:uLnTx/>
                <a:uFillTx/>
                <a:latin typeface="Cambria"/>
                <a:ea typeface="+mn-ea"/>
                <a:cs typeface="+mn-cs"/>
              </a:rPr>
              <a:t>5</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02" name="TitleText">
            <a:extLst>
              <a:ext uri="{FF2B5EF4-FFF2-40B4-BE49-F238E27FC236}">
                <a16:creationId xmlns:a16="http://schemas.microsoft.com/office/drawing/2014/main" id="{725395B8-0C1E-B615-1088-EDB9FF20376D}"/>
              </a:ext>
            </a:extLst>
          </p:cNvPr>
          <p:cNvSpPr/>
          <p:nvPr/>
        </p:nvSpPr>
        <p:spPr>
          <a:xfrm>
            <a:off x="1691640" y="457200"/>
            <a:ext cx="9143640" cy="43088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de-DE" sz="2800" b="1" i="0" u="none" strike="noStrike" kern="1200" cap="none" spc="0" normalizeH="0" baseline="0" noProof="0" dirty="0">
                <a:ln>
                  <a:noFill/>
                </a:ln>
                <a:solidFill>
                  <a:srgbClr val="22272B"/>
                </a:solidFill>
                <a:effectLst/>
                <a:uLnTx/>
                <a:uFillTx/>
                <a:latin typeface="Cambria"/>
                <a:ea typeface="+mn-ea"/>
                <a:cs typeface="+mn-cs"/>
              </a:rPr>
              <a:t>Modellgüte TFT – chinesisches Neujahr (28.01.2017)</a:t>
            </a:r>
            <a:endParaRPr kumimoji="0" lang="de-DE" sz="28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03" name="KickerText">
            <a:extLst>
              <a:ext uri="{FF2B5EF4-FFF2-40B4-BE49-F238E27FC236}">
                <a16:creationId xmlns:a16="http://schemas.microsoft.com/office/drawing/2014/main" id="{05393828-4442-B2B2-6CDB-F83124CC310D}"/>
              </a:ext>
            </a:extLst>
          </p:cNvPr>
          <p:cNvSpPr/>
          <p:nvPr/>
        </p:nvSpPr>
        <p:spPr>
          <a:xfrm>
            <a:off x="1710000" y="1115640"/>
            <a:ext cx="9143640" cy="21544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rgbClr val="E0912F"/>
                </a:solidFill>
                <a:effectLst/>
                <a:uLnTx/>
                <a:uFillTx/>
                <a:latin typeface="Calibri"/>
                <a:ea typeface="+mn-ea"/>
                <a:cs typeface="+mn-cs"/>
              </a:rPr>
              <a:t>CRISP-DM   ·   Evaluation</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04" name="SectionLabel">
            <a:extLst>
              <a:ext uri="{FF2B5EF4-FFF2-40B4-BE49-F238E27FC236}">
                <a16:creationId xmlns:a16="http://schemas.microsoft.com/office/drawing/2014/main" id="{BF9FB61B-87CE-7D20-4544-88960660C70A}"/>
              </a:ext>
            </a:extLst>
          </p:cNvPr>
          <p:cNvSpPr/>
          <p:nvPr/>
        </p:nvSpPr>
        <p:spPr>
          <a:xfrm>
            <a:off x="502920" y="1828800"/>
            <a:ext cx="11155320" cy="18466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lvl="0" defTabSz="457200">
              <a:defRPr/>
            </a:pPr>
            <a:r>
              <a:rPr lang="de-DE" sz="1200" b="1" spc="150" dirty="0">
                <a:solidFill>
                  <a:srgbClr val="6C7278"/>
                </a:solidFill>
                <a:latin typeface="Calibri"/>
              </a:rPr>
              <a:t>Exemplarische Ergebnisse für die Stationen </a:t>
            </a:r>
            <a:r>
              <a:rPr lang="de-DE" sz="1200" b="1" spc="150" dirty="0" err="1">
                <a:solidFill>
                  <a:srgbClr val="6C7278"/>
                </a:solidFill>
                <a:latin typeface="Calibri"/>
              </a:rPr>
              <a:t>Shunyi</a:t>
            </a:r>
            <a:r>
              <a:rPr lang="de-DE" sz="1200" b="1" spc="150" dirty="0">
                <a:solidFill>
                  <a:srgbClr val="6C7278"/>
                </a:solidFill>
                <a:latin typeface="Calibri"/>
              </a:rPr>
              <a:t> und </a:t>
            </a:r>
            <a:r>
              <a:rPr lang="de-DE" sz="1200" b="1" spc="150" dirty="0" err="1">
                <a:solidFill>
                  <a:srgbClr val="6C7278"/>
                </a:solidFill>
                <a:latin typeface="Calibri"/>
              </a:rPr>
              <a:t>Wanshouxigon</a:t>
            </a:r>
            <a:r>
              <a:rPr lang="de-DE" sz="1200" b="1" spc="150" dirty="0">
                <a:solidFill>
                  <a:srgbClr val="6C7278"/>
                </a:solidFill>
                <a:latin typeface="Calibri"/>
              </a:rPr>
              <a:t>:</a:t>
            </a:r>
          </a:p>
        </p:txBody>
      </p:sp>
      <p:sp>
        <p:nvSpPr>
          <p:cNvPr id="207" name="EvalCallout">
            <a:extLst>
              <a:ext uri="{FF2B5EF4-FFF2-40B4-BE49-F238E27FC236}">
                <a16:creationId xmlns:a16="http://schemas.microsoft.com/office/drawing/2014/main" id="{50EAE01D-4F7E-47E2-D64F-134F9C856247}"/>
              </a:ext>
            </a:extLst>
          </p:cNvPr>
          <p:cNvSpPr/>
          <p:nvPr/>
        </p:nvSpPr>
        <p:spPr>
          <a:xfrm>
            <a:off x="502920" y="5895600"/>
            <a:ext cx="11155320" cy="420000"/>
          </a:xfrm>
          <a:prstGeom prst="roundRect">
            <a:avLst>
              <a:gd name="adj" fmla="val 12000"/>
            </a:avLst>
          </a:prstGeom>
          <a:solidFill>
            <a:srgbClr val="F3E4CB"/>
          </a:solidFill>
          <a:ln w="12700">
            <a:solidFill>
              <a:srgbClr val="E0912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mn-ea"/>
              <a:cs typeface="+mn-cs"/>
            </a:endParaRPr>
          </a:p>
        </p:txBody>
      </p:sp>
      <p:sp>
        <p:nvSpPr>
          <p:cNvPr id="208" name="EvalCalloutText">
            <a:extLst>
              <a:ext uri="{FF2B5EF4-FFF2-40B4-BE49-F238E27FC236}">
                <a16:creationId xmlns:a16="http://schemas.microsoft.com/office/drawing/2014/main" id="{F7560655-5397-067F-3448-8593DC6AF61B}"/>
              </a:ext>
            </a:extLst>
          </p:cNvPr>
          <p:cNvSpPr/>
          <p:nvPr/>
        </p:nvSpPr>
        <p:spPr>
          <a:xfrm>
            <a:off x="502920" y="5994031"/>
            <a:ext cx="11155320" cy="22313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lvl="0" algn="ctr" defTabSz="457200">
              <a:defRPr/>
            </a:pPr>
            <a:r>
              <a:rPr kumimoji="0" lang="de-DE" sz="1450" b="1" i="0" u="none" strike="noStrike" kern="1200" cap="none" spc="0" normalizeH="0" baseline="0" noProof="0" dirty="0">
                <a:ln>
                  <a:noFill/>
                </a:ln>
                <a:solidFill>
                  <a:srgbClr val="22272B"/>
                </a:solidFill>
                <a:effectLst/>
                <a:uLnTx/>
                <a:uFillTx/>
                <a:latin typeface="Calibri"/>
                <a:ea typeface="+mn-ea"/>
                <a:cs typeface="+mn-cs"/>
                <a:sym typeface="Wingdings" panose="05000000000000000000" pitchFamily="2" charset="2"/>
              </a:rPr>
              <a:t> Weder mit den anderen </a:t>
            </a:r>
            <a:r>
              <a:rPr kumimoji="0" lang="de-DE" sz="1450" b="1" i="0" u="none" strike="noStrike" kern="1200" cap="none" spc="0" normalizeH="0" baseline="0" noProof="0" dirty="0" err="1">
                <a:ln>
                  <a:noFill/>
                </a:ln>
                <a:solidFill>
                  <a:srgbClr val="22272B"/>
                </a:solidFill>
                <a:effectLst/>
                <a:uLnTx/>
                <a:uFillTx/>
                <a:latin typeface="Calibri"/>
                <a:ea typeface="+mn-ea"/>
                <a:cs typeface="+mn-cs"/>
                <a:sym typeface="Wingdings" panose="05000000000000000000" pitchFamily="2" charset="2"/>
              </a:rPr>
              <a:t>Algorithmne</a:t>
            </a:r>
            <a:r>
              <a:rPr lang="de-DE" sz="1450" b="1" dirty="0">
                <a:solidFill>
                  <a:srgbClr val="22272B"/>
                </a:solidFill>
                <a:latin typeface="Calibri"/>
                <a:sym typeface="Wingdings" panose="05000000000000000000" pitchFamily="2" charset="2"/>
              </a:rPr>
              <a:t>n noch mit </a:t>
            </a:r>
            <a:r>
              <a:rPr kumimoji="0" lang="de-DE" sz="1450" b="1" i="0" u="none" strike="noStrike" kern="1200" cap="none" spc="0" normalizeH="0" baseline="0" noProof="0" dirty="0">
                <a:ln>
                  <a:noFill/>
                </a:ln>
                <a:solidFill>
                  <a:srgbClr val="22272B"/>
                </a:solidFill>
                <a:effectLst/>
                <a:uLnTx/>
                <a:uFillTx/>
                <a:latin typeface="Calibri"/>
                <a:ea typeface="+mn-ea"/>
                <a:cs typeface="+mn-cs"/>
                <a:sym typeface="Wingdings" panose="05000000000000000000" pitchFamily="2" charset="2"/>
              </a:rPr>
              <a:t>TFT wird die Feinstaubkonzentration am chinesischen Neujahrsfest korrekt vorhergesagt!</a:t>
            </a:r>
            <a:endParaRPr lang="de-DE" sz="1450" b="1" dirty="0">
              <a:solidFill>
                <a:srgbClr val="22272B"/>
              </a:solidFill>
              <a:latin typeface="Calibri"/>
            </a:endParaRPr>
          </a:p>
        </p:txBody>
      </p:sp>
      <p:sp>
        <p:nvSpPr>
          <p:cNvPr id="209" name="FooterText">
            <a:extLst>
              <a:ext uri="{FF2B5EF4-FFF2-40B4-BE49-F238E27FC236}">
                <a16:creationId xmlns:a16="http://schemas.microsoft.com/office/drawing/2014/main" id="{3552425F-E986-06F8-57B4-2A37CB2134D0}"/>
              </a:ext>
            </a:extLst>
          </p:cNvP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pic>
        <p:nvPicPr>
          <p:cNvPr id="3" name="Grafik 2">
            <a:extLst>
              <a:ext uri="{FF2B5EF4-FFF2-40B4-BE49-F238E27FC236}">
                <a16:creationId xmlns:a16="http://schemas.microsoft.com/office/drawing/2014/main" id="{DF064C67-484A-1528-45B4-C0CAB44F9789}"/>
              </a:ext>
            </a:extLst>
          </p:cNvPr>
          <p:cNvPicPr>
            <a:picLocks noChangeAspect="1"/>
          </p:cNvPicPr>
          <p:nvPr/>
        </p:nvPicPr>
        <p:blipFill>
          <a:blip r:embed="rId2"/>
          <a:stretch>
            <a:fillRect/>
          </a:stretch>
        </p:blipFill>
        <p:spPr>
          <a:xfrm>
            <a:off x="798076" y="2227875"/>
            <a:ext cx="4821434" cy="3197889"/>
          </a:xfrm>
          <a:prstGeom prst="rect">
            <a:avLst/>
          </a:prstGeom>
        </p:spPr>
      </p:pic>
      <p:pic>
        <p:nvPicPr>
          <p:cNvPr id="5" name="Grafik 4">
            <a:extLst>
              <a:ext uri="{FF2B5EF4-FFF2-40B4-BE49-F238E27FC236}">
                <a16:creationId xmlns:a16="http://schemas.microsoft.com/office/drawing/2014/main" id="{C374B91B-6B7F-F21C-B9CE-7C0D36281129}"/>
              </a:ext>
            </a:extLst>
          </p:cNvPr>
          <p:cNvPicPr>
            <a:picLocks noChangeAspect="1"/>
          </p:cNvPicPr>
          <p:nvPr/>
        </p:nvPicPr>
        <p:blipFill>
          <a:blip r:embed="rId3"/>
          <a:stretch>
            <a:fillRect/>
          </a:stretch>
        </p:blipFill>
        <p:spPr>
          <a:xfrm>
            <a:off x="6319922" y="2215456"/>
            <a:ext cx="4868008" cy="3228781"/>
          </a:xfrm>
          <a:prstGeom prst="rect">
            <a:avLst/>
          </a:prstGeom>
        </p:spPr>
      </p:pic>
    </p:spTree>
    <p:extLst>
      <p:ext uri="{BB962C8B-B14F-4D97-AF65-F5344CB8AC3E}">
        <p14:creationId xmlns:p14="http://schemas.microsoft.com/office/powerpoint/2010/main" val="10369643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Background">
            <a:extLst>
              <a:ext uri="{FF2B5EF4-FFF2-40B4-BE49-F238E27FC236}">
                <a16:creationId xmlns:a16="http://schemas.microsoft.com/office/drawing/2014/main" id="{4364C708-DFE8-0FBC-AD1C-027F48F7E7EE}"/>
              </a:ext>
            </a:extLst>
          </p:cNvPr>
          <p:cNvSpPr/>
          <p:nvPr/>
        </p:nvSpPr>
        <p:spPr>
          <a:xfrm>
            <a:off x="0" y="0"/>
            <a:ext cx="12161160" cy="6857640"/>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lvl="0">
              <a:defRPr/>
            </a:pPr>
            <a:endParaRPr lang="de-DE" dirty="0">
              <a:hlinkClick r:id="rId2"/>
            </a:endParaRPr>
          </a:p>
          <a:p>
            <a:pPr lvl="0">
              <a:defRPr/>
            </a:pPr>
            <a:endParaRPr lang="de-DE" dirty="0">
              <a:hlinkClick r:id="rId2"/>
            </a:endParaRPr>
          </a:p>
          <a:p>
            <a:pPr lvl="0">
              <a:defRPr/>
            </a:pPr>
            <a:endParaRPr lang="de-DE" dirty="0">
              <a:hlinkClick r:id="rId2"/>
            </a:endParaRPr>
          </a:p>
          <a:p>
            <a:pPr lvl="0">
              <a:defRPr/>
            </a:pPr>
            <a:endParaRPr lang="de-DE" dirty="0">
              <a:hlinkClick r:id="rId2"/>
            </a:endParaRPr>
          </a:p>
          <a:p>
            <a:pPr lvl="0">
              <a:defRPr/>
            </a:pPr>
            <a:endParaRPr lang="de-DE" dirty="0">
              <a:hlinkClick r:id="rId2"/>
            </a:endParaRPr>
          </a:p>
          <a:p>
            <a:pPr lvl="0">
              <a:defRPr/>
            </a:pPr>
            <a:r>
              <a:rPr lang="de-DE" dirty="0">
                <a:hlinkClick r:id="rId2"/>
              </a:rPr>
              <a:t>		PM2.5 Beijing - Modellvergleich Dashboard</a:t>
            </a:r>
            <a:endParaRPr lang="de-DE" dirty="0">
              <a:solidFill>
                <a:srgbClr val="000000"/>
              </a:solidFill>
            </a:endParaRPr>
          </a:p>
        </p:txBody>
      </p:sp>
      <p:sp>
        <p:nvSpPr>
          <p:cNvPr id="2" name="Titel 1">
            <a:extLst>
              <a:ext uri="{FF2B5EF4-FFF2-40B4-BE49-F238E27FC236}">
                <a16:creationId xmlns:a16="http://schemas.microsoft.com/office/drawing/2014/main" id="{E26AA2B1-6698-7452-254E-63D4F5A6C63D}"/>
              </a:ext>
            </a:extLst>
          </p:cNvPr>
          <p:cNvSpPr>
            <a:spLocks noGrp="1"/>
          </p:cNvSpPr>
          <p:nvPr>
            <p:ph type="title"/>
          </p:nvPr>
        </p:nvSpPr>
        <p:spPr>
          <a:xfrm>
            <a:off x="1925028" y="247069"/>
            <a:ext cx="10945080" cy="1144800"/>
          </a:xfrm>
        </p:spPr>
        <p:txBody>
          <a:bodyPr/>
          <a:lstStyle/>
          <a:p>
            <a:r>
              <a:rPr lang="de-DE" sz="2800" b="1" dirty="0">
                <a:solidFill>
                  <a:srgbClr val="22272B"/>
                </a:solidFill>
                <a:latin typeface="Cambria"/>
                <a:ea typeface="+mn-ea"/>
                <a:cs typeface="+mn-cs"/>
              </a:rPr>
              <a:t>App zum Modellvergleich </a:t>
            </a:r>
          </a:p>
        </p:txBody>
      </p:sp>
      <p:sp>
        <p:nvSpPr>
          <p:cNvPr id="40" name="Foote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900" b="0" u="none" strike="noStrike" dirty="0">
                <a:solidFill>
                  <a:srgbClr val="6C7278"/>
                </a:solidFill>
                <a:effectLst/>
                <a:uFillTx/>
                <a:latin typeface="Calibri"/>
              </a:rPr>
              <a:t>PM2.5-Prognose Beijing  ·  Prophet</a:t>
            </a:r>
            <a:r>
              <a:rPr lang="de-DE" sz="900" b="0" u="none" strike="noStrike" dirty="0">
                <a:solidFill>
                  <a:srgbClr val="6C7278"/>
                </a:solidFill>
                <a:effectLst/>
                <a:uFillTx/>
                <a:latin typeface="Calibri"/>
              </a:rPr>
              <a:t>, </a:t>
            </a:r>
            <a:r>
              <a:rPr lang="en-US" sz="900" b="0" u="none" strike="noStrike" dirty="0">
                <a:solidFill>
                  <a:srgbClr val="6C7278"/>
                </a:solidFill>
                <a:effectLst/>
                <a:uFillTx/>
                <a:latin typeface="Calibri"/>
              </a:rPr>
              <a:t>Chronos</a:t>
            </a:r>
            <a:r>
              <a:rPr lang="de-DE" sz="900" b="0" u="none" strike="noStrike" dirty="0">
                <a:solidFill>
                  <a:srgbClr val="6C7278"/>
                </a:solidFill>
                <a:effectLst/>
                <a:uFillTx/>
                <a:latin typeface="Calibri"/>
              </a:rPr>
              <a:t> &amp; </a:t>
            </a:r>
            <a:r>
              <a:rPr lang="de-DE" sz="900" dirty="0">
                <a:solidFill>
                  <a:srgbClr val="6C7278"/>
                </a:solidFill>
                <a:latin typeface="Calibri"/>
              </a:rPr>
              <a:t>TFT</a:t>
            </a:r>
            <a:r>
              <a:rPr lang="en-US" sz="900" b="0" u="none" strike="noStrike" dirty="0">
                <a:solidFill>
                  <a:srgbClr val="6C7278"/>
                </a:solidFill>
                <a:effectLst/>
                <a:uFillTx/>
                <a:latin typeface="Calibri"/>
              </a:rPr>
              <a:t>  ·  CRISP-DM</a:t>
            </a:r>
            <a:endParaRPr lang="de-DE" sz="900" b="0" u="none" strike="noStrike" dirty="0">
              <a:solidFill>
                <a:srgbClr val="000000"/>
              </a:solidFill>
              <a:effectLst/>
              <a:uFillTx/>
              <a:latin typeface="Arial"/>
            </a:endParaRPr>
          </a:p>
        </p:txBody>
      </p:sp>
      <p:pic>
        <p:nvPicPr>
          <p:cNvPr id="6" name="Grafik 5">
            <a:extLst>
              <a:ext uri="{FF2B5EF4-FFF2-40B4-BE49-F238E27FC236}">
                <a16:creationId xmlns:a16="http://schemas.microsoft.com/office/drawing/2014/main" id="{B7A90B19-81B0-8030-6DFE-22DF74809022}"/>
              </a:ext>
            </a:extLst>
          </p:cNvPr>
          <p:cNvPicPr>
            <a:picLocks noChangeAspect="1"/>
          </p:cNvPicPr>
          <p:nvPr/>
        </p:nvPicPr>
        <p:blipFill>
          <a:blip r:embed="rId3"/>
          <a:stretch>
            <a:fillRect/>
          </a:stretch>
        </p:blipFill>
        <p:spPr>
          <a:xfrm>
            <a:off x="1659240" y="1787720"/>
            <a:ext cx="7139074" cy="4409563"/>
          </a:xfrm>
          <a:prstGeom prst="rect">
            <a:avLst/>
          </a:prstGeom>
        </p:spPr>
      </p:pic>
      <p:sp>
        <p:nvSpPr>
          <p:cNvPr id="7" name="NumberBadgeCircle">
            <a:extLst>
              <a:ext uri="{FF2B5EF4-FFF2-40B4-BE49-F238E27FC236}">
                <a16:creationId xmlns:a16="http://schemas.microsoft.com/office/drawing/2014/main" id="{13E91E9A-B2F1-D127-ECFC-BE93BA913CEF}"/>
              </a:ext>
            </a:extLst>
          </p:cNvPr>
          <p:cNvSpPr/>
          <p:nvPr/>
        </p:nvSpPr>
        <p:spPr>
          <a:xfrm>
            <a:off x="608040" y="29387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mn-ea"/>
              <a:cs typeface="+mn-cs"/>
            </a:endParaRPr>
          </a:p>
        </p:txBody>
      </p:sp>
      <p:sp>
        <p:nvSpPr>
          <p:cNvPr id="9" name="NumberBadgeText">
            <a:extLst>
              <a:ext uri="{FF2B5EF4-FFF2-40B4-BE49-F238E27FC236}">
                <a16:creationId xmlns:a16="http://schemas.microsoft.com/office/drawing/2014/main" id="{8A626981-7476-36F0-C365-76975D4D3B6B}"/>
              </a:ext>
            </a:extLst>
          </p:cNvPr>
          <p:cNvSpPr/>
          <p:nvPr/>
        </p:nvSpPr>
        <p:spPr>
          <a:xfrm>
            <a:off x="608040" y="588637"/>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3000" b="1" i="0" u="none" strike="noStrike" kern="1200" cap="none" spc="0" normalizeH="0" baseline="0" noProof="0" dirty="0">
                <a:ln>
                  <a:noFill/>
                </a:ln>
                <a:solidFill>
                  <a:srgbClr val="FFFFFF"/>
                </a:solidFill>
                <a:effectLst/>
                <a:uLnTx/>
                <a:uFillTx/>
                <a:latin typeface="Cambria"/>
                <a:ea typeface="+mn-ea"/>
                <a:cs typeface="+mn-cs"/>
              </a:rPr>
              <a:t>5</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7823781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6FB5F-AD79-CAAD-04DA-349383373C17}"/>
            </a:ext>
          </a:extLst>
        </p:cNvPr>
        <p:cNvGrpSpPr/>
        <p:nvPr/>
      </p:nvGrpSpPr>
      <p:grpSpPr>
        <a:xfrm>
          <a:off x="0" y="0"/>
          <a:ext cx="0" cy="0"/>
          <a:chOff x="0" y="0"/>
          <a:chExt cx="0" cy="0"/>
        </a:xfrm>
      </p:grpSpPr>
      <p:sp>
        <p:nvSpPr>
          <p:cNvPr id="229" name="Rectangle 1">
            <a:extLst>
              <a:ext uri="{FF2B5EF4-FFF2-40B4-BE49-F238E27FC236}">
                <a16:creationId xmlns:a16="http://schemas.microsoft.com/office/drawing/2014/main" id="{8E561A0F-D01A-B5FA-0310-124D538A97BA}"/>
              </a:ext>
            </a:extLst>
          </p:cNvPr>
          <p:cNvSpPr/>
          <p:nvPr/>
        </p:nvSpPr>
        <p:spPr>
          <a:xfrm>
            <a:off x="0" y="0"/>
            <a:ext cx="12161160" cy="6857640"/>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30" name="Oval 2">
            <a:extLst>
              <a:ext uri="{FF2B5EF4-FFF2-40B4-BE49-F238E27FC236}">
                <a16:creationId xmlns:a16="http://schemas.microsoft.com/office/drawing/2014/main" id="{AB8BDCA3-894D-6624-C60C-93DFD06C6FB4}"/>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31" name="TextBox 3">
            <a:extLst>
              <a:ext uri="{FF2B5EF4-FFF2-40B4-BE49-F238E27FC236}">
                <a16:creationId xmlns:a16="http://schemas.microsoft.com/office/drawing/2014/main" id="{464D6203-988E-C7F0-0307-93EB45A10817}"/>
              </a:ext>
            </a:extLst>
          </p:cNvPr>
          <p:cNvSpPr/>
          <p:nvPr/>
        </p:nvSpPr>
        <p:spPr>
          <a:xfrm>
            <a:off x="457200" y="751967"/>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dirty="0">
                <a:solidFill>
                  <a:srgbClr val="FFFFFF"/>
                </a:solidFill>
                <a:effectLst/>
                <a:uFillTx/>
                <a:latin typeface="Cambria"/>
              </a:rPr>
              <a:t>6</a:t>
            </a:r>
            <a:endParaRPr lang="de-DE" sz="3000" b="0" u="none" strike="noStrike" dirty="0">
              <a:solidFill>
                <a:srgbClr val="000000"/>
              </a:solidFill>
              <a:effectLst/>
              <a:uFillTx/>
              <a:latin typeface="Arial"/>
            </a:endParaRPr>
          </a:p>
        </p:txBody>
      </p:sp>
      <p:sp>
        <p:nvSpPr>
          <p:cNvPr id="232" name="TextBox 4">
            <a:extLst>
              <a:ext uri="{FF2B5EF4-FFF2-40B4-BE49-F238E27FC236}">
                <a16:creationId xmlns:a16="http://schemas.microsoft.com/office/drawing/2014/main" id="{3E406DE7-8244-CED1-28A6-0E5D34183FE3}"/>
              </a:ext>
            </a:extLst>
          </p:cNvPr>
          <p:cNvSpPr/>
          <p:nvPr/>
        </p:nvSpPr>
        <p:spPr>
          <a:xfrm>
            <a:off x="1691640" y="553699"/>
            <a:ext cx="9143640" cy="49244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dirty="0" err="1">
                <a:solidFill>
                  <a:srgbClr val="22272B"/>
                </a:solidFill>
                <a:effectLst/>
                <a:uFillTx/>
                <a:latin typeface="Cambria"/>
              </a:rPr>
              <a:t>Ausblick</a:t>
            </a:r>
            <a:endParaRPr lang="de-DE" sz="3200" b="0" u="none" strike="noStrike" dirty="0">
              <a:solidFill>
                <a:srgbClr val="000000"/>
              </a:solidFill>
              <a:effectLst/>
              <a:uFillTx/>
              <a:latin typeface="Arial"/>
            </a:endParaRPr>
          </a:p>
        </p:txBody>
      </p:sp>
      <p:sp>
        <p:nvSpPr>
          <p:cNvPr id="233" name="TextBox 5">
            <a:extLst>
              <a:ext uri="{FF2B5EF4-FFF2-40B4-BE49-F238E27FC236}">
                <a16:creationId xmlns:a16="http://schemas.microsoft.com/office/drawing/2014/main" id="{CDF3E287-5C93-68F5-106F-92025D7239DC}"/>
              </a:ext>
            </a:extLst>
          </p:cNvPr>
          <p:cNvSpPr/>
          <p:nvPr/>
        </p:nvSpPr>
        <p:spPr>
          <a:xfrm>
            <a:off x="1710000" y="1115640"/>
            <a:ext cx="9143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dirty="0">
                <a:solidFill>
                  <a:srgbClr val="E0912F"/>
                </a:solidFill>
                <a:effectLst/>
                <a:uFillTx/>
                <a:latin typeface="Calibri"/>
              </a:rPr>
              <a:t>CRISP-DM  ·  Deployment</a:t>
            </a:r>
            <a:endParaRPr lang="de-DE" sz="1400" b="0" u="none" strike="noStrike" dirty="0">
              <a:solidFill>
                <a:srgbClr val="000000"/>
              </a:solidFill>
              <a:effectLst/>
              <a:uFillTx/>
              <a:latin typeface="Arial"/>
            </a:endParaRPr>
          </a:p>
        </p:txBody>
      </p:sp>
      <p:sp>
        <p:nvSpPr>
          <p:cNvPr id="234" name="TextBox 6">
            <a:extLst>
              <a:ext uri="{FF2B5EF4-FFF2-40B4-BE49-F238E27FC236}">
                <a16:creationId xmlns:a16="http://schemas.microsoft.com/office/drawing/2014/main" id="{75309C2D-7CA8-C7D0-133B-03AA1E130F8B}"/>
              </a:ext>
            </a:extLst>
          </p:cNvPr>
          <p:cNvSpPr/>
          <p:nvPr/>
        </p:nvSpPr>
        <p:spPr>
          <a:xfrm>
            <a:off x="502920" y="1828800"/>
            <a:ext cx="6400440" cy="18466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1" u="none" strike="noStrike" spc="150" dirty="0" err="1">
                <a:solidFill>
                  <a:srgbClr val="6C7278"/>
                </a:solidFill>
                <a:effectLst/>
                <a:uFillTx/>
                <a:latin typeface="Calibri"/>
              </a:rPr>
              <a:t>Projektziel</a:t>
            </a:r>
            <a:r>
              <a:rPr lang="en-US" sz="1200" b="1" u="none" strike="noStrike" spc="150" dirty="0">
                <a:solidFill>
                  <a:srgbClr val="6C7278"/>
                </a:solidFill>
                <a:effectLst/>
                <a:uFillTx/>
                <a:latin typeface="Calibri"/>
              </a:rPr>
              <a:t> fast </a:t>
            </a:r>
            <a:r>
              <a:rPr lang="en-US" sz="1200" b="1" u="none" strike="noStrike" spc="150" dirty="0" err="1">
                <a:solidFill>
                  <a:srgbClr val="6C7278"/>
                </a:solidFill>
                <a:effectLst/>
                <a:uFillTx/>
                <a:latin typeface="Calibri"/>
              </a:rPr>
              <a:t>erreicht</a:t>
            </a:r>
            <a:r>
              <a:rPr lang="en-US" sz="1200" b="1" u="none" strike="noStrike" spc="150" dirty="0">
                <a:solidFill>
                  <a:srgbClr val="6C7278"/>
                </a:solidFill>
                <a:effectLst/>
                <a:uFillTx/>
                <a:latin typeface="Calibri"/>
              </a:rPr>
              <a:t> – </a:t>
            </a:r>
            <a:r>
              <a:rPr lang="en-US" sz="1200" b="1" u="none" strike="noStrike" spc="150" dirty="0" err="1">
                <a:solidFill>
                  <a:srgbClr val="6C7278"/>
                </a:solidFill>
                <a:effectLst/>
                <a:uFillTx/>
                <a:latin typeface="Calibri"/>
              </a:rPr>
              <a:t>neue</a:t>
            </a:r>
            <a:r>
              <a:rPr lang="en-US" sz="1200" b="1" u="none" strike="noStrike" spc="150" dirty="0">
                <a:solidFill>
                  <a:srgbClr val="6C7278"/>
                </a:solidFill>
                <a:effectLst/>
                <a:uFillTx/>
                <a:latin typeface="Calibri"/>
              </a:rPr>
              <a:t> Iteration</a:t>
            </a:r>
            <a:endParaRPr lang="de-DE" sz="1200" b="0" u="none" strike="noStrike" dirty="0">
              <a:solidFill>
                <a:srgbClr val="000000"/>
              </a:solidFill>
              <a:effectLst/>
              <a:uFillTx/>
              <a:latin typeface="Arial"/>
            </a:endParaRPr>
          </a:p>
        </p:txBody>
      </p:sp>
      <p:sp>
        <p:nvSpPr>
          <p:cNvPr id="235" name="TextBox 7">
            <a:extLst>
              <a:ext uri="{FF2B5EF4-FFF2-40B4-BE49-F238E27FC236}">
                <a16:creationId xmlns:a16="http://schemas.microsoft.com/office/drawing/2014/main" id="{61471F09-81DE-E7B1-6D20-CAB7574497E2}"/>
              </a:ext>
            </a:extLst>
          </p:cNvPr>
          <p:cNvSpPr/>
          <p:nvPr/>
        </p:nvSpPr>
        <p:spPr>
          <a:xfrm>
            <a:off x="502920" y="2194200"/>
            <a:ext cx="10128427" cy="4031873"/>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marL="285750" indent="-285750" defTabSz="457200">
              <a:lnSpc>
                <a:spcPct val="100000"/>
              </a:lnSpc>
              <a:spcAft>
                <a:spcPts val="1199"/>
              </a:spcAft>
              <a:buFont typeface="Arial" panose="020B0604020202020204" pitchFamily="34" charset="0"/>
              <a:buChar char="•"/>
            </a:pPr>
            <a:r>
              <a:rPr lang="de-DE" sz="1600" dirty="0">
                <a:solidFill>
                  <a:srgbClr val="000000"/>
                </a:solidFill>
                <a:latin typeface="Arial"/>
              </a:rPr>
              <a:t>TFT hat sich als die geeignetste Methode zur Prognose der Feinstaubbelastung erwiesen. Hier sollte im nächsten Schritt ein weiteres Finetuning erfolgen.</a:t>
            </a:r>
          </a:p>
          <a:p>
            <a:pPr marL="285750" indent="-285750" defTabSz="457200">
              <a:spcAft>
                <a:spcPts val="1199"/>
              </a:spcAft>
              <a:buFont typeface="Arial" panose="020B0604020202020204" pitchFamily="34" charset="0"/>
              <a:buChar char="•"/>
            </a:pPr>
            <a:r>
              <a:rPr lang="de-DE" sz="1600" dirty="0">
                <a:solidFill>
                  <a:srgbClr val="000000"/>
                </a:solidFill>
                <a:latin typeface="Arial"/>
              </a:rPr>
              <a:t>Starke Abhängigkeit der Prognosegüte vom gewählten Datum und der gewählten Station</a:t>
            </a:r>
          </a:p>
          <a:p>
            <a:pPr marL="285750" indent="-285750" defTabSz="457200">
              <a:spcAft>
                <a:spcPts val="1199"/>
              </a:spcAft>
              <a:buFont typeface="Arial" panose="020B0604020202020204" pitchFamily="34" charset="0"/>
              <a:buChar char="•"/>
            </a:pPr>
            <a:r>
              <a:rPr lang="de-DE" sz="1600" dirty="0">
                <a:solidFill>
                  <a:srgbClr val="000000"/>
                </a:solidFill>
                <a:latin typeface="Arial"/>
              </a:rPr>
              <a:t>Während für viele Beispiele eine sehr hohe Modellgüte erzielt wird, ergibt sich in anderen Situationen für eine produktive Nutzung aktuell noch eine zu hohe Abweichung. Diese sollte in einem weiteren CRISP-DM Zyklus verbessert werden.</a:t>
            </a:r>
          </a:p>
          <a:p>
            <a:pPr marL="285750" indent="-285750" defTabSz="457200">
              <a:lnSpc>
                <a:spcPct val="100000"/>
              </a:lnSpc>
              <a:spcAft>
                <a:spcPts val="1199"/>
              </a:spcAft>
              <a:buFont typeface="Arial" panose="020B0604020202020204" pitchFamily="34" charset="0"/>
              <a:buChar char="•"/>
            </a:pPr>
            <a:r>
              <a:rPr lang="de-DE" sz="1600" dirty="0">
                <a:solidFill>
                  <a:srgbClr val="000000"/>
                </a:solidFill>
                <a:latin typeface="Arial"/>
              </a:rPr>
              <a:t>Prüfung von möglichen Optimierungen und iterative Optimierung:</a:t>
            </a:r>
          </a:p>
          <a:p>
            <a:pPr marL="742950" lvl="1" indent="-285750" defTabSz="457200">
              <a:spcAft>
                <a:spcPts val="1199"/>
              </a:spcAft>
              <a:buFont typeface="Arial" panose="020B0604020202020204" pitchFamily="34" charset="0"/>
              <a:buChar char="•"/>
            </a:pPr>
            <a:r>
              <a:rPr lang="de-DE" sz="1600" dirty="0">
                <a:solidFill>
                  <a:srgbClr val="000000"/>
                </a:solidFill>
                <a:latin typeface="Arial"/>
              </a:rPr>
              <a:t>Z.B. weitere Variation TFT Parameter</a:t>
            </a:r>
          </a:p>
          <a:p>
            <a:pPr marL="742950" lvl="1" indent="-285750" defTabSz="457200">
              <a:spcAft>
                <a:spcPts val="1199"/>
              </a:spcAft>
              <a:buFont typeface="Arial" panose="020B0604020202020204" pitchFamily="34" charset="0"/>
              <a:buChar char="•"/>
            </a:pPr>
            <a:r>
              <a:rPr lang="de-DE" sz="1600" dirty="0">
                <a:solidFill>
                  <a:srgbClr val="000000"/>
                </a:solidFill>
                <a:latin typeface="Arial"/>
              </a:rPr>
              <a:t>Berücksichtigung räumliche </a:t>
            </a:r>
            <a:r>
              <a:rPr lang="de-DE" sz="1600" dirty="0" err="1">
                <a:solidFill>
                  <a:srgbClr val="000000"/>
                </a:solidFill>
                <a:latin typeface="Arial"/>
              </a:rPr>
              <a:t>Kovariate</a:t>
            </a:r>
            <a:endParaRPr lang="de-DE" sz="1600" dirty="0">
              <a:solidFill>
                <a:srgbClr val="000000"/>
              </a:solidFill>
              <a:latin typeface="Arial"/>
            </a:endParaRPr>
          </a:p>
          <a:p>
            <a:pPr marL="742950" lvl="1" indent="-285750" defTabSz="457200">
              <a:spcAft>
                <a:spcPts val="1199"/>
              </a:spcAft>
              <a:buFont typeface="Arial" panose="020B0604020202020204" pitchFamily="34" charset="0"/>
              <a:buChar char="•"/>
            </a:pPr>
            <a:r>
              <a:rPr lang="de-DE" sz="1600" dirty="0">
                <a:solidFill>
                  <a:srgbClr val="000000"/>
                </a:solidFill>
                <a:latin typeface="Arial"/>
              </a:rPr>
              <a:t>Berücksichtigung Wettervorhersage mit steigender Unsicherheit &amp; Sampling für präzisere Unsicherheitsintervalle</a:t>
            </a:r>
          </a:p>
          <a:p>
            <a:pPr marL="742950" lvl="1" indent="-285750" defTabSz="457200">
              <a:spcAft>
                <a:spcPts val="1199"/>
              </a:spcAft>
              <a:buFont typeface="Arial" panose="020B0604020202020204" pitchFamily="34" charset="0"/>
              <a:buChar char="•"/>
            </a:pPr>
            <a:r>
              <a:rPr lang="de-DE" sz="1600" dirty="0">
                <a:solidFill>
                  <a:srgbClr val="000000"/>
                </a:solidFill>
                <a:latin typeface="Arial"/>
              </a:rPr>
              <a:t>Weitere Ansätze aus der Literatur testen</a:t>
            </a:r>
          </a:p>
        </p:txBody>
      </p:sp>
      <p:sp>
        <p:nvSpPr>
          <p:cNvPr id="244" name="TextBox 16">
            <a:extLst>
              <a:ext uri="{FF2B5EF4-FFF2-40B4-BE49-F238E27FC236}">
                <a16:creationId xmlns:a16="http://schemas.microsoft.com/office/drawing/2014/main" id="{F8D1B137-DF94-6BC3-7C41-B9F082D4DEF8}"/>
              </a:ext>
            </a:extLst>
          </p:cNvP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de-DE" sz="900" b="0" u="none" strike="noStrike" dirty="0">
                <a:solidFill>
                  <a:srgbClr val="6C7278"/>
                </a:solidFill>
                <a:effectLst/>
                <a:uFillTx/>
                <a:latin typeface="Calibri"/>
              </a:rPr>
              <a:t>PM2.5-Prognose Beijing  ·  Prophet, Chronos &amp; TFT  ·  CRISP-DM</a:t>
            </a:r>
            <a:endParaRPr lang="de-DE" sz="900" b="0" u="none" strike="noStrike" dirty="0">
              <a:solidFill>
                <a:srgbClr val="000000"/>
              </a:solidFill>
              <a:effectLst/>
              <a:uFillTx/>
              <a:latin typeface="Arial"/>
            </a:endParaRPr>
          </a:p>
        </p:txBody>
      </p:sp>
    </p:spTree>
    <p:extLst>
      <p:ext uri="{BB962C8B-B14F-4D97-AF65-F5344CB8AC3E}">
        <p14:creationId xmlns:p14="http://schemas.microsoft.com/office/powerpoint/2010/main" val="29067026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Footer"/>
          <p:cNvSpPr/>
          <p:nvPr/>
        </p:nvSpPr>
        <p:spPr>
          <a:xfrm>
            <a:off x="471113" y="6411762"/>
            <a:ext cx="7296743" cy="13753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4917"/>
            <a:r>
              <a:rPr lang="de-DE" sz="896" dirty="0">
                <a:solidFill>
                  <a:srgbClr val="6C7278"/>
                </a:solidFill>
                <a:latin typeface="Aptos" panose="02110004020202020204"/>
              </a:rPr>
              <a:t>PM2.5-Prognose Beijing  ·  Prophet, Chronos &amp; TFT  ·  CRISP-DM</a:t>
            </a:r>
            <a:endParaRPr lang="de-DE" sz="896" dirty="0">
              <a:solidFill>
                <a:srgbClr val="000000"/>
              </a:solidFill>
              <a:latin typeface="Arial"/>
            </a:endParaRPr>
          </a:p>
        </p:txBody>
      </p:sp>
      <p:sp>
        <p:nvSpPr>
          <p:cNvPr id="8" name="Titel 7">
            <a:extLst>
              <a:ext uri="{FF2B5EF4-FFF2-40B4-BE49-F238E27FC236}">
                <a16:creationId xmlns:a16="http://schemas.microsoft.com/office/drawing/2014/main" id="{BD018430-E860-2CD5-104F-28A968B17FE5}"/>
              </a:ext>
            </a:extLst>
          </p:cNvPr>
          <p:cNvSpPr>
            <a:spLocks noGrp="1"/>
          </p:cNvSpPr>
          <p:nvPr>
            <p:ph type="title"/>
          </p:nvPr>
        </p:nvSpPr>
        <p:spPr/>
        <p:txBody>
          <a:bodyPr/>
          <a:lstStyle/>
          <a:p>
            <a:endParaRPr lang="de-DE"/>
          </a:p>
        </p:txBody>
      </p:sp>
      <p:sp>
        <p:nvSpPr>
          <p:cNvPr id="12" name="Rectangle 1">
            <a:extLst>
              <a:ext uri="{FF2B5EF4-FFF2-40B4-BE49-F238E27FC236}">
                <a16:creationId xmlns:a16="http://schemas.microsoft.com/office/drawing/2014/main" id="{95A0B4C6-F185-0EFD-4171-6BDD41172F9F}"/>
              </a:ext>
            </a:extLst>
          </p:cNvPr>
          <p:cNvSpPr/>
          <p:nvPr/>
        </p:nvSpPr>
        <p:spPr>
          <a:xfrm>
            <a:off x="15044" y="8483"/>
            <a:ext cx="12131074" cy="6840674"/>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89777" tIns="44889" rIns="89777" bIns="44889" anchor="ctr">
            <a:noAutofit/>
          </a:bodyPr>
          <a:lstStyle/>
          <a:p>
            <a:pPr algn="ctr" defTabSz="456057"/>
            <a:endParaRPr lang="en-US" sz="1795">
              <a:solidFill>
                <a:prstClr val="white"/>
              </a:solidFill>
              <a:latin typeface="Calibri"/>
            </a:endParaRPr>
          </a:p>
        </p:txBody>
      </p:sp>
      <p:sp>
        <p:nvSpPr>
          <p:cNvPr id="14" name="NumberBadgeCircle">
            <a:extLst>
              <a:ext uri="{FF2B5EF4-FFF2-40B4-BE49-F238E27FC236}">
                <a16:creationId xmlns:a16="http://schemas.microsoft.com/office/drawing/2014/main" id="{7A723048-2C87-B62D-13B7-7F8ADDA9B099}"/>
              </a:ext>
            </a:extLst>
          </p:cNvPr>
          <p:cNvSpPr/>
          <p:nvPr/>
        </p:nvSpPr>
        <p:spPr>
          <a:xfrm>
            <a:off x="471113" y="464552"/>
            <a:ext cx="1048599" cy="1048599"/>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defTabSz="912114">
              <a:defRPr/>
            </a:pPr>
            <a:endParaRPr sz="1795">
              <a:solidFill>
                <a:srgbClr val="000000"/>
              </a:solidFill>
              <a:latin typeface="Calibri"/>
            </a:endParaRPr>
          </a:p>
        </p:txBody>
      </p:sp>
      <p:sp>
        <p:nvSpPr>
          <p:cNvPr id="16" name="NumberBadgeText">
            <a:extLst>
              <a:ext uri="{FF2B5EF4-FFF2-40B4-BE49-F238E27FC236}">
                <a16:creationId xmlns:a16="http://schemas.microsoft.com/office/drawing/2014/main" id="{0AAD692E-E55B-15AB-5A65-2D063C6C2579}"/>
              </a:ext>
            </a:extLst>
          </p:cNvPr>
          <p:cNvSpPr/>
          <p:nvPr/>
        </p:nvSpPr>
        <p:spPr>
          <a:xfrm>
            <a:off x="471113" y="758591"/>
            <a:ext cx="1048599" cy="46052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6057">
              <a:defRPr/>
            </a:pPr>
            <a:r>
              <a:rPr lang="de-DE" sz="2993" b="1" dirty="0">
                <a:solidFill>
                  <a:srgbClr val="FFFFFF"/>
                </a:solidFill>
                <a:latin typeface="Cambria"/>
              </a:rPr>
              <a:t>6</a:t>
            </a:r>
            <a:endParaRPr lang="de-DE" sz="1197" dirty="0">
              <a:solidFill>
                <a:srgbClr val="000000"/>
              </a:solidFill>
              <a:latin typeface="Calibri"/>
            </a:endParaRPr>
          </a:p>
        </p:txBody>
      </p:sp>
      <p:sp>
        <p:nvSpPr>
          <p:cNvPr id="18" name="TitleText">
            <a:extLst>
              <a:ext uri="{FF2B5EF4-FFF2-40B4-BE49-F238E27FC236}">
                <a16:creationId xmlns:a16="http://schemas.microsoft.com/office/drawing/2014/main" id="{81C42B16-50F0-E3E8-5FA7-6C60E3600427}"/>
              </a:ext>
            </a:extLst>
          </p:cNvPr>
          <p:cNvSpPr/>
          <p:nvPr/>
        </p:nvSpPr>
        <p:spPr>
          <a:xfrm>
            <a:off x="1702499" y="464554"/>
            <a:ext cx="9121019" cy="42982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defRPr/>
            </a:pPr>
            <a:r>
              <a:rPr lang="de-DE" sz="2793" b="1" dirty="0">
                <a:solidFill>
                  <a:srgbClr val="22272B"/>
                </a:solidFill>
                <a:latin typeface="Cambria"/>
              </a:rPr>
              <a:t>Vergleichende Ergebnisse aus der Literatur</a:t>
            </a:r>
            <a:endParaRPr lang="de-DE" sz="2793" dirty="0">
              <a:solidFill>
                <a:srgbClr val="000000"/>
              </a:solidFill>
              <a:latin typeface="Calibri"/>
            </a:endParaRPr>
          </a:p>
        </p:txBody>
      </p:sp>
      <p:sp>
        <p:nvSpPr>
          <p:cNvPr id="20" name="KickerText">
            <a:extLst>
              <a:ext uri="{FF2B5EF4-FFF2-40B4-BE49-F238E27FC236}">
                <a16:creationId xmlns:a16="http://schemas.microsoft.com/office/drawing/2014/main" id="{DD3F2167-24CF-7132-70CC-F59FBBF3C740}"/>
              </a:ext>
            </a:extLst>
          </p:cNvPr>
          <p:cNvSpPr/>
          <p:nvPr/>
        </p:nvSpPr>
        <p:spPr>
          <a:xfrm>
            <a:off x="1720813" y="1121363"/>
            <a:ext cx="9121019" cy="21491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defRPr/>
            </a:pPr>
            <a:r>
              <a:rPr lang="de-DE" sz="1397" b="1" dirty="0">
                <a:solidFill>
                  <a:srgbClr val="E0912F"/>
                </a:solidFill>
                <a:latin typeface="Calibri"/>
              </a:rPr>
              <a:t>CRISP-DM   ·   </a:t>
            </a:r>
            <a:r>
              <a:rPr lang="de-DE" sz="1397" b="1" dirty="0" err="1">
                <a:solidFill>
                  <a:srgbClr val="E0912F"/>
                </a:solidFill>
                <a:latin typeface="Calibri"/>
              </a:rPr>
              <a:t>Deployment</a:t>
            </a:r>
            <a:endParaRPr lang="de-DE" sz="1197" dirty="0">
              <a:solidFill>
                <a:srgbClr val="000000"/>
              </a:solidFill>
              <a:latin typeface="Calibri"/>
            </a:endParaRPr>
          </a:p>
        </p:txBody>
      </p:sp>
      <p:graphicFrame>
        <p:nvGraphicFramePr>
          <p:cNvPr id="41" name="Table 40"/>
          <p:cNvGraphicFramePr>
            <a:graphicFrameLocks noGrp="1"/>
          </p:cNvGraphicFramePr>
          <p:nvPr>
            <p:extLst>
              <p:ext uri="{D42A27DB-BD31-4B8C-83A1-F6EECF244321}">
                <p14:modId xmlns:p14="http://schemas.microsoft.com/office/powerpoint/2010/main" val="788117028"/>
              </p:ext>
            </p:extLst>
          </p:nvPr>
        </p:nvGraphicFramePr>
        <p:xfrm>
          <a:off x="547282" y="1568708"/>
          <a:ext cx="11005837" cy="3602943"/>
        </p:xfrm>
        <a:graphic>
          <a:graphicData uri="http://schemas.openxmlformats.org/drawingml/2006/table">
            <a:tbl>
              <a:tblPr>
                <a:tableStyleId>{5C22544A-7EE6-4342-B048-85BDC9FD1C3A}</a:tableStyleId>
              </a:tblPr>
              <a:tblGrid>
                <a:gridCol w="3964468">
                  <a:extLst>
                    <a:ext uri="{9D8B030D-6E8A-4147-A177-3AD203B41FA5}">
                      <a16:colId xmlns:a16="http://schemas.microsoft.com/office/drawing/2014/main" val="20000"/>
                    </a:ext>
                  </a:extLst>
                </a:gridCol>
                <a:gridCol w="1834307">
                  <a:extLst>
                    <a:ext uri="{9D8B030D-6E8A-4147-A177-3AD203B41FA5}">
                      <a16:colId xmlns:a16="http://schemas.microsoft.com/office/drawing/2014/main" val="20001"/>
                    </a:ext>
                  </a:extLst>
                </a:gridCol>
                <a:gridCol w="5207062">
                  <a:extLst>
                    <a:ext uri="{9D8B030D-6E8A-4147-A177-3AD203B41FA5}">
                      <a16:colId xmlns:a16="http://schemas.microsoft.com/office/drawing/2014/main" val="20002"/>
                    </a:ext>
                  </a:extLst>
                </a:gridCol>
              </a:tblGrid>
              <a:tr h="456069">
                <a:tc>
                  <a:txBody>
                    <a:bodyPr/>
                    <a:lstStyle/>
                    <a:p>
                      <a:r>
                        <a:rPr sz="1000" b="1">
                          <a:solidFill>
                            <a:srgbClr val="FFFFFF"/>
                          </a:solidFill>
                          <a:latin typeface="Calibri"/>
                        </a:rPr>
                        <a:t>Ansatz (Modell / Quelle)</a:t>
                      </a:r>
                    </a:p>
                  </a:txBody>
                  <a:tcPr marL="54864" marR="54864" marT="23941" marB="23941" anchor="ctr">
                    <a:solidFill>
                      <a:srgbClr val="22272B"/>
                    </a:solidFill>
                  </a:tcPr>
                </a:tc>
                <a:tc>
                  <a:txBody>
                    <a:bodyPr/>
                    <a:lstStyle/>
                    <a:p>
                      <a:r>
                        <a:rPr sz="1000" b="1">
                          <a:solidFill>
                            <a:srgbClr val="FFFFFF"/>
                          </a:solidFill>
                          <a:latin typeface="Calibri"/>
                        </a:rPr>
                        <a:t>Prognosehorizont</a:t>
                      </a:r>
                    </a:p>
                  </a:txBody>
                  <a:tcPr marL="54864" marR="54864" marT="23941" marB="23941" anchor="ctr">
                    <a:solidFill>
                      <a:srgbClr val="22272B"/>
                    </a:solidFill>
                  </a:tcPr>
                </a:tc>
                <a:tc>
                  <a:txBody>
                    <a:bodyPr/>
                    <a:lstStyle/>
                    <a:p>
                      <a:r>
                        <a:rPr sz="1000" b="1" dirty="0" err="1">
                          <a:solidFill>
                            <a:srgbClr val="FFFFFF"/>
                          </a:solidFill>
                          <a:latin typeface="Calibri"/>
                        </a:rPr>
                        <a:t>Annahme</a:t>
                      </a:r>
                      <a:r>
                        <a:rPr sz="1000" b="1" dirty="0">
                          <a:solidFill>
                            <a:srgbClr val="FFFFFF"/>
                          </a:solidFill>
                          <a:latin typeface="Calibri"/>
                        </a:rPr>
                        <a:t> </a:t>
                      </a:r>
                      <a:r>
                        <a:rPr sz="1000" b="1" dirty="0" err="1">
                          <a:solidFill>
                            <a:srgbClr val="FFFFFF"/>
                          </a:solidFill>
                          <a:latin typeface="Calibri"/>
                        </a:rPr>
                        <a:t>zur</a:t>
                      </a:r>
                      <a:r>
                        <a:rPr sz="1000" b="1" dirty="0">
                          <a:solidFill>
                            <a:srgbClr val="FFFFFF"/>
                          </a:solidFill>
                          <a:latin typeface="Calibri"/>
                        </a:rPr>
                        <a:t> </a:t>
                      </a:r>
                      <a:r>
                        <a:rPr sz="1000" b="1" dirty="0" err="1">
                          <a:solidFill>
                            <a:srgbClr val="FFFFFF"/>
                          </a:solidFill>
                          <a:latin typeface="Calibri"/>
                        </a:rPr>
                        <a:t>Wetterprognose</a:t>
                      </a:r>
                      <a:endParaRPr sz="1000" b="1" dirty="0">
                        <a:solidFill>
                          <a:srgbClr val="FFFFFF"/>
                        </a:solidFill>
                        <a:latin typeface="Calibri"/>
                      </a:endParaRPr>
                    </a:p>
                  </a:txBody>
                  <a:tcPr marL="54864" marR="54864" marT="23941" marB="23941" anchor="ctr">
                    <a:solidFill>
                      <a:srgbClr val="22272B"/>
                    </a:solidFill>
                  </a:tcPr>
                </a:tc>
                <a:extLst>
                  <a:ext uri="{0D108BD9-81ED-4DB2-BD59-A6C34878D82A}">
                    <a16:rowId xmlns:a16="http://schemas.microsoft.com/office/drawing/2014/main" val="10000"/>
                  </a:ext>
                </a:extLst>
              </a:tr>
              <a:tr h="524479">
                <a:tc>
                  <a:txBody>
                    <a:bodyPr/>
                    <a:lstStyle/>
                    <a:p>
                      <a:r>
                        <a:rPr sz="1200" b="1">
                          <a:solidFill>
                            <a:srgbClr val="22272B"/>
                          </a:solidFill>
                          <a:latin typeface="Cambria"/>
                        </a:rPr>
                        <a:t>ST-iTransformer</a:t>
                      </a:r>
                    </a:p>
                    <a:p>
                      <a:pPr>
                        <a:spcBef>
                          <a:spcPts val="100"/>
                        </a:spcBef>
                      </a:pPr>
                      <a:r>
                        <a:rPr sz="1200">
                          <a:solidFill>
                            <a:srgbClr val="6C7278"/>
                          </a:solidFill>
                          <a:latin typeface="Calibri"/>
                        </a:rPr>
                        <a:t>Zhang &amp; Awang (2025) · Beijing, 12 Stationen</a:t>
                      </a:r>
                    </a:p>
                  </a:txBody>
                  <a:tcPr marL="54864" marR="54864" marT="23941" marB="23941" anchor="ctr">
                    <a:solidFill>
                      <a:srgbClr val="FFFFFF"/>
                    </a:solidFill>
                  </a:tcPr>
                </a:tc>
                <a:tc>
                  <a:txBody>
                    <a:bodyPr/>
                    <a:lstStyle/>
                    <a:p>
                      <a:r>
                        <a:rPr sz="1200">
                          <a:solidFill>
                            <a:srgbClr val="22272B"/>
                          </a:solidFill>
                          <a:latin typeface="Calibri"/>
                        </a:rPr>
                        <a:t>96h Lookback → 24h Vorhersage</a:t>
                      </a:r>
                    </a:p>
                  </a:txBody>
                  <a:tcPr marL="54864" marR="54864" marT="23941" marB="23941" anchor="ctr">
                    <a:solidFill>
                      <a:srgbClr val="FFFFFF"/>
                    </a:solidFill>
                  </a:tcPr>
                </a:tc>
                <a:tc>
                  <a:txBody>
                    <a:bodyPr/>
                    <a:lstStyle/>
                    <a:p>
                      <a:r>
                        <a:rPr sz="1200">
                          <a:solidFill>
                            <a:srgbClr val="22272B"/>
                          </a:solidFill>
                          <a:latin typeface="Calibri"/>
                        </a:rPr>
                        <a:t>Nur historische Meteo-Daten als Input, keine Zukunftswerte</a:t>
                      </a:r>
                    </a:p>
                  </a:txBody>
                  <a:tcPr marL="54864" marR="54864" marT="23941" marB="23941" anchor="ctr">
                    <a:solidFill>
                      <a:srgbClr val="FFFFFF"/>
                    </a:solidFill>
                  </a:tcPr>
                </a:tc>
                <a:extLst>
                  <a:ext uri="{0D108BD9-81ED-4DB2-BD59-A6C34878D82A}">
                    <a16:rowId xmlns:a16="http://schemas.microsoft.com/office/drawing/2014/main" val="10001"/>
                  </a:ext>
                </a:extLst>
              </a:tr>
              <a:tr h="524479">
                <a:tc>
                  <a:txBody>
                    <a:bodyPr/>
                    <a:lstStyle/>
                    <a:p>
                      <a:r>
                        <a:rPr sz="1200" b="1">
                          <a:solidFill>
                            <a:srgbClr val="22272B"/>
                          </a:solidFill>
                          <a:latin typeface="Cambria"/>
                        </a:rPr>
                        <a:t>Prophet + LSTM (Hybrid)</a:t>
                      </a:r>
                    </a:p>
                    <a:p>
                      <a:pPr>
                        <a:spcBef>
                          <a:spcPts val="100"/>
                        </a:spcBef>
                      </a:pPr>
                      <a:r>
                        <a:rPr sz="1200">
                          <a:solidFill>
                            <a:srgbClr val="6C7278"/>
                          </a:solidFill>
                          <a:latin typeface="Calibri"/>
                        </a:rPr>
                        <a:t>Milli (2025) · Beijing Air Quality 2013–17</a:t>
                      </a:r>
                    </a:p>
                  </a:txBody>
                  <a:tcPr marL="54864" marR="54864" marT="23941" marB="23941" anchor="ctr">
                    <a:solidFill>
                      <a:srgbClr val="ECEDEE"/>
                    </a:solidFill>
                  </a:tcPr>
                </a:tc>
                <a:tc>
                  <a:txBody>
                    <a:bodyPr/>
                    <a:lstStyle/>
                    <a:p>
                      <a:r>
                        <a:rPr sz="1200">
                          <a:solidFill>
                            <a:srgbClr val="22272B"/>
                          </a:solidFill>
                          <a:latin typeface="Calibri"/>
                        </a:rPr>
                        <a:t>kurzfristig, mehrere Horizonte</a:t>
                      </a:r>
                    </a:p>
                  </a:txBody>
                  <a:tcPr marL="54864" marR="54864" marT="23941" marB="23941" anchor="ctr">
                    <a:solidFill>
                      <a:srgbClr val="ECEDEE"/>
                    </a:solidFill>
                  </a:tcPr>
                </a:tc>
                <a:tc>
                  <a:txBody>
                    <a:bodyPr/>
                    <a:lstStyle/>
                    <a:p>
                      <a:r>
                        <a:rPr sz="1200">
                          <a:solidFill>
                            <a:srgbClr val="22272B"/>
                          </a:solidFill>
                          <a:latin typeface="Calibri"/>
                        </a:rPr>
                        <a:t>Meteo als exogene Regressoren, historisch verwendet</a:t>
                      </a:r>
                    </a:p>
                  </a:txBody>
                  <a:tcPr marL="54864" marR="54864" marT="23941" marB="23941" anchor="ctr">
                    <a:solidFill>
                      <a:srgbClr val="ECEDEE"/>
                    </a:solidFill>
                  </a:tcPr>
                </a:tc>
                <a:extLst>
                  <a:ext uri="{0D108BD9-81ED-4DB2-BD59-A6C34878D82A}">
                    <a16:rowId xmlns:a16="http://schemas.microsoft.com/office/drawing/2014/main" val="10002"/>
                  </a:ext>
                </a:extLst>
              </a:tr>
              <a:tr h="524479">
                <a:tc>
                  <a:txBody>
                    <a:bodyPr/>
                    <a:lstStyle/>
                    <a:p>
                      <a:r>
                        <a:rPr sz="1200" b="1">
                          <a:solidFill>
                            <a:srgbClr val="22272B"/>
                          </a:solidFill>
                          <a:latin typeface="Cambria"/>
                        </a:rPr>
                        <a:t>SARIMAX / Prophet / NeuralProphet</a:t>
                      </a:r>
                    </a:p>
                    <a:p>
                      <a:pPr>
                        <a:spcBef>
                          <a:spcPts val="100"/>
                        </a:spcBef>
                      </a:pPr>
                      <a:r>
                        <a:rPr sz="1200">
                          <a:solidFill>
                            <a:srgbClr val="6C7278"/>
                          </a:solidFill>
                          <a:latin typeface="Calibri"/>
                        </a:rPr>
                        <a:t>Gondal et al. (2026) · Beijing</a:t>
                      </a:r>
                    </a:p>
                  </a:txBody>
                  <a:tcPr marL="54864" marR="54864" marT="23941" marB="23941" anchor="ctr">
                    <a:solidFill>
                      <a:srgbClr val="FFFFFF"/>
                    </a:solidFill>
                  </a:tcPr>
                </a:tc>
                <a:tc>
                  <a:txBody>
                    <a:bodyPr/>
                    <a:lstStyle/>
                    <a:p>
                      <a:r>
                        <a:rPr sz="1200">
                          <a:solidFill>
                            <a:srgbClr val="22272B"/>
                          </a:solidFill>
                          <a:latin typeface="Calibri"/>
                        </a:rPr>
                        <a:t>168h (7 Tage)</a:t>
                      </a:r>
                    </a:p>
                  </a:txBody>
                  <a:tcPr marL="54864" marR="54864" marT="23941" marB="23941" anchor="ctr">
                    <a:solidFill>
                      <a:srgbClr val="FFFFFF"/>
                    </a:solidFill>
                  </a:tcPr>
                </a:tc>
                <a:tc>
                  <a:txBody>
                    <a:bodyPr/>
                    <a:lstStyle/>
                    <a:p>
                      <a:r>
                        <a:rPr sz="1200">
                          <a:solidFill>
                            <a:srgbClr val="22272B"/>
                          </a:solidFill>
                          <a:latin typeface="Calibri"/>
                        </a:rPr>
                        <a:t>„Perfect Prognosis“: zukünftiges Wetter über gesamten Horizont als bekannt angenommen</a:t>
                      </a:r>
                    </a:p>
                  </a:txBody>
                  <a:tcPr marL="54864" marR="54864" marT="23941" marB="23941" anchor="ctr">
                    <a:solidFill>
                      <a:srgbClr val="FFFFFF"/>
                    </a:solidFill>
                  </a:tcPr>
                </a:tc>
                <a:extLst>
                  <a:ext uri="{0D108BD9-81ED-4DB2-BD59-A6C34878D82A}">
                    <a16:rowId xmlns:a16="http://schemas.microsoft.com/office/drawing/2014/main" val="10003"/>
                  </a:ext>
                </a:extLst>
              </a:tr>
              <a:tr h="524479">
                <a:tc>
                  <a:txBody>
                    <a:bodyPr/>
                    <a:lstStyle/>
                    <a:p>
                      <a:r>
                        <a:rPr sz="1200" b="1">
                          <a:solidFill>
                            <a:srgbClr val="22272B"/>
                          </a:solidFill>
                          <a:latin typeface="Cambria"/>
                        </a:rPr>
                        <a:t>CBAM-CNN-BiLSTM</a:t>
                      </a:r>
                    </a:p>
                    <a:p>
                      <a:pPr>
                        <a:spcBef>
                          <a:spcPts val="100"/>
                        </a:spcBef>
                      </a:pPr>
                      <a:r>
                        <a:rPr sz="1200">
                          <a:solidFill>
                            <a:srgbClr val="6C7278"/>
                          </a:solidFill>
                          <a:latin typeface="Calibri"/>
                        </a:rPr>
                        <a:t>Li et al. (2022) · Beijing, Multi-Site</a:t>
                      </a:r>
                    </a:p>
                  </a:txBody>
                  <a:tcPr marL="54864" marR="54864" marT="23941" marB="23941" anchor="ctr">
                    <a:solidFill>
                      <a:srgbClr val="ECEDEE"/>
                    </a:solidFill>
                  </a:tcPr>
                </a:tc>
                <a:tc>
                  <a:txBody>
                    <a:bodyPr/>
                    <a:lstStyle/>
                    <a:p>
                      <a:r>
                        <a:rPr sz="1200">
                          <a:solidFill>
                            <a:srgbClr val="22272B"/>
                          </a:solidFill>
                          <a:latin typeface="Calibri"/>
                        </a:rPr>
                        <a:t>1–48h</a:t>
                      </a:r>
                    </a:p>
                  </a:txBody>
                  <a:tcPr marL="54864" marR="54864" marT="23941" marB="23941" anchor="ctr">
                    <a:solidFill>
                      <a:srgbClr val="ECEDEE"/>
                    </a:solidFill>
                  </a:tcPr>
                </a:tc>
                <a:tc>
                  <a:txBody>
                    <a:bodyPr/>
                    <a:lstStyle/>
                    <a:p>
                      <a:r>
                        <a:rPr sz="1200">
                          <a:solidFill>
                            <a:srgbClr val="22272B"/>
                          </a:solidFill>
                          <a:latin typeface="Calibri"/>
                        </a:rPr>
                        <a:t>Historische + aktuelle Meteo-Daten als Input</a:t>
                      </a:r>
                    </a:p>
                  </a:txBody>
                  <a:tcPr marL="54864" marR="54864" marT="23941" marB="23941" anchor="ctr">
                    <a:solidFill>
                      <a:srgbClr val="ECEDEE"/>
                    </a:solidFill>
                  </a:tcPr>
                </a:tc>
                <a:extLst>
                  <a:ext uri="{0D108BD9-81ED-4DB2-BD59-A6C34878D82A}">
                    <a16:rowId xmlns:a16="http://schemas.microsoft.com/office/drawing/2014/main" val="10004"/>
                  </a:ext>
                </a:extLst>
              </a:tr>
              <a:tr h="524479">
                <a:tc>
                  <a:txBody>
                    <a:bodyPr/>
                    <a:lstStyle/>
                    <a:p>
                      <a:r>
                        <a:rPr sz="1200" b="1">
                          <a:solidFill>
                            <a:srgbClr val="22272B"/>
                          </a:solidFill>
                          <a:latin typeface="Cambria"/>
                        </a:rPr>
                        <a:t>TFAN</a:t>
                      </a:r>
                    </a:p>
                    <a:p>
                      <a:pPr>
                        <a:spcBef>
                          <a:spcPts val="100"/>
                        </a:spcBef>
                      </a:pPr>
                      <a:r>
                        <a:rPr sz="1200">
                          <a:solidFill>
                            <a:srgbClr val="6C7278"/>
                          </a:solidFill>
                          <a:latin typeface="Calibri"/>
                        </a:rPr>
                        <a:t>Ma et al. (2023) · Beijing, 6 Schadstoffe</a:t>
                      </a:r>
                    </a:p>
                  </a:txBody>
                  <a:tcPr marL="54864" marR="54864" marT="23941" marB="23941" anchor="ctr">
                    <a:solidFill>
                      <a:srgbClr val="FFFFFF"/>
                    </a:solidFill>
                  </a:tcPr>
                </a:tc>
                <a:tc>
                  <a:txBody>
                    <a:bodyPr/>
                    <a:lstStyle/>
                    <a:p>
                      <a:r>
                        <a:rPr sz="1200">
                          <a:solidFill>
                            <a:srgbClr val="22272B"/>
                          </a:solidFill>
                          <a:latin typeface="Calibri"/>
                        </a:rPr>
                        <a:t>168h Lookback → bis 72h+ Vorhersage</a:t>
                      </a:r>
                    </a:p>
                  </a:txBody>
                  <a:tcPr marL="54864" marR="54864" marT="23941" marB="23941" anchor="ctr">
                    <a:solidFill>
                      <a:srgbClr val="FFFFFF"/>
                    </a:solidFill>
                  </a:tcPr>
                </a:tc>
                <a:tc>
                  <a:txBody>
                    <a:bodyPr/>
                    <a:lstStyle/>
                    <a:p>
                      <a:r>
                        <a:rPr sz="1200">
                          <a:solidFill>
                            <a:srgbClr val="22272B"/>
                          </a:solidFill>
                          <a:latin typeface="Calibri"/>
                        </a:rPr>
                        <a:t>„Padding“-Mechanismus nutzt zukünftige Kovariaten als bekannt</a:t>
                      </a:r>
                    </a:p>
                  </a:txBody>
                  <a:tcPr marL="54864" marR="54864" marT="23941" marB="23941" anchor="ctr">
                    <a:solidFill>
                      <a:srgbClr val="FFFFFF"/>
                    </a:solidFill>
                  </a:tcPr>
                </a:tc>
                <a:extLst>
                  <a:ext uri="{0D108BD9-81ED-4DB2-BD59-A6C34878D82A}">
                    <a16:rowId xmlns:a16="http://schemas.microsoft.com/office/drawing/2014/main" val="10005"/>
                  </a:ext>
                </a:extLst>
              </a:tr>
              <a:tr h="524479">
                <a:tc>
                  <a:txBody>
                    <a:bodyPr/>
                    <a:lstStyle/>
                    <a:p>
                      <a:r>
                        <a:rPr sz="1200" b="1">
                          <a:solidFill>
                            <a:srgbClr val="22272B"/>
                          </a:solidFill>
                          <a:latin typeface="Cambria"/>
                        </a:rPr>
                        <a:t>TDGTN</a:t>
                      </a:r>
                    </a:p>
                    <a:p>
                      <a:pPr>
                        <a:spcBef>
                          <a:spcPts val="100"/>
                        </a:spcBef>
                      </a:pPr>
                      <a:r>
                        <a:rPr sz="1200">
                          <a:solidFill>
                            <a:srgbClr val="6C7278"/>
                          </a:solidFill>
                          <a:latin typeface="Calibri"/>
                        </a:rPr>
                        <a:t>Zhang et al. (2022) · Beijing &amp; Taizhou</a:t>
                      </a:r>
                    </a:p>
                  </a:txBody>
                  <a:tcPr marL="54864" marR="54864" marT="23941" marB="23941" anchor="ctr">
                    <a:solidFill>
                      <a:srgbClr val="ECEDEE"/>
                    </a:solidFill>
                  </a:tcPr>
                </a:tc>
                <a:tc>
                  <a:txBody>
                    <a:bodyPr/>
                    <a:lstStyle/>
                    <a:p>
                      <a:r>
                        <a:rPr sz="1200">
                          <a:solidFill>
                            <a:srgbClr val="22272B"/>
                          </a:solidFill>
                          <a:latin typeface="Calibri"/>
                        </a:rPr>
                        <a:t>1 / 6 / 12 / 24 / 48h</a:t>
                      </a:r>
                    </a:p>
                  </a:txBody>
                  <a:tcPr marL="54864" marR="54864" marT="23941" marB="23941" anchor="ctr">
                    <a:solidFill>
                      <a:srgbClr val="ECEDEE"/>
                    </a:solidFill>
                  </a:tcPr>
                </a:tc>
                <a:tc>
                  <a:txBody>
                    <a:bodyPr/>
                    <a:lstStyle/>
                    <a:p>
                      <a:r>
                        <a:rPr sz="1200" dirty="0" err="1">
                          <a:solidFill>
                            <a:srgbClr val="22272B"/>
                          </a:solidFill>
                          <a:latin typeface="Calibri"/>
                        </a:rPr>
                        <a:t>Primär</a:t>
                      </a:r>
                      <a:r>
                        <a:rPr sz="1200" dirty="0">
                          <a:solidFill>
                            <a:srgbClr val="22272B"/>
                          </a:solidFill>
                          <a:latin typeface="Calibri"/>
                        </a:rPr>
                        <a:t> </a:t>
                      </a:r>
                      <a:r>
                        <a:rPr sz="1200" dirty="0" err="1">
                          <a:solidFill>
                            <a:srgbClr val="22272B"/>
                          </a:solidFill>
                          <a:latin typeface="Calibri"/>
                        </a:rPr>
                        <a:t>historische</a:t>
                      </a:r>
                      <a:r>
                        <a:rPr sz="1200" dirty="0">
                          <a:solidFill>
                            <a:srgbClr val="22272B"/>
                          </a:solidFill>
                          <a:latin typeface="Calibri"/>
                        </a:rPr>
                        <a:t> PM2.5-Zeitreihe (Graph-Attention)</a:t>
                      </a:r>
                    </a:p>
                  </a:txBody>
                  <a:tcPr marL="54864" marR="54864" marT="23941" marB="23941" anchor="ctr">
                    <a:solidFill>
                      <a:srgbClr val="ECEDEE"/>
                    </a:solidFill>
                  </a:tcPr>
                </a:tc>
                <a:extLst>
                  <a:ext uri="{0D108BD9-81ED-4DB2-BD59-A6C34878D82A}">
                    <a16:rowId xmlns:a16="http://schemas.microsoft.com/office/drawing/2014/main" val="10006"/>
                  </a:ext>
                </a:extLst>
              </a:tr>
            </a:tbl>
          </a:graphicData>
        </a:graphic>
      </p:graphicFrame>
      <p:sp>
        <p:nvSpPr>
          <p:cNvPr id="42" name="Rounded Rectangle 41"/>
          <p:cNvSpPr/>
          <p:nvPr/>
        </p:nvSpPr>
        <p:spPr>
          <a:xfrm>
            <a:off x="547283" y="5358387"/>
            <a:ext cx="11064232" cy="893895"/>
          </a:xfrm>
          <a:prstGeom prst="roundRect">
            <a:avLst>
              <a:gd name="adj" fmla="val 8000"/>
            </a:avLst>
          </a:prstGeom>
          <a:solidFill>
            <a:srgbClr val="FBEEDD"/>
          </a:solidFill>
          <a:ln>
            <a:noFill/>
          </a:ln>
          <a:effectLst/>
        </p:spPr>
        <p:style>
          <a:lnRef idx="1">
            <a:schemeClr val="accent1"/>
          </a:lnRef>
          <a:fillRef idx="3">
            <a:schemeClr val="accent1"/>
          </a:fillRef>
          <a:effectRef idx="2">
            <a:schemeClr val="accent1"/>
          </a:effectRef>
          <a:fontRef idx="minor">
            <a:schemeClr val="lt1"/>
          </a:fontRef>
        </p:style>
        <p:txBody>
          <a:bodyPr wrap="square" lIns="179555" tIns="59852" rIns="179555" bIns="59852" rtlCol="0" anchor="ctr"/>
          <a:lstStyle/>
          <a:p>
            <a:pPr defTabSz="912114"/>
            <a:r>
              <a:rPr lang="de-DE" sz="1600" b="1" dirty="0">
                <a:solidFill>
                  <a:srgbClr val="22272B"/>
                </a:solidFill>
                <a:latin typeface="Cambria"/>
              </a:rPr>
              <a:t>Auffällig</a:t>
            </a:r>
            <a:r>
              <a:rPr sz="1600" b="1" dirty="0">
                <a:solidFill>
                  <a:srgbClr val="22272B"/>
                </a:solidFill>
                <a:latin typeface="Cambria"/>
              </a:rPr>
              <a:t>:</a:t>
            </a:r>
            <a:r>
              <a:rPr lang="de-DE" sz="1600" b="1" dirty="0">
                <a:solidFill>
                  <a:srgbClr val="22272B"/>
                </a:solidFill>
                <a:latin typeface="Cambria"/>
              </a:rPr>
              <a:t> Oft zu optimistische Annahmen zu </a:t>
            </a:r>
            <a:r>
              <a:rPr sz="1600" b="1" dirty="0" err="1">
                <a:solidFill>
                  <a:srgbClr val="22272B"/>
                </a:solidFill>
                <a:latin typeface="Cambria"/>
              </a:rPr>
              <a:t>Prognosehorizont</a:t>
            </a:r>
            <a:r>
              <a:rPr sz="1600" b="1" dirty="0">
                <a:solidFill>
                  <a:srgbClr val="22272B"/>
                </a:solidFill>
                <a:latin typeface="Cambria"/>
              </a:rPr>
              <a:t> vs. </a:t>
            </a:r>
            <a:r>
              <a:rPr sz="1600" b="1" dirty="0" err="1">
                <a:solidFill>
                  <a:srgbClr val="22272B"/>
                </a:solidFill>
                <a:latin typeface="Cambria"/>
              </a:rPr>
              <a:t>Wetterdaten</a:t>
            </a:r>
            <a:r>
              <a:rPr sz="1600" b="1" dirty="0">
                <a:solidFill>
                  <a:srgbClr val="22272B"/>
                </a:solidFill>
                <a:latin typeface="Cambria"/>
              </a:rPr>
              <a:t>  —  </a:t>
            </a:r>
            <a:r>
              <a:rPr sz="1600" dirty="0" err="1">
                <a:solidFill>
                  <a:srgbClr val="22272B"/>
                </a:solidFill>
                <a:latin typeface="Calibri"/>
              </a:rPr>
              <a:t>Mehrere</a:t>
            </a:r>
            <a:r>
              <a:rPr sz="1600" dirty="0">
                <a:solidFill>
                  <a:srgbClr val="22272B"/>
                </a:solidFill>
                <a:latin typeface="Calibri"/>
              </a:rPr>
              <a:t> </a:t>
            </a:r>
            <a:r>
              <a:rPr sz="1600" dirty="0" err="1">
                <a:solidFill>
                  <a:srgbClr val="22272B"/>
                </a:solidFill>
                <a:latin typeface="Calibri"/>
              </a:rPr>
              <a:t>Arbeiten</a:t>
            </a:r>
            <a:r>
              <a:rPr sz="1600" dirty="0">
                <a:solidFill>
                  <a:srgbClr val="22272B"/>
                </a:solidFill>
                <a:latin typeface="Calibri"/>
              </a:rPr>
              <a:t> (u. a. Gondal et al. 2026, Ma et al. 2023) </a:t>
            </a:r>
            <a:r>
              <a:rPr sz="1600" dirty="0" err="1">
                <a:solidFill>
                  <a:srgbClr val="22272B"/>
                </a:solidFill>
                <a:latin typeface="Calibri"/>
              </a:rPr>
              <a:t>nehmen</a:t>
            </a:r>
            <a:r>
              <a:rPr sz="1600" dirty="0">
                <a:solidFill>
                  <a:srgbClr val="22272B"/>
                </a:solidFill>
                <a:latin typeface="Calibri"/>
              </a:rPr>
              <a:t> an, </a:t>
            </a:r>
            <a:r>
              <a:rPr sz="1600" dirty="0" err="1">
                <a:solidFill>
                  <a:srgbClr val="22272B"/>
                </a:solidFill>
                <a:latin typeface="Calibri"/>
              </a:rPr>
              <a:t>dass</a:t>
            </a:r>
            <a:r>
              <a:rPr sz="1600" dirty="0">
                <a:solidFill>
                  <a:srgbClr val="22272B"/>
                </a:solidFill>
                <a:latin typeface="Calibri"/>
              </a:rPr>
              <a:t> </a:t>
            </a:r>
            <a:r>
              <a:rPr sz="1600" dirty="0" err="1">
                <a:solidFill>
                  <a:srgbClr val="22272B"/>
                </a:solidFill>
                <a:latin typeface="Calibri"/>
              </a:rPr>
              <a:t>meteorologische</a:t>
            </a:r>
            <a:r>
              <a:rPr sz="1600" dirty="0">
                <a:solidFill>
                  <a:srgbClr val="22272B"/>
                </a:solidFill>
                <a:latin typeface="Calibri"/>
              </a:rPr>
              <a:t> </a:t>
            </a:r>
            <a:r>
              <a:rPr sz="1600" dirty="0" err="1">
                <a:solidFill>
                  <a:srgbClr val="22272B"/>
                </a:solidFill>
                <a:latin typeface="Calibri"/>
              </a:rPr>
              <a:t>Eingangsgrößen</a:t>
            </a:r>
            <a:r>
              <a:rPr sz="1600" dirty="0">
                <a:solidFill>
                  <a:srgbClr val="22272B"/>
                </a:solidFill>
                <a:latin typeface="Calibri"/>
              </a:rPr>
              <a:t> </a:t>
            </a:r>
            <a:r>
              <a:rPr sz="1600" dirty="0" err="1">
                <a:solidFill>
                  <a:srgbClr val="22272B"/>
                </a:solidFill>
                <a:latin typeface="Calibri"/>
              </a:rPr>
              <a:t>über</a:t>
            </a:r>
            <a:r>
              <a:rPr sz="1600" dirty="0">
                <a:solidFill>
                  <a:srgbClr val="22272B"/>
                </a:solidFill>
                <a:latin typeface="Calibri"/>
              </a:rPr>
              <a:t> den </a:t>
            </a:r>
            <a:r>
              <a:rPr sz="1600" dirty="0" err="1">
                <a:solidFill>
                  <a:srgbClr val="22272B"/>
                </a:solidFill>
                <a:latin typeface="Calibri"/>
              </a:rPr>
              <a:t>gesamten</a:t>
            </a:r>
            <a:r>
              <a:rPr sz="1600" dirty="0">
                <a:solidFill>
                  <a:srgbClr val="22272B"/>
                </a:solidFill>
                <a:latin typeface="Calibri"/>
              </a:rPr>
              <a:t> </a:t>
            </a:r>
            <a:r>
              <a:rPr sz="1600" dirty="0" err="1">
                <a:solidFill>
                  <a:srgbClr val="22272B"/>
                </a:solidFill>
                <a:latin typeface="Calibri"/>
              </a:rPr>
              <a:t>Horizont</a:t>
            </a:r>
            <a:r>
              <a:rPr sz="1600" dirty="0">
                <a:solidFill>
                  <a:srgbClr val="22272B"/>
                </a:solidFill>
                <a:latin typeface="Calibri"/>
              </a:rPr>
              <a:t> – bis </a:t>
            </a:r>
            <a:r>
              <a:rPr sz="1600" dirty="0" err="1">
                <a:solidFill>
                  <a:srgbClr val="22272B"/>
                </a:solidFill>
                <a:latin typeface="Calibri"/>
              </a:rPr>
              <a:t>zu</a:t>
            </a:r>
            <a:r>
              <a:rPr sz="1600" dirty="0">
                <a:solidFill>
                  <a:srgbClr val="22272B"/>
                </a:solidFill>
                <a:latin typeface="Calibri"/>
              </a:rPr>
              <a:t> 7 Tage (168 h) – </a:t>
            </a:r>
            <a:r>
              <a:rPr sz="1600" dirty="0" err="1">
                <a:solidFill>
                  <a:srgbClr val="22272B"/>
                </a:solidFill>
                <a:latin typeface="Calibri"/>
              </a:rPr>
              <a:t>bereits</a:t>
            </a:r>
            <a:r>
              <a:rPr sz="1600" dirty="0">
                <a:solidFill>
                  <a:srgbClr val="22272B"/>
                </a:solidFill>
                <a:latin typeface="Calibri"/>
              </a:rPr>
              <a:t> </a:t>
            </a:r>
            <a:r>
              <a:rPr sz="1600" dirty="0" err="1">
                <a:solidFill>
                  <a:srgbClr val="22272B"/>
                </a:solidFill>
                <a:latin typeface="Calibri"/>
              </a:rPr>
              <a:t>bekannt</a:t>
            </a:r>
            <a:r>
              <a:rPr sz="1600" dirty="0">
                <a:solidFill>
                  <a:srgbClr val="22272B"/>
                </a:solidFill>
                <a:latin typeface="Calibri"/>
              </a:rPr>
              <a:t> </a:t>
            </a:r>
            <a:r>
              <a:rPr sz="1600" dirty="0" err="1">
                <a:solidFill>
                  <a:srgbClr val="22272B"/>
                </a:solidFill>
                <a:latin typeface="Calibri"/>
              </a:rPr>
              <a:t>sind</a:t>
            </a:r>
            <a:r>
              <a:rPr sz="1600" dirty="0">
                <a:solidFill>
                  <a:srgbClr val="22272B"/>
                </a:solidFill>
                <a:latin typeface="Calibri"/>
              </a:rPr>
              <a:t> („Perfect Prognosis“). Reale </a:t>
            </a:r>
            <a:r>
              <a:rPr sz="1600" dirty="0" err="1">
                <a:solidFill>
                  <a:srgbClr val="22272B"/>
                </a:solidFill>
                <a:latin typeface="Calibri"/>
              </a:rPr>
              <a:t>Wettervorhersagen</a:t>
            </a:r>
            <a:r>
              <a:rPr sz="1600" dirty="0">
                <a:solidFill>
                  <a:srgbClr val="22272B"/>
                </a:solidFill>
                <a:latin typeface="Calibri"/>
              </a:rPr>
              <a:t> </a:t>
            </a:r>
            <a:r>
              <a:rPr sz="1600" dirty="0" err="1">
                <a:solidFill>
                  <a:srgbClr val="22272B"/>
                </a:solidFill>
                <a:latin typeface="Calibri"/>
              </a:rPr>
              <a:t>sind</a:t>
            </a:r>
            <a:r>
              <a:rPr sz="1600" dirty="0">
                <a:solidFill>
                  <a:srgbClr val="22272B"/>
                </a:solidFill>
                <a:latin typeface="Calibri"/>
              </a:rPr>
              <a:t> </a:t>
            </a:r>
            <a:r>
              <a:rPr sz="1600" dirty="0" err="1">
                <a:solidFill>
                  <a:srgbClr val="22272B"/>
                </a:solidFill>
                <a:latin typeface="Calibri"/>
              </a:rPr>
              <a:t>aber</a:t>
            </a:r>
            <a:r>
              <a:rPr sz="1600" dirty="0">
                <a:solidFill>
                  <a:srgbClr val="22272B"/>
                </a:solidFill>
                <a:latin typeface="Calibri"/>
              </a:rPr>
              <a:t> </a:t>
            </a:r>
            <a:r>
              <a:rPr sz="1600" dirty="0" err="1">
                <a:solidFill>
                  <a:srgbClr val="22272B"/>
                </a:solidFill>
                <a:latin typeface="Calibri"/>
              </a:rPr>
              <a:t>nur</a:t>
            </a:r>
            <a:r>
              <a:rPr sz="1600" dirty="0">
                <a:solidFill>
                  <a:srgbClr val="22272B"/>
                </a:solidFill>
                <a:latin typeface="Calibri"/>
              </a:rPr>
              <a:t> ca. 3–5 Tage </a:t>
            </a:r>
            <a:r>
              <a:rPr sz="1600" dirty="0" err="1">
                <a:solidFill>
                  <a:srgbClr val="22272B"/>
                </a:solidFill>
                <a:latin typeface="Calibri"/>
              </a:rPr>
              <a:t>hinreichend</a:t>
            </a:r>
            <a:r>
              <a:rPr sz="1600" dirty="0">
                <a:solidFill>
                  <a:srgbClr val="22272B"/>
                </a:solidFill>
                <a:latin typeface="Calibri"/>
              </a:rPr>
              <a:t> </a:t>
            </a:r>
            <a:r>
              <a:rPr sz="1600" dirty="0" err="1">
                <a:solidFill>
                  <a:srgbClr val="22272B"/>
                </a:solidFill>
                <a:latin typeface="Calibri"/>
              </a:rPr>
              <a:t>genau</a:t>
            </a:r>
            <a:r>
              <a:rPr lang="de-DE" sz="1600" dirty="0">
                <a:solidFill>
                  <a:srgbClr val="22272B"/>
                </a:solidFill>
                <a:latin typeface="Calibri"/>
              </a:rPr>
              <a:t>.</a:t>
            </a:r>
            <a:endParaRPr sz="1600" dirty="0">
              <a:solidFill>
                <a:srgbClr val="22272B"/>
              </a:solidFill>
              <a:latin typeface="Calibri"/>
            </a:endParaRPr>
          </a:p>
        </p:txBody>
      </p:sp>
      <p:sp>
        <p:nvSpPr>
          <p:cNvPr id="7" name="TextBox 16">
            <a:extLst>
              <a:ext uri="{FF2B5EF4-FFF2-40B4-BE49-F238E27FC236}">
                <a16:creationId xmlns:a16="http://schemas.microsoft.com/office/drawing/2014/main" id="{377859E0-B976-47D6-875F-19A20291577E}"/>
              </a:ext>
            </a:extLst>
          </p:cNvP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de-DE" sz="900" b="0" u="none" strike="noStrike" dirty="0">
                <a:solidFill>
                  <a:srgbClr val="6C7278"/>
                </a:solidFill>
                <a:effectLst/>
                <a:uFillTx/>
                <a:latin typeface="Calibri"/>
              </a:rPr>
              <a:t>PM2.5-Prognose Beijing  ·  Prophet, Chronos &amp; TFT  ·  CRISP-DM</a:t>
            </a:r>
            <a:endParaRPr lang="de-DE" sz="900" b="0" u="none" strike="noStrike" dirty="0">
              <a:solidFill>
                <a:srgbClr val="000000"/>
              </a:solidFill>
              <a:effectLst/>
              <a:uFillTx/>
              <a:latin typeface="Arial"/>
            </a:endParaRPr>
          </a:p>
        </p:txBody>
      </p:sp>
    </p:spTree>
    <p:extLst>
      <p:ext uri="{BB962C8B-B14F-4D97-AF65-F5344CB8AC3E}">
        <p14:creationId xmlns:p14="http://schemas.microsoft.com/office/powerpoint/2010/main" val="2195266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7283" y="464552"/>
            <a:ext cx="273641" cy="656739"/>
          </a:xfrm>
          <a:prstGeom prst="roundRect">
            <a:avLst>
              <a:gd name="adj" fmla="val 26667"/>
            </a:avLst>
          </a:prstGeom>
          <a:solidFill>
            <a:srgbClr val="E0912F"/>
          </a:solidFill>
          <a:ln/>
        </p:spPr>
        <p:txBody>
          <a:bodyPr/>
          <a:lstStyle/>
          <a:p>
            <a:endParaRPr lang="de-DE" sz="1795"/>
          </a:p>
        </p:txBody>
      </p:sp>
      <p:sp>
        <p:nvSpPr>
          <p:cNvPr id="3" name="Text 1"/>
          <p:cNvSpPr/>
          <p:nvPr/>
        </p:nvSpPr>
        <p:spPr>
          <a:xfrm>
            <a:off x="930381" y="418945"/>
            <a:ext cx="10580799" cy="684103"/>
          </a:xfrm>
          <a:prstGeom prst="rect">
            <a:avLst/>
          </a:prstGeom>
          <a:noFill/>
          <a:ln/>
        </p:spPr>
        <p:txBody>
          <a:bodyPr wrap="square" lIns="0" tIns="0" rIns="0" bIns="0" rtlCol="0" anchor="ctr"/>
          <a:lstStyle/>
          <a:p>
            <a:r>
              <a:rPr lang="en-US" sz="2893" b="1" dirty="0">
                <a:solidFill>
                  <a:srgbClr val="2B343A"/>
                </a:solidFill>
                <a:latin typeface="Century Schoolbook" pitchFamily="34" charset="0"/>
                <a:ea typeface="Century Schoolbook" pitchFamily="34" charset="-122"/>
                <a:cs typeface="Century Schoolbook" pitchFamily="34" charset="-120"/>
              </a:rPr>
              <a:t>Einordnung in die weitere Literatur</a:t>
            </a:r>
            <a:endParaRPr lang="en-US" sz="2893" dirty="0"/>
          </a:p>
        </p:txBody>
      </p:sp>
      <p:sp>
        <p:nvSpPr>
          <p:cNvPr id="4" name="Text 2"/>
          <p:cNvSpPr/>
          <p:nvPr/>
        </p:nvSpPr>
        <p:spPr>
          <a:xfrm>
            <a:off x="939502" y="1084806"/>
            <a:ext cx="10580799" cy="364855"/>
          </a:xfrm>
          <a:prstGeom prst="rect">
            <a:avLst/>
          </a:prstGeom>
          <a:noFill/>
          <a:ln/>
        </p:spPr>
        <p:txBody>
          <a:bodyPr wrap="square" rtlCol="0" anchor="ctr"/>
          <a:lstStyle/>
          <a:p>
            <a:r>
              <a:rPr lang="en-US" sz="1446" dirty="0">
                <a:solidFill>
                  <a:srgbClr val="6B767D"/>
                </a:solidFill>
                <a:latin typeface="Calibri" pitchFamily="34" charset="0"/>
                <a:ea typeface="Calibri" pitchFamily="34" charset="-122"/>
                <a:cs typeface="Calibri" pitchFamily="34" charset="-120"/>
              </a:rPr>
              <a:t>Nur grob vergleichbar — Horizont, Testzeitraum und Metrik unterscheiden sich je Studie</a:t>
            </a:r>
            <a:endParaRPr lang="en-US" sz="1446" dirty="0"/>
          </a:p>
        </p:txBody>
      </p:sp>
      <p:graphicFrame>
        <p:nvGraphicFramePr>
          <p:cNvPr id="5" name="Table 0"/>
          <p:cNvGraphicFramePr>
            <a:graphicFrameLocks noGrp="1"/>
          </p:cNvGraphicFramePr>
          <p:nvPr>
            <p:extLst>
              <p:ext uri="{D42A27DB-BD31-4B8C-83A1-F6EECF244321}">
                <p14:modId xmlns:p14="http://schemas.microsoft.com/office/powerpoint/2010/main" val="1429925201"/>
              </p:ext>
            </p:extLst>
          </p:nvPr>
        </p:nvGraphicFramePr>
        <p:xfrm>
          <a:off x="547283" y="1604724"/>
          <a:ext cx="7433923" cy="4195830"/>
        </p:xfrm>
        <a:graphic>
          <a:graphicData uri="http://schemas.openxmlformats.org/drawingml/2006/table">
            <a:tbl>
              <a:tblPr/>
              <a:tblGrid>
                <a:gridCol w="2325951">
                  <a:extLst>
                    <a:ext uri="{9D8B030D-6E8A-4147-A177-3AD203B41FA5}">
                      <a16:colId xmlns:a16="http://schemas.microsoft.com/office/drawing/2014/main" val="20000"/>
                    </a:ext>
                  </a:extLst>
                </a:gridCol>
                <a:gridCol w="2645200">
                  <a:extLst>
                    <a:ext uri="{9D8B030D-6E8A-4147-A177-3AD203B41FA5}">
                      <a16:colId xmlns:a16="http://schemas.microsoft.com/office/drawing/2014/main" val="20001"/>
                    </a:ext>
                  </a:extLst>
                </a:gridCol>
                <a:gridCol w="1231386">
                  <a:extLst>
                    <a:ext uri="{9D8B030D-6E8A-4147-A177-3AD203B41FA5}">
                      <a16:colId xmlns:a16="http://schemas.microsoft.com/office/drawing/2014/main" val="20002"/>
                    </a:ext>
                  </a:extLst>
                </a:gridCol>
                <a:gridCol w="1231386">
                  <a:extLst>
                    <a:ext uri="{9D8B030D-6E8A-4147-A177-3AD203B41FA5}">
                      <a16:colId xmlns:a16="http://schemas.microsoft.com/office/drawing/2014/main" val="20003"/>
                    </a:ext>
                  </a:extLst>
                </a:gridCol>
              </a:tblGrid>
              <a:tr h="419583">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Modell / Studie</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2B343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Setup</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2B343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MAE</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2B343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RMSE</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2B343A"/>
                    </a:solidFill>
                  </a:tcPr>
                </a:tc>
                <a:extLst>
                  <a:ext uri="{0D108BD9-81ED-4DB2-BD59-A6C34878D82A}">
                    <a16:rowId xmlns:a16="http://schemas.microsoft.com/office/drawing/2014/main" val="10000"/>
                  </a:ext>
                </a:extLst>
              </a:tr>
              <a:tr h="419583">
                <a:tc>
                  <a:txBody>
                    <a:bodyPr/>
                    <a:lstStyle/>
                    <a:p>
                      <a:pPr marL="0" indent="0" algn="l">
                        <a:buNone/>
                      </a:pPr>
                      <a:r>
                        <a:rPr lang="en-US" sz="1200" b="1" dirty="0">
                          <a:solidFill>
                            <a:srgbClr val="1C7293"/>
                          </a:solidFill>
                          <a:latin typeface="Calibri" pitchFamily="34" charset="0"/>
                          <a:ea typeface="Calibri" pitchFamily="34" charset="-122"/>
                          <a:cs typeface="Calibri" pitchFamily="34" charset="-120"/>
                        </a:rPr>
                        <a:t>Unser Chronos-2</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EAF1F4"/>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24 h, rollierend</a:t>
                      </a:r>
                      <a:endParaRPr lang="en-US" sz="11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EAF1F4"/>
                    </a:solidFill>
                  </a:tcPr>
                </a:tc>
                <a:tc>
                  <a:txBody>
                    <a:bodyPr/>
                    <a:lstStyle/>
                    <a:p>
                      <a:pPr marL="0" indent="0" algn="ctr">
                        <a:buNone/>
                      </a:pPr>
                      <a:r>
                        <a:rPr lang="en-US" sz="1200" b="1" dirty="0">
                          <a:solidFill>
                            <a:srgbClr val="2B343A"/>
                          </a:solidFill>
                          <a:latin typeface="Calibri" pitchFamily="34" charset="0"/>
                          <a:ea typeface="Calibri" pitchFamily="34" charset="-122"/>
                          <a:cs typeface="Calibri" pitchFamily="34" charset="-120"/>
                        </a:rPr>
                        <a:t>24,1</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EAF1F4"/>
                    </a:solidFill>
                  </a:tcPr>
                </a:tc>
                <a:tc>
                  <a:txBody>
                    <a:bodyPr/>
                    <a:lstStyle/>
                    <a:p>
                      <a:pPr marL="0" indent="0" algn="ctr">
                        <a:buNone/>
                      </a:pPr>
                      <a:r>
                        <a:rPr lang="en-US" sz="1200" dirty="0">
                          <a:solidFill>
                            <a:srgbClr val="2B343A"/>
                          </a:solidFill>
                          <a:latin typeface="Calibri" pitchFamily="34" charset="0"/>
                          <a:ea typeface="Calibri" pitchFamily="34" charset="-122"/>
                          <a:cs typeface="Calibri" pitchFamily="34" charset="-120"/>
                        </a:rPr>
                        <a:t>31,5</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EAF1F4"/>
                    </a:solidFill>
                  </a:tcPr>
                </a:tc>
                <a:extLst>
                  <a:ext uri="{0D108BD9-81ED-4DB2-BD59-A6C34878D82A}">
                    <a16:rowId xmlns:a16="http://schemas.microsoft.com/office/drawing/2014/main" val="10001"/>
                  </a:ext>
                </a:extLst>
              </a:tr>
              <a:tr h="419583">
                <a:tc>
                  <a:txBody>
                    <a:bodyPr/>
                    <a:lstStyle/>
                    <a:p>
                      <a:pPr marL="0" indent="0" algn="l">
                        <a:buNone/>
                      </a:pPr>
                      <a:r>
                        <a:rPr lang="en-US" sz="1200" b="1" dirty="0">
                          <a:solidFill>
                            <a:srgbClr val="1C7293"/>
                          </a:solidFill>
                          <a:latin typeface="Calibri" pitchFamily="34" charset="0"/>
                          <a:ea typeface="Calibri" pitchFamily="34" charset="-122"/>
                          <a:cs typeface="Calibri" pitchFamily="34" charset="-120"/>
                        </a:rPr>
                        <a:t>Unser TFT</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EAF1F4"/>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24 h, rollierend</a:t>
                      </a:r>
                      <a:endParaRPr lang="en-US" sz="11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EAF1F4"/>
                    </a:solidFill>
                  </a:tcPr>
                </a:tc>
                <a:tc>
                  <a:txBody>
                    <a:bodyPr/>
                    <a:lstStyle/>
                    <a:p>
                      <a:pPr marL="0" indent="0" algn="ctr">
                        <a:buNone/>
                      </a:pPr>
                      <a:r>
                        <a:rPr lang="en-US" sz="1200" b="1" dirty="0">
                          <a:solidFill>
                            <a:srgbClr val="2B343A"/>
                          </a:solidFill>
                          <a:latin typeface="Calibri" pitchFamily="34" charset="0"/>
                          <a:ea typeface="Calibri" pitchFamily="34" charset="-122"/>
                          <a:cs typeface="Calibri" pitchFamily="34" charset="-120"/>
                        </a:rPr>
                        <a:t>23,8</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EAF1F4"/>
                    </a:solidFill>
                  </a:tcPr>
                </a:tc>
                <a:tc>
                  <a:txBody>
                    <a:bodyPr/>
                    <a:lstStyle/>
                    <a:p>
                      <a:pPr marL="0" indent="0" algn="ctr">
                        <a:buNone/>
                      </a:pPr>
                      <a:r>
                        <a:rPr lang="en-US" sz="1200" dirty="0">
                          <a:solidFill>
                            <a:srgbClr val="2B343A"/>
                          </a:solidFill>
                          <a:latin typeface="Calibri" pitchFamily="34" charset="0"/>
                          <a:ea typeface="Calibri" pitchFamily="34" charset="-122"/>
                          <a:cs typeface="Calibri" pitchFamily="34" charset="-120"/>
                        </a:rPr>
                        <a:t>31,6</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EAF1F4"/>
                    </a:solidFill>
                  </a:tcPr>
                </a:tc>
                <a:extLst>
                  <a:ext uri="{0D108BD9-81ED-4DB2-BD59-A6C34878D82A}">
                    <a16:rowId xmlns:a16="http://schemas.microsoft.com/office/drawing/2014/main" val="10002"/>
                  </a:ext>
                </a:extLst>
              </a:tr>
              <a:tr h="419583">
                <a:tc>
                  <a:txBody>
                    <a:bodyPr/>
                    <a:lstStyle/>
                    <a:p>
                      <a:pPr marL="0" indent="0" algn="l">
                        <a:buNone/>
                      </a:pPr>
                      <a:r>
                        <a:rPr lang="en-US" sz="1200" b="1" dirty="0">
                          <a:solidFill>
                            <a:srgbClr val="1C7293"/>
                          </a:solidFill>
                          <a:latin typeface="Calibri" pitchFamily="34" charset="0"/>
                          <a:ea typeface="Calibri" pitchFamily="34" charset="-122"/>
                          <a:cs typeface="Calibri" pitchFamily="34" charset="-120"/>
                        </a:rPr>
                        <a:t>Unser Prophet (PP)</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EAF1F4"/>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24 h, rollierend</a:t>
                      </a:r>
                      <a:endParaRPr lang="en-US" sz="11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EAF1F4"/>
                    </a:solidFill>
                  </a:tcPr>
                </a:tc>
                <a:tc>
                  <a:txBody>
                    <a:bodyPr/>
                    <a:lstStyle/>
                    <a:p>
                      <a:pPr marL="0" indent="0" algn="ctr">
                        <a:buNone/>
                      </a:pPr>
                      <a:r>
                        <a:rPr lang="en-US" sz="1200" b="1" dirty="0">
                          <a:solidFill>
                            <a:srgbClr val="2B343A"/>
                          </a:solidFill>
                          <a:latin typeface="Calibri" pitchFamily="34" charset="0"/>
                          <a:ea typeface="Calibri" pitchFamily="34" charset="-122"/>
                          <a:cs typeface="Calibri" pitchFamily="34" charset="-120"/>
                        </a:rPr>
                        <a:t>42,1</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EAF1F4"/>
                    </a:solidFill>
                  </a:tcPr>
                </a:tc>
                <a:tc>
                  <a:txBody>
                    <a:bodyPr/>
                    <a:lstStyle/>
                    <a:p>
                      <a:pPr marL="0" indent="0" algn="ctr">
                        <a:buNone/>
                      </a:pPr>
                      <a:r>
                        <a:rPr lang="en-US" sz="1200" dirty="0">
                          <a:solidFill>
                            <a:srgbClr val="2B343A"/>
                          </a:solidFill>
                          <a:latin typeface="Calibri" pitchFamily="34" charset="0"/>
                          <a:ea typeface="Calibri" pitchFamily="34" charset="-122"/>
                          <a:cs typeface="Calibri" pitchFamily="34" charset="-120"/>
                        </a:rPr>
                        <a:t>50,4</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EAF1F4"/>
                    </a:solidFill>
                  </a:tcPr>
                </a:tc>
                <a:extLst>
                  <a:ext uri="{0D108BD9-81ED-4DB2-BD59-A6C34878D82A}">
                    <a16:rowId xmlns:a16="http://schemas.microsoft.com/office/drawing/2014/main" val="10003"/>
                  </a:ext>
                </a:extLst>
              </a:tr>
              <a:tr h="419583">
                <a:tc>
                  <a:txBody>
                    <a:bodyPr/>
                    <a:lstStyle/>
                    <a:p>
                      <a:pPr marL="0" indent="0" algn="l">
                        <a:buNone/>
                      </a:pPr>
                      <a:r>
                        <a:rPr lang="en-US" sz="1200" b="1" dirty="0">
                          <a:solidFill>
                            <a:srgbClr val="1C7293"/>
                          </a:solidFill>
                          <a:latin typeface="Calibri" pitchFamily="34" charset="0"/>
                          <a:ea typeface="Calibri" pitchFamily="34" charset="-122"/>
                          <a:cs typeface="Calibri" pitchFamily="34" charset="-120"/>
                        </a:rPr>
                        <a:t>Unser Chronos-2</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EAF1F4"/>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72 h, rollierend</a:t>
                      </a:r>
                      <a:endParaRPr lang="en-US" sz="11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EAF1F4"/>
                    </a:solidFill>
                  </a:tcPr>
                </a:tc>
                <a:tc>
                  <a:txBody>
                    <a:bodyPr/>
                    <a:lstStyle/>
                    <a:p>
                      <a:pPr marL="0" indent="0" algn="ctr">
                        <a:buNone/>
                      </a:pPr>
                      <a:r>
                        <a:rPr lang="en-US" sz="1200" b="1" dirty="0">
                          <a:solidFill>
                            <a:srgbClr val="2B343A"/>
                          </a:solidFill>
                          <a:latin typeface="Calibri" pitchFamily="34" charset="0"/>
                          <a:ea typeface="Calibri" pitchFamily="34" charset="-122"/>
                          <a:cs typeface="Calibri" pitchFamily="34" charset="-120"/>
                        </a:rPr>
                        <a:t>38,6</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EAF1F4"/>
                    </a:solidFill>
                  </a:tcPr>
                </a:tc>
                <a:tc>
                  <a:txBody>
                    <a:bodyPr/>
                    <a:lstStyle/>
                    <a:p>
                      <a:pPr marL="0" indent="0" algn="ctr">
                        <a:buNone/>
                      </a:pPr>
                      <a:r>
                        <a:rPr lang="en-US" sz="1200" dirty="0">
                          <a:solidFill>
                            <a:srgbClr val="2B343A"/>
                          </a:solidFill>
                          <a:latin typeface="Calibri" pitchFamily="34" charset="0"/>
                          <a:ea typeface="Calibri" pitchFamily="34" charset="-122"/>
                          <a:cs typeface="Calibri" pitchFamily="34" charset="-120"/>
                        </a:rPr>
                        <a:t>49,8</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EAF1F4"/>
                    </a:solidFill>
                  </a:tcPr>
                </a:tc>
                <a:extLst>
                  <a:ext uri="{0D108BD9-81ED-4DB2-BD59-A6C34878D82A}">
                    <a16:rowId xmlns:a16="http://schemas.microsoft.com/office/drawing/2014/main" val="10004"/>
                  </a:ext>
                </a:extLst>
              </a:tr>
              <a:tr h="419583">
                <a:tc>
                  <a:txBody>
                    <a:bodyPr/>
                    <a:lstStyle/>
                    <a:p>
                      <a:pPr marL="0" indent="0" algn="l">
                        <a:buNone/>
                      </a:pPr>
                      <a:r>
                        <a:rPr lang="en-US" sz="1200" b="1" dirty="0">
                          <a:solidFill>
                            <a:srgbClr val="1C7293"/>
                          </a:solidFill>
                          <a:latin typeface="Calibri" pitchFamily="34" charset="0"/>
                          <a:ea typeface="Calibri" pitchFamily="34" charset="-122"/>
                          <a:cs typeface="Calibri" pitchFamily="34" charset="-120"/>
                        </a:rPr>
                        <a:t>Unser TFT</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EAF1F4"/>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72 h, rollierend</a:t>
                      </a:r>
                      <a:endParaRPr lang="en-US" sz="11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EAF1F4"/>
                    </a:solidFill>
                  </a:tcPr>
                </a:tc>
                <a:tc>
                  <a:txBody>
                    <a:bodyPr/>
                    <a:lstStyle/>
                    <a:p>
                      <a:pPr marL="0" indent="0" algn="ctr">
                        <a:buNone/>
                      </a:pPr>
                      <a:r>
                        <a:rPr lang="en-US" sz="1200" b="1" dirty="0">
                          <a:solidFill>
                            <a:srgbClr val="2B343A"/>
                          </a:solidFill>
                          <a:latin typeface="Calibri" pitchFamily="34" charset="0"/>
                          <a:ea typeface="Calibri" pitchFamily="34" charset="-122"/>
                          <a:cs typeface="Calibri" pitchFamily="34" charset="-120"/>
                        </a:rPr>
                        <a:t>36,6</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EAF1F4"/>
                    </a:solidFill>
                  </a:tcPr>
                </a:tc>
                <a:tc>
                  <a:txBody>
                    <a:bodyPr/>
                    <a:lstStyle/>
                    <a:p>
                      <a:pPr marL="0" indent="0" algn="ctr">
                        <a:buNone/>
                      </a:pPr>
                      <a:r>
                        <a:rPr lang="en-US" sz="1200" dirty="0">
                          <a:solidFill>
                            <a:srgbClr val="2B343A"/>
                          </a:solidFill>
                          <a:latin typeface="Calibri" pitchFamily="34" charset="0"/>
                          <a:ea typeface="Calibri" pitchFamily="34" charset="-122"/>
                          <a:cs typeface="Calibri" pitchFamily="34" charset="-120"/>
                        </a:rPr>
                        <a:t>47,9</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EAF1F4"/>
                    </a:solidFill>
                  </a:tcPr>
                </a:tc>
                <a:extLst>
                  <a:ext uri="{0D108BD9-81ED-4DB2-BD59-A6C34878D82A}">
                    <a16:rowId xmlns:a16="http://schemas.microsoft.com/office/drawing/2014/main" val="10005"/>
                  </a:ext>
                </a:extLst>
              </a:tr>
              <a:tr h="419583">
                <a:tc>
                  <a:txBody>
                    <a:bodyPr/>
                    <a:lstStyle/>
                    <a:p>
                      <a:pPr marL="0" indent="0" algn="l">
                        <a:buNone/>
                      </a:pPr>
                      <a:r>
                        <a:rPr lang="en-US" sz="1200" b="1" dirty="0">
                          <a:solidFill>
                            <a:srgbClr val="2B343A"/>
                          </a:solidFill>
                          <a:latin typeface="Calibri" pitchFamily="34" charset="0"/>
                          <a:ea typeface="Calibri" pitchFamily="34" charset="-122"/>
                          <a:cs typeface="Calibri" pitchFamily="34" charset="-120"/>
                        </a:rPr>
                        <a:t>Tsokov et al. 2022</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1 h, je Station</a:t>
                      </a:r>
                      <a:endParaRPr lang="en-US" sz="11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B343A"/>
                          </a:solidFill>
                          <a:latin typeface="Calibri" pitchFamily="34" charset="0"/>
                          <a:ea typeface="Calibri" pitchFamily="34" charset="-122"/>
                          <a:cs typeface="Calibri" pitchFamily="34" charset="-120"/>
                        </a:rPr>
                        <a:t>15–18</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B343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19583">
                <a:tc>
                  <a:txBody>
                    <a:bodyPr/>
                    <a:lstStyle/>
                    <a:p>
                      <a:pPr marL="0" indent="0" algn="l">
                        <a:buNone/>
                      </a:pPr>
                      <a:r>
                        <a:rPr lang="en-US" sz="1200" b="1" dirty="0">
                          <a:solidFill>
                            <a:srgbClr val="2B343A"/>
                          </a:solidFill>
                          <a:latin typeface="Calibri" pitchFamily="34" charset="0"/>
                          <a:ea typeface="Calibri" pitchFamily="34" charset="-122"/>
                          <a:cs typeface="Calibri" pitchFamily="34" charset="-120"/>
                        </a:rPr>
                        <a:t>WOA-CNN-LSTM-AM</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2F5F6"/>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Tagesmittel (2014–18)</a:t>
                      </a:r>
                      <a:endParaRPr lang="en-US" sz="11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2F5F6"/>
                    </a:solidFill>
                  </a:tcPr>
                </a:tc>
                <a:tc>
                  <a:txBody>
                    <a:bodyPr/>
                    <a:lstStyle/>
                    <a:p>
                      <a:pPr marL="0" indent="0" algn="ctr">
                        <a:buNone/>
                      </a:pPr>
                      <a:r>
                        <a:rPr lang="en-US" sz="1200" dirty="0">
                          <a:solidFill>
                            <a:srgbClr val="2B343A"/>
                          </a:solidFill>
                          <a:latin typeface="Calibri" pitchFamily="34" charset="0"/>
                          <a:ea typeface="Calibri" pitchFamily="34" charset="-122"/>
                          <a:cs typeface="Calibri" pitchFamily="34" charset="-120"/>
                        </a:rPr>
                        <a:t>14,3</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2F5F6"/>
                    </a:solidFill>
                  </a:tcPr>
                </a:tc>
                <a:tc>
                  <a:txBody>
                    <a:bodyPr/>
                    <a:lstStyle/>
                    <a:p>
                      <a:pPr marL="0" indent="0" algn="ctr">
                        <a:buNone/>
                      </a:pPr>
                      <a:r>
                        <a:rPr lang="en-US" sz="1200" dirty="0">
                          <a:solidFill>
                            <a:srgbClr val="2B343A"/>
                          </a:solidFill>
                          <a:latin typeface="Calibri" pitchFamily="34" charset="0"/>
                          <a:ea typeface="Calibri" pitchFamily="34" charset="-122"/>
                          <a:cs typeface="Calibri" pitchFamily="34" charset="-120"/>
                        </a:rPr>
                        <a:t>22,0</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2F5F6"/>
                    </a:solidFill>
                  </a:tcPr>
                </a:tc>
                <a:extLst>
                  <a:ext uri="{0D108BD9-81ED-4DB2-BD59-A6C34878D82A}">
                    <a16:rowId xmlns:a16="http://schemas.microsoft.com/office/drawing/2014/main" val="10007"/>
                  </a:ext>
                </a:extLst>
              </a:tr>
              <a:tr h="419583">
                <a:tc>
                  <a:txBody>
                    <a:bodyPr/>
                    <a:lstStyle/>
                    <a:p>
                      <a:pPr marL="0" indent="0" algn="l">
                        <a:buNone/>
                      </a:pPr>
                      <a:r>
                        <a:rPr lang="en-US" sz="1200" b="1" dirty="0">
                          <a:solidFill>
                            <a:srgbClr val="2B343A"/>
                          </a:solidFill>
                          <a:latin typeface="Calibri" pitchFamily="34" charset="0"/>
                          <a:ea typeface="Calibri" pitchFamily="34" charset="-122"/>
                          <a:cs typeface="Calibri" pitchFamily="34" charset="-120"/>
                        </a:rPr>
                        <a:t>FPHFA (Attention-Hybrid)</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stündlich</a:t>
                      </a:r>
                      <a:endParaRPr lang="en-US" sz="11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B343A"/>
                          </a:solidFill>
                          <a:latin typeface="Calibri" pitchFamily="34" charset="0"/>
                          <a:ea typeface="Calibri" pitchFamily="34" charset="-122"/>
                          <a:cs typeface="Calibri" pitchFamily="34" charset="-120"/>
                        </a:rPr>
                        <a:t>19,2</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B343A"/>
                          </a:solidFill>
                          <a:latin typeface="Calibri" pitchFamily="34" charset="0"/>
                          <a:ea typeface="Calibri" pitchFamily="34" charset="-122"/>
                          <a:cs typeface="Calibri" pitchFamily="34" charset="-120"/>
                        </a:rPr>
                        <a:t>28,2</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19583">
                <a:tc>
                  <a:txBody>
                    <a:bodyPr/>
                    <a:lstStyle/>
                    <a:p>
                      <a:pPr marL="0" indent="0" algn="l">
                        <a:buNone/>
                      </a:pPr>
                      <a:r>
                        <a:rPr lang="en-US" sz="1200" b="1" dirty="0">
                          <a:solidFill>
                            <a:srgbClr val="2B343A"/>
                          </a:solidFill>
                          <a:latin typeface="Calibri" pitchFamily="34" charset="0"/>
                          <a:ea typeface="Calibri" pitchFamily="34" charset="-122"/>
                          <a:cs typeface="Calibri" pitchFamily="34" charset="-120"/>
                        </a:rPr>
                        <a:t>WLSTME</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2F5F6"/>
                    </a:solidFill>
                  </a:tcPr>
                </a:tc>
                <a:tc>
                  <a:txBody>
                    <a:bodyPr/>
                    <a:lstStyle/>
                    <a:p>
                      <a:pPr marL="0" indent="0" algn="l">
                        <a:buNone/>
                      </a:pPr>
                      <a:r>
                        <a:rPr lang="en-US" sz="1100" dirty="0">
                          <a:solidFill>
                            <a:srgbClr val="2B343A"/>
                          </a:solidFill>
                          <a:latin typeface="Calibri" pitchFamily="34" charset="0"/>
                          <a:ea typeface="Calibri" pitchFamily="34" charset="-122"/>
                          <a:cs typeface="Calibri" pitchFamily="34" charset="-120"/>
                        </a:rPr>
                        <a:t>Tagesmittel BTH (2015–17)</a:t>
                      </a:r>
                      <a:endParaRPr lang="en-US" sz="11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2F5F6"/>
                    </a:solidFill>
                  </a:tcPr>
                </a:tc>
                <a:tc>
                  <a:txBody>
                    <a:bodyPr/>
                    <a:lstStyle/>
                    <a:p>
                      <a:pPr marL="0" indent="0" algn="ctr">
                        <a:buNone/>
                      </a:pPr>
                      <a:r>
                        <a:rPr lang="en-US" sz="1200" dirty="0">
                          <a:solidFill>
                            <a:srgbClr val="2B343A"/>
                          </a:solidFill>
                          <a:latin typeface="Calibri" pitchFamily="34" charset="0"/>
                          <a:ea typeface="Calibri" pitchFamily="34" charset="-122"/>
                          <a:cs typeface="Calibri" pitchFamily="34" charset="-120"/>
                        </a:rPr>
                        <a:t>26,1</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2F5F6"/>
                    </a:solidFill>
                  </a:tcPr>
                </a:tc>
                <a:tc>
                  <a:txBody>
                    <a:bodyPr/>
                    <a:lstStyle/>
                    <a:p>
                      <a:pPr marL="0" indent="0" algn="ctr">
                        <a:buNone/>
                      </a:pPr>
                      <a:r>
                        <a:rPr lang="en-US" sz="1200" dirty="0">
                          <a:solidFill>
                            <a:srgbClr val="2B343A"/>
                          </a:solidFill>
                          <a:latin typeface="Calibri" pitchFamily="34" charset="0"/>
                          <a:ea typeface="Calibri" pitchFamily="34" charset="-122"/>
                          <a:cs typeface="Calibri" pitchFamily="34" charset="-120"/>
                        </a:rPr>
                        <a:t>40,7</a:t>
                      </a:r>
                      <a:endParaRPr lang="en-US" sz="1200" dirty="0">
                        <a:latin typeface="Calibri" charset="0"/>
                        <a:ea typeface="Calibri" charset="0"/>
                        <a:cs typeface="Calibri" charset="0"/>
                      </a:endParaRPr>
                    </a:p>
                  </a:txBody>
                  <a:tcPr marL="91214" marR="91214" marT="45607" marB="45607" anchor="ctr">
                    <a:lnL w="12700" cap="flat" cmpd="sng" algn="ctr">
                      <a:solidFill>
                        <a:srgbClr val="D9E0E3"/>
                      </a:solidFill>
                      <a:prstDash val="solid"/>
                      <a:round/>
                      <a:headEnd type="none" w="med" len="med"/>
                      <a:tailEnd type="none" w="med" len="med"/>
                    </a:lnL>
                    <a:lnR w="12700" cap="flat" cmpd="sng" algn="ctr">
                      <a:solidFill>
                        <a:srgbClr val="D9E0E3"/>
                      </a:solidFill>
                      <a:prstDash val="solid"/>
                      <a:round/>
                      <a:headEnd type="none" w="med" len="med"/>
                      <a:tailEnd type="none" w="med" len="med"/>
                    </a:lnR>
                    <a:lnT w="12700" cap="flat" cmpd="sng" algn="ctr">
                      <a:solidFill>
                        <a:srgbClr val="D9E0E3"/>
                      </a:solidFill>
                      <a:prstDash val="solid"/>
                      <a:round/>
                      <a:headEnd type="none" w="med" len="med"/>
                      <a:tailEnd type="none" w="med" len="med"/>
                    </a:lnT>
                    <a:lnB w="12700" cap="flat" cmpd="sng" algn="ctr">
                      <a:solidFill>
                        <a:srgbClr val="D9E0E3"/>
                      </a:solidFill>
                      <a:prstDash val="solid"/>
                      <a:round/>
                      <a:headEnd type="none" w="med" len="med"/>
                      <a:tailEnd type="none" w="med" len="med"/>
                    </a:lnB>
                    <a:solidFill>
                      <a:srgbClr val="F2F5F6"/>
                    </a:solidFill>
                  </a:tcPr>
                </a:tc>
                <a:extLst>
                  <a:ext uri="{0D108BD9-81ED-4DB2-BD59-A6C34878D82A}">
                    <a16:rowId xmlns:a16="http://schemas.microsoft.com/office/drawing/2014/main" val="10009"/>
                  </a:ext>
                </a:extLst>
              </a:tr>
            </a:tbl>
          </a:graphicData>
        </a:graphic>
      </p:graphicFrame>
      <p:sp>
        <p:nvSpPr>
          <p:cNvPr id="6" name="Shape 3"/>
          <p:cNvSpPr/>
          <p:nvPr/>
        </p:nvSpPr>
        <p:spPr>
          <a:xfrm>
            <a:off x="8209241" y="2357076"/>
            <a:ext cx="3402274" cy="1368207"/>
          </a:xfrm>
          <a:prstGeom prst="roundRect">
            <a:avLst>
              <a:gd name="adj" fmla="val 6667"/>
            </a:avLst>
          </a:prstGeom>
          <a:solidFill>
            <a:srgbClr val="F2F5F6"/>
          </a:solidFill>
          <a:ln w="12700">
            <a:solidFill>
              <a:srgbClr val="D9E0E3"/>
            </a:solidFill>
            <a:prstDash val="solid"/>
          </a:ln>
        </p:spPr>
        <p:txBody>
          <a:bodyPr/>
          <a:lstStyle/>
          <a:p>
            <a:endParaRPr lang="de-DE" sz="1795"/>
          </a:p>
        </p:txBody>
      </p:sp>
      <p:sp>
        <p:nvSpPr>
          <p:cNvPr id="7" name="Shape 4"/>
          <p:cNvSpPr/>
          <p:nvPr/>
        </p:nvSpPr>
        <p:spPr>
          <a:xfrm>
            <a:off x="8391668" y="2539504"/>
            <a:ext cx="328370" cy="328370"/>
          </a:xfrm>
          <a:prstGeom prst="ellipse">
            <a:avLst/>
          </a:prstGeom>
          <a:solidFill>
            <a:srgbClr val="2C7A3F"/>
          </a:solidFill>
          <a:ln/>
        </p:spPr>
        <p:txBody>
          <a:bodyPr/>
          <a:lstStyle/>
          <a:p>
            <a:endParaRPr lang="de-DE" sz="1795"/>
          </a:p>
        </p:txBody>
      </p:sp>
      <p:sp>
        <p:nvSpPr>
          <p:cNvPr id="8" name="Text 5"/>
          <p:cNvSpPr/>
          <p:nvPr/>
        </p:nvSpPr>
        <p:spPr>
          <a:xfrm>
            <a:off x="8811251" y="2521261"/>
            <a:ext cx="2690807" cy="364855"/>
          </a:xfrm>
          <a:prstGeom prst="rect">
            <a:avLst/>
          </a:prstGeom>
          <a:noFill/>
          <a:ln/>
        </p:spPr>
        <p:txBody>
          <a:bodyPr wrap="square" lIns="0" tIns="0" rIns="0" bIns="0" rtlCol="0" anchor="ctr"/>
          <a:lstStyle/>
          <a:p>
            <a:r>
              <a:rPr lang="en-US" sz="1347" b="1" dirty="0">
                <a:solidFill>
                  <a:srgbClr val="2B343A"/>
                </a:solidFill>
                <a:latin typeface="Calibri" pitchFamily="34" charset="0"/>
                <a:ea typeface="Calibri" pitchFamily="34" charset="-122"/>
                <a:cs typeface="Calibri" pitchFamily="34" charset="-120"/>
              </a:rPr>
              <a:t>Kurze Horizonte</a:t>
            </a:r>
            <a:endParaRPr lang="en-US" sz="1347" dirty="0"/>
          </a:p>
        </p:txBody>
      </p:sp>
      <p:sp>
        <p:nvSpPr>
          <p:cNvPr id="9" name="Text 6"/>
          <p:cNvSpPr/>
          <p:nvPr/>
        </p:nvSpPr>
        <p:spPr>
          <a:xfrm>
            <a:off x="8428153" y="2922602"/>
            <a:ext cx="3055662" cy="729710"/>
          </a:xfrm>
          <a:prstGeom prst="rect">
            <a:avLst/>
          </a:prstGeom>
          <a:noFill/>
          <a:ln/>
        </p:spPr>
        <p:txBody>
          <a:bodyPr wrap="square" lIns="0" tIns="0" rIns="0" bIns="0" rtlCol="0" anchor="t"/>
          <a:lstStyle/>
          <a:p>
            <a:pPr>
              <a:lnSpc>
                <a:spcPct val="105000"/>
              </a:lnSpc>
            </a:pPr>
            <a:r>
              <a:rPr lang="en-US" sz="1147" dirty="0">
                <a:solidFill>
                  <a:srgbClr val="2B343A"/>
                </a:solidFill>
                <a:latin typeface="Calibri" pitchFamily="34" charset="0"/>
                <a:ea typeface="Calibri" pitchFamily="34" charset="-122"/>
                <a:cs typeface="Calibri" pitchFamily="34" charset="-120"/>
              </a:rPr>
              <a:t>TFT und Chronos </a:t>
            </a:r>
            <a:r>
              <a:rPr lang="en-US" sz="1147" dirty="0" err="1">
                <a:solidFill>
                  <a:srgbClr val="2B343A"/>
                </a:solidFill>
                <a:latin typeface="Calibri" pitchFamily="34" charset="0"/>
                <a:ea typeface="Calibri" pitchFamily="34" charset="-122"/>
                <a:cs typeface="Calibri" pitchFamily="34" charset="-120"/>
              </a:rPr>
              <a:t>sind</a:t>
            </a:r>
            <a:r>
              <a:rPr lang="en-US" sz="1147" dirty="0">
                <a:solidFill>
                  <a:srgbClr val="2B343A"/>
                </a:solidFill>
                <a:latin typeface="Calibri" pitchFamily="34" charset="0"/>
                <a:ea typeface="Calibri" pitchFamily="34" charset="-122"/>
                <a:cs typeface="Calibri" pitchFamily="34" charset="-120"/>
              </a:rPr>
              <a:t> </a:t>
            </a:r>
            <a:r>
              <a:rPr lang="en-US" sz="1147" dirty="0" err="1">
                <a:solidFill>
                  <a:srgbClr val="2B343A"/>
                </a:solidFill>
                <a:latin typeface="Calibri" pitchFamily="34" charset="0"/>
                <a:ea typeface="Calibri" pitchFamily="34" charset="-122"/>
                <a:cs typeface="Calibri" pitchFamily="34" charset="-120"/>
              </a:rPr>
              <a:t>konkurrenzfähig</a:t>
            </a:r>
            <a:r>
              <a:rPr lang="en-US" sz="1147" dirty="0">
                <a:solidFill>
                  <a:srgbClr val="2B343A"/>
                </a:solidFill>
                <a:latin typeface="Calibri" pitchFamily="34" charset="0"/>
                <a:ea typeface="Calibri" pitchFamily="34" charset="-122"/>
                <a:cs typeface="Calibri" pitchFamily="34" charset="-120"/>
              </a:rPr>
              <a:t> </a:t>
            </a:r>
            <a:r>
              <a:rPr lang="en-US" sz="1147" dirty="0" err="1">
                <a:solidFill>
                  <a:srgbClr val="2B343A"/>
                </a:solidFill>
                <a:latin typeface="Calibri" pitchFamily="34" charset="0"/>
                <a:ea typeface="Calibri" pitchFamily="34" charset="-122"/>
                <a:cs typeface="Calibri" pitchFamily="34" charset="-120"/>
              </a:rPr>
              <a:t>zu</a:t>
            </a:r>
            <a:r>
              <a:rPr lang="en-US" sz="1147" dirty="0">
                <a:solidFill>
                  <a:srgbClr val="2B343A"/>
                </a:solidFill>
                <a:latin typeface="Calibri" pitchFamily="34" charset="0"/>
                <a:ea typeface="Calibri" pitchFamily="34" charset="-122"/>
                <a:cs typeface="Calibri" pitchFamily="34" charset="-120"/>
              </a:rPr>
              <a:t> </a:t>
            </a:r>
            <a:r>
              <a:rPr lang="en-US" sz="1147" dirty="0" err="1">
                <a:solidFill>
                  <a:srgbClr val="2B343A"/>
                </a:solidFill>
                <a:latin typeface="Calibri" pitchFamily="34" charset="0"/>
                <a:ea typeface="Calibri" pitchFamily="34" charset="-122"/>
                <a:cs typeface="Calibri" pitchFamily="34" charset="-120"/>
              </a:rPr>
              <a:t>Literaturansätzen</a:t>
            </a:r>
            <a:r>
              <a:rPr lang="en-US" sz="1147" dirty="0">
                <a:solidFill>
                  <a:srgbClr val="2B343A"/>
                </a:solidFill>
                <a:latin typeface="Calibri" pitchFamily="34" charset="0"/>
                <a:ea typeface="Calibri" pitchFamily="34" charset="-122"/>
                <a:cs typeface="Calibri" pitchFamily="34" charset="-120"/>
              </a:rPr>
              <a:t> </a:t>
            </a:r>
            <a:r>
              <a:rPr lang="en-US" sz="1147" dirty="0" err="1">
                <a:solidFill>
                  <a:srgbClr val="2B343A"/>
                </a:solidFill>
                <a:latin typeface="Calibri" pitchFamily="34" charset="0"/>
                <a:ea typeface="Calibri" pitchFamily="34" charset="-122"/>
                <a:cs typeface="Calibri" pitchFamily="34" charset="-120"/>
              </a:rPr>
              <a:t>bei</a:t>
            </a:r>
            <a:r>
              <a:rPr lang="en-US" sz="1147" dirty="0">
                <a:solidFill>
                  <a:srgbClr val="2B343A"/>
                </a:solidFill>
                <a:latin typeface="Calibri" pitchFamily="34" charset="0"/>
                <a:ea typeface="Calibri" pitchFamily="34" charset="-122"/>
                <a:cs typeface="Calibri" pitchFamily="34" charset="-120"/>
              </a:rPr>
              <a:t> Kurzen </a:t>
            </a:r>
            <a:r>
              <a:rPr lang="en-US" sz="1147" dirty="0" err="1">
                <a:solidFill>
                  <a:srgbClr val="2B343A"/>
                </a:solidFill>
                <a:latin typeface="Calibri" pitchFamily="34" charset="0"/>
                <a:ea typeface="Calibri" pitchFamily="34" charset="-122"/>
                <a:cs typeface="Calibri" pitchFamily="34" charset="-120"/>
              </a:rPr>
              <a:t>Horizonten</a:t>
            </a:r>
            <a:endParaRPr lang="en-US" sz="1147" dirty="0"/>
          </a:p>
        </p:txBody>
      </p:sp>
      <p:sp>
        <p:nvSpPr>
          <p:cNvPr id="10" name="Shape 7"/>
          <p:cNvSpPr/>
          <p:nvPr/>
        </p:nvSpPr>
        <p:spPr>
          <a:xfrm>
            <a:off x="8209241" y="3862104"/>
            <a:ext cx="3402274" cy="1368207"/>
          </a:xfrm>
          <a:prstGeom prst="roundRect">
            <a:avLst>
              <a:gd name="adj" fmla="val 6667"/>
            </a:avLst>
          </a:prstGeom>
          <a:solidFill>
            <a:srgbClr val="F2F5F6"/>
          </a:solidFill>
          <a:ln w="12700">
            <a:solidFill>
              <a:srgbClr val="D9E0E3"/>
            </a:solidFill>
            <a:prstDash val="solid"/>
          </a:ln>
        </p:spPr>
        <p:txBody>
          <a:bodyPr/>
          <a:lstStyle/>
          <a:p>
            <a:endParaRPr lang="de-DE" sz="1795"/>
          </a:p>
        </p:txBody>
      </p:sp>
      <p:sp>
        <p:nvSpPr>
          <p:cNvPr id="11" name="Shape 8"/>
          <p:cNvSpPr/>
          <p:nvPr/>
        </p:nvSpPr>
        <p:spPr>
          <a:xfrm>
            <a:off x="8391668" y="4044531"/>
            <a:ext cx="328370" cy="328370"/>
          </a:xfrm>
          <a:prstGeom prst="ellipse">
            <a:avLst/>
          </a:prstGeom>
          <a:solidFill>
            <a:srgbClr val="E0912F"/>
          </a:solidFill>
          <a:ln/>
        </p:spPr>
        <p:txBody>
          <a:bodyPr/>
          <a:lstStyle/>
          <a:p>
            <a:endParaRPr lang="de-DE" sz="1795"/>
          </a:p>
        </p:txBody>
      </p:sp>
      <p:sp>
        <p:nvSpPr>
          <p:cNvPr id="12" name="Text 9"/>
          <p:cNvSpPr/>
          <p:nvPr/>
        </p:nvSpPr>
        <p:spPr>
          <a:xfrm>
            <a:off x="8811251" y="4026289"/>
            <a:ext cx="2690807" cy="364855"/>
          </a:xfrm>
          <a:prstGeom prst="rect">
            <a:avLst/>
          </a:prstGeom>
          <a:noFill/>
          <a:ln/>
        </p:spPr>
        <p:txBody>
          <a:bodyPr wrap="square" lIns="0" tIns="0" rIns="0" bIns="0" rtlCol="0" anchor="ctr"/>
          <a:lstStyle/>
          <a:p>
            <a:r>
              <a:rPr lang="en-US" sz="1347" b="1" dirty="0">
                <a:solidFill>
                  <a:srgbClr val="2B343A"/>
                </a:solidFill>
                <a:latin typeface="Calibri" pitchFamily="34" charset="0"/>
                <a:ea typeface="Calibri" pitchFamily="34" charset="-122"/>
                <a:cs typeface="Calibri" pitchFamily="34" charset="-120"/>
              </a:rPr>
              <a:t>Längere Horizonte</a:t>
            </a:r>
            <a:endParaRPr lang="en-US" sz="1347" dirty="0"/>
          </a:p>
        </p:txBody>
      </p:sp>
      <p:sp>
        <p:nvSpPr>
          <p:cNvPr id="13" name="Text 10"/>
          <p:cNvSpPr/>
          <p:nvPr/>
        </p:nvSpPr>
        <p:spPr>
          <a:xfrm>
            <a:off x="8428153" y="4427629"/>
            <a:ext cx="3055662" cy="729710"/>
          </a:xfrm>
          <a:prstGeom prst="rect">
            <a:avLst/>
          </a:prstGeom>
          <a:noFill/>
          <a:ln/>
        </p:spPr>
        <p:txBody>
          <a:bodyPr wrap="square" lIns="0" tIns="0" rIns="0" bIns="0" rtlCol="0" anchor="t"/>
          <a:lstStyle/>
          <a:p>
            <a:pPr>
              <a:lnSpc>
                <a:spcPct val="105000"/>
              </a:lnSpc>
            </a:pPr>
            <a:r>
              <a:rPr lang="en-US" sz="1147" dirty="0">
                <a:solidFill>
                  <a:srgbClr val="2B343A"/>
                </a:solidFill>
                <a:latin typeface="Calibri" pitchFamily="34" charset="0"/>
                <a:ea typeface="Calibri" pitchFamily="34" charset="-122"/>
                <a:cs typeface="Calibri" pitchFamily="34" charset="-120"/>
              </a:rPr>
              <a:t>24–72 h: Fehler steigen erwartungsgemäß; Literatur </a:t>
            </a:r>
            <a:r>
              <a:rPr lang="en-US" sz="1147" dirty="0" err="1">
                <a:solidFill>
                  <a:srgbClr val="2B343A"/>
                </a:solidFill>
                <a:latin typeface="Calibri" pitchFamily="34" charset="0"/>
                <a:ea typeface="Calibri" pitchFamily="34" charset="-122"/>
                <a:cs typeface="Calibri" pitchFamily="34" charset="-120"/>
              </a:rPr>
              <a:t>berichtet</a:t>
            </a:r>
            <a:r>
              <a:rPr lang="en-US" sz="1147" dirty="0">
                <a:solidFill>
                  <a:srgbClr val="2B343A"/>
                </a:solidFill>
                <a:latin typeface="Calibri" pitchFamily="34" charset="0"/>
                <a:ea typeface="Calibri" pitchFamily="34" charset="-122"/>
                <a:cs typeface="Calibri" pitchFamily="34" charset="-120"/>
              </a:rPr>
              <a:t> </a:t>
            </a:r>
            <a:r>
              <a:rPr lang="en-US" sz="1147" dirty="0" err="1">
                <a:solidFill>
                  <a:srgbClr val="2B343A"/>
                </a:solidFill>
                <a:latin typeface="Calibri" pitchFamily="34" charset="0"/>
                <a:ea typeface="Calibri" pitchFamily="34" charset="-122"/>
                <a:cs typeface="Calibri" pitchFamily="34" charset="-120"/>
              </a:rPr>
              <a:t>häufig</a:t>
            </a:r>
            <a:r>
              <a:rPr lang="en-US" sz="1147" dirty="0">
                <a:solidFill>
                  <a:srgbClr val="2B343A"/>
                </a:solidFill>
                <a:latin typeface="Calibri" pitchFamily="34" charset="0"/>
                <a:ea typeface="Calibri" pitchFamily="34" charset="-122"/>
                <a:cs typeface="Calibri" pitchFamily="34" charset="-120"/>
              </a:rPr>
              <a:t> </a:t>
            </a:r>
            <a:r>
              <a:rPr lang="en-US" sz="1147" dirty="0" err="1">
                <a:solidFill>
                  <a:srgbClr val="2B343A"/>
                </a:solidFill>
                <a:latin typeface="Calibri" pitchFamily="34" charset="0"/>
                <a:ea typeface="Calibri" pitchFamily="34" charset="-122"/>
                <a:cs typeface="Calibri" pitchFamily="34" charset="-120"/>
              </a:rPr>
              <a:t>sehr</a:t>
            </a:r>
            <a:r>
              <a:rPr lang="en-US" sz="1147" dirty="0">
                <a:solidFill>
                  <a:srgbClr val="2B343A"/>
                </a:solidFill>
                <a:latin typeface="Calibri" pitchFamily="34" charset="0"/>
                <a:ea typeface="Calibri" pitchFamily="34" charset="-122"/>
                <a:cs typeface="Calibri" pitchFamily="34" charset="-120"/>
              </a:rPr>
              <a:t> </a:t>
            </a:r>
            <a:r>
              <a:rPr lang="en-US" sz="1147" dirty="0" err="1">
                <a:solidFill>
                  <a:srgbClr val="2B343A"/>
                </a:solidFill>
                <a:latin typeface="Calibri" pitchFamily="34" charset="0"/>
                <a:ea typeface="Calibri" pitchFamily="34" charset="-122"/>
                <a:cs typeface="Calibri" pitchFamily="34" charset="-120"/>
              </a:rPr>
              <a:t>kurze</a:t>
            </a:r>
            <a:r>
              <a:rPr lang="en-US" sz="1147" dirty="0">
                <a:solidFill>
                  <a:srgbClr val="2B343A"/>
                </a:solidFill>
                <a:latin typeface="Calibri" pitchFamily="34" charset="0"/>
                <a:ea typeface="Calibri" pitchFamily="34" charset="-122"/>
                <a:cs typeface="Calibri" pitchFamily="34" charset="-120"/>
              </a:rPr>
              <a:t> Horizonte </a:t>
            </a:r>
            <a:r>
              <a:rPr lang="en-US" sz="1147" dirty="0" err="1">
                <a:solidFill>
                  <a:srgbClr val="2B343A"/>
                </a:solidFill>
                <a:latin typeface="Calibri" pitchFamily="34" charset="0"/>
                <a:ea typeface="Calibri" pitchFamily="34" charset="-122"/>
                <a:cs typeface="Calibri" pitchFamily="34" charset="-120"/>
              </a:rPr>
              <a:t>oder</a:t>
            </a:r>
            <a:r>
              <a:rPr lang="en-US" sz="1147" dirty="0">
                <a:solidFill>
                  <a:srgbClr val="2B343A"/>
                </a:solidFill>
                <a:latin typeface="Calibri" pitchFamily="34" charset="0"/>
                <a:ea typeface="Calibri" pitchFamily="34" charset="-122"/>
                <a:cs typeface="Calibri" pitchFamily="34" charset="-120"/>
              </a:rPr>
              <a:t> </a:t>
            </a:r>
            <a:r>
              <a:rPr lang="en-US" sz="1147" dirty="0" err="1">
                <a:solidFill>
                  <a:srgbClr val="2B343A"/>
                </a:solidFill>
                <a:latin typeface="Calibri" pitchFamily="34" charset="0"/>
                <a:ea typeface="Calibri" pitchFamily="34" charset="-122"/>
                <a:cs typeface="Calibri" pitchFamily="34" charset="-120"/>
              </a:rPr>
              <a:t>unfaire</a:t>
            </a:r>
            <a:r>
              <a:rPr lang="en-US" sz="1147" dirty="0">
                <a:solidFill>
                  <a:srgbClr val="2B343A"/>
                </a:solidFill>
                <a:latin typeface="Calibri" pitchFamily="34" charset="0"/>
                <a:ea typeface="Calibri" pitchFamily="34" charset="-122"/>
                <a:cs typeface="Calibri" pitchFamily="34" charset="-120"/>
              </a:rPr>
              <a:t> </a:t>
            </a:r>
            <a:r>
              <a:rPr lang="en-US" sz="1147" dirty="0" err="1">
                <a:solidFill>
                  <a:srgbClr val="2B343A"/>
                </a:solidFill>
                <a:latin typeface="Calibri" pitchFamily="34" charset="0"/>
                <a:ea typeface="Calibri" pitchFamily="34" charset="-122"/>
                <a:cs typeface="Calibri" pitchFamily="34" charset="-120"/>
              </a:rPr>
              <a:t>Annahme</a:t>
            </a:r>
            <a:r>
              <a:rPr lang="en-US" sz="1147" dirty="0">
                <a:solidFill>
                  <a:srgbClr val="2B343A"/>
                </a:solidFill>
                <a:latin typeface="Calibri" pitchFamily="34" charset="0"/>
                <a:ea typeface="Calibri" pitchFamily="34" charset="-122"/>
                <a:cs typeface="Calibri" pitchFamily="34" charset="-120"/>
              </a:rPr>
              <a:t> </a:t>
            </a:r>
            <a:r>
              <a:rPr lang="en-US" sz="1147" dirty="0" err="1">
                <a:solidFill>
                  <a:srgbClr val="2B343A"/>
                </a:solidFill>
                <a:latin typeface="Calibri" pitchFamily="34" charset="0"/>
                <a:ea typeface="Calibri" pitchFamily="34" charset="-122"/>
                <a:cs typeface="Calibri" pitchFamily="34" charset="-120"/>
              </a:rPr>
              <a:t>Langzeitgültiger</a:t>
            </a:r>
            <a:r>
              <a:rPr lang="en-US" sz="1147" dirty="0">
                <a:solidFill>
                  <a:srgbClr val="2B343A"/>
                </a:solidFill>
                <a:latin typeface="Calibri" pitchFamily="34" charset="0"/>
                <a:ea typeface="Calibri" pitchFamily="34" charset="-122"/>
                <a:cs typeface="Calibri" pitchFamily="34" charset="-120"/>
              </a:rPr>
              <a:t> </a:t>
            </a:r>
            <a:r>
              <a:rPr lang="en-US" sz="1147" dirty="0" err="1">
                <a:solidFill>
                  <a:srgbClr val="2B343A"/>
                </a:solidFill>
                <a:latin typeface="Calibri" pitchFamily="34" charset="0"/>
                <a:ea typeface="Calibri" pitchFamily="34" charset="-122"/>
                <a:cs typeface="Calibri" pitchFamily="34" charset="-120"/>
              </a:rPr>
              <a:t>Wetterdaten</a:t>
            </a:r>
            <a:endParaRPr lang="en-US" sz="1147" dirty="0"/>
          </a:p>
        </p:txBody>
      </p:sp>
      <p:sp>
        <p:nvSpPr>
          <p:cNvPr id="18" name="Text 15"/>
          <p:cNvSpPr/>
          <p:nvPr/>
        </p:nvSpPr>
        <p:spPr>
          <a:xfrm>
            <a:off x="547283" y="5937379"/>
            <a:ext cx="11064232" cy="729710"/>
          </a:xfrm>
          <a:prstGeom prst="rect">
            <a:avLst/>
          </a:prstGeom>
          <a:noFill/>
          <a:ln/>
        </p:spPr>
        <p:txBody>
          <a:bodyPr wrap="square" rtlCol="0" anchor="t"/>
          <a:lstStyle/>
          <a:p>
            <a:pPr>
              <a:lnSpc>
                <a:spcPct val="105000"/>
              </a:lnSpc>
            </a:pPr>
            <a:r>
              <a:rPr lang="en-US" sz="1047" b="1" i="1" dirty="0">
                <a:solidFill>
                  <a:srgbClr val="6B767D"/>
                </a:solidFill>
                <a:latin typeface="Calibri" pitchFamily="34" charset="0"/>
                <a:ea typeface="Calibri" pitchFamily="34" charset="-122"/>
                <a:cs typeface="Calibri" pitchFamily="34" charset="-120"/>
              </a:rPr>
              <a:t>Unsere Zahlen: </a:t>
            </a:r>
            <a:r>
              <a:rPr lang="en-US" sz="1047" i="1" dirty="0">
                <a:solidFill>
                  <a:srgbClr val="6B767D"/>
                </a:solidFill>
                <a:latin typeface="Calibri" pitchFamily="34" charset="0"/>
                <a:ea typeface="Calibri" pitchFamily="34" charset="-122"/>
                <a:cs typeface="Calibri" pitchFamily="34" charset="-120"/>
              </a:rPr>
              <a:t>notebooks_fv/05_Modellvergleich_all.ipynb (Rolling-Backtest 01.09.2016–28.02.2017, Mittel über Folds &amp; Stationen). Literatur: Tsokov et al. 2022 (Sustainability 14:5104); WOA-CNN-LSTM-AM (Sci. Total Environ. 2025); FPHFA (Appl. Sci. 2022); WLSTME — je Studie unterschiedlich definiert.</a:t>
            </a:r>
            <a:endParaRPr lang="en-US" sz="1047" dirty="0"/>
          </a:p>
        </p:txBody>
      </p:sp>
      <p:sp>
        <p:nvSpPr>
          <p:cNvPr id="22" name="TextBox 16">
            <a:extLst>
              <a:ext uri="{FF2B5EF4-FFF2-40B4-BE49-F238E27FC236}">
                <a16:creationId xmlns:a16="http://schemas.microsoft.com/office/drawing/2014/main" id="{7756C204-F840-FEAC-A215-EB2F51ADBDF0}"/>
              </a:ext>
            </a:extLst>
          </p:cNvPr>
          <p:cNvSpPr/>
          <p:nvPr/>
        </p:nvSpPr>
        <p:spPr>
          <a:xfrm>
            <a:off x="666366" y="6474476"/>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de-DE" sz="900" b="0" u="none" strike="noStrike" dirty="0">
                <a:solidFill>
                  <a:srgbClr val="6C7278"/>
                </a:solidFill>
                <a:effectLst/>
                <a:uFillTx/>
                <a:latin typeface="Calibri"/>
              </a:rPr>
              <a:t>PM2.5-Prognose Beijing  ·  Prophet, Chronos &amp; TFT  ·  CRISP-DM</a:t>
            </a:r>
            <a:endParaRPr lang="de-DE" sz="900" b="0" u="none" strike="noStrike" dirty="0">
              <a:solidFill>
                <a:srgbClr val="000000"/>
              </a:solidFill>
              <a:effectLst/>
              <a:uFillTx/>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4197E-E193-913B-3AF8-827D360E7146}"/>
            </a:ext>
          </a:extLst>
        </p:cNvPr>
        <p:cNvGrpSpPr/>
        <p:nvPr/>
      </p:nvGrpSpPr>
      <p:grpSpPr>
        <a:xfrm>
          <a:off x="0" y="0"/>
          <a:ext cx="0" cy="0"/>
          <a:chOff x="0" y="0"/>
          <a:chExt cx="0" cy="0"/>
        </a:xfrm>
      </p:grpSpPr>
      <p:sp>
        <p:nvSpPr>
          <p:cNvPr id="40" name="Footer">
            <a:extLst>
              <a:ext uri="{FF2B5EF4-FFF2-40B4-BE49-F238E27FC236}">
                <a16:creationId xmlns:a16="http://schemas.microsoft.com/office/drawing/2014/main" id="{F0BE1362-756D-1D8D-C4A0-8D8261A9D450}"/>
              </a:ext>
            </a:extLst>
          </p:cNvPr>
          <p:cNvSpPr/>
          <p:nvPr/>
        </p:nvSpPr>
        <p:spPr>
          <a:xfrm>
            <a:off x="471113" y="6411762"/>
            <a:ext cx="7296743" cy="13753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4917"/>
            <a:r>
              <a:rPr lang="de-DE" sz="896" dirty="0">
                <a:solidFill>
                  <a:srgbClr val="6C7278"/>
                </a:solidFill>
                <a:latin typeface="Aptos" panose="02110004020202020204"/>
              </a:rPr>
              <a:t>PM2.5-Prognose Beijing  ·  Prophet, Chronos &amp; TFT  ·  CRISP-DM</a:t>
            </a:r>
            <a:endParaRPr lang="de-DE" sz="896" dirty="0">
              <a:solidFill>
                <a:srgbClr val="000000"/>
              </a:solidFill>
              <a:latin typeface="Arial"/>
            </a:endParaRPr>
          </a:p>
        </p:txBody>
      </p:sp>
      <p:sp>
        <p:nvSpPr>
          <p:cNvPr id="8" name="Titel 7">
            <a:extLst>
              <a:ext uri="{FF2B5EF4-FFF2-40B4-BE49-F238E27FC236}">
                <a16:creationId xmlns:a16="http://schemas.microsoft.com/office/drawing/2014/main" id="{66519CB5-0C35-B939-CD6D-A2C8F478421A}"/>
              </a:ext>
            </a:extLst>
          </p:cNvPr>
          <p:cNvSpPr>
            <a:spLocks noGrp="1"/>
          </p:cNvSpPr>
          <p:nvPr>
            <p:ph type="title"/>
          </p:nvPr>
        </p:nvSpPr>
        <p:spPr/>
        <p:txBody>
          <a:bodyPr/>
          <a:lstStyle/>
          <a:p>
            <a:endParaRPr lang="de-DE"/>
          </a:p>
        </p:txBody>
      </p:sp>
      <p:sp>
        <p:nvSpPr>
          <p:cNvPr id="12" name="Rectangle 1">
            <a:extLst>
              <a:ext uri="{FF2B5EF4-FFF2-40B4-BE49-F238E27FC236}">
                <a16:creationId xmlns:a16="http://schemas.microsoft.com/office/drawing/2014/main" id="{46E5C5C4-06DB-371E-25E8-1947C41AB0D9}"/>
              </a:ext>
            </a:extLst>
          </p:cNvPr>
          <p:cNvSpPr/>
          <p:nvPr/>
        </p:nvSpPr>
        <p:spPr>
          <a:xfrm>
            <a:off x="15044" y="8483"/>
            <a:ext cx="12131074" cy="6840674"/>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89777" tIns="44889" rIns="89777" bIns="44889" anchor="ctr">
            <a:noAutofit/>
          </a:bodyPr>
          <a:lstStyle/>
          <a:p>
            <a:pPr algn="ctr" defTabSz="456057"/>
            <a:endParaRPr lang="en-US" sz="1795">
              <a:solidFill>
                <a:prstClr val="white"/>
              </a:solidFill>
              <a:latin typeface="Calibri"/>
            </a:endParaRPr>
          </a:p>
        </p:txBody>
      </p:sp>
      <p:sp>
        <p:nvSpPr>
          <p:cNvPr id="14" name="NumberBadgeCircle">
            <a:extLst>
              <a:ext uri="{FF2B5EF4-FFF2-40B4-BE49-F238E27FC236}">
                <a16:creationId xmlns:a16="http://schemas.microsoft.com/office/drawing/2014/main" id="{FA1CB9B5-75E3-7A30-2A78-11DD2B27176A}"/>
              </a:ext>
            </a:extLst>
          </p:cNvPr>
          <p:cNvSpPr/>
          <p:nvPr/>
        </p:nvSpPr>
        <p:spPr>
          <a:xfrm>
            <a:off x="471113" y="464552"/>
            <a:ext cx="1048599" cy="1048599"/>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defTabSz="912114">
              <a:defRPr/>
            </a:pPr>
            <a:endParaRPr sz="1795">
              <a:solidFill>
                <a:srgbClr val="000000"/>
              </a:solidFill>
              <a:latin typeface="Calibri"/>
            </a:endParaRPr>
          </a:p>
        </p:txBody>
      </p:sp>
      <p:sp>
        <p:nvSpPr>
          <p:cNvPr id="16" name="NumberBadgeText">
            <a:extLst>
              <a:ext uri="{FF2B5EF4-FFF2-40B4-BE49-F238E27FC236}">
                <a16:creationId xmlns:a16="http://schemas.microsoft.com/office/drawing/2014/main" id="{5DBFF739-A97C-FA1D-8449-A220C0675CA7}"/>
              </a:ext>
            </a:extLst>
          </p:cNvPr>
          <p:cNvSpPr/>
          <p:nvPr/>
        </p:nvSpPr>
        <p:spPr>
          <a:xfrm>
            <a:off x="471113" y="758591"/>
            <a:ext cx="1048599" cy="46052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6057">
              <a:defRPr/>
            </a:pPr>
            <a:r>
              <a:rPr lang="de-DE" sz="2993" b="1" dirty="0">
                <a:solidFill>
                  <a:srgbClr val="FFFFFF"/>
                </a:solidFill>
                <a:latin typeface="Cambria"/>
              </a:rPr>
              <a:t>6</a:t>
            </a:r>
            <a:endParaRPr lang="de-DE" sz="1197" dirty="0">
              <a:solidFill>
                <a:srgbClr val="000000"/>
              </a:solidFill>
              <a:latin typeface="Calibri"/>
            </a:endParaRPr>
          </a:p>
        </p:txBody>
      </p:sp>
      <p:sp>
        <p:nvSpPr>
          <p:cNvPr id="18" name="TitleText">
            <a:extLst>
              <a:ext uri="{FF2B5EF4-FFF2-40B4-BE49-F238E27FC236}">
                <a16:creationId xmlns:a16="http://schemas.microsoft.com/office/drawing/2014/main" id="{F37ECFAB-77CE-BA2D-BF35-42B672E6A7F1}"/>
              </a:ext>
            </a:extLst>
          </p:cNvPr>
          <p:cNvSpPr/>
          <p:nvPr/>
        </p:nvSpPr>
        <p:spPr>
          <a:xfrm>
            <a:off x="1702499" y="464554"/>
            <a:ext cx="9121019" cy="42982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defRPr/>
            </a:pPr>
            <a:r>
              <a:rPr lang="de-DE" sz="2793" b="1" dirty="0">
                <a:solidFill>
                  <a:srgbClr val="22272B"/>
                </a:solidFill>
                <a:latin typeface="Cambria"/>
              </a:rPr>
              <a:t>Vergleichende Ergebnisse aus der Literatur</a:t>
            </a:r>
            <a:endParaRPr lang="de-DE" sz="2793" dirty="0">
              <a:solidFill>
                <a:srgbClr val="000000"/>
              </a:solidFill>
              <a:latin typeface="Calibri"/>
            </a:endParaRPr>
          </a:p>
        </p:txBody>
      </p:sp>
      <p:sp>
        <p:nvSpPr>
          <p:cNvPr id="20" name="KickerText">
            <a:extLst>
              <a:ext uri="{FF2B5EF4-FFF2-40B4-BE49-F238E27FC236}">
                <a16:creationId xmlns:a16="http://schemas.microsoft.com/office/drawing/2014/main" id="{52A4EACB-4629-D90F-0B7B-6CC953FE6370}"/>
              </a:ext>
            </a:extLst>
          </p:cNvPr>
          <p:cNvSpPr/>
          <p:nvPr/>
        </p:nvSpPr>
        <p:spPr>
          <a:xfrm>
            <a:off x="1720813" y="1121363"/>
            <a:ext cx="9121019" cy="21491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defRPr/>
            </a:pPr>
            <a:r>
              <a:rPr lang="de-DE" sz="1397" b="1" dirty="0">
                <a:solidFill>
                  <a:srgbClr val="E0912F"/>
                </a:solidFill>
                <a:latin typeface="Calibri"/>
              </a:rPr>
              <a:t>CRISP-DM   ·   </a:t>
            </a:r>
            <a:r>
              <a:rPr lang="de-DE" sz="1397" b="1" dirty="0" err="1">
                <a:solidFill>
                  <a:srgbClr val="E0912F"/>
                </a:solidFill>
                <a:latin typeface="Calibri"/>
              </a:rPr>
              <a:t>Deployment</a:t>
            </a:r>
            <a:endParaRPr lang="de-DE" sz="1197" dirty="0">
              <a:solidFill>
                <a:srgbClr val="000000"/>
              </a:solidFill>
              <a:latin typeface="Calibri"/>
            </a:endParaRPr>
          </a:p>
        </p:txBody>
      </p:sp>
      <p:pic>
        <p:nvPicPr>
          <p:cNvPr id="41" name="Picture 40" descr="p22_fig.png"/>
          <p:cNvPicPr>
            <a:picLocks noChangeAspect="1"/>
          </p:cNvPicPr>
          <p:nvPr/>
        </p:nvPicPr>
        <p:blipFill>
          <a:blip r:embed="rId2"/>
          <a:stretch>
            <a:fillRect/>
          </a:stretch>
        </p:blipFill>
        <p:spPr>
          <a:xfrm>
            <a:off x="547283" y="1595424"/>
            <a:ext cx="5349688" cy="2223713"/>
          </a:xfrm>
          <a:prstGeom prst="rect">
            <a:avLst/>
          </a:prstGeom>
          <a:effectLst/>
        </p:spPr>
      </p:pic>
      <p:sp>
        <p:nvSpPr>
          <p:cNvPr id="42" name="TextBox 41"/>
          <p:cNvSpPr txBox="1"/>
          <p:nvPr/>
        </p:nvSpPr>
        <p:spPr>
          <a:xfrm>
            <a:off x="547283" y="3814206"/>
            <a:ext cx="5349688" cy="245293"/>
          </a:xfrm>
          <a:prstGeom prst="rect">
            <a:avLst/>
          </a:prstGeom>
          <a:noFill/>
        </p:spPr>
        <p:txBody>
          <a:bodyPr wrap="square">
            <a:spAutoFit/>
          </a:bodyPr>
          <a:lstStyle/>
          <a:p>
            <a:pPr defTabSz="912114"/>
            <a:r>
              <a:rPr sz="998" i="1" dirty="0">
                <a:solidFill>
                  <a:srgbClr val="6C7278"/>
                </a:solidFill>
                <a:latin typeface="Calibri"/>
              </a:rPr>
              <a:t>Abb. 1: </a:t>
            </a:r>
            <a:r>
              <a:rPr sz="998" i="1" dirty="0" err="1">
                <a:solidFill>
                  <a:srgbClr val="6C7278"/>
                </a:solidFill>
                <a:latin typeface="Calibri"/>
              </a:rPr>
              <a:t>Prognosegüte</a:t>
            </a:r>
            <a:r>
              <a:rPr sz="998" i="1" dirty="0">
                <a:solidFill>
                  <a:srgbClr val="6C7278"/>
                </a:solidFill>
                <a:latin typeface="Calibri"/>
              </a:rPr>
              <a:t> (MAE/RMSE) </a:t>
            </a:r>
            <a:r>
              <a:rPr sz="998" i="1" dirty="0" err="1">
                <a:solidFill>
                  <a:srgbClr val="6C7278"/>
                </a:solidFill>
                <a:latin typeface="Calibri"/>
              </a:rPr>
              <a:t>verschiedener</a:t>
            </a:r>
            <a:r>
              <a:rPr sz="998" i="1" dirty="0">
                <a:solidFill>
                  <a:srgbClr val="6C7278"/>
                </a:solidFill>
                <a:latin typeface="Calibri"/>
              </a:rPr>
              <a:t> Modelle </a:t>
            </a:r>
            <a:r>
              <a:rPr sz="998" i="1" dirty="0" err="1">
                <a:solidFill>
                  <a:srgbClr val="6C7278"/>
                </a:solidFill>
                <a:latin typeface="Calibri"/>
              </a:rPr>
              <a:t>im</a:t>
            </a:r>
            <a:r>
              <a:rPr sz="998" i="1" dirty="0">
                <a:solidFill>
                  <a:srgbClr val="6C7278"/>
                </a:solidFill>
                <a:latin typeface="Calibri"/>
              </a:rPr>
              <a:t> </a:t>
            </a:r>
            <a:r>
              <a:rPr sz="998" i="1" dirty="0" err="1">
                <a:solidFill>
                  <a:srgbClr val="6C7278"/>
                </a:solidFill>
                <a:latin typeface="Calibri"/>
              </a:rPr>
              <a:t>Vergleich</a:t>
            </a:r>
            <a:r>
              <a:rPr sz="998" i="1" dirty="0">
                <a:solidFill>
                  <a:srgbClr val="6C7278"/>
                </a:solidFill>
                <a:latin typeface="Calibri"/>
              </a:rPr>
              <a:t> – Milli (2025).</a:t>
            </a:r>
          </a:p>
        </p:txBody>
      </p:sp>
      <p:sp>
        <p:nvSpPr>
          <p:cNvPr id="43" name="Rounded Rectangle 42"/>
          <p:cNvSpPr/>
          <p:nvPr/>
        </p:nvSpPr>
        <p:spPr>
          <a:xfrm>
            <a:off x="547283" y="4129443"/>
            <a:ext cx="5349688" cy="1866243"/>
          </a:xfrm>
          <a:prstGeom prst="roundRect">
            <a:avLst>
              <a:gd name="adj" fmla="val 6000"/>
            </a:avLst>
          </a:prstGeom>
          <a:solidFill>
            <a:srgbClr val="FBEEDD"/>
          </a:solidFill>
          <a:ln>
            <a:noFill/>
          </a:ln>
          <a:effectLst/>
        </p:spPr>
        <p:style>
          <a:lnRef idx="1">
            <a:schemeClr val="accent1"/>
          </a:lnRef>
          <a:fillRef idx="3">
            <a:schemeClr val="accent1"/>
          </a:fillRef>
          <a:effectRef idx="2">
            <a:schemeClr val="accent1"/>
          </a:effectRef>
          <a:fontRef idx="minor">
            <a:schemeClr val="lt1"/>
          </a:fontRef>
        </p:style>
        <p:txBody>
          <a:bodyPr wrap="square" lIns="159604" tIns="89777" rIns="159604" bIns="89777" rtlCol="0" anchor="ctr"/>
          <a:lstStyle/>
          <a:p>
            <a:pPr defTabSz="912114"/>
            <a:r>
              <a:rPr lang="de-DE" b="1" dirty="0">
                <a:solidFill>
                  <a:srgbClr val="22272B"/>
                </a:solidFill>
                <a:latin typeface="Cambria"/>
              </a:rPr>
              <a:t>Kurzfristige Hybridmodelle weisen hohe Modellgüte auf. Auch vergleichende Arbeiten stoßen auf das Problem stark variierender Modellgüte je nach Situation!</a:t>
            </a:r>
            <a:endParaRPr b="1" dirty="0">
              <a:solidFill>
                <a:srgbClr val="22272B"/>
              </a:solidFill>
              <a:latin typeface="Cambria"/>
            </a:endParaRPr>
          </a:p>
        </p:txBody>
      </p:sp>
      <p:pic>
        <p:nvPicPr>
          <p:cNvPr id="44" name="Picture 43" descr="p16_fig5_prophet.png"/>
          <p:cNvPicPr>
            <a:picLocks noChangeAspect="1"/>
          </p:cNvPicPr>
          <p:nvPr/>
        </p:nvPicPr>
        <p:blipFill>
          <a:blip r:embed="rId3"/>
          <a:stretch>
            <a:fillRect/>
          </a:stretch>
        </p:blipFill>
        <p:spPr>
          <a:xfrm>
            <a:off x="6861557" y="1467904"/>
            <a:ext cx="4150227" cy="4150227"/>
          </a:xfrm>
          <a:prstGeom prst="rect">
            <a:avLst/>
          </a:prstGeom>
          <a:effectLst/>
        </p:spPr>
      </p:pic>
      <p:sp>
        <p:nvSpPr>
          <p:cNvPr id="45" name="TextBox 44"/>
          <p:cNvSpPr txBox="1"/>
          <p:nvPr/>
        </p:nvSpPr>
        <p:spPr>
          <a:xfrm>
            <a:off x="6261826" y="5672859"/>
            <a:ext cx="5349688" cy="398480"/>
          </a:xfrm>
          <a:prstGeom prst="rect">
            <a:avLst/>
          </a:prstGeom>
          <a:noFill/>
        </p:spPr>
        <p:txBody>
          <a:bodyPr wrap="square">
            <a:spAutoFit/>
          </a:bodyPr>
          <a:lstStyle/>
          <a:p>
            <a:pPr defTabSz="912114"/>
            <a:r>
              <a:rPr sz="998" i="1">
                <a:solidFill>
                  <a:srgbClr val="6C7278"/>
                </a:solidFill>
                <a:latin typeface="Calibri"/>
              </a:rPr>
              <a:t>Abb. 2: FBProphet-Vorhersage über 168 h unter der „Perfect-Prognosis“-Annahme – Woche 1 (oben, gute Anpassung) vs. Woche 18 (unten, deutliche Abweichung). Gondal et al. (2026).</a:t>
            </a:r>
          </a:p>
        </p:txBody>
      </p:sp>
      <p:sp>
        <p:nvSpPr>
          <p:cNvPr id="3" name="TextBox 16">
            <a:extLst>
              <a:ext uri="{FF2B5EF4-FFF2-40B4-BE49-F238E27FC236}">
                <a16:creationId xmlns:a16="http://schemas.microsoft.com/office/drawing/2014/main" id="{C0062009-A722-5F64-C86B-7DEE210AB82F}"/>
              </a:ext>
            </a:extLst>
          </p:cNvP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de-DE" sz="900" b="0" u="none" strike="noStrike" dirty="0">
                <a:solidFill>
                  <a:srgbClr val="6C7278"/>
                </a:solidFill>
                <a:effectLst/>
                <a:uFillTx/>
                <a:latin typeface="Calibri"/>
              </a:rPr>
              <a:t>PM2.5-Prognose Beijing  ·  Prophet, Chronos &amp; TFT  ·  CRISP-DM</a:t>
            </a:r>
            <a:endParaRPr lang="de-DE" sz="900" b="0" u="none" strike="noStrike" dirty="0">
              <a:solidFill>
                <a:srgbClr val="000000"/>
              </a:solidFill>
              <a:effectLst/>
              <a:uFillTx/>
              <a:latin typeface="Arial"/>
            </a:endParaRPr>
          </a:p>
        </p:txBody>
      </p:sp>
    </p:spTree>
    <p:extLst>
      <p:ext uri="{BB962C8B-B14F-4D97-AF65-F5344CB8AC3E}">
        <p14:creationId xmlns:p14="http://schemas.microsoft.com/office/powerpoint/2010/main" val="13848282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7D647076-D88E-52D7-5750-CB0822C92CD8}"/>
              </a:ext>
            </a:extLst>
          </p:cNvPr>
          <p:cNvSpPr/>
          <p:nvPr/>
        </p:nvSpPr>
        <p:spPr>
          <a:xfrm>
            <a:off x="0" y="0"/>
            <a:ext cx="12161160" cy="6857640"/>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99" name="Rectangle Background"/>
          <p:cNvSpPr/>
          <p:nvPr/>
        </p:nvSpPr>
        <p:spPr>
          <a:xfrm>
            <a:off x="-74559" y="116106"/>
            <a:ext cx="12161160" cy="6857640"/>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mn-ea"/>
              <a:cs typeface="+mn-cs"/>
            </a:endParaRPr>
          </a:p>
        </p:txBody>
      </p:sp>
      <p:grpSp>
        <p:nvGrpSpPr>
          <p:cNvPr id="2" name="Gruppieren 1">
            <a:extLst>
              <a:ext uri="{FF2B5EF4-FFF2-40B4-BE49-F238E27FC236}">
                <a16:creationId xmlns:a16="http://schemas.microsoft.com/office/drawing/2014/main" id="{8A2428D6-E840-CB1A-3F80-4420A524AA81}"/>
              </a:ext>
            </a:extLst>
          </p:cNvPr>
          <p:cNvGrpSpPr/>
          <p:nvPr/>
        </p:nvGrpSpPr>
        <p:grpSpPr>
          <a:xfrm>
            <a:off x="457200" y="457200"/>
            <a:ext cx="1051200" cy="1051200"/>
            <a:chOff x="457200" y="457200"/>
            <a:chExt cx="1051200" cy="1051200"/>
          </a:xfrm>
        </p:grpSpPr>
        <p:sp>
          <p:nvSpPr>
            <p:cNvPr id="200" name="NumberBadgeCircle"/>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mn-ea"/>
                <a:cs typeface="+mn-cs"/>
              </a:endParaRPr>
            </a:p>
          </p:txBody>
        </p:sp>
        <p:sp>
          <p:nvSpPr>
            <p:cNvPr id="201" name="NumberBadgeText"/>
            <p:cNvSpPr/>
            <p:nvPr/>
          </p:nvSpPr>
          <p:spPr>
            <a:xfrm>
              <a:off x="457200" y="751967"/>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3000" b="1" i="0" u="none" strike="noStrike" kern="1200" cap="none" spc="0" normalizeH="0" baseline="0" noProof="0" dirty="0">
                  <a:ln>
                    <a:noFill/>
                  </a:ln>
                  <a:solidFill>
                    <a:srgbClr val="FFFFFF"/>
                  </a:solidFill>
                  <a:effectLst/>
                  <a:uLnTx/>
                  <a:uFillTx/>
                  <a:latin typeface="Cambria"/>
                  <a:ea typeface="+mn-ea"/>
                  <a:cs typeface="+mn-cs"/>
                </a:rPr>
                <a:t>4</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grpSp>
      <p:sp>
        <p:nvSpPr>
          <p:cNvPr id="202" name="TitleText"/>
          <p:cNvSpPr/>
          <p:nvPr/>
        </p:nvSpPr>
        <p:spPr>
          <a:xfrm>
            <a:off x="1691640" y="457200"/>
            <a:ext cx="9143640" cy="49244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DE" sz="3200" b="1" dirty="0">
                <a:solidFill>
                  <a:srgbClr val="22272B"/>
                </a:solidFill>
                <a:latin typeface="Cambria"/>
              </a:rPr>
              <a:t>Ergänzend - </a:t>
            </a:r>
            <a:r>
              <a:rPr kumimoji="0" lang="de-DE" sz="3200" b="1" i="0" u="none" strike="noStrike" kern="1200" cap="none" spc="0" normalizeH="0" baseline="0" noProof="0" dirty="0">
                <a:ln>
                  <a:noFill/>
                </a:ln>
                <a:solidFill>
                  <a:srgbClr val="22272B"/>
                </a:solidFill>
                <a:effectLst/>
                <a:uLnTx/>
                <a:uFillTx/>
                <a:latin typeface="Cambria"/>
                <a:ea typeface="+mn-ea"/>
                <a:cs typeface="+mn-cs"/>
              </a:rPr>
              <a:t>Räumliche </a:t>
            </a:r>
            <a:r>
              <a:rPr kumimoji="0" lang="de-DE" sz="3200" b="1" i="0" u="none" strike="noStrike" kern="1200" cap="none" spc="0" normalizeH="0" baseline="0" noProof="0" dirty="0" err="1">
                <a:ln>
                  <a:noFill/>
                </a:ln>
                <a:solidFill>
                  <a:srgbClr val="22272B"/>
                </a:solidFill>
                <a:effectLst/>
                <a:uLnTx/>
                <a:uFillTx/>
                <a:latin typeface="Cambria"/>
                <a:ea typeface="+mn-ea"/>
                <a:cs typeface="+mn-cs"/>
              </a:rPr>
              <a:t>Kovariate</a:t>
            </a:r>
            <a:r>
              <a:rPr kumimoji="0" lang="de-DE" sz="3200" b="1" i="0" u="none" strike="noStrike" kern="1200" cap="none" spc="0" normalizeH="0" baseline="0" noProof="0" dirty="0">
                <a:ln>
                  <a:noFill/>
                </a:ln>
                <a:solidFill>
                  <a:srgbClr val="22272B"/>
                </a:solidFill>
                <a:effectLst/>
                <a:uLnTx/>
                <a:uFillTx/>
                <a:latin typeface="Cambria"/>
                <a:ea typeface="+mn-ea"/>
                <a:cs typeface="+mn-cs"/>
              </a:rPr>
              <a:t>: </a:t>
            </a:r>
            <a:r>
              <a:rPr kumimoji="0" lang="de-DE" sz="3200" b="1" i="0" u="none" strike="noStrike" kern="1200" cap="none" spc="0" normalizeH="0" baseline="0" noProof="0" dirty="0" err="1">
                <a:ln>
                  <a:noFill/>
                </a:ln>
                <a:solidFill>
                  <a:srgbClr val="22272B"/>
                </a:solidFill>
                <a:effectLst/>
                <a:uLnTx/>
                <a:uFillTx/>
                <a:latin typeface="Cambria"/>
                <a:ea typeface="+mn-ea"/>
                <a:cs typeface="+mn-cs"/>
              </a:rPr>
              <a:t>upwind_y</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03" name="KickerText"/>
          <p:cNvSpPr/>
          <p:nvPr/>
        </p:nvSpPr>
        <p:spPr>
          <a:xfrm>
            <a:off x="1710000" y="1115640"/>
            <a:ext cx="9143640" cy="21544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rgbClr val="E0912F"/>
                </a:solidFill>
                <a:effectLst/>
                <a:uLnTx/>
                <a:uFillTx/>
                <a:latin typeface="Calibri"/>
                <a:ea typeface="+mn-ea"/>
                <a:cs typeface="+mn-cs"/>
              </a:rPr>
              <a:t>CRISP-DM   ·   Modeling</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04" name="SectionLabel"/>
          <p:cNvSpPr/>
          <p:nvPr/>
        </p:nvSpPr>
        <p:spPr>
          <a:xfrm>
            <a:off x="502920" y="1828800"/>
            <a:ext cx="5619187" cy="1107996"/>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150" normalizeH="0" baseline="0" noProof="0" dirty="0">
                <a:ln>
                  <a:noFill/>
                </a:ln>
                <a:solidFill>
                  <a:srgbClr val="6C7278"/>
                </a:solidFill>
                <a:effectLst/>
                <a:uLnTx/>
                <a:uFillTx/>
                <a:latin typeface="Calibri"/>
                <a:ea typeface="+mn-ea"/>
                <a:cs typeface="+mn-cs"/>
              </a:rPr>
              <a:t>GRUNDIDEE: Neben zeitlichen sind räumliche Effekte relevant für die </a:t>
            </a:r>
            <a:r>
              <a:rPr kumimoji="0" lang="de-DE" sz="1200" b="1" i="0" u="none" strike="noStrike" kern="1200" cap="none" spc="150" normalizeH="0" baseline="0" noProof="0" dirty="0" err="1">
                <a:ln>
                  <a:noFill/>
                </a:ln>
                <a:solidFill>
                  <a:srgbClr val="6C7278"/>
                </a:solidFill>
                <a:effectLst/>
                <a:uLnTx/>
                <a:uFillTx/>
                <a:latin typeface="Calibri"/>
                <a:ea typeface="+mn-ea"/>
                <a:cs typeface="+mn-cs"/>
              </a:rPr>
              <a:t>Prognoseg</a:t>
            </a:r>
            <a:r>
              <a:rPr lang="de-DE" sz="1200" b="1" spc="150" dirty="0" err="1">
                <a:solidFill>
                  <a:srgbClr val="6C7278"/>
                </a:solidFill>
                <a:latin typeface="Calibri"/>
              </a:rPr>
              <a:t>üte</a:t>
            </a:r>
            <a:r>
              <a:rPr lang="de-DE" sz="1200" b="1" spc="150" dirty="0">
                <a:solidFill>
                  <a:srgbClr val="6C7278"/>
                </a:solidFill>
                <a:latin typeface="Calibri"/>
              </a:rPr>
              <a:t>: Windrichtung, - </a:t>
            </a:r>
            <a:r>
              <a:rPr lang="de-DE" sz="1200" b="1" spc="150" dirty="0" err="1">
                <a:solidFill>
                  <a:srgbClr val="6C7278"/>
                </a:solidFill>
                <a:latin typeface="Calibri"/>
              </a:rPr>
              <a:t>geschwindigkeit</a:t>
            </a:r>
            <a:r>
              <a:rPr lang="de-DE" sz="1200" b="1" spc="150" dirty="0">
                <a:solidFill>
                  <a:srgbClr val="6C7278"/>
                </a:solidFill>
                <a:latin typeface="Calibri"/>
              </a:rPr>
              <a:t> und räumliche Position von 2 Stationen zueinander unter Berücksichtigung der Feinstaubwerte der letzten Stunden sind sehr relevante Informationen für die Feinstaubprognose. Im Folgenden wird daher der Effekt dieser zusätzlichen </a:t>
            </a:r>
            <a:r>
              <a:rPr lang="de-DE" sz="1200" b="1" spc="150" dirty="0" err="1">
                <a:solidFill>
                  <a:srgbClr val="6C7278"/>
                </a:solidFill>
                <a:latin typeface="Calibri"/>
              </a:rPr>
              <a:t>Kovariate</a:t>
            </a:r>
            <a:r>
              <a:rPr lang="de-DE" sz="1200" b="1" spc="150" dirty="0">
                <a:solidFill>
                  <a:srgbClr val="6C7278"/>
                </a:solidFill>
                <a:latin typeface="Calibri"/>
              </a:rPr>
              <a:t> berücksichtigt. </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07" name="StepCircle"/>
          <p:cNvSpPr/>
          <p:nvPr/>
        </p:nvSpPr>
        <p:spPr>
          <a:xfrm>
            <a:off x="456152" y="3394287"/>
            <a:ext cx="460000" cy="460000"/>
          </a:xfrm>
          <a:prstGeom prst="ellipse">
            <a:avLst/>
          </a:prstGeom>
          <a:solidFill>
            <a:srgbClr val="F3E4C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mn-ea"/>
              <a:cs typeface="+mn-cs"/>
            </a:endParaRPr>
          </a:p>
        </p:txBody>
      </p:sp>
      <p:sp>
        <p:nvSpPr>
          <p:cNvPr id="208" name="StepNumber"/>
          <p:cNvSpPr/>
          <p:nvPr/>
        </p:nvSpPr>
        <p:spPr>
          <a:xfrm>
            <a:off x="456152" y="3402859"/>
            <a:ext cx="460000" cy="46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rgbClr val="E0912F"/>
                </a:solidFill>
                <a:effectLst/>
                <a:uLnTx/>
                <a:uFillTx/>
                <a:latin typeface="Cambria"/>
                <a:ea typeface="+mn-ea"/>
                <a:cs typeface="+mn-cs"/>
              </a:rPr>
              <a:t>1</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09" name="StepText"/>
          <p:cNvSpPr/>
          <p:nvPr/>
        </p:nvSpPr>
        <p:spPr>
          <a:xfrm>
            <a:off x="1142920" y="3419980"/>
            <a:ext cx="6217640" cy="42575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a:pPr>
            <a:r>
              <a:rPr kumimoji="0" lang="de-DE" sz="1400" b="1" i="0" u="none" strike="noStrike" kern="1200" cap="none" spc="0" normalizeH="0" baseline="0" noProof="0" dirty="0">
                <a:ln>
                  <a:noFill/>
                </a:ln>
                <a:solidFill>
                  <a:srgbClr val="22272B"/>
                </a:solidFill>
                <a:effectLst/>
                <a:uLnTx/>
                <a:uFillTx/>
                <a:latin typeface="Calibri"/>
                <a:ea typeface="+mn-ea"/>
                <a:cs typeface="+mn-cs"/>
              </a:rPr>
              <a:t>Berechnung von Distanz &amp; Peilung</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de-DE" sz="1200" dirty="0">
                <a:solidFill>
                  <a:srgbClr val="6C7278"/>
                </a:solidFill>
                <a:latin typeface="Calibri"/>
              </a:rPr>
              <a:t>zwischen </a:t>
            </a:r>
            <a:r>
              <a:rPr kumimoji="0" lang="de-DE" sz="1200" b="0" i="0" u="none" strike="noStrike" kern="1200" cap="none" spc="0" normalizeH="0" baseline="0" noProof="0" dirty="0">
                <a:ln>
                  <a:noFill/>
                </a:ln>
                <a:solidFill>
                  <a:srgbClr val="6C7278"/>
                </a:solidFill>
                <a:effectLst/>
                <a:uLnTx/>
                <a:uFillTx/>
                <a:latin typeface="Calibri"/>
                <a:ea typeface="+mn-ea"/>
                <a:cs typeface="+mn-cs"/>
              </a:rPr>
              <a:t>Ziel- und Nachbarstation</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10" name="StepCircle"/>
          <p:cNvSpPr/>
          <p:nvPr/>
        </p:nvSpPr>
        <p:spPr>
          <a:xfrm>
            <a:off x="456152" y="4090740"/>
            <a:ext cx="460000" cy="460000"/>
          </a:xfrm>
          <a:prstGeom prst="ellipse">
            <a:avLst/>
          </a:prstGeom>
          <a:solidFill>
            <a:srgbClr val="F3E4C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mn-ea"/>
              <a:cs typeface="+mn-cs"/>
            </a:endParaRPr>
          </a:p>
        </p:txBody>
      </p:sp>
      <p:sp>
        <p:nvSpPr>
          <p:cNvPr id="211" name="StepNumber"/>
          <p:cNvSpPr/>
          <p:nvPr/>
        </p:nvSpPr>
        <p:spPr>
          <a:xfrm>
            <a:off x="454103" y="4090740"/>
            <a:ext cx="460000" cy="46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rgbClr val="E0912F"/>
                </a:solidFill>
                <a:effectLst/>
                <a:uLnTx/>
                <a:uFillTx/>
                <a:latin typeface="Cambria"/>
                <a:ea typeface="+mn-ea"/>
                <a:cs typeface="+mn-cs"/>
              </a:rPr>
              <a:t>2</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12" name="StepText"/>
          <p:cNvSpPr/>
          <p:nvPr/>
        </p:nvSpPr>
        <p:spPr>
          <a:xfrm>
            <a:off x="1142920" y="3971527"/>
            <a:ext cx="5064107" cy="610424"/>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a:pPr>
            <a:r>
              <a:rPr kumimoji="0" lang="de-DE" sz="1400" b="1" i="0" u="none" strike="noStrike" kern="1200" cap="none" spc="0" normalizeH="0" baseline="0" noProof="0" dirty="0">
                <a:ln>
                  <a:noFill/>
                </a:ln>
                <a:solidFill>
                  <a:srgbClr val="22272B"/>
                </a:solidFill>
                <a:effectLst/>
                <a:uLnTx/>
                <a:uFillTx/>
                <a:latin typeface="Calibri"/>
                <a:ea typeface="+mn-ea"/>
                <a:cs typeface="+mn-cs"/>
              </a:rPr>
              <a:t>Windrichtungs-Gewicht</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6C7278"/>
                </a:solidFill>
                <a:effectLst/>
                <a:uLnTx/>
                <a:uFillTx/>
                <a:latin typeface="Calibri"/>
                <a:ea typeface="+mn-ea"/>
                <a:cs typeface="+mn-cs"/>
              </a:rPr>
              <a:t>Pro Zeitschritt &amp; Station wird ein Gewicht berechnet wie stark eine Nachbarstation gerade windaufwärts liegt.</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13" name="StepCircle"/>
          <p:cNvSpPr/>
          <p:nvPr/>
        </p:nvSpPr>
        <p:spPr>
          <a:xfrm>
            <a:off x="444698" y="4947513"/>
            <a:ext cx="460000" cy="460000"/>
          </a:xfrm>
          <a:prstGeom prst="ellipse">
            <a:avLst/>
          </a:prstGeom>
          <a:solidFill>
            <a:srgbClr val="F3E4C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mn-ea"/>
              <a:cs typeface="+mn-cs"/>
            </a:endParaRPr>
          </a:p>
        </p:txBody>
      </p:sp>
      <p:sp>
        <p:nvSpPr>
          <p:cNvPr id="214" name="StepNumber"/>
          <p:cNvSpPr/>
          <p:nvPr/>
        </p:nvSpPr>
        <p:spPr>
          <a:xfrm>
            <a:off x="434989" y="5029132"/>
            <a:ext cx="506768" cy="246221"/>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rgbClr val="E0912F"/>
                </a:solidFill>
                <a:effectLst/>
                <a:uLnTx/>
                <a:uFillTx/>
                <a:latin typeface="Cambria"/>
                <a:ea typeface="+mn-ea"/>
                <a:cs typeface="+mn-cs"/>
              </a:rPr>
              <a:t>3</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15" name="StepText"/>
          <p:cNvSpPr/>
          <p:nvPr/>
        </p:nvSpPr>
        <p:spPr>
          <a:xfrm>
            <a:off x="1156231" y="4747819"/>
            <a:ext cx="4946967" cy="795089"/>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a:pPr>
            <a:r>
              <a:rPr kumimoji="0" lang="de-DE" sz="1400" b="1" i="0" u="none" strike="noStrike" kern="1200" cap="none" spc="0" normalizeH="0" baseline="0" noProof="0" dirty="0">
                <a:ln>
                  <a:noFill/>
                </a:ln>
                <a:solidFill>
                  <a:srgbClr val="22272B"/>
                </a:solidFill>
                <a:effectLst/>
                <a:uLnTx/>
                <a:uFillTx/>
                <a:latin typeface="Calibri"/>
                <a:ea typeface="+mn-ea"/>
                <a:cs typeface="+mn-cs"/>
              </a:rPr>
              <a:t>Zeitversatz (Advektion)</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6C7278"/>
                </a:solidFill>
                <a:effectLst/>
                <a:uLnTx/>
                <a:uFillTx/>
                <a:latin typeface="Calibri"/>
                <a:ea typeface="+mn-ea"/>
                <a:cs typeface="+mn-cs"/>
              </a:rPr>
              <a:t>Aus Distanz &amp; der aktuellen Windgeschwindigkeit wird eine Advektionszeit geschätzt, um zu bestimmen, wann die windaufwärts gerichteten Feinstaubbelastungen die Zielstation erreichen. </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16" name="StepCircle"/>
          <p:cNvSpPr/>
          <p:nvPr/>
        </p:nvSpPr>
        <p:spPr>
          <a:xfrm>
            <a:off x="479536" y="5694547"/>
            <a:ext cx="460000" cy="460000"/>
          </a:xfrm>
          <a:prstGeom prst="ellipse">
            <a:avLst/>
          </a:prstGeom>
          <a:solidFill>
            <a:srgbClr val="F3E4C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mn-ea"/>
              <a:cs typeface="+mn-cs"/>
            </a:endParaRPr>
          </a:p>
        </p:txBody>
      </p:sp>
      <p:sp>
        <p:nvSpPr>
          <p:cNvPr id="217" name="StepNumber"/>
          <p:cNvSpPr/>
          <p:nvPr/>
        </p:nvSpPr>
        <p:spPr>
          <a:xfrm>
            <a:off x="434989" y="5747977"/>
            <a:ext cx="460000" cy="46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rgbClr val="E0912F"/>
                </a:solidFill>
                <a:effectLst/>
                <a:uLnTx/>
                <a:uFillTx/>
                <a:latin typeface="Cambria"/>
                <a:ea typeface="+mn-ea"/>
                <a:cs typeface="+mn-cs"/>
              </a:rPr>
              <a:t>4</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18" name="StepText"/>
          <p:cNvSpPr/>
          <p:nvPr/>
        </p:nvSpPr>
        <p:spPr>
          <a:xfrm>
            <a:off x="1156230" y="5733659"/>
            <a:ext cx="5226719" cy="795089"/>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a:pPr>
            <a:r>
              <a:rPr kumimoji="0" lang="de-DE" sz="1400" b="1" i="0" u="none" strike="noStrike" kern="1200" cap="none" spc="0" normalizeH="0" baseline="0" noProof="0" dirty="0">
                <a:ln>
                  <a:noFill/>
                </a:ln>
                <a:solidFill>
                  <a:srgbClr val="22272B"/>
                </a:solidFill>
                <a:effectLst/>
                <a:uLnTx/>
                <a:uFillTx/>
                <a:latin typeface="Calibri"/>
                <a:ea typeface="+mn-ea"/>
                <a:cs typeface="+mn-cs"/>
              </a:rPr>
              <a:t>Gewichtete Summe</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a:p>
            <a:r>
              <a:rPr lang="de-DE" sz="1200" dirty="0">
                <a:solidFill>
                  <a:srgbClr val="6C7278"/>
                </a:solidFill>
                <a:latin typeface="Calibri"/>
              </a:rPr>
              <a:t>Die windaufwärts gewichtete, zeitversetzte PM2.5-Konzentration der Nachbarstationen ergibt den   neuen Regressor `</a:t>
            </a:r>
            <a:r>
              <a:rPr lang="de-DE" sz="1200" dirty="0" err="1">
                <a:solidFill>
                  <a:srgbClr val="6C7278"/>
                </a:solidFill>
                <a:latin typeface="Calibri"/>
              </a:rPr>
              <a:t>upwind_y</a:t>
            </a:r>
            <a:r>
              <a:rPr lang="de-DE" sz="1200" dirty="0">
                <a:solidFill>
                  <a:srgbClr val="6C7278"/>
                </a:solidFill>
                <a:latin typeface="Calibri"/>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23" name="FooterText"/>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pic>
        <p:nvPicPr>
          <p:cNvPr id="4" name="Grafik 3">
            <a:extLst>
              <a:ext uri="{FF2B5EF4-FFF2-40B4-BE49-F238E27FC236}">
                <a16:creationId xmlns:a16="http://schemas.microsoft.com/office/drawing/2014/main" id="{95E1AF86-C37F-9225-4E89-8B46299EF33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10775" y="1887688"/>
            <a:ext cx="5248143" cy="4406103"/>
          </a:xfrm>
          <a:prstGeom prst="rect">
            <a:avLst/>
          </a:prstGeom>
        </p:spPr>
      </p:pic>
      <p:sp>
        <p:nvSpPr>
          <p:cNvPr id="6" name="SectionLabel">
            <a:extLst>
              <a:ext uri="{FF2B5EF4-FFF2-40B4-BE49-F238E27FC236}">
                <a16:creationId xmlns:a16="http://schemas.microsoft.com/office/drawing/2014/main" id="{D66F94B2-3898-B137-61D6-BEEDA6772523}"/>
              </a:ext>
            </a:extLst>
          </p:cNvPr>
          <p:cNvSpPr/>
          <p:nvPr/>
        </p:nvSpPr>
        <p:spPr>
          <a:xfrm>
            <a:off x="502919" y="3109525"/>
            <a:ext cx="5619187" cy="184666"/>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DE" sz="1200" b="1" spc="150" dirty="0">
                <a:solidFill>
                  <a:srgbClr val="6C7278"/>
                </a:solidFill>
                <a:latin typeface="Calibri"/>
              </a:rPr>
              <a:t>VORGEHEN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Rectangle 1"/>
          <p:cNvSpPr/>
          <p:nvPr/>
        </p:nvSpPr>
        <p:spPr>
          <a:xfrm>
            <a:off x="0" y="0"/>
            <a:ext cx="12161160" cy="6857640"/>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dirty="0">
              <a:solidFill>
                <a:schemeClr val="lt1"/>
              </a:solidFill>
              <a:effectLst/>
              <a:uFillTx/>
              <a:latin typeface="Calibri"/>
            </a:endParaRPr>
          </a:p>
        </p:txBody>
      </p:sp>
      <p:sp>
        <p:nvSpPr>
          <p:cNvPr id="232" name="TextBox 4"/>
          <p:cNvSpPr/>
          <p:nvPr/>
        </p:nvSpPr>
        <p:spPr>
          <a:xfrm>
            <a:off x="1520057" y="315468"/>
            <a:ext cx="11064240" cy="640080"/>
          </a:xfrm>
          <a:prstGeom prst="rect">
            <a:avLst/>
          </a:prstGeom>
          <a:noFill/>
          <a:ln w="0">
            <a:noFill/>
          </a:ln>
        </p:spPr>
        <p:style>
          <a:lnRef idx="0">
            <a:scrgbClr r="0" g="0" b="0"/>
          </a:lnRef>
          <a:fillRef idx="0">
            <a:scrgbClr r="0" g="0" b="0"/>
          </a:fillRef>
          <a:effectRef idx="0">
            <a:scrgbClr r="0" g="0" b="0"/>
          </a:effectRef>
          <a:fontRef idx="minor"/>
        </p:style>
        <p:txBody>
          <a:bodyPr wrap="square">
            <a:normAutofit/>
          </a:bodyPr>
          <a:lstStyle/>
          <a:p>
            <a:r>
              <a:rPr lang="de-DE" sz="3000" b="1" dirty="0">
                <a:solidFill>
                  <a:srgbClr val="20262E"/>
                </a:solidFill>
                <a:latin typeface="Georgia"/>
              </a:rPr>
              <a:t>Feature-Ablation TFT — Wind &amp; Geo</a:t>
            </a:r>
          </a:p>
        </p:txBody>
      </p:sp>
      <p:sp>
        <p:nvSpPr>
          <p:cNvPr id="233" name="TextBox 5"/>
          <p:cNvSpPr/>
          <p:nvPr/>
        </p:nvSpPr>
        <p:spPr>
          <a:xfrm>
            <a:off x="548640" y="1170432"/>
            <a:ext cx="11064240" cy="365760"/>
          </a:xfrm>
          <a:prstGeom prst="rect">
            <a:avLst/>
          </a:prstGeom>
          <a:noFill/>
          <a:ln w="0">
            <a:noFill/>
          </a:ln>
        </p:spPr>
        <p:style>
          <a:lnRef idx="0">
            <a:scrgbClr r="0" g="0" b="0"/>
          </a:lnRef>
          <a:fillRef idx="0">
            <a:scrgbClr r="0" g="0" b="0"/>
          </a:fillRef>
          <a:effectRef idx="0">
            <a:scrgbClr r="0" g="0" b="0"/>
          </a:effectRef>
          <a:fontRef idx="minor"/>
        </p:style>
        <p:txBody>
          <a:bodyPr wrap="square">
            <a:normAutofit/>
          </a:bodyPr>
          <a:lstStyle/>
          <a:p>
            <a:r>
              <a:rPr lang="de-DE" sz="1300" b="1" dirty="0">
                <a:solidFill>
                  <a:srgbClr val="E0912F"/>
                </a:solidFill>
                <a:latin typeface="Calibri"/>
              </a:rPr>
              <a:t>Trägt Wind bzw. Geo zur PM2.5-Prognose bei?   ·   MAE / RMSE in µg/m³  (niedriger = besser)</a:t>
            </a:r>
          </a:p>
        </p:txBody>
      </p:sp>
      <p:sp>
        <p:nvSpPr>
          <p:cNvPr id="244" name="TextBox 16"/>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algn="l"/>
            <a:r>
              <a:rPr lang="de-DE" sz="900" b="0" dirty="0">
                <a:solidFill>
                  <a:srgbClr val="6C7278"/>
                </a:solidFill>
                <a:latin typeface="Calibri"/>
              </a:rPr>
              <a:t>PM2.5-Prognose Beijing  ·  Prophet, Chronos &amp; </a:t>
            </a:r>
            <a:r>
              <a:rPr lang="de-DE" sz="900" dirty="0">
                <a:solidFill>
                  <a:srgbClr val="6C7278"/>
                </a:solidFill>
                <a:latin typeface="Calibri"/>
              </a:rPr>
              <a:t>TFT</a:t>
            </a:r>
            <a:r>
              <a:rPr lang="de-DE" sz="900" b="0" dirty="0">
                <a:solidFill>
                  <a:srgbClr val="6C7278"/>
                </a:solidFill>
                <a:latin typeface="Calibri"/>
              </a:rPr>
              <a:t>  ·  CRISP-DM</a:t>
            </a:r>
          </a:p>
        </p:txBody>
      </p:sp>
      <p:graphicFrame>
        <p:nvGraphicFramePr>
          <p:cNvPr id="701" name="AblTab"/>
          <p:cNvGraphicFramePr/>
          <p:nvPr/>
        </p:nvGraphicFramePr>
        <p:xfrm>
          <a:off x="548640" y="2148840"/>
          <a:ext cx="6126480" cy="2834640"/>
        </p:xfrm>
        <a:graphic>
          <a:graphicData uri="http://schemas.openxmlformats.org/drawingml/2006/table">
            <a:tbl>
              <a:tblPr firstRow="1"/>
              <a:tblGrid>
                <a:gridCol w="310896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457200">
                <a:tc>
                  <a:txBody>
                    <a:bodyPr/>
                    <a:lstStyle/>
                    <a:p>
                      <a:pPr algn="l"/>
                      <a:r>
                        <a:rPr lang="de-DE" sz="1250" b="1" dirty="0">
                          <a:solidFill>
                            <a:srgbClr val="FFFFFF"/>
                          </a:solidFill>
                          <a:latin typeface="Calibri"/>
                        </a:rPr>
                        <a:t>Variante</a:t>
                      </a:r>
                    </a:p>
                  </a:txBody>
                  <a:tcPr marL="73152" marR="73152" marT="18288" marB="18288" anchor="ctr">
                    <a:solidFill>
                      <a:srgbClr val="20262E"/>
                    </a:solidFill>
                  </a:tcPr>
                </a:tc>
                <a:tc>
                  <a:txBody>
                    <a:bodyPr/>
                    <a:lstStyle/>
                    <a:p>
                      <a:pPr algn="ctr"/>
                      <a:r>
                        <a:rPr lang="de-DE" sz="1250" b="1" dirty="0">
                          <a:solidFill>
                            <a:srgbClr val="FFFFFF"/>
                          </a:solidFill>
                          <a:latin typeface="Calibri"/>
                        </a:rPr>
                        <a:t>MAE</a:t>
                      </a:r>
                    </a:p>
                  </a:txBody>
                  <a:tcPr marL="73152" marR="73152" marT="18288" marB="18288" anchor="ctr">
                    <a:solidFill>
                      <a:srgbClr val="20262E"/>
                    </a:solidFill>
                  </a:tcPr>
                </a:tc>
                <a:tc>
                  <a:txBody>
                    <a:bodyPr/>
                    <a:lstStyle/>
                    <a:p>
                      <a:pPr algn="ctr"/>
                      <a:r>
                        <a:rPr lang="de-DE" sz="1250" b="1" dirty="0">
                          <a:solidFill>
                            <a:srgbClr val="FFFFFF"/>
                          </a:solidFill>
                          <a:latin typeface="Calibri"/>
                        </a:rPr>
                        <a:t>RMSE</a:t>
                      </a:r>
                    </a:p>
                  </a:txBody>
                  <a:tcPr marL="73152" marR="73152" marT="18288" marB="18288" anchor="ctr">
                    <a:solidFill>
                      <a:srgbClr val="20262E"/>
                    </a:solidFill>
                  </a:tcPr>
                </a:tc>
                <a:extLst>
                  <a:ext uri="{0D108BD9-81ED-4DB2-BD59-A6C34878D82A}">
                    <a16:rowId xmlns:a16="http://schemas.microsoft.com/office/drawing/2014/main" val="10000"/>
                  </a:ext>
                </a:extLst>
              </a:tr>
              <a:tr h="475488">
                <a:tc>
                  <a:txBody>
                    <a:bodyPr/>
                    <a:lstStyle/>
                    <a:p>
                      <a:pPr algn="l"/>
                      <a:r>
                        <a:rPr lang="de-DE" sz="1200" dirty="0">
                          <a:solidFill>
                            <a:srgbClr val="22272B"/>
                          </a:solidFill>
                          <a:latin typeface="Calibri"/>
                        </a:rPr>
                        <a:t>Basis</a:t>
                      </a:r>
                    </a:p>
                  </a:txBody>
                  <a:tcPr marL="73152" marR="73152" marT="18288" marB="18288" anchor="ctr">
                    <a:solidFill>
                      <a:srgbClr val="FFFFFF"/>
                    </a:solidFill>
                  </a:tcPr>
                </a:tc>
                <a:tc>
                  <a:txBody>
                    <a:bodyPr/>
                    <a:lstStyle/>
                    <a:p>
                      <a:pPr algn="ctr"/>
                      <a:r>
                        <a:rPr lang="de-DE" sz="1200" dirty="0">
                          <a:solidFill>
                            <a:srgbClr val="22272B"/>
                          </a:solidFill>
                          <a:latin typeface="Calibri"/>
                        </a:rPr>
                        <a:t>19,40</a:t>
                      </a:r>
                    </a:p>
                  </a:txBody>
                  <a:tcPr marL="73152" marR="73152" marT="18288" marB="18288" anchor="ctr">
                    <a:solidFill>
                      <a:srgbClr val="FFFFFF"/>
                    </a:solidFill>
                  </a:tcPr>
                </a:tc>
                <a:tc>
                  <a:txBody>
                    <a:bodyPr/>
                    <a:lstStyle/>
                    <a:p>
                      <a:pPr algn="ctr"/>
                      <a:r>
                        <a:rPr lang="de-DE" sz="1200" dirty="0">
                          <a:solidFill>
                            <a:srgbClr val="22272B"/>
                          </a:solidFill>
                          <a:latin typeface="Calibri"/>
                        </a:rPr>
                        <a:t>37,75</a:t>
                      </a:r>
                    </a:p>
                  </a:txBody>
                  <a:tcPr marL="73152" marR="73152" marT="18288" marB="18288" anchor="ctr">
                    <a:solidFill>
                      <a:srgbClr val="FFFFFF"/>
                    </a:solidFill>
                  </a:tcPr>
                </a:tc>
                <a:extLst>
                  <a:ext uri="{0D108BD9-81ED-4DB2-BD59-A6C34878D82A}">
                    <a16:rowId xmlns:a16="http://schemas.microsoft.com/office/drawing/2014/main" val="10001"/>
                  </a:ext>
                </a:extLst>
              </a:tr>
              <a:tr h="475488">
                <a:tc>
                  <a:txBody>
                    <a:bodyPr/>
                    <a:lstStyle/>
                    <a:p>
                      <a:pPr algn="l"/>
                      <a:r>
                        <a:rPr lang="de-DE" sz="1200" dirty="0">
                          <a:solidFill>
                            <a:srgbClr val="22272B"/>
                          </a:solidFill>
                          <a:latin typeface="Calibri"/>
                        </a:rPr>
                        <a:t>+ Windgeschw. (WSPM)</a:t>
                      </a:r>
                    </a:p>
                  </a:txBody>
                  <a:tcPr marL="73152" marR="73152" marT="18288" marB="18288" anchor="ctr">
                    <a:solidFill>
                      <a:srgbClr val="F4F6F9"/>
                    </a:solidFill>
                  </a:tcPr>
                </a:tc>
                <a:tc>
                  <a:txBody>
                    <a:bodyPr/>
                    <a:lstStyle/>
                    <a:p>
                      <a:pPr algn="ctr"/>
                      <a:r>
                        <a:rPr lang="de-DE" sz="1200" dirty="0">
                          <a:solidFill>
                            <a:srgbClr val="22272B"/>
                          </a:solidFill>
                          <a:latin typeface="Calibri"/>
                        </a:rPr>
                        <a:t>18,53</a:t>
                      </a:r>
                    </a:p>
                  </a:txBody>
                  <a:tcPr marL="73152" marR="73152" marT="18288" marB="18288" anchor="ctr">
                    <a:solidFill>
                      <a:srgbClr val="F4F6F9"/>
                    </a:solidFill>
                  </a:tcPr>
                </a:tc>
                <a:tc>
                  <a:txBody>
                    <a:bodyPr/>
                    <a:lstStyle/>
                    <a:p>
                      <a:pPr algn="ctr"/>
                      <a:r>
                        <a:rPr lang="de-DE" sz="1200" dirty="0">
                          <a:solidFill>
                            <a:srgbClr val="22272B"/>
                          </a:solidFill>
                          <a:latin typeface="Calibri"/>
                        </a:rPr>
                        <a:t>34,24</a:t>
                      </a:r>
                    </a:p>
                  </a:txBody>
                  <a:tcPr marL="73152" marR="73152" marT="18288" marB="18288" anchor="ctr">
                    <a:solidFill>
                      <a:srgbClr val="F4F6F9"/>
                    </a:solidFill>
                  </a:tcPr>
                </a:tc>
                <a:extLst>
                  <a:ext uri="{0D108BD9-81ED-4DB2-BD59-A6C34878D82A}">
                    <a16:rowId xmlns:a16="http://schemas.microsoft.com/office/drawing/2014/main" val="10002"/>
                  </a:ext>
                </a:extLst>
              </a:tr>
              <a:tr h="475488">
                <a:tc>
                  <a:txBody>
                    <a:bodyPr/>
                    <a:lstStyle/>
                    <a:p>
                      <a:pPr algn="l"/>
                      <a:r>
                        <a:rPr lang="de-DE" sz="1200" dirty="0">
                          <a:solidFill>
                            <a:srgbClr val="22272B"/>
                          </a:solidFill>
                          <a:latin typeface="Calibri"/>
                        </a:rPr>
                        <a:t>+ Windrichtung (wd)</a:t>
                      </a:r>
                    </a:p>
                  </a:txBody>
                  <a:tcPr marL="73152" marR="73152" marT="18288" marB="18288" anchor="ctr">
                    <a:solidFill>
                      <a:srgbClr val="FFFFFF"/>
                    </a:solidFill>
                  </a:tcPr>
                </a:tc>
                <a:tc>
                  <a:txBody>
                    <a:bodyPr/>
                    <a:lstStyle/>
                    <a:p>
                      <a:pPr algn="ctr"/>
                      <a:r>
                        <a:rPr lang="de-DE" sz="1200" dirty="0">
                          <a:solidFill>
                            <a:srgbClr val="22272B"/>
                          </a:solidFill>
                          <a:latin typeface="Calibri"/>
                        </a:rPr>
                        <a:t>18,48</a:t>
                      </a:r>
                    </a:p>
                  </a:txBody>
                  <a:tcPr marL="73152" marR="73152" marT="18288" marB="18288" anchor="ctr">
                    <a:solidFill>
                      <a:srgbClr val="FFFFFF"/>
                    </a:solidFill>
                  </a:tcPr>
                </a:tc>
                <a:tc>
                  <a:txBody>
                    <a:bodyPr/>
                    <a:lstStyle/>
                    <a:p>
                      <a:pPr algn="ctr"/>
                      <a:r>
                        <a:rPr lang="de-DE" sz="1200" dirty="0">
                          <a:solidFill>
                            <a:srgbClr val="22272B"/>
                          </a:solidFill>
                          <a:latin typeface="Calibri"/>
                        </a:rPr>
                        <a:t>35,73</a:t>
                      </a:r>
                    </a:p>
                  </a:txBody>
                  <a:tcPr marL="73152" marR="73152" marT="18288" marB="18288" anchor="ctr">
                    <a:solidFill>
                      <a:srgbClr val="FFFFFF"/>
                    </a:solidFill>
                  </a:tcPr>
                </a:tc>
                <a:extLst>
                  <a:ext uri="{0D108BD9-81ED-4DB2-BD59-A6C34878D82A}">
                    <a16:rowId xmlns:a16="http://schemas.microsoft.com/office/drawing/2014/main" val="10003"/>
                  </a:ext>
                </a:extLst>
              </a:tr>
              <a:tr h="475488">
                <a:tc>
                  <a:txBody>
                    <a:bodyPr/>
                    <a:lstStyle/>
                    <a:p>
                      <a:pPr algn="l"/>
                      <a:r>
                        <a:rPr lang="de-DE" sz="1200" b="1" dirty="0">
                          <a:solidFill>
                            <a:srgbClr val="22272B"/>
                          </a:solidFill>
                          <a:latin typeface="Calibri"/>
                        </a:rPr>
                        <a:t>+ beide Wind</a:t>
                      </a:r>
                    </a:p>
                  </a:txBody>
                  <a:tcPr marL="73152" marR="73152" marT="18288" marB="18288" anchor="ctr">
                    <a:solidFill>
                      <a:srgbClr val="E7F1E7"/>
                    </a:solidFill>
                  </a:tcPr>
                </a:tc>
                <a:tc>
                  <a:txBody>
                    <a:bodyPr/>
                    <a:lstStyle/>
                    <a:p>
                      <a:pPr algn="ctr"/>
                      <a:r>
                        <a:rPr lang="de-DE" sz="1200" b="1" dirty="0">
                          <a:solidFill>
                            <a:srgbClr val="22272B"/>
                          </a:solidFill>
                          <a:latin typeface="Calibri"/>
                        </a:rPr>
                        <a:t>18,56</a:t>
                      </a:r>
                    </a:p>
                  </a:txBody>
                  <a:tcPr marL="73152" marR="73152" marT="18288" marB="18288" anchor="ctr">
                    <a:solidFill>
                      <a:srgbClr val="E7F1E7"/>
                    </a:solidFill>
                  </a:tcPr>
                </a:tc>
                <a:tc>
                  <a:txBody>
                    <a:bodyPr/>
                    <a:lstStyle/>
                    <a:p>
                      <a:pPr algn="ctr"/>
                      <a:r>
                        <a:rPr lang="de-DE" sz="1200" b="1" dirty="0">
                          <a:solidFill>
                            <a:srgbClr val="22272B"/>
                          </a:solidFill>
                          <a:latin typeface="Calibri"/>
                        </a:rPr>
                        <a:t>32,93</a:t>
                      </a:r>
                    </a:p>
                  </a:txBody>
                  <a:tcPr marL="73152" marR="73152" marT="18288" marB="18288" anchor="ctr">
                    <a:solidFill>
                      <a:srgbClr val="E7F1E7"/>
                    </a:solidFill>
                  </a:tcPr>
                </a:tc>
                <a:extLst>
                  <a:ext uri="{0D108BD9-81ED-4DB2-BD59-A6C34878D82A}">
                    <a16:rowId xmlns:a16="http://schemas.microsoft.com/office/drawing/2014/main" val="10004"/>
                  </a:ext>
                </a:extLst>
              </a:tr>
              <a:tr h="475488">
                <a:tc>
                  <a:txBody>
                    <a:bodyPr/>
                    <a:lstStyle/>
                    <a:p>
                      <a:pPr algn="l"/>
                      <a:r>
                        <a:rPr lang="de-DE" sz="1200" dirty="0">
                          <a:solidFill>
                            <a:srgbClr val="22272B"/>
                          </a:solidFill>
                          <a:latin typeface="Calibri"/>
                        </a:rPr>
                        <a:t>+ beide Wind + Geo</a:t>
                      </a:r>
                    </a:p>
                  </a:txBody>
                  <a:tcPr marL="73152" marR="73152" marT="18288" marB="18288" anchor="ctr">
                    <a:solidFill>
                      <a:srgbClr val="F4F6F9"/>
                    </a:solidFill>
                  </a:tcPr>
                </a:tc>
                <a:tc>
                  <a:txBody>
                    <a:bodyPr/>
                    <a:lstStyle/>
                    <a:p>
                      <a:pPr algn="ctr"/>
                      <a:r>
                        <a:rPr lang="de-DE" sz="1200" dirty="0">
                          <a:solidFill>
                            <a:srgbClr val="22272B"/>
                          </a:solidFill>
                          <a:latin typeface="Calibri"/>
                        </a:rPr>
                        <a:t>18,92</a:t>
                      </a:r>
                    </a:p>
                  </a:txBody>
                  <a:tcPr marL="73152" marR="73152" marT="18288" marB="18288" anchor="ctr">
                    <a:solidFill>
                      <a:srgbClr val="F4F6F9"/>
                    </a:solidFill>
                  </a:tcPr>
                </a:tc>
                <a:tc>
                  <a:txBody>
                    <a:bodyPr/>
                    <a:lstStyle/>
                    <a:p>
                      <a:pPr algn="ctr"/>
                      <a:r>
                        <a:rPr lang="de-DE" sz="1200" dirty="0">
                          <a:solidFill>
                            <a:srgbClr val="22272B"/>
                          </a:solidFill>
                          <a:latin typeface="Calibri"/>
                        </a:rPr>
                        <a:t>33,88</a:t>
                      </a:r>
                    </a:p>
                  </a:txBody>
                  <a:tcPr marL="73152" marR="73152" marT="18288" marB="18288" anchor="ctr">
                    <a:solidFill>
                      <a:srgbClr val="F4F6F9"/>
                    </a:solidFill>
                  </a:tcPr>
                </a:tc>
                <a:extLst>
                  <a:ext uri="{0D108BD9-81ED-4DB2-BD59-A6C34878D82A}">
                    <a16:rowId xmlns:a16="http://schemas.microsoft.com/office/drawing/2014/main" val="10005"/>
                  </a:ext>
                </a:extLst>
              </a:tr>
            </a:tbl>
          </a:graphicData>
        </a:graphic>
      </p:graphicFrame>
      <p:sp>
        <p:nvSpPr>
          <p:cNvPr id="702" name="cx"/>
          <p:cNvSpPr txBox="1"/>
          <p:nvPr/>
        </p:nvSpPr>
        <p:spPr>
          <a:xfrm>
            <a:off x="548640" y="5138928"/>
            <a:ext cx="6126480" cy="548640"/>
          </a:xfrm>
          <a:prstGeom prst="rect">
            <a:avLst/>
          </a:prstGeom>
          <a:noFill/>
        </p:spPr>
        <p:txBody>
          <a:bodyPr wrap="square" lIns="91440" tIns="45720" rIns="91440" bIns="45720" anchor="t">
            <a:normAutofit/>
          </a:bodyPr>
          <a:lstStyle/>
          <a:p>
            <a:pPr algn="l">
              <a:lnSpc>
                <a:spcPct val="102000"/>
              </a:lnSpc>
              <a:spcAft>
                <a:spcPts val="200"/>
              </a:spcAft>
            </a:pPr>
            <a:r>
              <a:rPr lang="de-DE" sz="1300" b="1" dirty="0">
                <a:solidFill>
                  <a:srgbClr val="2E7D32"/>
                </a:solidFill>
                <a:latin typeface="Calibri"/>
              </a:rPr>
              <a:t>→ Fürs finale Modell:  </a:t>
            </a:r>
            <a:r>
              <a:rPr lang="de-DE" sz="1300" dirty="0">
                <a:solidFill>
                  <a:srgbClr val="22272B"/>
                </a:solidFill>
                <a:latin typeface="Calibri"/>
              </a:rPr>
              <a:t>Windgeschwindigkeit + Windrichtung rein, Geo (lon/lat) raus.</a:t>
            </a:r>
          </a:p>
        </p:txBody>
      </p:sp>
      <p:sp>
        <p:nvSpPr>
          <p:cNvPr id="703" name="cx"/>
          <p:cNvSpPr txBox="1"/>
          <p:nvPr/>
        </p:nvSpPr>
        <p:spPr>
          <a:xfrm>
            <a:off x="6903720" y="2148840"/>
            <a:ext cx="4709160" cy="1170432"/>
          </a:xfrm>
          <a:prstGeom prst="roundRect">
            <a:avLst>
              <a:gd name="adj" fmla="val 6000"/>
            </a:avLst>
          </a:prstGeom>
          <a:solidFill>
            <a:srgbClr val="F1F6F1"/>
          </a:solidFill>
        </p:spPr>
        <p:txBody>
          <a:bodyPr wrap="square" lIns="91440" tIns="45720" rIns="91440" bIns="45720" anchor="t">
            <a:normAutofit/>
          </a:bodyPr>
          <a:lstStyle/>
          <a:p>
            <a:pPr algn="l">
              <a:lnSpc>
                <a:spcPct val="102000"/>
              </a:lnSpc>
              <a:spcAft>
                <a:spcPts val="200"/>
              </a:spcAft>
            </a:pPr>
            <a:r>
              <a:rPr lang="de-DE" sz="1500" b="1" dirty="0">
                <a:solidFill>
                  <a:srgbClr val="2E7D32"/>
                </a:solidFill>
                <a:latin typeface="Calibri"/>
              </a:rPr>
              <a:t>✔  Wind hilft</a:t>
            </a:r>
          </a:p>
          <a:p>
            <a:pPr algn="l">
              <a:lnSpc>
                <a:spcPct val="102000"/>
              </a:lnSpc>
              <a:spcAft>
                <a:spcPts val="200"/>
              </a:spcAft>
            </a:pPr>
            <a:r>
              <a:rPr lang="de-DE" sz="1250" dirty="0">
                <a:solidFill>
                  <a:srgbClr val="3A4148"/>
                </a:solidFill>
                <a:latin typeface="Calibri"/>
              </a:rPr>
              <a:t>MAE −4,5 %, RMSE −13 % gegenüber der Basis — wirkt vor allem gegen die Smog-Spitzen.</a:t>
            </a:r>
          </a:p>
        </p:txBody>
      </p:sp>
      <p:sp>
        <p:nvSpPr>
          <p:cNvPr id="704" name="cx"/>
          <p:cNvSpPr txBox="1"/>
          <p:nvPr/>
        </p:nvSpPr>
        <p:spPr>
          <a:xfrm>
            <a:off x="6903720" y="3456432"/>
            <a:ext cx="4709160" cy="1170432"/>
          </a:xfrm>
          <a:prstGeom prst="roundRect">
            <a:avLst>
              <a:gd name="adj" fmla="val 6000"/>
            </a:avLst>
          </a:prstGeom>
          <a:solidFill>
            <a:srgbClr val="FBF3E7"/>
          </a:solidFill>
        </p:spPr>
        <p:txBody>
          <a:bodyPr wrap="square" lIns="91440" tIns="45720" rIns="91440" bIns="45720" anchor="t">
            <a:normAutofit/>
          </a:bodyPr>
          <a:lstStyle/>
          <a:p>
            <a:pPr algn="l">
              <a:lnSpc>
                <a:spcPct val="102000"/>
              </a:lnSpc>
              <a:spcAft>
                <a:spcPts val="200"/>
              </a:spcAft>
            </a:pPr>
            <a:r>
              <a:rPr lang="de-DE" sz="1500" b="1" dirty="0">
                <a:solidFill>
                  <a:srgbClr val="B06A00"/>
                </a:solidFill>
                <a:latin typeface="Calibri"/>
              </a:rPr>
              <a:t>≈  Welche Wind-Variable? Nachrangig</a:t>
            </a:r>
          </a:p>
          <a:p>
            <a:pPr algn="l">
              <a:lnSpc>
                <a:spcPct val="102000"/>
              </a:lnSpc>
              <a:spcAft>
                <a:spcPts val="200"/>
              </a:spcAft>
            </a:pPr>
            <a:r>
              <a:rPr lang="de-DE" sz="1250" dirty="0">
                <a:solidFill>
                  <a:srgbClr val="3A4148"/>
                </a:solidFill>
                <a:latin typeface="Calibri"/>
              </a:rPr>
              <a:t>MAE-Unterschiede liegen im Rauschen; „beide Wind" gibt den besten &amp; stabilsten RMSE.</a:t>
            </a:r>
          </a:p>
        </p:txBody>
      </p:sp>
      <p:sp>
        <p:nvSpPr>
          <p:cNvPr id="705" name="cx"/>
          <p:cNvSpPr txBox="1"/>
          <p:nvPr/>
        </p:nvSpPr>
        <p:spPr>
          <a:xfrm>
            <a:off x="6903720" y="4764024"/>
            <a:ext cx="4709160" cy="1170432"/>
          </a:xfrm>
          <a:prstGeom prst="roundRect">
            <a:avLst>
              <a:gd name="adj" fmla="val 6000"/>
            </a:avLst>
          </a:prstGeom>
          <a:solidFill>
            <a:srgbClr val="FBECEA"/>
          </a:solidFill>
        </p:spPr>
        <p:txBody>
          <a:bodyPr wrap="square" lIns="91440" tIns="45720" rIns="91440" bIns="45720" anchor="t">
            <a:normAutofit/>
          </a:bodyPr>
          <a:lstStyle/>
          <a:p>
            <a:pPr algn="l">
              <a:lnSpc>
                <a:spcPct val="102000"/>
              </a:lnSpc>
              <a:spcAft>
                <a:spcPts val="200"/>
              </a:spcAft>
            </a:pPr>
            <a:r>
              <a:rPr lang="de-DE" sz="1500" b="1" dirty="0">
                <a:solidFill>
                  <a:srgbClr val="C0392B"/>
                </a:solidFill>
                <a:latin typeface="Calibri"/>
              </a:rPr>
              <a:t>✘  Geo bringt nichts</a:t>
            </a:r>
          </a:p>
          <a:p>
            <a:pPr algn="l">
              <a:lnSpc>
                <a:spcPct val="102000"/>
              </a:lnSpc>
              <a:spcAft>
                <a:spcPts val="200"/>
              </a:spcAft>
            </a:pPr>
            <a:r>
              <a:rPr lang="de-DE" sz="1250" dirty="0">
                <a:solidFill>
                  <a:srgbClr val="3A4148"/>
                </a:solidFill>
                <a:latin typeface="Calibri"/>
              </a:rPr>
              <a:t>lon/lat verschlechtert den MAE leicht — Stationen sind über ihre Zeitreihe ohnehin bekannt.</a:t>
            </a:r>
          </a:p>
        </p:txBody>
      </p:sp>
      <p:sp>
        <p:nvSpPr>
          <p:cNvPr id="706" name="cx"/>
          <p:cNvSpPr txBox="1"/>
          <p:nvPr/>
        </p:nvSpPr>
        <p:spPr>
          <a:xfrm>
            <a:off x="548640" y="6053328"/>
            <a:ext cx="11064240" cy="310896"/>
          </a:xfrm>
          <a:prstGeom prst="rect">
            <a:avLst/>
          </a:prstGeom>
          <a:noFill/>
        </p:spPr>
        <p:txBody>
          <a:bodyPr wrap="square" lIns="91440" tIns="45720" rIns="91440" bIns="45720" anchor="t">
            <a:normAutofit/>
          </a:bodyPr>
          <a:lstStyle/>
          <a:p>
            <a:pPr algn="l">
              <a:lnSpc>
                <a:spcPct val="102000"/>
              </a:lnSpc>
              <a:spcAft>
                <a:spcPts val="200"/>
              </a:spcAft>
            </a:pPr>
            <a:r>
              <a:rPr lang="de-DE" sz="1000" dirty="0">
                <a:solidFill>
                  <a:srgbClr val="6B7684"/>
                </a:solidFill>
                <a:latin typeface="Calibri"/>
              </a:rPr>
              <a:t>Setup bewusst ressourcenschonend: kleines TFT, letzte 540 Tage, 2 Seeds (42/43) — misst den relativen Feature-Beitrag, nicht die Bestleistung. Basis über Seeds instabil (MAE-Std 1,3).</a:t>
            </a:r>
          </a:p>
        </p:txBody>
      </p:sp>
      <p:grpSp>
        <p:nvGrpSpPr>
          <p:cNvPr id="2" name="Gruppieren 1">
            <a:extLst>
              <a:ext uri="{FF2B5EF4-FFF2-40B4-BE49-F238E27FC236}">
                <a16:creationId xmlns:a16="http://schemas.microsoft.com/office/drawing/2014/main" id="{1C5CF669-FC31-1B36-5A3A-76F15BE3B2B7}"/>
              </a:ext>
            </a:extLst>
          </p:cNvPr>
          <p:cNvGrpSpPr/>
          <p:nvPr/>
        </p:nvGrpSpPr>
        <p:grpSpPr>
          <a:xfrm>
            <a:off x="294985" y="64296"/>
            <a:ext cx="1051200" cy="1051200"/>
            <a:chOff x="457200" y="457200"/>
            <a:chExt cx="1051200" cy="1051200"/>
          </a:xfrm>
        </p:grpSpPr>
        <p:sp>
          <p:nvSpPr>
            <p:cNvPr id="3" name="NumberBadgeCircle">
              <a:extLst>
                <a:ext uri="{FF2B5EF4-FFF2-40B4-BE49-F238E27FC236}">
                  <a16:creationId xmlns:a16="http://schemas.microsoft.com/office/drawing/2014/main" id="{BFC6E58E-93C6-228F-F190-F54C07105C5E}"/>
                </a:ext>
              </a:extLst>
            </p:cNvPr>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mn-ea"/>
                <a:cs typeface="+mn-cs"/>
              </a:endParaRPr>
            </a:p>
          </p:txBody>
        </p:sp>
        <p:sp>
          <p:nvSpPr>
            <p:cNvPr id="4" name="NumberBadgeText">
              <a:extLst>
                <a:ext uri="{FF2B5EF4-FFF2-40B4-BE49-F238E27FC236}">
                  <a16:creationId xmlns:a16="http://schemas.microsoft.com/office/drawing/2014/main" id="{02AB82CD-B7D0-A413-35DC-487A8F68EF39}"/>
                </a:ext>
              </a:extLst>
            </p:cNvPr>
            <p:cNvSpPr/>
            <p:nvPr/>
          </p:nvSpPr>
          <p:spPr>
            <a:xfrm>
              <a:off x="457200" y="751967"/>
              <a:ext cx="1051200" cy="4616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3000" b="1" i="0" u="none" strike="noStrike" kern="1200" cap="none" spc="0" normalizeH="0" baseline="0" noProof="0" dirty="0">
                  <a:ln>
                    <a:noFill/>
                  </a:ln>
                  <a:solidFill>
                    <a:srgbClr val="FFFFFF"/>
                  </a:solidFill>
                  <a:effectLst/>
                  <a:uLnTx/>
                  <a:uFillTx/>
                  <a:latin typeface="Cambria"/>
                  <a:ea typeface="+mn-ea"/>
                  <a:cs typeface="+mn-cs"/>
                </a:rPr>
                <a:t>4</a:t>
              </a:r>
              <a:endParaRPr kumimoji="0" lang="de-DE" sz="1200" b="0" i="0" u="none" strike="noStrike" kern="1200" cap="none" spc="0" normalizeH="0" baseline="0" noProof="0" dirty="0">
                <a:ln>
                  <a:noFill/>
                </a:ln>
                <a:solidFill>
                  <a:srgbClr val="000000"/>
                </a:solidFill>
                <a:effectLst/>
                <a:uLnTx/>
                <a:uFillTx/>
                <a:latin typeface="Calibri"/>
                <a:ea typeface="+mn-ea"/>
                <a:cs typeface="+mn-cs"/>
              </a:endParaRPr>
            </a:p>
          </p:txBody>
        </p:sp>
      </p:grpSp>
      <p:sp>
        <p:nvSpPr>
          <p:cNvPr id="6" name="Ellipse 5">
            <a:extLst>
              <a:ext uri="{FF2B5EF4-FFF2-40B4-BE49-F238E27FC236}">
                <a16:creationId xmlns:a16="http://schemas.microsoft.com/office/drawing/2014/main" id="{32D4155F-82C6-FDC7-C5FE-94AB85910740}"/>
              </a:ext>
            </a:extLst>
          </p:cNvPr>
          <p:cNvSpPr/>
          <p:nvPr/>
        </p:nvSpPr>
        <p:spPr>
          <a:xfrm rot="795045">
            <a:off x="8776653" y="410267"/>
            <a:ext cx="3224809" cy="1773936"/>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Work in </a:t>
            </a:r>
            <a:r>
              <a:rPr lang="de-DE" dirty="0" err="1"/>
              <a:t>progress</a:t>
            </a:r>
            <a:r>
              <a:rPr lang="de-DE" dirty="0"/>
              <a:t>.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Rectangle 1"/>
          <p:cNvSpPr/>
          <p:nvPr/>
        </p:nvSpPr>
        <p:spPr>
          <a:xfrm>
            <a:off x="678" y="-89064"/>
            <a:ext cx="12161160" cy="6857640"/>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dirty="0">
              <a:solidFill>
                <a:schemeClr val="lt1"/>
              </a:solidFill>
              <a:effectLst/>
              <a:uFillTx/>
              <a:latin typeface="Calibri"/>
            </a:endParaRPr>
          </a:p>
        </p:txBody>
      </p:sp>
      <p:sp>
        <p:nvSpPr>
          <p:cNvPr id="230" name="Oval 2"/>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31" name="TextBox 3"/>
          <p:cNvSpPr/>
          <p:nvPr/>
        </p:nvSpPr>
        <p:spPr>
          <a:xfrm>
            <a:off x="457200" y="457200"/>
            <a:ext cx="105120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a:solidFill>
                  <a:srgbClr val="FFFFFF"/>
                </a:solidFill>
                <a:effectLst/>
                <a:uFillTx/>
                <a:latin typeface="Cambria"/>
              </a:rPr>
              <a:t>6</a:t>
            </a:r>
            <a:endParaRPr lang="de-DE" sz="3000" b="0" u="none" strike="noStrike">
              <a:solidFill>
                <a:srgbClr val="000000"/>
              </a:solidFill>
              <a:effectLst/>
              <a:uFillTx/>
              <a:latin typeface="Arial"/>
            </a:endParaRPr>
          </a:p>
        </p:txBody>
      </p:sp>
      <p:sp>
        <p:nvSpPr>
          <p:cNvPr id="232" name="TextBox 4"/>
          <p:cNvSpPr/>
          <p:nvPr/>
        </p:nvSpPr>
        <p:spPr>
          <a:xfrm>
            <a:off x="1691640" y="553699"/>
            <a:ext cx="9143640" cy="49244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dirty="0" err="1">
                <a:solidFill>
                  <a:srgbClr val="22272B"/>
                </a:solidFill>
                <a:effectLst/>
                <a:uFillTx/>
                <a:latin typeface="Cambria"/>
              </a:rPr>
              <a:t>Frühwarnsystem: Vom Modell zur Maßnahme</a:t>
            </a:r>
            <a:endParaRPr lang="de-DE" sz="3200" b="0" u="none" strike="noStrike" dirty="0">
              <a:solidFill>
                <a:srgbClr val="000000"/>
              </a:solidFill>
              <a:effectLst/>
              <a:uFillTx/>
              <a:latin typeface="Arial"/>
            </a:endParaRPr>
          </a:p>
        </p:txBody>
      </p:sp>
      <p:sp>
        <p:nvSpPr>
          <p:cNvPr id="233" name="TextBox 5"/>
          <p:cNvSpPr/>
          <p:nvPr/>
        </p:nvSpPr>
        <p:spPr>
          <a:xfrm>
            <a:off x="1710000" y="1115640"/>
            <a:ext cx="9143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E0912F"/>
                </a:solidFill>
                <a:effectLst/>
                <a:uFillTx/>
                <a:latin typeface="Calibri"/>
              </a:rPr>
              <a:t>CRISP-DM  ·  Deployment  ·  Operationalisierung</a:t>
            </a:r>
            <a:endParaRPr lang="de-DE" sz="1400" b="0" u="none" strike="noStrike">
              <a:solidFill>
                <a:srgbClr val="000000"/>
              </a:solidFill>
              <a:effectLst/>
              <a:uFillTx/>
              <a:latin typeface="Arial"/>
            </a:endParaRPr>
          </a:p>
        </p:txBody>
      </p:sp>
      <p:sp>
        <p:nvSpPr>
          <p:cNvPr id="244" name="TextBox 16"/>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sp>
        <p:nvSpPr>
          <p:cNvPr id="401" name="TB401"/>
          <p:cNvSpPr txBox="1"/>
          <p:nvPr/>
        </p:nvSpPr>
        <p:spPr>
          <a:xfrm>
            <a:off x="548640" y="1810512"/>
            <a:ext cx="11064240" cy="841248"/>
          </a:xfrm>
          <a:prstGeom prst="rect">
            <a:avLst/>
          </a:prstGeom>
          <a:noFill/>
        </p:spPr>
        <p:txBody>
          <a:bodyPr wrap="square" lIns="0" tIns="0" rIns="0" bIns="0">
            <a:normAutofit/>
          </a:bodyPr>
          <a:lstStyle/>
          <a:p>
            <a:pPr>
              <a:lnSpc>
                <a:spcPct val="104000"/>
              </a:lnSpc>
              <a:spcAft>
                <a:spcPts val="200"/>
              </a:spcAft>
            </a:pPr>
            <a:r>
              <a:rPr lang="de-DE" sz="1800" b="1" dirty="0">
                <a:solidFill>
                  <a:srgbClr val="E07B1B"/>
                </a:solidFill>
                <a:latin typeface="Calibri"/>
              </a:rPr>
              <a:t>1 · Prognose</a:t>
            </a:r>
          </a:p>
          <a:p>
            <a:pPr>
              <a:lnSpc>
                <a:spcPct val="104000"/>
              </a:lnSpc>
              <a:spcAft>
                <a:spcPts val="200"/>
              </a:spcAft>
            </a:pPr>
            <a:r>
              <a:rPr lang="de-DE" sz="1600" dirty="0">
                <a:solidFill>
                  <a:srgbClr val="3A4148"/>
                </a:solidFill>
                <a:latin typeface="Calibri"/>
              </a:rPr>
              <a:t>Optimiertes TFT liefert stündliche PM2.5-Prognosen je Station für +8 / +24 / +48 / +72 h – jeweils mit Unsicherheit (10 / 50 / 90 %-Quantile).</a:t>
            </a:r>
          </a:p>
        </p:txBody>
      </p:sp>
      <p:sp>
        <p:nvSpPr>
          <p:cNvPr id="402" name="TB402"/>
          <p:cNvSpPr txBox="1"/>
          <p:nvPr/>
        </p:nvSpPr>
        <p:spPr>
          <a:xfrm>
            <a:off x="548640" y="2688336"/>
            <a:ext cx="11064240" cy="841248"/>
          </a:xfrm>
          <a:prstGeom prst="rect">
            <a:avLst/>
          </a:prstGeom>
          <a:noFill/>
        </p:spPr>
        <p:txBody>
          <a:bodyPr wrap="square" lIns="0" tIns="0" rIns="0" bIns="0">
            <a:normAutofit/>
          </a:bodyPr>
          <a:lstStyle/>
          <a:p>
            <a:pPr>
              <a:lnSpc>
                <a:spcPct val="104000"/>
              </a:lnSpc>
              <a:spcAft>
                <a:spcPts val="200"/>
              </a:spcAft>
            </a:pPr>
            <a:r>
              <a:rPr lang="de-DE" sz="1800" b="1" dirty="0">
                <a:solidFill>
                  <a:srgbClr val="E07B1B"/>
                </a:solidFill>
                <a:latin typeface="Calibri"/>
              </a:rPr>
              <a:t>2 · AQI-Umrechnung</a:t>
            </a:r>
          </a:p>
          <a:p>
            <a:pPr>
              <a:lnSpc>
                <a:spcPct val="104000"/>
              </a:lnSpc>
              <a:spcAft>
                <a:spcPts val="200"/>
              </a:spcAft>
            </a:pPr>
            <a:r>
              <a:rPr lang="de-DE" sz="1600" dirty="0">
                <a:solidFill>
                  <a:srgbClr val="3A4148"/>
                </a:solidFill>
                <a:latin typeface="Calibri"/>
              </a:rPr>
              <a:t>PM2.5 (µg/m³) wird in den chinesischen Luftqualitätsindex AQI (HJ 633-2012) übersetzt. Schwellen: AQI 200 ≈ 150, 300 ≈ 250, 500 = 500 µg/m³.</a:t>
            </a:r>
          </a:p>
        </p:txBody>
      </p:sp>
      <p:sp>
        <p:nvSpPr>
          <p:cNvPr id="403" name="TB403"/>
          <p:cNvSpPr txBox="1"/>
          <p:nvPr/>
        </p:nvSpPr>
        <p:spPr>
          <a:xfrm>
            <a:off x="548640" y="3566160"/>
            <a:ext cx="11064240" cy="841248"/>
          </a:xfrm>
          <a:prstGeom prst="rect">
            <a:avLst/>
          </a:prstGeom>
          <a:noFill/>
        </p:spPr>
        <p:txBody>
          <a:bodyPr wrap="square" lIns="0" tIns="0" rIns="0" bIns="0">
            <a:normAutofit/>
          </a:bodyPr>
          <a:lstStyle/>
          <a:p>
            <a:pPr>
              <a:lnSpc>
                <a:spcPct val="104000"/>
              </a:lnSpc>
              <a:spcAft>
                <a:spcPts val="200"/>
              </a:spcAft>
            </a:pPr>
            <a:r>
              <a:rPr lang="de-DE" sz="1800" b="1" dirty="0">
                <a:solidFill>
                  <a:srgbClr val="E07B1B"/>
                </a:solidFill>
                <a:latin typeface="Calibri"/>
              </a:rPr>
              <a:t>3 · Dauer- &amp; Schwellenprüfung</a:t>
            </a:r>
          </a:p>
          <a:p>
            <a:pPr>
              <a:lnSpc>
                <a:spcPct val="104000"/>
              </a:lnSpc>
              <a:spcAft>
                <a:spcPts val="200"/>
              </a:spcAft>
            </a:pPr>
            <a:r>
              <a:rPr lang="de-DE" sz="1600" dirty="0">
                <a:solidFill>
                  <a:srgbClr val="3A4148"/>
                </a:solidFill>
                <a:latin typeface="Calibri"/>
              </a:rPr>
              <a:t>Wie lange bleibt der prognostizierte AQI über der Schwelle? Das Beijing-Kriterium ist dauerbasiert (z. B. AQI &gt; 200 über 48 / 72 / 96 h).</a:t>
            </a:r>
          </a:p>
        </p:txBody>
      </p:sp>
      <p:sp>
        <p:nvSpPr>
          <p:cNvPr id="404" name="TB404"/>
          <p:cNvSpPr txBox="1"/>
          <p:nvPr/>
        </p:nvSpPr>
        <p:spPr>
          <a:xfrm>
            <a:off x="548640" y="4443984"/>
            <a:ext cx="11064240" cy="841248"/>
          </a:xfrm>
          <a:prstGeom prst="rect">
            <a:avLst/>
          </a:prstGeom>
          <a:noFill/>
        </p:spPr>
        <p:txBody>
          <a:bodyPr wrap="square" lIns="0" tIns="0" rIns="0" bIns="0">
            <a:normAutofit/>
          </a:bodyPr>
          <a:lstStyle/>
          <a:p>
            <a:pPr>
              <a:lnSpc>
                <a:spcPct val="104000"/>
              </a:lnSpc>
              <a:spcAft>
                <a:spcPts val="200"/>
              </a:spcAft>
            </a:pPr>
            <a:r>
              <a:rPr lang="de-DE" sz="1800" b="1" dirty="0">
                <a:solidFill>
                  <a:srgbClr val="E07B1B"/>
                </a:solidFill>
                <a:latin typeface="Calibri"/>
              </a:rPr>
              <a:t>4 · Warnstufe</a:t>
            </a:r>
          </a:p>
          <a:p>
            <a:pPr>
              <a:lnSpc>
                <a:spcPct val="104000"/>
              </a:lnSpc>
              <a:spcAft>
                <a:spcPts val="200"/>
              </a:spcAft>
            </a:pPr>
            <a:r>
              <a:rPr lang="de-DE" sz="1600" dirty="0">
                <a:solidFill>
                  <a:srgbClr val="3A4148"/>
                </a:solidFill>
                <a:latin typeface="Calibri"/>
              </a:rPr>
              <a:t>Automatische Ableitung der Stufe Gelb / Orange / Rot – Auslösung idealerweise 24 h im Voraus (gesetzlicher Regelvorlauf des Notfallplans).</a:t>
            </a:r>
          </a:p>
        </p:txBody>
      </p:sp>
      <p:sp>
        <p:nvSpPr>
          <p:cNvPr id="405" name="TB405"/>
          <p:cNvSpPr txBox="1"/>
          <p:nvPr/>
        </p:nvSpPr>
        <p:spPr>
          <a:xfrm>
            <a:off x="548640" y="5321808"/>
            <a:ext cx="11064240" cy="841248"/>
          </a:xfrm>
          <a:prstGeom prst="rect">
            <a:avLst/>
          </a:prstGeom>
          <a:noFill/>
        </p:spPr>
        <p:txBody>
          <a:bodyPr wrap="square" lIns="0" tIns="0" rIns="0" bIns="0">
            <a:normAutofit/>
          </a:bodyPr>
          <a:lstStyle/>
          <a:p>
            <a:pPr>
              <a:lnSpc>
                <a:spcPct val="104000"/>
              </a:lnSpc>
              <a:spcAft>
                <a:spcPts val="200"/>
              </a:spcAft>
            </a:pPr>
            <a:r>
              <a:rPr lang="de-DE" sz="1800" b="1" dirty="0">
                <a:solidFill>
                  <a:srgbClr val="E07B1B"/>
                </a:solidFill>
                <a:latin typeface="Calibri"/>
              </a:rPr>
              <a:t>5 · Maßnahme &amp; Kommunikation</a:t>
            </a:r>
          </a:p>
          <a:p>
            <a:pPr>
              <a:lnSpc>
                <a:spcPct val="104000"/>
              </a:lnSpc>
              <a:spcAft>
                <a:spcPts val="200"/>
              </a:spcAft>
            </a:pPr>
            <a:r>
              <a:rPr lang="de-DE" sz="1600" dirty="0">
                <a:solidFill>
                  <a:srgbClr val="3A4148"/>
                </a:solidFill>
                <a:latin typeface="Calibri"/>
              </a:rPr>
              <a:t>Je Stufe ein fest hinterlegtes Maßnahmenpaket (Verkehr, Industrie, Schulen, Bürger) plus Push-Warnung an Behörden und Bevölkerung.</a:t>
            </a:r>
          </a:p>
        </p:txBody>
      </p:sp>
      <p:sp>
        <p:nvSpPr>
          <p:cNvPr id="406" name="TB406"/>
          <p:cNvSpPr txBox="1"/>
          <p:nvPr/>
        </p:nvSpPr>
        <p:spPr>
          <a:xfrm>
            <a:off x="548640" y="6199632"/>
            <a:ext cx="10515600" cy="219456"/>
          </a:xfrm>
          <a:prstGeom prst="rect">
            <a:avLst/>
          </a:prstGeom>
          <a:noFill/>
        </p:spPr>
        <p:txBody>
          <a:bodyPr wrap="square" lIns="0" tIns="0" rIns="0" bIns="0">
            <a:normAutofit/>
          </a:bodyPr>
          <a:lstStyle/>
          <a:p>
            <a:pPr>
              <a:lnSpc>
                <a:spcPct val="104000"/>
              </a:lnSpc>
              <a:spcAft>
                <a:spcPts val="200"/>
              </a:spcAft>
            </a:pPr>
            <a:r>
              <a:rPr lang="de-DE" sz="900" dirty="0">
                <a:solidFill>
                  <a:srgbClr val="7A7A7A"/>
                </a:solidFill>
                <a:latin typeface="Calibri"/>
              </a:rPr>
              <a:t>Grundlage: Heavy Air Pollution Contingency Plan of Beijing Municipality (2018) · AQI-Umrechnung nach HJ 633-2012 (24-h-Mittel).</a:t>
            </a:r>
          </a:p>
        </p:txBody>
      </p:sp>
      <p:pic>
        <p:nvPicPr>
          <p:cNvPr id="3" name="Grafik 2">
            <a:extLst>
              <a:ext uri="{FF2B5EF4-FFF2-40B4-BE49-F238E27FC236}">
                <a16:creationId xmlns:a16="http://schemas.microsoft.com/office/drawing/2014/main" id="{CEA10C0F-523A-7D21-7E38-84DCA7427BFE}"/>
              </a:ext>
            </a:extLst>
          </p:cNvPr>
          <p:cNvPicPr>
            <a:picLocks noChangeAspect="1"/>
          </p:cNvPicPr>
          <p:nvPr/>
        </p:nvPicPr>
        <p:blipFill>
          <a:blip r:embed="rId2"/>
          <a:stretch>
            <a:fillRect/>
          </a:stretch>
        </p:blipFill>
        <p:spPr>
          <a:xfrm>
            <a:off x="10052955" y="1106865"/>
            <a:ext cx="1559925" cy="93180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Rectangle 1"/>
          <p:cNvSpPr/>
          <p:nvPr/>
        </p:nvSpPr>
        <p:spPr>
          <a:xfrm>
            <a:off x="0" y="0"/>
            <a:ext cx="12161160" cy="6857640"/>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dirty="0">
              <a:solidFill>
                <a:schemeClr val="lt1"/>
              </a:solidFill>
              <a:effectLst/>
              <a:uFillTx/>
              <a:latin typeface="Calibri"/>
            </a:endParaRPr>
          </a:p>
        </p:txBody>
      </p:sp>
      <p:sp>
        <p:nvSpPr>
          <p:cNvPr id="230" name="Oval 2"/>
          <p:cNvSpPr/>
          <p:nvPr/>
        </p:nvSpPr>
        <p:spPr>
          <a:xfrm>
            <a:off x="457200" y="45720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31" name="TextBox 3"/>
          <p:cNvSpPr/>
          <p:nvPr/>
        </p:nvSpPr>
        <p:spPr>
          <a:xfrm>
            <a:off x="457200" y="457200"/>
            <a:ext cx="105120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a:solidFill>
                  <a:srgbClr val="FFFFFF"/>
                </a:solidFill>
                <a:effectLst/>
                <a:uFillTx/>
                <a:latin typeface="Cambria"/>
              </a:rPr>
              <a:t>6</a:t>
            </a:r>
            <a:endParaRPr lang="de-DE" sz="3000" b="0" u="none" strike="noStrike">
              <a:solidFill>
                <a:srgbClr val="000000"/>
              </a:solidFill>
              <a:effectLst/>
              <a:uFillTx/>
              <a:latin typeface="Arial"/>
            </a:endParaRPr>
          </a:p>
        </p:txBody>
      </p:sp>
      <p:sp>
        <p:nvSpPr>
          <p:cNvPr id="232" name="TextBox 4"/>
          <p:cNvSpPr/>
          <p:nvPr/>
        </p:nvSpPr>
        <p:spPr>
          <a:xfrm>
            <a:off x="1691640" y="553699"/>
            <a:ext cx="9143640" cy="49244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dirty="0" err="1">
                <a:solidFill>
                  <a:srgbClr val="22272B"/>
                </a:solidFill>
                <a:effectLst/>
                <a:uFillTx/>
                <a:latin typeface="Cambria"/>
              </a:rPr>
              <a:t>Warnstufen: Vorlauf &amp; Maßnahmen</a:t>
            </a:r>
            <a:endParaRPr lang="de-DE" sz="3200" b="0" u="none" strike="noStrike" dirty="0">
              <a:solidFill>
                <a:srgbClr val="000000"/>
              </a:solidFill>
              <a:effectLst/>
              <a:uFillTx/>
              <a:latin typeface="Arial"/>
            </a:endParaRPr>
          </a:p>
        </p:txBody>
      </p:sp>
      <p:sp>
        <p:nvSpPr>
          <p:cNvPr id="233" name="TextBox 5"/>
          <p:cNvSpPr/>
          <p:nvPr/>
        </p:nvSpPr>
        <p:spPr>
          <a:xfrm>
            <a:off x="1710000" y="1115640"/>
            <a:ext cx="9143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E0912F"/>
                </a:solidFill>
                <a:effectLst/>
                <a:uFillTx/>
                <a:latin typeface="Calibri"/>
              </a:rPr>
              <a:t>CRISP-DM  ·  Deployment  ·  Maßnahmenkatalog</a:t>
            </a:r>
            <a:endParaRPr lang="de-DE" sz="1400" b="0" u="none" strike="noStrike">
              <a:solidFill>
                <a:srgbClr val="000000"/>
              </a:solidFill>
              <a:effectLst/>
              <a:uFillTx/>
              <a:latin typeface="Arial"/>
            </a:endParaRPr>
          </a:p>
        </p:txBody>
      </p:sp>
      <p:sp>
        <p:nvSpPr>
          <p:cNvPr id="244" name="TextBox 16"/>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sp>
        <p:nvSpPr>
          <p:cNvPr id="401" name="TB401"/>
          <p:cNvSpPr txBox="1"/>
          <p:nvPr/>
        </p:nvSpPr>
        <p:spPr>
          <a:xfrm>
            <a:off x="548640" y="1700784"/>
            <a:ext cx="11064240" cy="457200"/>
          </a:xfrm>
          <a:prstGeom prst="rect">
            <a:avLst/>
          </a:prstGeom>
          <a:noFill/>
        </p:spPr>
        <p:txBody>
          <a:bodyPr wrap="square" lIns="0" tIns="0" rIns="0" bIns="0">
            <a:normAutofit/>
          </a:bodyPr>
          <a:lstStyle/>
          <a:p>
            <a:pPr>
              <a:lnSpc>
                <a:spcPct val="102000"/>
              </a:lnSpc>
              <a:spcAft>
                <a:spcPts val="300"/>
              </a:spcAft>
            </a:pPr>
            <a:r>
              <a:rPr lang="de-DE" sz="1200" b="1" dirty="0">
                <a:solidFill>
                  <a:srgbClr val="22272B"/>
                </a:solidFill>
                <a:latin typeface="Calibri"/>
              </a:rPr>
              <a:t>Prognostizierte Warnstufe → automatisch das passende, gesetzlich hinterlegte Maßnahmenpaket.  </a:t>
            </a:r>
            <a:r>
              <a:rPr lang="de-DE" sz="1200" dirty="0">
                <a:solidFill>
                  <a:srgbClr val="3A4148"/>
                </a:solidFill>
                <a:latin typeface="Calibri"/>
              </a:rPr>
              <a:t>Zusätzlich: +8 h Akut-Vorwarnung für kurzfristige Spitzen (Risikogruppen).</a:t>
            </a:r>
          </a:p>
        </p:txBody>
      </p:sp>
      <p:sp>
        <p:nvSpPr>
          <p:cNvPr id="402" name="RR402"/>
          <p:cNvSpPr/>
          <p:nvPr/>
        </p:nvSpPr>
        <p:spPr>
          <a:xfrm>
            <a:off x="457200" y="2130000"/>
            <a:ext cx="3608920" cy="4020000"/>
          </a:xfrm>
          <a:prstGeom prst="roundRect">
            <a:avLst>
              <a:gd name="adj" fmla="val 5000"/>
            </a:avLst>
          </a:prstGeom>
          <a:solidFill>
            <a:srgbClr val="FFFFFF"/>
          </a:solidFill>
          <a:ln>
            <a:noFill/>
          </a:ln>
          <a:effectLst>
            <a:outerShdw blurRad="39960" dist="23040" dir="5400000" rotWithShape="0">
              <a:srgbClr val="000000">
                <a:alpha val="24000"/>
              </a:srgbClr>
            </a:outerShdw>
          </a:effectLst>
        </p:spPr>
        <p:txBody>
          <a:bodyPr/>
          <a:lstStyle/>
          <a:p>
            <a:endParaRPr/>
          </a:p>
        </p:txBody>
      </p:sp>
      <p:sp>
        <p:nvSpPr>
          <p:cNvPr id="403" name="RR403"/>
          <p:cNvSpPr/>
          <p:nvPr/>
        </p:nvSpPr>
        <p:spPr>
          <a:xfrm>
            <a:off x="457200" y="2130000"/>
            <a:ext cx="3608920" cy="720000"/>
          </a:xfrm>
          <a:prstGeom prst="roundRect">
            <a:avLst>
              <a:gd name="adj" fmla="val 5000"/>
            </a:avLst>
          </a:prstGeom>
          <a:solidFill>
            <a:srgbClr val="F2C200"/>
          </a:solidFill>
          <a:ln>
            <a:noFill/>
          </a:ln>
          <a:effectLst/>
        </p:spPr>
        <p:txBody>
          <a:bodyPr/>
          <a:lstStyle/>
          <a:p>
            <a:endParaRPr/>
          </a:p>
        </p:txBody>
      </p:sp>
      <p:sp>
        <p:nvSpPr>
          <p:cNvPr id="404" name="TB404"/>
          <p:cNvSpPr txBox="1"/>
          <p:nvPr/>
        </p:nvSpPr>
        <p:spPr>
          <a:xfrm>
            <a:off x="630000" y="2248231"/>
            <a:ext cx="3608920" cy="300000"/>
          </a:xfrm>
          <a:prstGeom prst="rect">
            <a:avLst/>
          </a:prstGeom>
          <a:noFill/>
        </p:spPr>
        <p:txBody>
          <a:bodyPr wrap="square" lIns="0" tIns="0" rIns="0" bIns="0">
            <a:normAutofit/>
          </a:bodyPr>
          <a:lstStyle/>
          <a:p>
            <a:pPr>
              <a:lnSpc>
                <a:spcPct val="102000"/>
              </a:lnSpc>
              <a:spcAft>
                <a:spcPts val="300"/>
              </a:spcAft>
            </a:pPr>
            <a:r>
              <a:rPr lang="de-DE" sz="1900" b="1" dirty="0">
                <a:solidFill>
                  <a:srgbClr val="3A2E00"/>
                </a:solidFill>
                <a:latin typeface="Calibri"/>
              </a:rPr>
              <a:t>GELB</a:t>
            </a:r>
          </a:p>
        </p:txBody>
      </p:sp>
      <p:sp>
        <p:nvSpPr>
          <p:cNvPr id="405" name="TB405"/>
          <p:cNvSpPr txBox="1"/>
          <p:nvPr/>
        </p:nvSpPr>
        <p:spPr>
          <a:xfrm>
            <a:off x="603504" y="2579584"/>
            <a:ext cx="3608920" cy="200000"/>
          </a:xfrm>
          <a:prstGeom prst="rect">
            <a:avLst/>
          </a:prstGeom>
          <a:noFill/>
        </p:spPr>
        <p:txBody>
          <a:bodyPr wrap="square" lIns="0" tIns="0" rIns="0" bIns="0">
            <a:normAutofit/>
          </a:bodyPr>
          <a:lstStyle/>
          <a:p>
            <a:pPr>
              <a:lnSpc>
                <a:spcPct val="102000"/>
              </a:lnSpc>
              <a:spcAft>
                <a:spcPts val="300"/>
              </a:spcAft>
            </a:pPr>
            <a:r>
              <a:rPr lang="de-DE" sz="1200" dirty="0">
                <a:solidFill>
                  <a:srgbClr val="3A2E00"/>
                </a:solidFill>
                <a:latin typeface="Calibri"/>
              </a:rPr>
              <a:t>Stufe III  ·  Vorlauf ab +24 h</a:t>
            </a:r>
          </a:p>
        </p:txBody>
      </p:sp>
      <p:sp>
        <p:nvSpPr>
          <p:cNvPr id="406" name="TB406"/>
          <p:cNvSpPr txBox="1"/>
          <p:nvPr/>
        </p:nvSpPr>
        <p:spPr>
          <a:xfrm>
            <a:off x="603504" y="3017520"/>
            <a:ext cx="3310128" cy="777240"/>
          </a:xfrm>
          <a:prstGeom prst="rect">
            <a:avLst/>
          </a:prstGeom>
          <a:noFill/>
        </p:spPr>
        <p:txBody>
          <a:bodyPr wrap="square" lIns="0" tIns="0" rIns="0" bIns="0">
            <a:normAutofit/>
          </a:bodyPr>
          <a:lstStyle/>
          <a:p>
            <a:pPr>
              <a:lnSpc>
                <a:spcPct val="102000"/>
              </a:lnSpc>
              <a:spcAft>
                <a:spcPts val="300"/>
              </a:spcAft>
            </a:pPr>
            <a:r>
              <a:rPr lang="de-DE" b="1" dirty="0">
                <a:solidFill>
                  <a:srgbClr val="22272B"/>
                </a:solidFill>
                <a:latin typeface="Calibri"/>
              </a:rPr>
              <a:t>Auslöser: </a:t>
            </a:r>
            <a:r>
              <a:rPr lang="de-DE" dirty="0">
                <a:solidFill>
                  <a:srgbClr val="3A4148"/>
                </a:solidFill>
                <a:latin typeface="Calibri"/>
              </a:rPr>
              <a:t>AQI &gt; 200 für ≥ 48 h</a:t>
            </a:r>
          </a:p>
        </p:txBody>
      </p:sp>
      <p:sp>
        <p:nvSpPr>
          <p:cNvPr id="407" name="TB407"/>
          <p:cNvSpPr txBox="1"/>
          <p:nvPr/>
        </p:nvSpPr>
        <p:spPr>
          <a:xfrm>
            <a:off x="603504" y="3913632"/>
            <a:ext cx="3310128" cy="914400"/>
          </a:xfrm>
          <a:prstGeom prst="rect">
            <a:avLst/>
          </a:prstGeom>
          <a:noFill/>
        </p:spPr>
        <p:txBody>
          <a:bodyPr wrap="square" lIns="0" tIns="0" rIns="0" bIns="0">
            <a:normAutofit/>
          </a:bodyPr>
          <a:lstStyle/>
          <a:p>
            <a:pPr>
              <a:lnSpc>
                <a:spcPct val="102000"/>
              </a:lnSpc>
              <a:spcAft>
                <a:spcPts val="300"/>
              </a:spcAft>
            </a:pPr>
            <a:r>
              <a:rPr lang="de-DE" b="1" dirty="0">
                <a:solidFill>
                  <a:srgbClr val="22272B"/>
                </a:solidFill>
                <a:latin typeface="Calibri"/>
              </a:rPr>
              <a:t>Verkehr &amp; Bau:  </a:t>
            </a:r>
            <a:r>
              <a:rPr lang="de-DE" dirty="0">
                <a:solidFill>
                  <a:srgbClr val="3A4148"/>
                </a:solidFill>
                <a:latin typeface="Calibri"/>
              </a:rPr>
              <a:t>Bau-/Abbruch-arbeiten gestoppt · ÖPNV-Appell</a:t>
            </a:r>
          </a:p>
        </p:txBody>
      </p:sp>
      <p:sp>
        <p:nvSpPr>
          <p:cNvPr id="408" name="TB408"/>
          <p:cNvSpPr txBox="1"/>
          <p:nvPr/>
        </p:nvSpPr>
        <p:spPr>
          <a:xfrm>
            <a:off x="603504" y="4937760"/>
            <a:ext cx="3310128" cy="1051560"/>
          </a:xfrm>
          <a:prstGeom prst="rect">
            <a:avLst/>
          </a:prstGeom>
          <a:noFill/>
        </p:spPr>
        <p:txBody>
          <a:bodyPr wrap="square" lIns="0" tIns="0" rIns="0" bIns="0">
            <a:normAutofit/>
          </a:bodyPr>
          <a:lstStyle/>
          <a:p>
            <a:pPr>
              <a:lnSpc>
                <a:spcPct val="102000"/>
              </a:lnSpc>
              <a:spcAft>
                <a:spcPts val="300"/>
              </a:spcAft>
            </a:pPr>
            <a:r>
              <a:rPr lang="de-DE" b="1" dirty="0">
                <a:solidFill>
                  <a:srgbClr val="22272B"/>
                </a:solidFill>
                <a:latin typeface="Calibri"/>
              </a:rPr>
              <a:t>Schulen &amp; Bürger:  </a:t>
            </a:r>
            <a:r>
              <a:rPr lang="de-DE" dirty="0">
                <a:solidFill>
                  <a:srgbClr val="3A4148"/>
                </a:solidFill>
                <a:latin typeface="Calibri"/>
              </a:rPr>
              <a:t>kein Sport im Freien · Risikogruppen drinnen</a:t>
            </a:r>
          </a:p>
        </p:txBody>
      </p:sp>
      <p:sp>
        <p:nvSpPr>
          <p:cNvPr id="411" name="RR411"/>
          <p:cNvSpPr/>
          <p:nvPr/>
        </p:nvSpPr>
        <p:spPr>
          <a:xfrm>
            <a:off x="4276120" y="2130000"/>
            <a:ext cx="3608920" cy="4020000"/>
          </a:xfrm>
          <a:prstGeom prst="roundRect">
            <a:avLst>
              <a:gd name="adj" fmla="val 5000"/>
            </a:avLst>
          </a:prstGeom>
          <a:solidFill>
            <a:srgbClr val="FFFFFF"/>
          </a:solidFill>
          <a:ln>
            <a:noFill/>
          </a:ln>
          <a:effectLst>
            <a:outerShdw blurRad="39960" dist="23040" dir="5400000" rotWithShape="0">
              <a:srgbClr val="000000">
                <a:alpha val="24000"/>
              </a:srgbClr>
            </a:outerShdw>
          </a:effectLst>
        </p:spPr>
        <p:txBody>
          <a:bodyPr/>
          <a:lstStyle/>
          <a:p>
            <a:endParaRPr/>
          </a:p>
        </p:txBody>
      </p:sp>
      <p:sp>
        <p:nvSpPr>
          <p:cNvPr id="412" name="RR412"/>
          <p:cNvSpPr/>
          <p:nvPr/>
        </p:nvSpPr>
        <p:spPr>
          <a:xfrm>
            <a:off x="4276120" y="2130000"/>
            <a:ext cx="3608920" cy="720000"/>
          </a:xfrm>
          <a:prstGeom prst="roundRect">
            <a:avLst>
              <a:gd name="adj" fmla="val 5000"/>
            </a:avLst>
          </a:prstGeom>
          <a:solidFill>
            <a:srgbClr val="E0912F"/>
          </a:solidFill>
          <a:ln>
            <a:noFill/>
          </a:ln>
          <a:effectLst/>
        </p:spPr>
        <p:txBody>
          <a:bodyPr/>
          <a:lstStyle/>
          <a:p>
            <a:endParaRPr/>
          </a:p>
        </p:txBody>
      </p:sp>
      <p:sp>
        <p:nvSpPr>
          <p:cNvPr id="413" name="TB413"/>
          <p:cNvSpPr txBox="1"/>
          <p:nvPr/>
        </p:nvSpPr>
        <p:spPr>
          <a:xfrm>
            <a:off x="4523320" y="2248231"/>
            <a:ext cx="3608920" cy="300000"/>
          </a:xfrm>
          <a:prstGeom prst="rect">
            <a:avLst/>
          </a:prstGeom>
          <a:noFill/>
        </p:spPr>
        <p:txBody>
          <a:bodyPr wrap="square" lIns="0" tIns="0" rIns="0" bIns="0">
            <a:normAutofit/>
          </a:bodyPr>
          <a:lstStyle/>
          <a:p>
            <a:pPr>
              <a:lnSpc>
                <a:spcPct val="102000"/>
              </a:lnSpc>
              <a:spcAft>
                <a:spcPts val="300"/>
              </a:spcAft>
            </a:pPr>
            <a:r>
              <a:rPr lang="de-DE" sz="1900" b="1" dirty="0">
                <a:solidFill>
                  <a:srgbClr val="FFFFFF"/>
                </a:solidFill>
                <a:latin typeface="Calibri"/>
              </a:rPr>
              <a:t>ORANGE</a:t>
            </a:r>
          </a:p>
        </p:txBody>
      </p:sp>
      <p:sp>
        <p:nvSpPr>
          <p:cNvPr id="414" name="TB414"/>
          <p:cNvSpPr txBox="1"/>
          <p:nvPr/>
        </p:nvSpPr>
        <p:spPr>
          <a:xfrm>
            <a:off x="4358728" y="2587200"/>
            <a:ext cx="3608920" cy="200000"/>
          </a:xfrm>
          <a:prstGeom prst="rect">
            <a:avLst/>
          </a:prstGeom>
          <a:noFill/>
        </p:spPr>
        <p:txBody>
          <a:bodyPr wrap="square" lIns="0" tIns="0" rIns="0" bIns="0">
            <a:normAutofit/>
          </a:bodyPr>
          <a:lstStyle/>
          <a:p>
            <a:pPr>
              <a:lnSpc>
                <a:spcPct val="102000"/>
              </a:lnSpc>
              <a:spcAft>
                <a:spcPts val="300"/>
              </a:spcAft>
            </a:pPr>
            <a:r>
              <a:rPr lang="de-DE" sz="1200" dirty="0">
                <a:solidFill>
                  <a:srgbClr val="FFFFFF"/>
                </a:solidFill>
                <a:latin typeface="Calibri"/>
              </a:rPr>
              <a:t>Stufe II  ·  Vorlauf ab +48 h</a:t>
            </a:r>
          </a:p>
        </p:txBody>
      </p:sp>
      <p:sp>
        <p:nvSpPr>
          <p:cNvPr id="415" name="TB415"/>
          <p:cNvSpPr txBox="1"/>
          <p:nvPr/>
        </p:nvSpPr>
        <p:spPr>
          <a:xfrm>
            <a:off x="4425696" y="3017520"/>
            <a:ext cx="3310128" cy="777240"/>
          </a:xfrm>
          <a:prstGeom prst="rect">
            <a:avLst/>
          </a:prstGeom>
          <a:noFill/>
        </p:spPr>
        <p:txBody>
          <a:bodyPr wrap="square" lIns="0" tIns="0" rIns="0" bIns="0">
            <a:normAutofit/>
          </a:bodyPr>
          <a:lstStyle/>
          <a:p>
            <a:pPr>
              <a:lnSpc>
                <a:spcPct val="102000"/>
              </a:lnSpc>
              <a:spcAft>
                <a:spcPts val="300"/>
              </a:spcAft>
            </a:pPr>
            <a:r>
              <a:rPr lang="de-DE" b="1" dirty="0">
                <a:solidFill>
                  <a:srgbClr val="22272B"/>
                </a:solidFill>
                <a:latin typeface="Calibri"/>
              </a:rPr>
              <a:t>Auslöser: </a:t>
            </a:r>
            <a:r>
              <a:rPr lang="de-DE" dirty="0">
                <a:solidFill>
                  <a:srgbClr val="3A4148"/>
                </a:solidFill>
                <a:latin typeface="Calibri"/>
              </a:rPr>
              <a:t>AQI &gt; 200 für ≥ 72 h</a:t>
            </a:r>
          </a:p>
        </p:txBody>
      </p:sp>
      <p:sp>
        <p:nvSpPr>
          <p:cNvPr id="416" name="TB416"/>
          <p:cNvSpPr txBox="1"/>
          <p:nvPr/>
        </p:nvSpPr>
        <p:spPr>
          <a:xfrm>
            <a:off x="4425696" y="3913632"/>
            <a:ext cx="3310128" cy="914400"/>
          </a:xfrm>
          <a:prstGeom prst="rect">
            <a:avLst/>
          </a:prstGeom>
          <a:noFill/>
        </p:spPr>
        <p:txBody>
          <a:bodyPr wrap="square" lIns="0" tIns="0" rIns="0" bIns="0">
            <a:normAutofit/>
          </a:bodyPr>
          <a:lstStyle/>
          <a:p>
            <a:pPr>
              <a:lnSpc>
                <a:spcPct val="102000"/>
              </a:lnSpc>
              <a:spcAft>
                <a:spcPts val="300"/>
              </a:spcAft>
            </a:pPr>
            <a:r>
              <a:rPr lang="de-DE" b="1" dirty="0">
                <a:solidFill>
                  <a:srgbClr val="22272B"/>
                </a:solidFill>
                <a:latin typeface="Calibri"/>
              </a:rPr>
              <a:t>Verkehr:  </a:t>
            </a:r>
            <a:r>
              <a:rPr lang="de-DE" dirty="0">
                <a:solidFill>
                  <a:srgbClr val="3A4148"/>
                </a:solidFill>
                <a:latin typeface="Calibri"/>
              </a:rPr>
              <a:t>Fahrverbot China I/II · Schwerlast gesperrt</a:t>
            </a:r>
          </a:p>
        </p:txBody>
      </p:sp>
      <p:sp>
        <p:nvSpPr>
          <p:cNvPr id="417" name="TB417"/>
          <p:cNvSpPr txBox="1"/>
          <p:nvPr/>
        </p:nvSpPr>
        <p:spPr>
          <a:xfrm>
            <a:off x="4425696" y="4937760"/>
            <a:ext cx="3310128" cy="1051560"/>
          </a:xfrm>
          <a:prstGeom prst="rect">
            <a:avLst/>
          </a:prstGeom>
          <a:noFill/>
        </p:spPr>
        <p:txBody>
          <a:bodyPr wrap="square" lIns="0" tIns="0" rIns="0" bIns="0">
            <a:normAutofit/>
          </a:bodyPr>
          <a:lstStyle/>
          <a:p>
            <a:pPr>
              <a:lnSpc>
                <a:spcPct val="102000"/>
              </a:lnSpc>
              <a:spcAft>
                <a:spcPts val="300"/>
              </a:spcAft>
            </a:pPr>
            <a:r>
              <a:rPr lang="de-DE" b="1" dirty="0">
                <a:solidFill>
                  <a:srgbClr val="22272B"/>
                </a:solidFill>
                <a:latin typeface="Calibri"/>
              </a:rPr>
              <a:t>Industrie &amp; Schulen:  </a:t>
            </a:r>
            <a:r>
              <a:rPr lang="de-DE" dirty="0">
                <a:solidFill>
                  <a:srgbClr val="3A4148"/>
                </a:solidFill>
                <a:latin typeface="Calibri"/>
              </a:rPr>
              <a:t>„Orange-Liste" drosselt · Aktivitäten im Freien gestoppt</a:t>
            </a:r>
          </a:p>
        </p:txBody>
      </p:sp>
      <p:sp>
        <p:nvSpPr>
          <p:cNvPr id="420" name="RR420"/>
          <p:cNvSpPr/>
          <p:nvPr/>
        </p:nvSpPr>
        <p:spPr>
          <a:xfrm>
            <a:off x="8095040" y="2130000"/>
            <a:ext cx="3608920" cy="4020000"/>
          </a:xfrm>
          <a:prstGeom prst="roundRect">
            <a:avLst>
              <a:gd name="adj" fmla="val 5000"/>
            </a:avLst>
          </a:prstGeom>
          <a:solidFill>
            <a:srgbClr val="FFFFFF"/>
          </a:solidFill>
          <a:ln>
            <a:noFill/>
          </a:ln>
          <a:effectLst>
            <a:outerShdw blurRad="39960" dist="23040" dir="5400000" rotWithShape="0">
              <a:srgbClr val="000000">
                <a:alpha val="24000"/>
              </a:srgbClr>
            </a:outerShdw>
          </a:effectLst>
        </p:spPr>
        <p:txBody>
          <a:bodyPr/>
          <a:lstStyle/>
          <a:p>
            <a:endParaRPr/>
          </a:p>
        </p:txBody>
      </p:sp>
      <p:sp>
        <p:nvSpPr>
          <p:cNvPr id="421" name="RR421"/>
          <p:cNvSpPr/>
          <p:nvPr/>
        </p:nvSpPr>
        <p:spPr>
          <a:xfrm>
            <a:off x="8095040" y="2130000"/>
            <a:ext cx="3608920" cy="720000"/>
          </a:xfrm>
          <a:prstGeom prst="roundRect">
            <a:avLst>
              <a:gd name="adj" fmla="val 5000"/>
            </a:avLst>
          </a:prstGeom>
          <a:solidFill>
            <a:srgbClr val="C0392B"/>
          </a:solidFill>
          <a:ln>
            <a:noFill/>
          </a:ln>
          <a:effectLst/>
        </p:spPr>
        <p:txBody>
          <a:bodyPr/>
          <a:lstStyle/>
          <a:p>
            <a:endParaRPr/>
          </a:p>
        </p:txBody>
      </p:sp>
      <p:sp>
        <p:nvSpPr>
          <p:cNvPr id="422" name="TB422"/>
          <p:cNvSpPr txBox="1"/>
          <p:nvPr/>
        </p:nvSpPr>
        <p:spPr>
          <a:xfrm>
            <a:off x="8305040" y="2239800"/>
            <a:ext cx="3608920" cy="300000"/>
          </a:xfrm>
          <a:prstGeom prst="rect">
            <a:avLst/>
          </a:prstGeom>
          <a:noFill/>
        </p:spPr>
        <p:txBody>
          <a:bodyPr wrap="square" lIns="0" tIns="0" rIns="0" bIns="0">
            <a:normAutofit/>
          </a:bodyPr>
          <a:lstStyle/>
          <a:p>
            <a:pPr>
              <a:lnSpc>
                <a:spcPct val="102000"/>
              </a:lnSpc>
              <a:spcAft>
                <a:spcPts val="300"/>
              </a:spcAft>
            </a:pPr>
            <a:r>
              <a:rPr lang="de-DE" sz="1900" b="1" dirty="0">
                <a:solidFill>
                  <a:srgbClr val="FFFFFF"/>
                </a:solidFill>
                <a:latin typeface="Calibri"/>
              </a:rPr>
              <a:t>ROT</a:t>
            </a:r>
          </a:p>
        </p:txBody>
      </p:sp>
      <p:sp>
        <p:nvSpPr>
          <p:cNvPr id="423" name="TB423"/>
          <p:cNvSpPr txBox="1"/>
          <p:nvPr/>
        </p:nvSpPr>
        <p:spPr>
          <a:xfrm>
            <a:off x="8247888" y="2596142"/>
            <a:ext cx="3608920" cy="200000"/>
          </a:xfrm>
          <a:prstGeom prst="rect">
            <a:avLst/>
          </a:prstGeom>
          <a:noFill/>
        </p:spPr>
        <p:txBody>
          <a:bodyPr wrap="square" lIns="0" tIns="0" rIns="0" bIns="0">
            <a:normAutofit/>
          </a:bodyPr>
          <a:lstStyle/>
          <a:p>
            <a:pPr>
              <a:lnSpc>
                <a:spcPct val="102000"/>
              </a:lnSpc>
              <a:spcAft>
                <a:spcPts val="300"/>
              </a:spcAft>
            </a:pPr>
            <a:r>
              <a:rPr lang="de-DE" sz="1200" dirty="0">
                <a:solidFill>
                  <a:srgbClr val="FFFFFF"/>
                </a:solidFill>
                <a:latin typeface="Calibri"/>
              </a:rPr>
              <a:t>Stufe I  ·  Vorlauf ab +72 h</a:t>
            </a:r>
          </a:p>
        </p:txBody>
      </p:sp>
      <p:sp>
        <p:nvSpPr>
          <p:cNvPr id="424" name="TB424"/>
          <p:cNvSpPr txBox="1"/>
          <p:nvPr/>
        </p:nvSpPr>
        <p:spPr>
          <a:xfrm>
            <a:off x="8247888" y="3017520"/>
            <a:ext cx="3310128" cy="777240"/>
          </a:xfrm>
          <a:prstGeom prst="rect">
            <a:avLst/>
          </a:prstGeom>
          <a:noFill/>
        </p:spPr>
        <p:txBody>
          <a:bodyPr wrap="square" lIns="0" tIns="0" rIns="0" bIns="0">
            <a:normAutofit/>
          </a:bodyPr>
          <a:lstStyle/>
          <a:p>
            <a:pPr>
              <a:lnSpc>
                <a:spcPct val="102000"/>
              </a:lnSpc>
              <a:spcAft>
                <a:spcPts val="300"/>
              </a:spcAft>
            </a:pPr>
            <a:r>
              <a:rPr lang="de-DE" b="1" dirty="0">
                <a:solidFill>
                  <a:srgbClr val="22272B"/>
                </a:solidFill>
                <a:latin typeface="Calibri"/>
              </a:rPr>
              <a:t>Auslöser: </a:t>
            </a:r>
            <a:r>
              <a:rPr lang="de-DE" dirty="0">
                <a:solidFill>
                  <a:srgbClr val="3A4148"/>
                </a:solidFill>
                <a:latin typeface="Calibri"/>
              </a:rPr>
              <a:t>AQI &gt; 200 ≥ 96 h (≥ 48 h &gt; 300) oder AQI = 500</a:t>
            </a:r>
          </a:p>
        </p:txBody>
      </p:sp>
      <p:sp>
        <p:nvSpPr>
          <p:cNvPr id="425" name="TB425"/>
          <p:cNvSpPr txBox="1"/>
          <p:nvPr/>
        </p:nvSpPr>
        <p:spPr>
          <a:xfrm>
            <a:off x="8247888" y="3913632"/>
            <a:ext cx="3310128" cy="914400"/>
          </a:xfrm>
          <a:prstGeom prst="rect">
            <a:avLst/>
          </a:prstGeom>
          <a:noFill/>
        </p:spPr>
        <p:txBody>
          <a:bodyPr wrap="square" lIns="0" tIns="0" rIns="0" bIns="0">
            <a:normAutofit/>
          </a:bodyPr>
          <a:lstStyle/>
          <a:p>
            <a:pPr>
              <a:lnSpc>
                <a:spcPct val="102000"/>
              </a:lnSpc>
              <a:spcAft>
                <a:spcPts val="300"/>
              </a:spcAft>
            </a:pPr>
            <a:r>
              <a:rPr lang="de-DE" b="1" dirty="0">
                <a:solidFill>
                  <a:srgbClr val="22272B"/>
                </a:solidFill>
                <a:latin typeface="Calibri"/>
              </a:rPr>
              <a:t>Verkehr:  </a:t>
            </a:r>
            <a:r>
              <a:rPr lang="de-DE" dirty="0">
                <a:solidFill>
                  <a:srgbClr val="3A4148"/>
                </a:solidFill>
                <a:latin typeface="Calibri"/>
              </a:rPr>
              <a:t>Kennzeichen gerade/ungerade · −30 % staatliche Dienstwagen</a:t>
            </a:r>
          </a:p>
        </p:txBody>
      </p:sp>
      <p:sp>
        <p:nvSpPr>
          <p:cNvPr id="426" name="TB426"/>
          <p:cNvSpPr txBox="1"/>
          <p:nvPr/>
        </p:nvSpPr>
        <p:spPr>
          <a:xfrm>
            <a:off x="8247888" y="4937760"/>
            <a:ext cx="3310128" cy="1051560"/>
          </a:xfrm>
          <a:prstGeom prst="rect">
            <a:avLst/>
          </a:prstGeom>
          <a:noFill/>
        </p:spPr>
        <p:txBody>
          <a:bodyPr wrap="square" lIns="0" tIns="0" rIns="0" bIns="0">
            <a:normAutofit/>
          </a:bodyPr>
          <a:lstStyle/>
          <a:p>
            <a:pPr>
              <a:lnSpc>
                <a:spcPct val="102000"/>
              </a:lnSpc>
              <a:spcAft>
                <a:spcPts val="300"/>
              </a:spcAft>
            </a:pPr>
            <a:r>
              <a:rPr lang="de-DE" b="1" dirty="0">
                <a:solidFill>
                  <a:srgbClr val="22272B"/>
                </a:solidFill>
                <a:latin typeface="Calibri"/>
              </a:rPr>
              <a:t>Industrie &amp; Schulen:  </a:t>
            </a:r>
            <a:r>
              <a:rPr lang="de-DE" dirty="0">
                <a:solidFill>
                  <a:srgbClr val="3A4148"/>
                </a:solidFill>
                <a:latin typeface="Calibri"/>
              </a:rPr>
              <a:t>Produktionsstopp · Unterricht flexibel/Ausfall</a:t>
            </a:r>
          </a:p>
        </p:txBody>
      </p:sp>
      <p:sp>
        <p:nvSpPr>
          <p:cNvPr id="429" name="TB429"/>
          <p:cNvSpPr txBox="1"/>
          <p:nvPr/>
        </p:nvSpPr>
        <p:spPr>
          <a:xfrm>
            <a:off x="548640" y="6250000"/>
            <a:ext cx="10800000" cy="240000"/>
          </a:xfrm>
          <a:prstGeom prst="rect">
            <a:avLst/>
          </a:prstGeom>
          <a:noFill/>
        </p:spPr>
        <p:txBody>
          <a:bodyPr wrap="square" lIns="0" tIns="0" rIns="0" bIns="0" anchor="t">
            <a:spAutoFit/>
          </a:bodyPr>
          <a:lstStyle/>
          <a:p>
            <a:pPr>
              <a:lnSpc>
                <a:spcPct val="104000"/>
              </a:lnSpc>
              <a:spcAft>
                <a:spcPts val="0"/>
              </a:spcAft>
            </a:pPr>
            <a:r>
              <a:rPr lang="de-DE" sz="850" b="0" i="1" dirty="0">
                <a:solidFill>
                  <a:srgbClr val="6B6B6B"/>
                </a:solidFill>
                <a:latin typeface="Calibri"/>
              </a:rPr>
              <a:t>Quelle: Heavy Air Pollution Contingency Plan of Beijing Municipality (2018 Revision). Frühere Fassungen hatten zusätzlich eine blaue Stufe.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20262E"/>
        </a:solidFill>
        <a:effectLst/>
      </p:bgPr>
    </p:bg>
    <p:spTree>
      <p:nvGrpSpPr>
        <p:cNvPr id="1" name="">
          <a:extLst>
            <a:ext uri="{FF2B5EF4-FFF2-40B4-BE49-F238E27FC236}">
              <a16:creationId xmlns:a16="http://schemas.microsoft.com/office/drawing/2014/main" id="{6D5E0229-230B-269A-C736-B037C0BDDE8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FCC8A23-C25E-7B96-D706-588655D5254F}"/>
              </a:ext>
            </a:extLst>
          </p:cNvPr>
          <p:cNvSpPr/>
          <p:nvPr/>
        </p:nvSpPr>
        <p:spPr>
          <a:xfrm>
            <a:off x="729711" y="1376690"/>
            <a:ext cx="10672012" cy="547283"/>
          </a:xfrm>
          <a:prstGeom prst="rect">
            <a:avLst/>
          </a:prstGeom>
          <a:noFill/>
          <a:ln/>
        </p:spPr>
        <p:txBody>
          <a:bodyPr wrap="square" lIns="0" tIns="0" rIns="0" bIns="0" rtlCol="0" anchor="ctr"/>
          <a:lstStyle/>
          <a:p>
            <a:pPr marL="0" marR="0" lvl="0" indent="0" algn="l" defTabSz="912114" rtl="0" eaLnBrk="1" fontAlgn="auto" latinLnBrk="0" hangingPunct="1">
              <a:lnSpc>
                <a:spcPct val="100000"/>
              </a:lnSpc>
              <a:spcBef>
                <a:spcPts val="0"/>
              </a:spcBef>
              <a:spcAft>
                <a:spcPts val="0"/>
              </a:spcAft>
              <a:buClrTx/>
              <a:buSzTx/>
              <a:buFontTx/>
              <a:buNone/>
              <a:tabLst/>
              <a:defRPr/>
            </a:pPr>
            <a:r>
              <a:rPr kumimoji="0" lang="en-US" sz="1795" b="0" i="0" u="none" strike="noStrike" kern="1200" cap="none" spc="0" normalizeH="0" baseline="0" noProof="0" dirty="0">
                <a:ln>
                  <a:noFill/>
                </a:ln>
                <a:solidFill>
                  <a:srgbClr val="E0912F"/>
                </a:solidFill>
                <a:effectLst/>
                <a:uLnTx/>
                <a:uFillTx/>
                <a:latin typeface="Calibri" pitchFamily="34" charset="0"/>
                <a:ea typeface="Calibri" pitchFamily="34" charset="-122"/>
                <a:cs typeface="Calibri" pitchFamily="34" charset="-120"/>
              </a:rPr>
              <a:t>Das </a:t>
            </a:r>
            <a:r>
              <a:rPr kumimoji="0" lang="en-US" sz="1795" b="0" i="0" u="none" strike="noStrike" kern="1200" cap="none" spc="0" normalizeH="0" baseline="0" noProof="0" dirty="0" err="1">
                <a:ln>
                  <a:noFill/>
                </a:ln>
                <a:solidFill>
                  <a:srgbClr val="E0912F"/>
                </a:solidFill>
                <a:effectLst/>
                <a:uLnTx/>
                <a:uFillTx/>
                <a:latin typeface="Calibri" pitchFamily="34" charset="0"/>
                <a:ea typeface="Calibri" pitchFamily="34" charset="-122"/>
                <a:cs typeface="Calibri" pitchFamily="34" charset="-120"/>
              </a:rPr>
              <a:t>Ergebnis</a:t>
            </a:r>
            <a:endParaRPr kumimoji="0" lang="en-US" sz="179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0FD21BE8-D3E9-35AE-00A4-B70676B0D7C8}"/>
              </a:ext>
            </a:extLst>
          </p:cNvPr>
          <p:cNvSpPr/>
          <p:nvPr/>
        </p:nvSpPr>
        <p:spPr>
          <a:xfrm>
            <a:off x="729711" y="2197614"/>
            <a:ext cx="10672012" cy="2736413"/>
          </a:xfrm>
          <a:prstGeom prst="rect">
            <a:avLst/>
          </a:prstGeom>
          <a:noFill/>
          <a:ln/>
        </p:spPr>
        <p:txBody>
          <a:bodyPr wrap="square" lIns="0" tIns="0" rIns="0" bIns="0" rtlCol="0" anchor="ctr"/>
          <a:lstStyle/>
          <a:p>
            <a:pPr marL="0" marR="0" lvl="0" indent="0" algn="l" defTabSz="912114" rtl="0" eaLnBrk="1" fontAlgn="auto" latinLnBrk="0" hangingPunct="1">
              <a:lnSpc>
                <a:spcPct val="115000"/>
              </a:lnSpc>
              <a:spcBef>
                <a:spcPts val="0"/>
              </a:spcBef>
              <a:spcAft>
                <a:spcPts val="0"/>
              </a:spcAft>
              <a:buClrTx/>
              <a:buSzTx/>
              <a:buFontTx/>
              <a:buNone/>
              <a:tabLst/>
              <a:defRPr/>
            </a:pP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Beijing hat 2013 </a:t>
            </a: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Cambria" pitchFamily="34" charset="-120"/>
              </a:rPr>
              <a:t>ein</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 </a:t>
            </a: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Cambria" pitchFamily="34" charset="-120"/>
              </a:rPr>
              <a:t>Frühwarnsystem</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 </a:t>
            </a: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Cambria" pitchFamily="34" charset="-120"/>
              </a:rPr>
              <a:t>eingeführt</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 – was hat </a:t>
            </a:r>
            <a:r>
              <a:rPr lang="en-US" sz="2993" b="1" dirty="0">
                <a:solidFill>
                  <a:srgbClr val="FFFFFF"/>
                </a:solidFill>
                <a:latin typeface="Cambria" pitchFamily="34" charset="0"/>
                <a:ea typeface="Cambria" pitchFamily="34" charset="-122"/>
                <a:cs typeface="Cambria" pitchFamily="34" charset="-120"/>
              </a:rPr>
              <a:t>es</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 </a:t>
            </a:r>
            <a:r>
              <a:rPr kumimoji="0" lang="en-US" sz="2993" b="1" i="0" u="none" strike="noStrike" kern="1200" cap="none" spc="0" normalizeH="0" baseline="0" noProof="0" dirty="0" err="1">
                <a:ln>
                  <a:noFill/>
                </a:ln>
                <a:solidFill>
                  <a:srgbClr val="FFFFFF"/>
                </a:solidFill>
                <a:effectLst/>
                <a:uLnTx/>
                <a:uFillTx/>
                <a:latin typeface="Cambria" pitchFamily="34" charset="0"/>
                <a:ea typeface="Cambria" pitchFamily="34" charset="-122"/>
                <a:cs typeface="Cambria" pitchFamily="34" charset="-120"/>
              </a:rPr>
              <a:t>gebracht</a:t>
            </a:r>
            <a:r>
              <a:rPr kumimoji="0" lang="en-US" sz="2993"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a:t>
            </a:r>
            <a:endParaRPr kumimoji="0" lang="en-US" sz="299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48178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0D580-CD17-F4C7-CFDE-D53E517225B7}"/>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09895099-D28E-B0D0-6C81-A14C3A70F840}"/>
              </a:ext>
            </a:extLst>
          </p:cNvPr>
          <p:cNvSpPr/>
          <p:nvPr/>
        </p:nvSpPr>
        <p:spPr>
          <a:xfrm>
            <a:off x="0" y="0"/>
            <a:ext cx="12161160" cy="6857640"/>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29" name="Oval 34">
            <a:extLst>
              <a:ext uri="{FF2B5EF4-FFF2-40B4-BE49-F238E27FC236}">
                <a16:creationId xmlns:a16="http://schemas.microsoft.com/office/drawing/2014/main" id="{99BACDDF-9239-EEDF-70C5-29EDBF911FAC}"/>
              </a:ext>
            </a:extLst>
          </p:cNvPr>
          <p:cNvSpPr/>
          <p:nvPr/>
        </p:nvSpPr>
        <p:spPr>
          <a:xfrm>
            <a:off x="457200" y="300960"/>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30" name="TextBox 60">
            <a:extLst>
              <a:ext uri="{FF2B5EF4-FFF2-40B4-BE49-F238E27FC236}">
                <a16:creationId xmlns:a16="http://schemas.microsoft.com/office/drawing/2014/main" id="{D39E3C65-5D75-C1C4-2FF6-9325726128EA}"/>
              </a:ext>
            </a:extLst>
          </p:cNvPr>
          <p:cNvSpPr/>
          <p:nvPr/>
        </p:nvSpPr>
        <p:spPr>
          <a:xfrm>
            <a:off x="457200" y="570780"/>
            <a:ext cx="1051200" cy="45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u="none" strike="noStrike" dirty="0">
                <a:solidFill>
                  <a:srgbClr val="FFFFFF"/>
                </a:solidFill>
                <a:effectLst/>
                <a:uFillTx/>
                <a:latin typeface="Cambria"/>
              </a:rPr>
              <a:t>6</a:t>
            </a:r>
            <a:endParaRPr lang="de-DE" sz="3000" b="0" u="none" strike="noStrike" dirty="0">
              <a:solidFill>
                <a:srgbClr val="000000"/>
              </a:solidFill>
              <a:effectLst/>
              <a:uFillTx/>
              <a:latin typeface="Arial"/>
            </a:endParaRPr>
          </a:p>
        </p:txBody>
      </p:sp>
      <p:sp>
        <p:nvSpPr>
          <p:cNvPr id="331" name="TextBox 61">
            <a:extLst>
              <a:ext uri="{FF2B5EF4-FFF2-40B4-BE49-F238E27FC236}">
                <a16:creationId xmlns:a16="http://schemas.microsoft.com/office/drawing/2014/main" id="{BAC6A309-E5A1-520D-234C-B2E09EEC7D92}"/>
              </a:ext>
            </a:extLst>
          </p:cNvPr>
          <p:cNvSpPr/>
          <p:nvPr/>
        </p:nvSpPr>
        <p:spPr>
          <a:xfrm>
            <a:off x="1691639" y="262489"/>
            <a:ext cx="10243185" cy="984885"/>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ctr">
            <a:spAutoFit/>
          </a:bodyPr>
          <a:lstStyle/>
          <a:p>
            <a:pPr defTabSz="457200">
              <a:lnSpc>
                <a:spcPct val="100000"/>
              </a:lnSpc>
            </a:pPr>
            <a:r>
              <a:rPr lang="en-US" sz="3200" b="1" dirty="0" err="1">
                <a:solidFill>
                  <a:srgbClr val="22272B"/>
                </a:solidFill>
                <a:latin typeface="Cambria"/>
              </a:rPr>
              <a:t>Zeitlicher</a:t>
            </a:r>
            <a:r>
              <a:rPr lang="en-US" sz="3200" b="1" dirty="0">
                <a:solidFill>
                  <a:srgbClr val="22272B"/>
                </a:solidFill>
                <a:latin typeface="Cambria"/>
              </a:rPr>
              <a:t> </a:t>
            </a:r>
            <a:r>
              <a:rPr lang="en-US" sz="3200" b="1" dirty="0" err="1">
                <a:solidFill>
                  <a:srgbClr val="22272B"/>
                </a:solidFill>
                <a:latin typeface="Cambria"/>
              </a:rPr>
              <a:t>Verlauf</a:t>
            </a:r>
            <a:r>
              <a:rPr lang="en-US" sz="3200" b="1" dirty="0">
                <a:solidFill>
                  <a:srgbClr val="22272B"/>
                </a:solidFill>
                <a:latin typeface="Cambria"/>
              </a:rPr>
              <a:t> der </a:t>
            </a:r>
            <a:r>
              <a:rPr lang="en-US" sz="3200" b="1" dirty="0" err="1">
                <a:solidFill>
                  <a:srgbClr val="22272B"/>
                </a:solidFill>
                <a:latin typeface="Cambria"/>
              </a:rPr>
              <a:t>durchschnittlichen</a:t>
            </a:r>
            <a:r>
              <a:rPr lang="en-US" sz="3200" b="1" dirty="0">
                <a:solidFill>
                  <a:srgbClr val="22272B"/>
                </a:solidFill>
                <a:latin typeface="Cambria"/>
              </a:rPr>
              <a:t> </a:t>
            </a:r>
            <a:r>
              <a:rPr lang="en-US" sz="3200" b="1" dirty="0" err="1">
                <a:solidFill>
                  <a:srgbClr val="22272B"/>
                </a:solidFill>
                <a:latin typeface="Cambria"/>
              </a:rPr>
              <a:t>Feinstaub-belastung</a:t>
            </a:r>
            <a:r>
              <a:rPr lang="en-US" sz="3200" b="1" dirty="0">
                <a:solidFill>
                  <a:srgbClr val="22272B"/>
                </a:solidFill>
                <a:latin typeface="Cambria"/>
              </a:rPr>
              <a:t> in Beijing</a:t>
            </a:r>
            <a:endParaRPr lang="de-DE" sz="3200" b="0" u="none" strike="noStrike" dirty="0">
              <a:solidFill>
                <a:srgbClr val="000000"/>
              </a:solidFill>
              <a:effectLst/>
              <a:uFillTx/>
              <a:latin typeface="Arial"/>
            </a:endParaRPr>
          </a:p>
        </p:txBody>
      </p:sp>
      <p:sp>
        <p:nvSpPr>
          <p:cNvPr id="332" name="TextBox 62">
            <a:extLst>
              <a:ext uri="{FF2B5EF4-FFF2-40B4-BE49-F238E27FC236}">
                <a16:creationId xmlns:a16="http://schemas.microsoft.com/office/drawing/2014/main" id="{C4301F5A-7FC9-7CC0-B850-2F7122B0ABA4}"/>
              </a:ext>
            </a:extLst>
          </p:cNvPr>
          <p:cNvSpPr/>
          <p:nvPr/>
        </p:nvSpPr>
        <p:spPr>
          <a:xfrm>
            <a:off x="1710000" y="1115640"/>
            <a:ext cx="9143640" cy="213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endParaRPr lang="de-DE" sz="1800" b="0" u="none" strike="noStrike">
              <a:solidFill>
                <a:srgbClr val="000000"/>
              </a:solidFill>
              <a:effectLst/>
              <a:uFillTx/>
              <a:latin typeface="Arial"/>
            </a:endParaRPr>
          </a:p>
        </p:txBody>
      </p:sp>
      <p:sp>
        <p:nvSpPr>
          <p:cNvPr id="333" name="TextBox 63">
            <a:extLst>
              <a:ext uri="{FF2B5EF4-FFF2-40B4-BE49-F238E27FC236}">
                <a16:creationId xmlns:a16="http://schemas.microsoft.com/office/drawing/2014/main" id="{AD4858A7-25BA-C638-682D-4FB8A020DDCE}"/>
              </a:ext>
            </a:extLst>
          </p:cNvPr>
          <p:cNvSpPr/>
          <p:nvPr/>
        </p:nvSpPr>
        <p:spPr>
          <a:xfrm>
            <a:off x="457200" y="6419160"/>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pic>
        <p:nvPicPr>
          <p:cNvPr id="3" name="Grafik 2">
            <a:extLst>
              <a:ext uri="{FF2B5EF4-FFF2-40B4-BE49-F238E27FC236}">
                <a16:creationId xmlns:a16="http://schemas.microsoft.com/office/drawing/2014/main" id="{BCB84647-2D3F-16FA-B59B-285164E53E7B}"/>
              </a:ext>
            </a:extLst>
          </p:cNvPr>
          <p:cNvPicPr>
            <a:picLocks noChangeAspect="1"/>
          </p:cNvPicPr>
          <p:nvPr/>
        </p:nvPicPr>
        <p:blipFill>
          <a:blip r:embed="rId3"/>
          <a:stretch>
            <a:fillRect/>
          </a:stretch>
        </p:blipFill>
        <p:spPr>
          <a:xfrm>
            <a:off x="1691640" y="1352160"/>
            <a:ext cx="7240928" cy="4775931"/>
          </a:xfrm>
          <a:prstGeom prst="rect">
            <a:avLst/>
          </a:prstGeom>
        </p:spPr>
      </p:pic>
      <p:sp>
        <p:nvSpPr>
          <p:cNvPr id="9" name="TextBox 29">
            <a:extLst>
              <a:ext uri="{FF2B5EF4-FFF2-40B4-BE49-F238E27FC236}">
                <a16:creationId xmlns:a16="http://schemas.microsoft.com/office/drawing/2014/main" id="{05777F05-F61D-C912-2884-B460E296886E}"/>
              </a:ext>
            </a:extLst>
          </p:cNvPr>
          <p:cNvSpPr txBox="1"/>
          <p:nvPr/>
        </p:nvSpPr>
        <p:spPr>
          <a:xfrm>
            <a:off x="457200" y="6277689"/>
            <a:ext cx="8686800" cy="123111"/>
          </a:xfrm>
          <a:prstGeom prst="rect">
            <a:avLst/>
          </a:prstGeom>
          <a:noFill/>
        </p:spPr>
        <p:txBody>
          <a:bodyPr wrap="square" lIns="0" tIns="0" rIns="0" bIns="0" anchor="t">
            <a:spAutoFit/>
          </a:bodyPr>
          <a:lstStyle/>
          <a:p>
            <a:r>
              <a:rPr sz="800" b="0" i="0" dirty="0">
                <a:solidFill>
                  <a:srgbClr val="8A8F94"/>
                </a:solidFill>
                <a:latin typeface="Calibri"/>
              </a:rPr>
              <a:t>Quelle</a:t>
            </a:r>
            <a:r>
              <a:rPr lang="de-DE" sz="800" b="0" i="0" dirty="0">
                <a:solidFill>
                  <a:srgbClr val="8A8F94"/>
                </a:solidFill>
                <a:latin typeface="Calibri"/>
              </a:rPr>
              <a:t>: Statista</a:t>
            </a:r>
            <a:endParaRPr sz="800" dirty="0">
              <a:solidFill>
                <a:srgbClr val="8A8F94"/>
              </a:solidFill>
              <a:latin typeface="Calibri"/>
            </a:endParaRPr>
          </a:p>
        </p:txBody>
      </p:sp>
    </p:spTree>
    <p:extLst>
      <p:ext uri="{BB962C8B-B14F-4D97-AF65-F5344CB8AC3E}">
        <p14:creationId xmlns:p14="http://schemas.microsoft.com/office/powerpoint/2010/main" val="11891537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
            <a:extLst>
              <a:ext uri="{FF2B5EF4-FFF2-40B4-BE49-F238E27FC236}">
                <a16:creationId xmlns:a16="http://schemas.microsoft.com/office/drawing/2014/main" id="{7EC9F28E-816A-32E5-5691-3C3E32D043C9}"/>
              </a:ext>
            </a:extLst>
          </p:cNvPr>
          <p:cNvSpPr/>
          <p:nvPr/>
        </p:nvSpPr>
        <p:spPr>
          <a:xfrm>
            <a:off x="0" y="0"/>
            <a:ext cx="12161160" cy="6857640"/>
          </a:xfrm>
          <a:prstGeom prst="rect">
            <a:avLst/>
          </a:prstGeom>
          <a:solidFill>
            <a:srgbClr val="F5F6F7"/>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 name="Text 1"/>
          <p:cNvSpPr/>
          <p:nvPr/>
        </p:nvSpPr>
        <p:spPr>
          <a:xfrm>
            <a:off x="1294066" y="1103049"/>
            <a:ext cx="10945654" cy="638496"/>
          </a:xfrm>
          <a:prstGeom prst="rect">
            <a:avLst/>
          </a:prstGeom>
          <a:noFill/>
          <a:ln/>
        </p:spPr>
        <p:txBody>
          <a:bodyPr wrap="square" lIns="0" tIns="0" rIns="0" bIns="0" rtlCol="0" anchor="ctr"/>
          <a:lstStyle/>
          <a:p>
            <a:r>
              <a:rPr lang="en-US" sz="2993" b="1" dirty="0">
                <a:solidFill>
                  <a:srgbClr val="242A31"/>
                </a:solidFill>
                <a:latin typeface="Cambria" pitchFamily="34" charset="0"/>
                <a:ea typeface="Cambria" pitchFamily="34" charset="-122"/>
                <a:cs typeface="Cambria" pitchFamily="34" charset="-120"/>
              </a:rPr>
              <a:t>2024: PM2.5 im Vergleich</a:t>
            </a:r>
            <a:endParaRPr lang="en-US" sz="2993" dirty="0"/>
          </a:p>
        </p:txBody>
      </p:sp>
      <p:graphicFrame>
        <p:nvGraphicFramePr>
          <p:cNvPr id="4" name="Chart 0"/>
          <p:cNvGraphicFramePr/>
          <p:nvPr/>
        </p:nvGraphicFramePr>
        <p:xfrm>
          <a:off x="638497" y="1559117"/>
          <a:ext cx="7753171" cy="4606296"/>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665309" y="1559117"/>
            <a:ext cx="2763778" cy="4606296"/>
          </a:xfrm>
          <a:prstGeom prst="roundRect">
            <a:avLst>
              <a:gd name="adj" fmla="val 3300"/>
            </a:avLst>
          </a:prstGeom>
          <a:solidFill>
            <a:srgbClr val="20262E"/>
          </a:solidFill>
          <a:ln/>
        </p:spPr>
        <p:txBody>
          <a:bodyPr/>
          <a:lstStyle/>
          <a:p>
            <a:endParaRPr lang="de-DE" sz="1795"/>
          </a:p>
        </p:txBody>
      </p:sp>
      <p:sp>
        <p:nvSpPr>
          <p:cNvPr id="6" name="Text 3"/>
          <p:cNvSpPr/>
          <p:nvPr/>
        </p:nvSpPr>
        <p:spPr>
          <a:xfrm>
            <a:off x="8893344" y="1787152"/>
            <a:ext cx="2325951" cy="4195834"/>
          </a:xfrm>
          <a:prstGeom prst="rect">
            <a:avLst/>
          </a:prstGeom>
          <a:noFill/>
          <a:ln/>
        </p:spPr>
        <p:txBody>
          <a:bodyPr wrap="square" lIns="0" tIns="0" rIns="0" bIns="0" rtlCol="0" anchor="t"/>
          <a:lstStyle/>
          <a:p>
            <a:pPr>
              <a:spcAft>
                <a:spcPts val="399"/>
              </a:spcAft>
            </a:pPr>
            <a:r>
              <a:rPr lang="en-US" sz="1297" dirty="0">
                <a:solidFill>
                  <a:srgbClr val="E0912F"/>
                </a:solidFill>
                <a:latin typeface="Calibri" pitchFamily="34" charset="0"/>
                <a:ea typeface="Calibri" pitchFamily="34" charset="-122"/>
                <a:cs typeface="Calibri" pitchFamily="34" charset="-120"/>
              </a:rPr>
              <a:t>Deutsche Städte heute</a:t>
            </a:r>
            <a:endParaRPr lang="en-US" sz="1297" dirty="0"/>
          </a:p>
          <a:p>
            <a:pPr>
              <a:spcAft>
                <a:spcPts val="1596"/>
              </a:spcAft>
            </a:pPr>
            <a:r>
              <a:rPr lang="en-US" sz="1596" b="1" dirty="0">
                <a:solidFill>
                  <a:srgbClr val="FFFFFF"/>
                </a:solidFill>
                <a:latin typeface="Calibri" pitchFamily="34" charset="0"/>
                <a:ea typeface="Calibri" pitchFamily="34" charset="-122"/>
                <a:cs typeface="Calibri" pitchFamily="34" charset="-120"/>
              </a:rPr>
              <a:t>~8–11 µg/m³  (≈ 2× WHO)</a:t>
            </a:r>
            <a:endParaRPr lang="en-US" sz="1297" dirty="0"/>
          </a:p>
          <a:p>
            <a:pPr>
              <a:spcAft>
                <a:spcPts val="399"/>
              </a:spcAft>
            </a:pPr>
            <a:r>
              <a:rPr lang="en-US" sz="1297" dirty="0">
                <a:solidFill>
                  <a:srgbClr val="E0912F"/>
                </a:solidFill>
                <a:latin typeface="Calibri" pitchFamily="34" charset="0"/>
                <a:ea typeface="Calibri" pitchFamily="34" charset="-122"/>
                <a:cs typeface="Calibri" pitchFamily="34" charset="-120"/>
              </a:rPr>
              <a:t>Beijing 2024</a:t>
            </a:r>
            <a:endParaRPr lang="en-US" sz="1297" dirty="0"/>
          </a:p>
          <a:p>
            <a:pPr>
              <a:spcAft>
                <a:spcPts val="1596"/>
              </a:spcAft>
            </a:pPr>
            <a:r>
              <a:rPr lang="en-US" sz="1596" b="1" dirty="0">
                <a:solidFill>
                  <a:srgbClr val="FFFFFF"/>
                </a:solidFill>
                <a:latin typeface="Calibri" pitchFamily="34" charset="0"/>
                <a:ea typeface="Calibri" pitchFamily="34" charset="-122"/>
                <a:cs typeface="Calibri" pitchFamily="34" charset="-120"/>
              </a:rPr>
              <a:t>30,5 µg/m³  (≈ 3× dt. Städte, 6× WHO)</a:t>
            </a:r>
            <a:endParaRPr lang="en-US" sz="1297" dirty="0"/>
          </a:p>
        </p:txBody>
      </p:sp>
      <p:sp>
        <p:nvSpPr>
          <p:cNvPr id="7" name="Text 4"/>
          <p:cNvSpPr/>
          <p:nvPr/>
        </p:nvSpPr>
        <p:spPr>
          <a:xfrm>
            <a:off x="552450" y="6256626"/>
            <a:ext cx="10763226" cy="364855"/>
          </a:xfrm>
          <a:prstGeom prst="rect">
            <a:avLst/>
          </a:prstGeom>
          <a:noFill/>
          <a:ln/>
        </p:spPr>
        <p:txBody>
          <a:bodyPr wrap="square" lIns="0" tIns="0" rIns="0" bIns="0" rtlCol="0" anchor="ctr"/>
          <a:lstStyle/>
          <a:p>
            <a:r>
              <a:rPr lang="en-US" sz="998" i="1" dirty="0">
                <a:solidFill>
                  <a:srgbClr val="6B7684"/>
                </a:solidFill>
                <a:latin typeface="Calibri" pitchFamily="34" charset="0"/>
                <a:ea typeface="Calibri" pitchFamily="34" charset="-122"/>
                <a:cs typeface="Calibri" pitchFamily="34" charset="-120"/>
              </a:rPr>
              <a:t>WHO-Richtwert 5 µg/m³ (2021).  Quellen: EEA 2024 (dt. Städte) · Beijing Municipal Bureau of Ecology and Environment (2024).</a:t>
            </a:r>
            <a:endParaRPr lang="en-US" sz="998" dirty="0"/>
          </a:p>
        </p:txBody>
      </p:sp>
      <p:sp>
        <p:nvSpPr>
          <p:cNvPr id="8" name="TextBox 4">
            <a:extLst>
              <a:ext uri="{FF2B5EF4-FFF2-40B4-BE49-F238E27FC236}">
                <a16:creationId xmlns:a16="http://schemas.microsoft.com/office/drawing/2014/main" id="{4CD386B9-BC09-94B9-E079-89F53A93024E}"/>
              </a:ext>
            </a:extLst>
          </p:cNvPr>
          <p:cNvSpPr txBox="1"/>
          <p:nvPr/>
        </p:nvSpPr>
        <p:spPr>
          <a:xfrm>
            <a:off x="1370687" y="219736"/>
            <a:ext cx="10058400" cy="492443"/>
          </a:xfrm>
          <a:prstGeom prst="rect">
            <a:avLst/>
          </a:prstGeom>
          <a:noFill/>
        </p:spPr>
        <p:txBody>
          <a:bodyPr wrap="square" lIns="0" tIns="0" rIns="0" bIns="0" anchor="ctr">
            <a:spAutoFit/>
          </a:bodyPr>
          <a:lstStyle/>
          <a:p>
            <a:r>
              <a:rPr lang="de-DE" sz="3200" b="1" dirty="0">
                <a:solidFill>
                  <a:srgbClr val="22272B"/>
                </a:solidFill>
                <a:latin typeface="Cambria"/>
              </a:rPr>
              <a:t>Luftverschmutzung in Beijing</a:t>
            </a:r>
          </a:p>
        </p:txBody>
      </p:sp>
      <p:sp>
        <p:nvSpPr>
          <p:cNvPr id="10" name="TextBox 5">
            <a:extLst>
              <a:ext uri="{FF2B5EF4-FFF2-40B4-BE49-F238E27FC236}">
                <a16:creationId xmlns:a16="http://schemas.microsoft.com/office/drawing/2014/main" id="{0D616012-88DD-AAD8-6730-9E284530462E}"/>
              </a:ext>
            </a:extLst>
          </p:cNvPr>
          <p:cNvSpPr txBox="1"/>
          <p:nvPr/>
        </p:nvSpPr>
        <p:spPr>
          <a:xfrm>
            <a:off x="1388975" y="836289"/>
            <a:ext cx="10058400" cy="430887"/>
          </a:xfrm>
          <a:prstGeom prst="rect">
            <a:avLst/>
          </a:prstGeom>
          <a:noFill/>
        </p:spPr>
        <p:txBody>
          <a:bodyPr wrap="square" lIns="0" tIns="0" rIns="0" bIns="0" anchor="t">
            <a:spAutoFit/>
          </a:bodyPr>
          <a:lstStyle/>
          <a:p>
            <a:r>
              <a:rPr sz="1400" b="1" i="0" dirty="0">
                <a:solidFill>
                  <a:srgbClr val="E0912F"/>
                </a:solidFill>
                <a:latin typeface="Calibri"/>
              </a:rPr>
              <a:t>CRISP-DM </a:t>
            </a:r>
            <a:r>
              <a:rPr lang="en-US" sz="1400" b="1" dirty="0">
                <a:solidFill>
                  <a:srgbClr val="E0912F"/>
                </a:solidFill>
              </a:rPr>
              <a:t> ·  Deployment</a:t>
            </a:r>
            <a:endParaRPr lang="de-DE" sz="1400" dirty="0">
              <a:solidFill>
                <a:srgbClr val="000000"/>
              </a:solidFill>
              <a:latin typeface="Arial"/>
            </a:endParaRPr>
          </a:p>
          <a:p>
            <a:pPr algn="l"/>
            <a:endParaRPr sz="1400" b="1" i="0" dirty="0">
              <a:solidFill>
                <a:srgbClr val="E0912F"/>
              </a:solidFill>
              <a:latin typeface="Calibri"/>
            </a:endParaRPr>
          </a:p>
        </p:txBody>
      </p:sp>
      <p:sp>
        <p:nvSpPr>
          <p:cNvPr id="12" name="Oval 34">
            <a:extLst>
              <a:ext uri="{FF2B5EF4-FFF2-40B4-BE49-F238E27FC236}">
                <a16:creationId xmlns:a16="http://schemas.microsoft.com/office/drawing/2014/main" id="{82B55ACE-D30C-CDD2-C3F2-6C75BC17FEAA}"/>
              </a:ext>
            </a:extLst>
          </p:cNvPr>
          <p:cNvSpPr/>
          <p:nvPr/>
        </p:nvSpPr>
        <p:spPr>
          <a:xfrm>
            <a:off x="112897" y="236518"/>
            <a:ext cx="1051200" cy="1051200"/>
          </a:xfrm>
          <a:prstGeom prst="ellipse">
            <a:avLst/>
          </a:prstGeom>
          <a:solidFill>
            <a:srgbClr val="E0912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4" name="TextBox 60">
            <a:extLst>
              <a:ext uri="{FF2B5EF4-FFF2-40B4-BE49-F238E27FC236}">
                <a16:creationId xmlns:a16="http://schemas.microsoft.com/office/drawing/2014/main" id="{2A027550-FC1B-873D-BCA8-52363245F327}"/>
              </a:ext>
            </a:extLst>
          </p:cNvPr>
          <p:cNvSpPr/>
          <p:nvPr/>
        </p:nvSpPr>
        <p:spPr>
          <a:xfrm>
            <a:off x="112897" y="533158"/>
            <a:ext cx="1051200" cy="45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3000" b="1" dirty="0">
                <a:solidFill>
                  <a:srgbClr val="FFFFFF"/>
                </a:solidFill>
                <a:latin typeface="Cambria"/>
              </a:rPr>
              <a:t>6</a:t>
            </a:r>
            <a:endParaRPr lang="de-DE" sz="3000" b="0" u="none" strike="noStrike" dirty="0">
              <a:solidFill>
                <a:srgbClr val="000000"/>
              </a:solidFill>
              <a:effectLst/>
              <a:uFillTx/>
              <a:latin typeface="Arial"/>
            </a:endParaRPr>
          </a:p>
        </p:txBody>
      </p:sp>
      <p:sp>
        <p:nvSpPr>
          <p:cNvPr id="9" name="TextBox 16">
            <a:extLst>
              <a:ext uri="{FF2B5EF4-FFF2-40B4-BE49-F238E27FC236}">
                <a16:creationId xmlns:a16="http://schemas.microsoft.com/office/drawing/2014/main" id="{555D5004-BFE1-AEF2-0642-705FEA056C6E}"/>
              </a:ext>
            </a:extLst>
          </p:cNvPr>
          <p:cNvSpPr/>
          <p:nvPr/>
        </p:nvSpPr>
        <p:spPr>
          <a:xfrm>
            <a:off x="552450" y="6569324"/>
            <a:ext cx="7314840" cy="13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6057"/>
            <a:r>
              <a:rPr lang="de-DE" sz="898" dirty="0">
                <a:solidFill>
                  <a:srgbClr val="6C7278"/>
                </a:solidFill>
              </a:rPr>
              <a:t>PM2.5-Prognose Beijing  ·  Prophet, Chronos &amp; TFT  ·  CRISP-DM</a:t>
            </a:r>
            <a:endParaRPr lang="de-DE" sz="898" dirty="0">
              <a:solidFill>
                <a:srgbClr val="000000"/>
              </a:solidFill>
              <a:latin typeface="Arial"/>
            </a:endParaRPr>
          </a:p>
        </p:txBody>
      </p:sp>
    </p:spTree>
    <p:extLst>
      <p:ext uri="{BB962C8B-B14F-4D97-AF65-F5344CB8AC3E}">
        <p14:creationId xmlns:p14="http://schemas.microsoft.com/office/powerpoint/2010/main" val="8691277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9" name="Picture 1"/>
          <p:cNvPicPr/>
          <p:nvPr/>
        </p:nvPicPr>
        <p:blipFill>
          <a:blip r:embed="rId3"/>
          <a:stretch/>
        </p:blipFill>
        <p:spPr>
          <a:xfrm>
            <a:off x="360" y="6840"/>
            <a:ext cx="12161160" cy="6843960"/>
          </a:xfrm>
          <a:prstGeom prst="rect">
            <a:avLst/>
          </a:prstGeom>
          <a:noFill/>
          <a:ln w="0">
            <a:noFill/>
          </a:ln>
        </p:spPr>
      </p:pic>
      <p:sp>
        <p:nvSpPr>
          <p:cNvPr id="280" name="TextBox 2"/>
          <p:cNvSpPr/>
          <p:nvPr/>
        </p:nvSpPr>
        <p:spPr>
          <a:xfrm>
            <a:off x="594360" y="4974840"/>
            <a:ext cx="109724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4600" b="1" u="none" strike="noStrike">
                <a:solidFill>
                  <a:srgbClr val="FFFFFF"/>
                </a:solidFill>
                <a:effectLst/>
                <a:uFillTx/>
                <a:latin typeface="Cambria"/>
              </a:rPr>
              <a:t>Vielen Dank</a:t>
            </a:r>
            <a:endParaRPr lang="de-DE" sz="4600" b="0" u="none" strike="noStrike">
              <a:solidFill>
                <a:srgbClr val="000000"/>
              </a:solidFill>
              <a:effectLst/>
              <a:uFillTx/>
              <a:latin typeface="Arial"/>
            </a:endParaRPr>
          </a:p>
        </p:txBody>
      </p:sp>
      <p:sp>
        <p:nvSpPr>
          <p:cNvPr id="281" name="TextBox 3"/>
          <p:cNvSpPr/>
          <p:nvPr/>
        </p:nvSpPr>
        <p:spPr>
          <a:xfrm>
            <a:off x="379440" y="6259680"/>
            <a:ext cx="10972440" cy="61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000" b="0" u="none" strike="noStrike">
                <a:solidFill>
                  <a:srgbClr val="F0E4CE"/>
                </a:solidFill>
                <a:effectLst/>
                <a:uFillTx/>
                <a:latin typeface="Calibri"/>
              </a:rPr>
              <a:t>Fragen &amp; Diskussion   ·   </a:t>
            </a:r>
            <a:r>
              <a:rPr lang="de-DE" sz="2000" b="0" u="none" strike="noStrike">
                <a:solidFill>
                  <a:srgbClr val="D7CBB6"/>
                </a:solidFill>
                <a:effectLst/>
                <a:uFillTx/>
                <a:latin typeface="Calibri"/>
              </a:rPr>
              <a:t>Bettina Gertjerenken   ·   Kai Steffen</a:t>
            </a:r>
            <a:endParaRPr lang="de-DE" sz="2000" b="0" u="none" strike="noStrike">
              <a:solidFill>
                <a:srgbClr val="000000"/>
              </a:solidFill>
              <a:effectLst/>
              <a:uFillTx/>
              <a:latin typeface="Arial"/>
            </a:endParaRPr>
          </a:p>
          <a:p>
            <a:pPr defTabSz="457200">
              <a:lnSpc>
                <a:spcPct val="100000"/>
              </a:lnSpc>
            </a:pPr>
            <a:endParaRPr lang="de-DE" sz="20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5192</Words>
  <Application>Microsoft Office PowerPoint</Application>
  <PresentationFormat>Benutzerdefiniert</PresentationFormat>
  <Paragraphs>767</Paragraphs>
  <Slides>58</Slides>
  <Notes>37</Notes>
  <HiddenSlides>0</HiddenSlides>
  <MMClips>0</MMClips>
  <ScaleCrop>false</ScaleCrop>
  <HeadingPairs>
    <vt:vector size="6" baseType="variant">
      <vt:variant>
        <vt:lpstr>Verwendete Schriftarten</vt:lpstr>
      </vt:variant>
      <vt:variant>
        <vt:i4>10</vt:i4>
      </vt:variant>
      <vt:variant>
        <vt:lpstr>Design</vt:lpstr>
      </vt:variant>
      <vt:variant>
        <vt:i4>5</vt:i4>
      </vt:variant>
      <vt:variant>
        <vt:lpstr>Folientitel</vt:lpstr>
      </vt:variant>
      <vt:variant>
        <vt:i4>58</vt:i4>
      </vt:variant>
    </vt:vector>
  </HeadingPairs>
  <TitlesOfParts>
    <vt:vector size="73" baseType="lpstr">
      <vt:lpstr>Aptos</vt:lpstr>
      <vt:lpstr>Aptos Display</vt:lpstr>
      <vt:lpstr>Arial</vt:lpstr>
      <vt:lpstr>Calibri</vt:lpstr>
      <vt:lpstr>Cambria</vt:lpstr>
      <vt:lpstr>Century Schoolbook</vt:lpstr>
      <vt:lpstr>Georgia</vt:lpstr>
      <vt:lpstr>Symbol</vt:lpstr>
      <vt:lpstr>Times New Roman</vt:lpstr>
      <vt:lpstr>Wingdings</vt:lpstr>
      <vt:lpstr>Office Theme</vt:lpstr>
      <vt:lpstr>Office Theme</vt:lpstr>
      <vt:lpstr>1_Office Theme</vt:lpstr>
      <vt:lpstr>2_Office Theme</vt:lpstr>
      <vt:lpstr>Office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App zum Modellvergleich </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Kai Steffen</dc:creator>
  <dc:description>generated using python-pptx</dc:description>
  <cp:lastModifiedBy>Kai Steffen</cp:lastModifiedBy>
  <cp:revision>233</cp:revision>
  <dcterms:created xsi:type="dcterms:W3CDTF">2013-01-27T09:14:16Z</dcterms:created>
  <dcterms:modified xsi:type="dcterms:W3CDTF">2026-07-25T20:44:03Z</dcterms:modified>
  <dc:language>de-DE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9</vt:i4>
  </property>
  <property fmtid="{D5CDD505-2E9C-101B-9397-08002B2CF9AE}" pid="3" name="PresentationFormat">
    <vt:lpwstr>Benutzerdefiniert</vt:lpwstr>
  </property>
  <property fmtid="{D5CDD505-2E9C-101B-9397-08002B2CF9AE}" pid="4" name="Slides">
    <vt:i4>12</vt:i4>
  </property>
</Properties>
</file>