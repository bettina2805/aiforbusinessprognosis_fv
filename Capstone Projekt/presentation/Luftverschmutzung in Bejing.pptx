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  <Override PartName="/ppt/theme/theme13.xml" ContentType="application/vnd.openxmlformats-officedocument.theme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</p:sldIdLst>
  <p:sldSz cx="12161838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Folie mittels Klicken verschieben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PlaceHolder 4"/>
          <p:cNvSpPr>
            <a:spLocks noGrp="1"/>
          </p:cNvSpPr>
          <p:nvPr>
            <p:ph type="dt" idx="3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5"/>
          <p:cNvSpPr>
            <a:spLocks noGrp="1"/>
          </p:cNvSpPr>
          <p:nvPr>
            <p:ph type="ftr" idx="3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6"/>
          <p:cNvSpPr>
            <a:spLocks noGrp="1"/>
          </p:cNvSpPr>
          <p:nvPr>
            <p:ph type="sldNum" idx="3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0471218F-CC4C-4BC0-81B8-A40FF3811C4E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Titelfolie. Platzhalter (Team, Kurs, Datum) ersetzen. Selbst gestaltete Smog-Skyline-Grafik.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7" name="PlaceHolder 3"/>
          <p:cNvSpPr>
            <a:spLocks noGrp="1"/>
          </p:cNvSpPr>
          <p:nvPr>
            <p:ph type="sldNum" idx="4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4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Überblick der sechs CRISP-DM-Phasen. Phase 04 (Modeling) als Projekt-Schwerpunkt farblich hervorgehoben.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PlaceHolder 3"/>
          <p:cNvSpPr>
            <a:spLocks noGrp="1"/>
          </p:cNvSpPr>
          <p:nvPr>
            <p:ph type="sldNum" idx="4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01 – Geschäftsverständnis (Business Understanding).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sldNum" idx="4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02 – Datenverständnis (Data Understanding).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 type="sldNum" idx="4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5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03 – Datenaufbereitung (Data Preparation).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 type="sldNum" idx="4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04 – Modellierung (Modeling).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PlaceHolder 3"/>
          <p:cNvSpPr>
            <a:spLocks noGrp="1"/>
          </p:cNvSpPr>
          <p:nvPr>
            <p:ph type="sldNum" idx="4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05 – Evaluation (Evaluation).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PlaceHolder 3"/>
          <p:cNvSpPr>
            <a:spLocks noGrp="1"/>
          </p:cNvSpPr>
          <p:nvPr>
            <p:ph type="sldNum" idx="4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6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06 – Bereitstellung (Deployment).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sldNum" idx="4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7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Abschlussfolie. Kontakt/Team-Platzhalter ersetzen.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PlaceHolder 3"/>
          <p:cNvSpPr>
            <a:spLocks noGrp="1"/>
          </p:cNvSpPr>
          <p:nvPr>
            <p:ph type="sldNum" idx="4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7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06 – Bereitstellung (Deployment).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PlaceHolder 3"/>
          <p:cNvSpPr>
            <a:spLocks noGrp="1"/>
          </p:cNvSpPr>
          <p:nvPr>
            <p:ph type="sldNum" idx="4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06 – Bereitstellung (Deployment).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5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06 – Bereitstellung (Deployment).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sldNum" idx="5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06 – Bereitstellung (Deployment).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PlaceHolder 3"/>
          <p:cNvSpPr>
            <a:spLocks noGrp="1"/>
          </p:cNvSpPr>
          <p:nvPr>
            <p:ph type="sldNum" idx="5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lnSpc>
                <a:spcPct val="100000"/>
              </a:lnSpc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Phase 06 – Bereitstellung (Deployment). Platzhalter mit Projektinhalten füllen; rechte Karte für Leitfragen/Notizen.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 type="sldNum" idx="5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846211B-B8EE-4494-BF3D-46DDC8A559D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45D9358-0938-47EC-BD9D-29D2D5DDA9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07AD15C-76EA-4DBD-917E-223A18FFA34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3C5276-BC33-4AAB-BA90-AF2496AF955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162F85B-3F4E-416E-9D03-CCE3E4FCFAD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11C815F-3A0F-40C4-A927-E96AF5F0BA8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E32088-C8F5-4E6C-A0C9-617FE4E6013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77EF0BB-6F41-48C2-A757-B875E3CF7D1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377A697-E3CD-4633-B0BD-0D8765B596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8040" y="273600"/>
            <a:ext cx="10945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8040" y="1604520"/>
            <a:ext cx="10945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77DBEDC-4ADD-437A-8E70-15B1FABB461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D905CEB-00CD-4316-9791-C2258DEAB5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940218C2-07D3-4294-952F-FDB5EC38A24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de-DE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dt" idx="3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ftr" idx="3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sldNum" idx="3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5FD272E8-2E44-4954-A6F2-0FAC717692D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title"/>
          </p:nvPr>
        </p:nvSpPr>
        <p:spPr>
          <a:xfrm>
            <a:off x="608040" y="273600"/>
            <a:ext cx="10944720" cy="1144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Titeltextes durch Klicken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body"/>
          </p:nvPr>
        </p:nvSpPr>
        <p:spPr>
          <a:xfrm>
            <a:off x="608040" y="1604520"/>
            <a:ext cx="109447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Picture 1"/>
          <p:cNvPicPr/>
          <p:nvPr/>
        </p:nvPicPr>
        <p:blipFill>
          <a:blip r:embed="rId1"/>
          <a:stretch/>
        </p:blipFill>
        <p:spPr>
          <a:xfrm>
            <a:off x="360" y="11520"/>
            <a:ext cx="12161160" cy="6834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" name="TextBox 2"/>
          <p:cNvSpPr/>
          <p:nvPr/>
        </p:nvSpPr>
        <p:spPr>
          <a:xfrm>
            <a:off x="511200" y="192960"/>
            <a:ext cx="10972440" cy="21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pc="300" strike="noStrike">
                <a:solidFill>
                  <a:srgbClr val="e9d9be"/>
                </a:solidFill>
                <a:effectLst/>
                <a:uFillTx/>
                <a:latin typeface="Calibri"/>
              </a:rPr>
              <a:t>CAPSTONE-PROJEKT  ·  BUSINESS PROGNOSIS</a:t>
            </a:r>
            <a:r>
              <a:rPr lang="de-DE" sz="1400" b="1" u="none" spc="300" strike="noStrike">
                <a:solidFill>
                  <a:srgbClr val="e9d9be"/>
                </a:solidFill>
                <a:effectLst/>
                <a:uFillTx/>
                <a:latin typeface="Calibri"/>
              </a:rPr>
              <a:t> SS 2026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"/>
          <p:cNvSpPr/>
          <p:nvPr/>
        </p:nvSpPr>
        <p:spPr>
          <a:xfrm>
            <a:off x="640080" y="3229200"/>
            <a:ext cx="10972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5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Luftverschmutzung in Beijing</a:t>
            </a:r>
            <a:endParaRPr lang="de-DE" sz="5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4"/>
          <p:cNvSpPr/>
          <p:nvPr/>
        </p:nvSpPr>
        <p:spPr>
          <a:xfrm>
            <a:off x="640080" y="4318560"/>
            <a:ext cx="1097244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0" u="none" strike="noStrike">
                <a:solidFill>
                  <a:srgbClr val="f0e4ce"/>
                </a:solidFill>
                <a:effectLst/>
                <a:uFillTx/>
                <a:latin typeface="Calibri"/>
              </a:rPr>
              <a:t>PM2.5-Prognose mit Prophet</a:t>
            </a:r>
            <a:r>
              <a:rPr lang="de-DE" sz="2400" b="0" u="none" strike="noStrike">
                <a:solidFill>
                  <a:srgbClr val="f0e4ce"/>
                </a:solidFill>
                <a:effectLst/>
                <a:uFillTx/>
                <a:latin typeface="Calibri"/>
              </a:rPr>
              <a:t>, </a:t>
            </a:r>
            <a:r>
              <a:rPr lang="en-US" sz="2400" b="0" u="none" strike="noStrike">
                <a:solidFill>
                  <a:srgbClr val="f0e4ce"/>
                </a:solidFill>
                <a:effectLst/>
                <a:uFillTx/>
                <a:latin typeface="Calibri"/>
              </a:rPr>
              <a:t>Chronos</a:t>
            </a:r>
            <a:r>
              <a:rPr lang="de-DE" sz="2400" b="0" u="none" strike="noStrike">
                <a:solidFill>
                  <a:srgbClr val="f0e4ce"/>
                </a:solidFill>
                <a:effectLst/>
                <a:uFillTx/>
                <a:latin typeface="Calibri"/>
              </a:rPr>
              <a:t> &amp; PatchTST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5"/>
          <p:cNvSpPr/>
          <p:nvPr/>
        </p:nvSpPr>
        <p:spPr>
          <a:xfrm>
            <a:off x="511200" y="5130000"/>
            <a:ext cx="3291480" cy="45684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6"/>
          <p:cNvSpPr/>
          <p:nvPr/>
        </p:nvSpPr>
        <p:spPr>
          <a:xfrm>
            <a:off x="466560" y="5130000"/>
            <a:ext cx="3291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1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Strukturiert nach CRISP-DM</a:t>
            </a:r>
            <a:endParaRPr lang="de-DE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7"/>
          <p:cNvSpPr/>
          <p:nvPr/>
        </p:nvSpPr>
        <p:spPr>
          <a:xfrm>
            <a:off x="640080" y="5989320"/>
            <a:ext cx="10972440" cy="18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d7cbb6"/>
                </a:solidFill>
                <a:effectLst/>
                <a:uFillTx/>
                <a:latin typeface="Calibri"/>
              </a:rPr>
              <a:t>Bettina Gertjerenken   ·   Kai Steffen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457200" y="411480"/>
            <a:ext cx="91436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Der CRISP-DM-Prozess</a:t>
            </a:r>
            <a:endParaRPr lang="de-DE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475560" y="1051560"/>
            <a:ext cx="105152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Unser Projekt gliedert sich in die sechs Phasen von CRISP-DM.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4"/>
          <p:cNvSpPr/>
          <p:nvPr/>
        </p:nvSpPr>
        <p:spPr>
          <a:xfrm>
            <a:off x="457200" y="1645920"/>
            <a:ext cx="3684600" cy="2194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Oval 5"/>
          <p:cNvSpPr/>
          <p:nvPr/>
        </p:nvSpPr>
        <p:spPr>
          <a:xfrm>
            <a:off x="731520" y="1920240"/>
            <a:ext cx="776880" cy="77688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731520" y="19202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01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7"/>
          <p:cNvSpPr/>
          <p:nvPr/>
        </p:nvSpPr>
        <p:spPr>
          <a:xfrm>
            <a:off x="1664280" y="1956960"/>
            <a:ext cx="2267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Geschäftsverständnis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8"/>
          <p:cNvSpPr/>
          <p:nvPr/>
        </p:nvSpPr>
        <p:spPr>
          <a:xfrm>
            <a:off x="1664280" y="2377440"/>
            <a:ext cx="226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Business Understanding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749880" y="288036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Welches Problem lösen wir?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0"/>
          <p:cNvSpPr/>
          <p:nvPr/>
        </p:nvSpPr>
        <p:spPr>
          <a:xfrm>
            <a:off x="4270320" y="1645920"/>
            <a:ext cx="3684600" cy="2194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Oval 11"/>
          <p:cNvSpPr/>
          <p:nvPr/>
        </p:nvSpPr>
        <p:spPr>
          <a:xfrm>
            <a:off x="4544640" y="1920240"/>
            <a:ext cx="776880" cy="77688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4544640" y="19202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02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3"/>
          <p:cNvSpPr/>
          <p:nvPr/>
        </p:nvSpPr>
        <p:spPr>
          <a:xfrm>
            <a:off x="5477400" y="1956960"/>
            <a:ext cx="2267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Datenverständnis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14"/>
          <p:cNvSpPr/>
          <p:nvPr/>
        </p:nvSpPr>
        <p:spPr>
          <a:xfrm>
            <a:off x="5477400" y="2377440"/>
            <a:ext cx="226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Data Understanding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15"/>
          <p:cNvSpPr/>
          <p:nvPr/>
        </p:nvSpPr>
        <p:spPr>
          <a:xfrm>
            <a:off x="4563000" y="288036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Welche Daten liegen vor?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16"/>
          <p:cNvSpPr/>
          <p:nvPr/>
        </p:nvSpPr>
        <p:spPr>
          <a:xfrm>
            <a:off x="8083440" y="1645920"/>
            <a:ext cx="3684600" cy="2194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Oval 17"/>
          <p:cNvSpPr/>
          <p:nvPr/>
        </p:nvSpPr>
        <p:spPr>
          <a:xfrm>
            <a:off x="8357760" y="1920240"/>
            <a:ext cx="776880" cy="77688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18"/>
          <p:cNvSpPr/>
          <p:nvPr/>
        </p:nvSpPr>
        <p:spPr>
          <a:xfrm>
            <a:off x="8357760" y="19202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03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19"/>
          <p:cNvSpPr/>
          <p:nvPr/>
        </p:nvSpPr>
        <p:spPr>
          <a:xfrm>
            <a:off x="9290160" y="1956960"/>
            <a:ext cx="2267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Datenaufbereitung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20"/>
          <p:cNvSpPr/>
          <p:nvPr/>
        </p:nvSpPr>
        <p:spPr>
          <a:xfrm>
            <a:off x="9290160" y="2377440"/>
            <a:ext cx="226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Data Preparation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21"/>
          <p:cNvSpPr/>
          <p:nvPr/>
        </p:nvSpPr>
        <p:spPr>
          <a:xfrm>
            <a:off x="8375760" y="288036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Wie werden die Daten modellfertig?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Rounded Rectangle 22"/>
          <p:cNvSpPr/>
          <p:nvPr/>
        </p:nvSpPr>
        <p:spPr>
          <a:xfrm>
            <a:off x="457200" y="4041720"/>
            <a:ext cx="3684600" cy="2194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Oval 23"/>
          <p:cNvSpPr/>
          <p:nvPr/>
        </p:nvSpPr>
        <p:spPr>
          <a:xfrm>
            <a:off x="731520" y="4316040"/>
            <a:ext cx="776880" cy="776880"/>
          </a:xfrm>
          <a:prstGeom prst="ellipse">
            <a:avLst/>
          </a:prstGeom>
          <a:solidFill>
            <a:srgbClr val="c447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24"/>
          <p:cNvSpPr/>
          <p:nvPr/>
        </p:nvSpPr>
        <p:spPr>
          <a:xfrm>
            <a:off x="731520" y="43160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04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5"/>
          <p:cNvSpPr/>
          <p:nvPr/>
        </p:nvSpPr>
        <p:spPr>
          <a:xfrm>
            <a:off x="1664280" y="4352400"/>
            <a:ext cx="2267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Modellierung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6"/>
          <p:cNvSpPr/>
          <p:nvPr/>
        </p:nvSpPr>
        <p:spPr>
          <a:xfrm>
            <a:off x="1664280" y="4773240"/>
            <a:ext cx="226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Modeling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27"/>
          <p:cNvSpPr/>
          <p:nvPr/>
        </p:nvSpPr>
        <p:spPr>
          <a:xfrm>
            <a:off x="749880" y="527616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Welche Modelle vergleichen wir?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28"/>
          <p:cNvSpPr/>
          <p:nvPr/>
        </p:nvSpPr>
        <p:spPr>
          <a:xfrm>
            <a:off x="4270320" y="4041720"/>
            <a:ext cx="3684600" cy="2194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Oval 29"/>
          <p:cNvSpPr/>
          <p:nvPr/>
        </p:nvSpPr>
        <p:spPr>
          <a:xfrm>
            <a:off x="4544640" y="4316040"/>
            <a:ext cx="776880" cy="77688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30"/>
          <p:cNvSpPr/>
          <p:nvPr/>
        </p:nvSpPr>
        <p:spPr>
          <a:xfrm>
            <a:off x="4544640" y="43160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05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31"/>
          <p:cNvSpPr/>
          <p:nvPr/>
        </p:nvSpPr>
        <p:spPr>
          <a:xfrm>
            <a:off x="5477400" y="4352400"/>
            <a:ext cx="2267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Evaluation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Box 32"/>
          <p:cNvSpPr/>
          <p:nvPr/>
        </p:nvSpPr>
        <p:spPr>
          <a:xfrm>
            <a:off x="5477400" y="4773240"/>
            <a:ext cx="226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Evaluation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33"/>
          <p:cNvSpPr/>
          <p:nvPr/>
        </p:nvSpPr>
        <p:spPr>
          <a:xfrm>
            <a:off x="4563000" y="527616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Erreichen wir die Projektziele?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34"/>
          <p:cNvSpPr/>
          <p:nvPr/>
        </p:nvSpPr>
        <p:spPr>
          <a:xfrm>
            <a:off x="8083440" y="4041720"/>
            <a:ext cx="3684600" cy="2194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Oval 35"/>
          <p:cNvSpPr/>
          <p:nvPr/>
        </p:nvSpPr>
        <p:spPr>
          <a:xfrm>
            <a:off x="8357760" y="4316040"/>
            <a:ext cx="776880" cy="77688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TextBox 36"/>
          <p:cNvSpPr/>
          <p:nvPr/>
        </p:nvSpPr>
        <p:spPr>
          <a:xfrm>
            <a:off x="8357760" y="4316040"/>
            <a:ext cx="77688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37"/>
          <p:cNvSpPr/>
          <p:nvPr/>
        </p:nvSpPr>
        <p:spPr>
          <a:xfrm>
            <a:off x="9290160" y="4352400"/>
            <a:ext cx="2267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Bereitstellung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38"/>
          <p:cNvSpPr/>
          <p:nvPr/>
        </p:nvSpPr>
        <p:spPr>
          <a:xfrm>
            <a:off x="9290160" y="4773240"/>
            <a:ext cx="226728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Deployment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39"/>
          <p:cNvSpPr/>
          <p:nvPr/>
        </p:nvSpPr>
        <p:spPr>
          <a:xfrm>
            <a:off x="8375760" y="5276160"/>
            <a:ext cx="313596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Wie wird das Ergebnis nutzbar?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40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</a:t>
            </a: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, </a:t>
            </a: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Chronos</a:t>
            </a: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 &amp; PatchTST</a:t>
            </a: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Oval 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3"/>
          <p:cNvSpPr/>
          <p:nvPr/>
        </p:nvSpPr>
        <p:spPr>
          <a:xfrm>
            <a:off x="457200" y="457200"/>
            <a:ext cx="10512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01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Box 4"/>
          <p:cNvSpPr/>
          <p:nvPr/>
        </p:nvSpPr>
        <p:spPr>
          <a:xfrm>
            <a:off x="1691640" y="457200"/>
            <a:ext cx="9143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Geschäftsverständnis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5"/>
          <p:cNvSpPr/>
          <p:nvPr/>
        </p:nvSpPr>
        <p:spPr>
          <a:xfrm>
            <a:off x="1710000" y="1115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CRISP-DM  ·  Business Understanding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Box 6"/>
          <p:cNvSpPr/>
          <p:nvPr/>
        </p:nvSpPr>
        <p:spPr>
          <a:xfrm>
            <a:off x="50292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150" strike="noStrike">
                <a:solidFill>
                  <a:srgbClr val="6c7278"/>
                </a:solidFill>
                <a:effectLst/>
                <a:uFillTx/>
                <a:latin typeface="Calibri"/>
              </a:rPr>
              <a:t>INHALT DIESER PHASE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7"/>
          <p:cNvSpPr/>
          <p:nvPr/>
        </p:nvSpPr>
        <p:spPr>
          <a:xfrm>
            <a:off x="502920" y="2286000"/>
            <a:ext cx="68576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Ziel &amp; Fragestellung des Projekts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Warum PM2.5-Prognose in Beijing relevant ist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Nutzen · Stakeholder · Erfolgskriterien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Rounded Rectangle 8"/>
          <p:cNvSpPr/>
          <p:nvPr/>
        </p:nvSpPr>
        <p:spPr>
          <a:xfrm>
            <a:off x="7726680" y="1828800"/>
            <a:ext cx="3977280" cy="384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Oval 9"/>
          <p:cNvSpPr/>
          <p:nvPr/>
        </p:nvSpPr>
        <p:spPr>
          <a:xfrm>
            <a:off x="8046720" y="2148840"/>
            <a:ext cx="548280" cy="548280"/>
          </a:xfrm>
          <a:prstGeom prst="ellipse">
            <a:avLst/>
          </a:prstGeom>
          <a:solidFill>
            <a:srgbClr val="f3e4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10"/>
          <p:cNvSpPr/>
          <p:nvPr/>
        </p:nvSpPr>
        <p:spPr>
          <a:xfrm>
            <a:off x="8046720" y="213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e0912f"/>
                </a:solidFill>
                <a:effectLst/>
                <a:uFillTx/>
                <a:latin typeface="Cambria"/>
              </a:rPr>
              <a:t>?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11"/>
          <p:cNvSpPr/>
          <p:nvPr/>
        </p:nvSpPr>
        <p:spPr>
          <a:xfrm>
            <a:off x="8732520" y="2194560"/>
            <a:ext cx="278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Leitfragen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2"/>
          <p:cNvSpPr/>
          <p:nvPr/>
        </p:nvSpPr>
        <p:spPr>
          <a:xfrm>
            <a:off x="8046720" y="2926080"/>
            <a:ext cx="33372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Welches Problem lösen wir?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Was ist ein Erfolg?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Rectangle 13"/>
          <p:cNvSpPr/>
          <p:nvPr/>
        </p:nvSpPr>
        <p:spPr>
          <a:xfrm>
            <a:off x="8046720" y="4316040"/>
            <a:ext cx="3337200" cy="10440"/>
          </a:xfrm>
          <a:prstGeom prst="rect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14"/>
          <p:cNvSpPr/>
          <p:nvPr/>
        </p:nvSpPr>
        <p:spPr>
          <a:xfrm>
            <a:off x="8046720" y="4434840"/>
            <a:ext cx="333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6c7278"/>
                </a:solidFill>
                <a:effectLst/>
                <a:uFillTx/>
                <a:latin typeface="Calibri"/>
              </a:rPr>
              <a:t>NOTIZEN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5"/>
          <p:cNvSpPr/>
          <p:nvPr/>
        </p:nvSpPr>
        <p:spPr>
          <a:xfrm>
            <a:off x="8046720" y="4754880"/>
            <a:ext cx="3337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a8f94"/>
                </a:solidFill>
                <a:effectLst/>
                <a:uFillTx/>
                <a:latin typeface="Calibri"/>
              </a:rPr>
              <a:t>Platzhalter für eigene Notizen …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Box 16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</a:t>
            </a: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, </a:t>
            </a: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Chronos</a:t>
            </a: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 &amp; PatchTST</a:t>
            </a: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Oval 1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Oval 1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Oval 19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Oval 20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Oval 21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Oval 22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2" name="Oval 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3" name="TextBox 3"/>
          <p:cNvSpPr/>
          <p:nvPr/>
        </p:nvSpPr>
        <p:spPr>
          <a:xfrm>
            <a:off x="457200" y="457200"/>
            <a:ext cx="10512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02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4"/>
          <p:cNvSpPr/>
          <p:nvPr/>
        </p:nvSpPr>
        <p:spPr>
          <a:xfrm>
            <a:off x="1691640" y="457200"/>
            <a:ext cx="9143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Datenverständnis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5"/>
          <p:cNvSpPr/>
          <p:nvPr/>
        </p:nvSpPr>
        <p:spPr>
          <a:xfrm>
            <a:off x="1710000" y="1115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CRISP-DM  ·  Data Understanding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Box 6"/>
          <p:cNvSpPr/>
          <p:nvPr/>
        </p:nvSpPr>
        <p:spPr>
          <a:xfrm>
            <a:off x="50292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150" strike="noStrike">
                <a:solidFill>
                  <a:srgbClr val="6c7278"/>
                </a:solidFill>
                <a:effectLst/>
                <a:uFillTx/>
                <a:latin typeface="Calibri"/>
              </a:rPr>
              <a:t>INHALT DIESER PHASE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7"/>
          <p:cNvSpPr/>
          <p:nvPr/>
        </p:nvSpPr>
        <p:spPr>
          <a:xfrm>
            <a:off x="502920" y="2286000"/>
            <a:ext cx="68576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Datenquelle &amp; Zeitraum (Stunden-/Stationsdaten)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Variablen: PM2.5, Wetter, Station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Erste Exploration, Muster &amp; Datenlücken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8"/>
          <p:cNvSpPr/>
          <p:nvPr/>
        </p:nvSpPr>
        <p:spPr>
          <a:xfrm>
            <a:off x="7726680" y="1828800"/>
            <a:ext cx="3977280" cy="384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9" name="Oval 9"/>
          <p:cNvSpPr/>
          <p:nvPr/>
        </p:nvSpPr>
        <p:spPr>
          <a:xfrm>
            <a:off x="8046720" y="2148840"/>
            <a:ext cx="548280" cy="548280"/>
          </a:xfrm>
          <a:prstGeom prst="ellipse">
            <a:avLst/>
          </a:prstGeom>
          <a:solidFill>
            <a:srgbClr val="f3e4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0" name="TextBox 10"/>
          <p:cNvSpPr/>
          <p:nvPr/>
        </p:nvSpPr>
        <p:spPr>
          <a:xfrm>
            <a:off x="8046720" y="213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e0912f"/>
                </a:solidFill>
                <a:effectLst/>
                <a:uFillTx/>
                <a:latin typeface="Cambria"/>
              </a:rPr>
              <a:t>?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11"/>
          <p:cNvSpPr/>
          <p:nvPr/>
        </p:nvSpPr>
        <p:spPr>
          <a:xfrm>
            <a:off x="8732520" y="2194560"/>
            <a:ext cx="278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Leitfragen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TextBox 12"/>
          <p:cNvSpPr/>
          <p:nvPr/>
        </p:nvSpPr>
        <p:spPr>
          <a:xfrm>
            <a:off x="8046720" y="2926080"/>
            <a:ext cx="33372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Welche Daten liegen vor?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Welche Qualität haben sie?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Rectangle 13"/>
          <p:cNvSpPr/>
          <p:nvPr/>
        </p:nvSpPr>
        <p:spPr>
          <a:xfrm>
            <a:off x="8046720" y="4316040"/>
            <a:ext cx="3337200" cy="10440"/>
          </a:xfrm>
          <a:prstGeom prst="rect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14"/>
          <p:cNvSpPr/>
          <p:nvPr/>
        </p:nvSpPr>
        <p:spPr>
          <a:xfrm>
            <a:off x="8046720" y="4434840"/>
            <a:ext cx="333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6c7278"/>
                </a:solidFill>
                <a:effectLst/>
                <a:uFillTx/>
                <a:latin typeface="Calibri"/>
              </a:rPr>
              <a:t>NOTIZEN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15"/>
          <p:cNvSpPr/>
          <p:nvPr/>
        </p:nvSpPr>
        <p:spPr>
          <a:xfrm>
            <a:off x="8046720" y="4754880"/>
            <a:ext cx="3337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a8f94"/>
                </a:solidFill>
                <a:effectLst/>
                <a:uFillTx/>
                <a:latin typeface="Calibri"/>
              </a:rPr>
              <a:t>Platzhalter für eigene Notizen …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16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Oval 1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8" name="Oval 1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Oval 19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0" name="Oval 20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1" name="Oval 21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Oval 22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4" name="Oval 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457200" y="457200"/>
            <a:ext cx="10512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03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1691640" y="457200"/>
            <a:ext cx="9143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Datenaufbereitung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1710000" y="1115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CRISP-DM  ·  Data Preparation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6"/>
          <p:cNvSpPr/>
          <p:nvPr/>
        </p:nvSpPr>
        <p:spPr>
          <a:xfrm>
            <a:off x="50292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150" strike="noStrike">
                <a:solidFill>
                  <a:srgbClr val="6c7278"/>
                </a:solidFill>
                <a:effectLst/>
                <a:uFillTx/>
                <a:latin typeface="Calibri"/>
              </a:rPr>
              <a:t>INHALT DIESER PHASE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Box 7"/>
          <p:cNvSpPr/>
          <p:nvPr/>
        </p:nvSpPr>
        <p:spPr>
          <a:xfrm>
            <a:off x="502920" y="2286000"/>
            <a:ext cx="68576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Fehlende Werte &amp; Ausreißer behandeln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Feature Engineering &amp; exogene Regressoren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Leakage-freier chronologischer Train/Test-Split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Rounded Rectangle 8"/>
          <p:cNvSpPr/>
          <p:nvPr/>
        </p:nvSpPr>
        <p:spPr>
          <a:xfrm>
            <a:off x="7726680" y="1828800"/>
            <a:ext cx="3977280" cy="384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1" name="Oval 9"/>
          <p:cNvSpPr/>
          <p:nvPr/>
        </p:nvSpPr>
        <p:spPr>
          <a:xfrm>
            <a:off x="8046720" y="2148840"/>
            <a:ext cx="548280" cy="548280"/>
          </a:xfrm>
          <a:prstGeom prst="ellipse">
            <a:avLst/>
          </a:prstGeom>
          <a:solidFill>
            <a:srgbClr val="f3e4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2" name="TextBox 10"/>
          <p:cNvSpPr/>
          <p:nvPr/>
        </p:nvSpPr>
        <p:spPr>
          <a:xfrm>
            <a:off x="8046720" y="213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e0912f"/>
                </a:solidFill>
                <a:effectLst/>
                <a:uFillTx/>
                <a:latin typeface="Cambria"/>
              </a:rPr>
              <a:t>?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11"/>
          <p:cNvSpPr/>
          <p:nvPr/>
        </p:nvSpPr>
        <p:spPr>
          <a:xfrm>
            <a:off x="8732520" y="2194560"/>
            <a:ext cx="278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Leitfragen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12"/>
          <p:cNvSpPr/>
          <p:nvPr/>
        </p:nvSpPr>
        <p:spPr>
          <a:xfrm>
            <a:off x="8046720" y="2926080"/>
            <a:ext cx="33372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Wie werden die Daten modellfertig?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Vermeiden wir Data Leakage?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Rectangle 13"/>
          <p:cNvSpPr/>
          <p:nvPr/>
        </p:nvSpPr>
        <p:spPr>
          <a:xfrm>
            <a:off x="8046720" y="4316040"/>
            <a:ext cx="3337200" cy="10440"/>
          </a:xfrm>
          <a:prstGeom prst="rect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6" name="TextBox 14"/>
          <p:cNvSpPr/>
          <p:nvPr/>
        </p:nvSpPr>
        <p:spPr>
          <a:xfrm>
            <a:off x="8046720" y="4434840"/>
            <a:ext cx="333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6c7278"/>
                </a:solidFill>
                <a:effectLst/>
                <a:uFillTx/>
                <a:latin typeface="Calibri"/>
              </a:rPr>
              <a:t>NOTIZEN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5"/>
          <p:cNvSpPr/>
          <p:nvPr/>
        </p:nvSpPr>
        <p:spPr>
          <a:xfrm>
            <a:off x="8046720" y="4754880"/>
            <a:ext cx="3337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a8f94"/>
                </a:solidFill>
                <a:effectLst/>
                <a:uFillTx/>
                <a:latin typeface="Calibri"/>
              </a:rPr>
              <a:t>Platzhalter für eigene Notizen …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6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Oval 1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0" name="Oval 1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1" name="Oval 19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2" name="Oval 20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Oval 21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4" name="Oval 22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Oval 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c447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457200" y="457200"/>
            <a:ext cx="10512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04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Box 4"/>
          <p:cNvSpPr/>
          <p:nvPr/>
        </p:nvSpPr>
        <p:spPr>
          <a:xfrm>
            <a:off x="1691640" y="457200"/>
            <a:ext cx="9143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Modellierung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5"/>
          <p:cNvSpPr/>
          <p:nvPr/>
        </p:nvSpPr>
        <p:spPr>
          <a:xfrm>
            <a:off x="1710000" y="1115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CRISP-DM  ·  Modeling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6"/>
          <p:cNvSpPr/>
          <p:nvPr/>
        </p:nvSpPr>
        <p:spPr>
          <a:xfrm>
            <a:off x="50292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150" strike="noStrike">
                <a:solidFill>
                  <a:srgbClr val="6c7278"/>
                </a:solidFill>
                <a:effectLst/>
                <a:uFillTx/>
                <a:latin typeface="Calibri"/>
              </a:rPr>
              <a:t>INHALT DIESER PHASE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Box 7"/>
          <p:cNvSpPr/>
          <p:nvPr/>
        </p:nvSpPr>
        <p:spPr>
          <a:xfrm>
            <a:off x="502920" y="2286000"/>
            <a:ext cx="68576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Prophet: Trend, Saisonalität, Regressoren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Chronos: Foundation-Model, zero-shot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Hyperparameter &amp; Prognose-Horizont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Rounded Rectangle 8"/>
          <p:cNvSpPr/>
          <p:nvPr/>
        </p:nvSpPr>
        <p:spPr>
          <a:xfrm>
            <a:off x="7726680" y="1828800"/>
            <a:ext cx="3977280" cy="384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3" name="Oval 9"/>
          <p:cNvSpPr/>
          <p:nvPr/>
        </p:nvSpPr>
        <p:spPr>
          <a:xfrm>
            <a:off x="8046720" y="2148840"/>
            <a:ext cx="548280" cy="548280"/>
          </a:xfrm>
          <a:prstGeom prst="ellipse">
            <a:avLst/>
          </a:prstGeom>
          <a:solidFill>
            <a:srgbClr val="f3e4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4" name="TextBox 10"/>
          <p:cNvSpPr/>
          <p:nvPr/>
        </p:nvSpPr>
        <p:spPr>
          <a:xfrm>
            <a:off x="8046720" y="213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e0912f"/>
                </a:solidFill>
                <a:effectLst/>
                <a:uFillTx/>
                <a:latin typeface="Cambria"/>
              </a:rPr>
              <a:t>?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Box 11"/>
          <p:cNvSpPr/>
          <p:nvPr/>
        </p:nvSpPr>
        <p:spPr>
          <a:xfrm>
            <a:off x="8732520" y="2194560"/>
            <a:ext cx="278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Leitfragen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Box 12"/>
          <p:cNvSpPr/>
          <p:nvPr/>
        </p:nvSpPr>
        <p:spPr>
          <a:xfrm>
            <a:off x="8046720" y="2926080"/>
            <a:ext cx="33372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Welche Modelle vergleichen wir?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Welche Annahmen treffen wir?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Rectangle 13"/>
          <p:cNvSpPr/>
          <p:nvPr/>
        </p:nvSpPr>
        <p:spPr>
          <a:xfrm>
            <a:off x="8046720" y="4316040"/>
            <a:ext cx="3337200" cy="10440"/>
          </a:xfrm>
          <a:prstGeom prst="rect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8" name="TextBox 14"/>
          <p:cNvSpPr/>
          <p:nvPr/>
        </p:nvSpPr>
        <p:spPr>
          <a:xfrm>
            <a:off x="8046720" y="4434840"/>
            <a:ext cx="333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6c7278"/>
                </a:solidFill>
                <a:effectLst/>
                <a:uFillTx/>
                <a:latin typeface="Calibri"/>
              </a:rPr>
              <a:t>NOTIZEN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Box 15"/>
          <p:cNvSpPr/>
          <p:nvPr/>
        </p:nvSpPr>
        <p:spPr>
          <a:xfrm>
            <a:off x="8046720" y="4754880"/>
            <a:ext cx="3337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a8f94"/>
                </a:solidFill>
                <a:effectLst/>
                <a:uFillTx/>
                <a:latin typeface="Calibri"/>
              </a:rPr>
              <a:t>Platzhalter für eigene Notizen …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Box 16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Oval 1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2" name="Oval 1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Oval 19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Oval 20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5" name="Oval 21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6" name="Oval 22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Oval 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9" name="TextBox 3"/>
          <p:cNvSpPr/>
          <p:nvPr/>
        </p:nvSpPr>
        <p:spPr>
          <a:xfrm>
            <a:off x="457200" y="457200"/>
            <a:ext cx="10512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05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4"/>
          <p:cNvSpPr/>
          <p:nvPr/>
        </p:nvSpPr>
        <p:spPr>
          <a:xfrm>
            <a:off x="1691640" y="457200"/>
            <a:ext cx="9143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Evaluation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Box 5"/>
          <p:cNvSpPr/>
          <p:nvPr/>
        </p:nvSpPr>
        <p:spPr>
          <a:xfrm>
            <a:off x="1710000" y="1115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CRISP-DM  ·  Evaluation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Box 6"/>
          <p:cNvSpPr/>
          <p:nvPr/>
        </p:nvSpPr>
        <p:spPr>
          <a:xfrm>
            <a:off x="50292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150" strike="noStrike">
                <a:solidFill>
                  <a:srgbClr val="6c7278"/>
                </a:solidFill>
                <a:effectLst/>
                <a:uFillTx/>
                <a:latin typeface="Calibri"/>
              </a:rPr>
              <a:t>INHALT DIESER PHASE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Box 7"/>
          <p:cNvSpPr/>
          <p:nvPr/>
        </p:nvSpPr>
        <p:spPr>
          <a:xfrm>
            <a:off x="502920" y="2286000"/>
            <a:ext cx="6857640" cy="310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Metriken: MAE &amp; RMSE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Prophet vs. Chronos – Ergebnisvergleich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Laufzeit, Interpretierbarkeit, Grenzen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Rounded Rectangle 8"/>
          <p:cNvSpPr/>
          <p:nvPr/>
        </p:nvSpPr>
        <p:spPr>
          <a:xfrm>
            <a:off x="7726680" y="1828800"/>
            <a:ext cx="3977280" cy="384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5" name="Oval 9"/>
          <p:cNvSpPr/>
          <p:nvPr/>
        </p:nvSpPr>
        <p:spPr>
          <a:xfrm>
            <a:off x="8046720" y="2148840"/>
            <a:ext cx="548280" cy="548280"/>
          </a:xfrm>
          <a:prstGeom prst="ellipse">
            <a:avLst/>
          </a:prstGeom>
          <a:solidFill>
            <a:srgbClr val="f3e4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10"/>
          <p:cNvSpPr/>
          <p:nvPr/>
        </p:nvSpPr>
        <p:spPr>
          <a:xfrm>
            <a:off x="8046720" y="213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e0912f"/>
                </a:solidFill>
                <a:effectLst/>
                <a:uFillTx/>
                <a:latin typeface="Cambria"/>
              </a:rPr>
              <a:t>?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11"/>
          <p:cNvSpPr/>
          <p:nvPr/>
        </p:nvSpPr>
        <p:spPr>
          <a:xfrm>
            <a:off x="8732520" y="2194560"/>
            <a:ext cx="278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Leitfragen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Box 12"/>
          <p:cNvSpPr/>
          <p:nvPr/>
        </p:nvSpPr>
        <p:spPr>
          <a:xfrm>
            <a:off x="8046720" y="2926080"/>
            <a:ext cx="33372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Erreichen wir die Projektziele?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Welches Modell gewinnt wofür?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ectangle 13"/>
          <p:cNvSpPr/>
          <p:nvPr/>
        </p:nvSpPr>
        <p:spPr>
          <a:xfrm>
            <a:off x="8046720" y="4316040"/>
            <a:ext cx="3337200" cy="10440"/>
          </a:xfrm>
          <a:prstGeom prst="rect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14"/>
          <p:cNvSpPr/>
          <p:nvPr/>
        </p:nvSpPr>
        <p:spPr>
          <a:xfrm>
            <a:off x="8046720" y="4434840"/>
            <a:ext cx="333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6c7278"/>
                </a:solidFill>
                <a:effectLst/>
                <a:uFillTx/>
                <a:latin typeface="Calibri"/>
              </a:rPr>
              <a:t>NOTIZEN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Box 15"/>
          <p:cNvSpPr/>
          <p:nvPr/>
        </p:nvSpPr>
        <p:spPr>
          <a:xfrm>
            <a:off x="8046720" y="4754880"/>
            <a:ext cx="3337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a8f94"/>
                </a:solidFill>
                <a:effectLst/>
                <a:uFillTx/>
                <a:latin typeface="Calibri"/>
              </a:rPr>
              <a:t>Platzhalter für eigene Notizen …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16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Oval 1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Oval 1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5" name="Oval 19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6" name="Oval 20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Oval 21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Oval 22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Rectangle 1"/>
          <p:cNvSpPr/>
          <p:nvPr/>
        </p:nvSpPr>
        <p:spPr>
          <a:xfrm>
            <a:off x="0" y="0"/>
            <a:ext cx="12161160" cy="685764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0" name="Oval 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1" name="TextBox 3"/>
          <p:cNvSpPr/>
          <p:nvPr/>
        </p:nvSpPr>
        <p:spPr>
          <a:xfrm>
            <a:off x="457200" y="457200"/>
            <a:ext cx="10512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Box 4"/>
          <p:cNvSpPr/>
          <p:nvPr/>
        </p:nvSpPr>
        <p:spPr>
          <a:xfrm>
            <a:off x="1691640" y="457200"/>
            <a:ext cx="91436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Bereitstellung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Box 5"/>
          <p:cNvSpPr/>
          <p:nvPr/>
        </p:nvSpPr>
        <p:spPr>
          <a:xfrm>
            <a:off x="1710000" y="1115640"/>
            <a:ext cx="91436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CRISP-DM  ·  Deployment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6"/>
          <p:cNvSpPr/>
          <p:nvPr/>
        </p:nvSpPr>
        <p:spPr>
          <a:xfrm>
            <a:off x="502920" y="1828800"/>
            <a:ext cx="64004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150" strike="noStrike">
                <a:solidFill>
                  <a:srgbClr val="6c7278"/>
                </a:solidFill>
                <a:effectLst/>
                <a:uFillTx/>
                <a:latin typeface="Calibri"/>
              </a:rPr>
              <a:t>INHALT DIESER PHASE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Box 7"/>
          <p:cNvSpPr/>
          <p:nvPr/>
        </p:nvSpPr>
        <p:spPr>
          <a:xfrm>
            <a:off x="502920" y="2286000"/>
            <a:ext cx="6857640" cy="64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Reproduzierbarkeit (Notebook / Skript)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lang="en-US" sz="1600" b="0" u="none" strike="noStrike">
                <a:solidFill>
                  <a:srgbClr val="22272b"/>
                </a:solidFill>
                <a:effectLst/>
                <a:uFillTx/>
                <a:latin typeface="Calibri"/>
              </a:rPr>
              <a:t>•   Ausblick &amp; nächste Schritte</a:t>
            </a:r>
            <a:endParaRPr lang="de-DE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Rounded Rectangle 8"/>
          <p:cNvSpPr/>
          <p:nvPr/>
        </p:nvSpPr>
        <p:spPr>
          <a:xfrm>
            <a:off x="7726680" y="1828800"/>
            <a:ext cx="3977280" cy="3840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Oval 9"/>
          <p:cNvSpPr/>
          <p:nvPr/>
        </p:nvSpPr>
        <p:spPr>
          <a:xfrm>
            <a:off x="8046720" y="2148840"/>
            <a:ext cx="548280" cy="548280"/>
          </a:xfrm>
          <a:prstGeom prst="ellipse">
            <a:avLst/>
          </a:prstGeom>
          <a:solidFill>
            <a:srgbClr val="f3e4cb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8" name="TextBox 10"/>
          <p:cNvSpPr/>
          <p:nvPr/>
        </p:nvSpPr>
        <p:spPr>
          <a:xfrm>
            <a:off x="8046720" y="213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e0912f"/>
                </a:solidFill>
                <a:effectLst/>
                <a:uFillTx/>
                <a:latin typeface="Cambria"/>
              </a:rPr>
              <a:t>?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Box 11"/>
          <p:cNvSpPr/>
          <p:nvPr/>
        </p:nvSpPr>
        <p:spPr>
          <a:xfrm>
            <a:off x="8732520" y="2194560"/>
            <a:ext cx="2788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Leitfragen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TextBox 12"/>
          <p:cNvSpPr/>
          <p:nvPr/>
        </p:nvSpPr>
        <p:spPr>
          <a:xfrm>
            <a:off x="8046720" y="2926080"/>
            <a:ext cx="3337200" cy="1234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Wie wird das Ergebnis nutzbar?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4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→   Was übergeben wir?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Rectangle 13"/>
          <p:cNvSpPr/>
          <p:nvPr/>
        </p:nvSpPr>
        <p:spPr>
          <a:xfrm>
            <a:off x="8046720" y="4316040"/>
            <a:ext cx="3337200" cy="10440"/>
          </a:xfrm>
          <a:prstGeom prst="rect">
            <a:avLst/>
          </a:prstGeom>
          <a:solidFill>
            <a:srgbClr val="e1e3e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34200" bIns="-342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2" name="TextBox 14"/>
          <p:cNvSpPr/>
          <p:nvPr/>
        </p:nvSpPr>
        <p:spPr>
          <a:xfrm>
            <a:off x="8046720" y="4434840"/>
            <a:ext cx="333720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pc="99" strike="noStrike">
                <a:solidFill>
                  <a:srgbClr val="6c7278"/>
                </a:solidFill>
                <a:effectLst/>
                <a:uFillTx/>
                <a:latin typeface="Calibri"/>
              </a:rPr>
              <a:t>NOTIZEN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Box 15"/>
          <p:cNvSpPr/>
          <p:nvPr/>
        </p:nvSpPr>
        <p:spPr>
          <a:xfrm>
            <a:off x="8046720" y="4754880"/>
            <a:ext cx="3337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i="1" u="none" strike="noStrike">
                <a:solidFill>
                  <a:srgbClr val="8a8f94"/>
                </a:solidFill>
                <a:effectLst/>
                <a:uFillTx/>
                <a:latin typeface="Calibri"/>
              </a:rPr>
              <a:t>Platzhalter für eigene Notizen …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Box 16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Oval 1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6" name="Oval 1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7" name="Oval 19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Oval 20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9" name="Oval 21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0" name="Oval 22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Rectangle 2"/>
          <p:cNvSpPr/>
          <p:nvPr/>
        </p:nvSpPr>
        <p:spPr>
          <a:xfrm>
            <a:off x="0" y="0"/>
            <a:ext cx="12160800" cy="6857280"/>
          </a:xfrm>
          <a:prstGeom prst="rect">
            <a:avLst/>
          </a:prstGeom>
          <a:solidFill>
            <a:srgbClr val="f5f6f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41"/>
          <p:cNvSpPr/>
          <p:nvPr/>
        </p:nvSpPr>
        <p:spPr>
          <a:xfrm>
            <a:off x="457200" y="411480"/>
            <a:ext cx="914328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4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Modellvergleich: vier Prognoseansätze</a:t>
            </a:r>
            <a:endParaRPr lang="de-DE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42"/>
          <p:cNvSpPr/>
          <p:nvPr/>
        </p:nvSpPr>
        <p:spPr>
          <a:xfrm>
            <a:off x="475560" y="1051560"/>
            <a:ext cx="10514880" cy="22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Vom einfachen Basiswert bis zum tiefen neuronalen Netz – vier Ansätze zur stündlichen PM2.5-Prognose im direkten Vergleich.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ounded Rectangle 6"/>
          <p:cNvSpPr/>
          <p:nvPr/>
        </p:nvSpPr>
        <p:spPr>
          <a:xfrm>
            <a:off x="457200" y="1645920"/>
            <a:ext cx="5439960" cy="2193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Oval 6"/>
          <p:cNvSpPr/>
          <p:nvPr/>
        </p:nvSpPr>
        <p:spPr>
          <a:xfrm>
            <a:off x="731520" y="1920240"/>
            <a:ext cx="776520" cy="77652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6" name="TextBox 43"/>
          <p:cNvSpPr/>
          <p:nvPr/>
        </p:nvSpPr>
        <p:spPr>
          <a:xfrm>
            <a:off x="731520" y="2140560"/>
            <a:ext cx="776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01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TextBox 44"/>
          <p:cNvSpPr/>
          <p:nvPr/>
        </p:nvSpPr>
        <p:spPr>
          <a:xfrm>
            <a:off x="1664280" y="2032560"/>
            <a:ext cx="40226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Seasonal Naive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Box 45"/>
          <p:cNvSpPr/>
          <p:nvPr/>
        </p:nvSpPr>
        <p:spPr>
          <a:xfrm>
            <a:off x="1664280" y="2377440"/>
            <a:ext cx="40226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Baseline-Modell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Box 46"/>
          <p:cNvSpPr/>
          <p:nvPr/>
        </p:nvSpPr>
        <p:spPr>
          <a:xfrm>
            <a:off x="749880" y="2880360"/>
            <a:ext cx="4891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Wiederholt das Muster des letzten Tages als Vorhersage — die einfachste Referenzgröße, an der sich alle anderen Modelle messen lassen (MASE = 1).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Rounded Rectangle 7"/>
          <p:cNvSpPr/>
          <p:nvPr/>
        </p:nvSpPr>
        <p:spPr>
          <a:xfrm>
            <a:off x="6263640" y="1645920"/>
            <a:ext cx="5439960" cy="2193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1" name="Oval 7"/>
          <p:cNvSpPr/>
          <p:nvPr/>
        </p:nvSpPr>
        <p:spPr>
          <a:xfrm>
            <a:off x="6537960" y="1920240"/>
            <a:ext cx="776520" cy="77652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47"/>
          <p:cNvSpPr/>
          <p:nvPr/>
        </p:nvSpPr>
        <p:spPr>
          <a:xfrm>
            <a:off x="6537960" y="2140560"/>
            <a:ext cx="776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02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Box 48"/>
          <p:cNvSpPr/>
          <p:nvPr/>
        </p:nvSpPr>
        <p:spPr>
          <a:xfrm>
            <a:off x="7470720" y="2032560"/>
            <a:ext cx="40226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Prophet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Box 49"/>
          <p:cNvSpPr/>
          <p:nvPr/>
        </p:nvSpPr>
        <p:spPr>
          <a:xfrm>
            <a:off x="7470720" y="2377440"/>
            <a:ext cx="40226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Additives Zeitreihenmodell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Box 50"/>
          <p:cNvSpPr/>
          <p:nvPr/>
        </p:nvSpPr>
        <p:spPr>
          <a:xfrm>
            <a:off x="6556320" y="2880360"/>
            <a:ext cx="4891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Zerlegt PM2.5 in Trend, Saisonalität und Feiertage; schnell und interpretierbar, wird für jedes Zeitfenster neu trainiert.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Rounded Rectangle 9"/>
          <p:cNvSpPr/>
          <p:nvPr/>
        </p:nvSpPr>
        <p:spPr>
          <a:xfrm>
            <a:off x="457200" y="4041720"/>
            <a:ext cx="5439960" cy="2193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7" name="Oval 8"/>
          <p:cNvSpPr/>
          <p:nvPr/>
        </p:nvSpPr>
        <p:spPr>
          <a:xfrm>
            <a:off x="731520" y="4316040"/>
            <a:ext cx="776520" cy="776520"/>
          </a:xfrm>
          <a:prstGeom prst="ellipse">
            <a:avLst/>
          </a:prstGeom>
          <a:solidFill>
            <a:srgbClr val="c4471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8" name="TextBox 51"/>
          <p:cNvSpPr/>
          <p:nvPr/>
        </p:nvSpPr>
        <p:spPr>
          <a:xfrm>
            <a:off x="731520" y="4536360"/>
            <a:ext cx="776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03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Box 52"/>
          <p:cNvSpPr/>
          <p:nvPr/>
        </p:nvSpPr>
        <p:spPr>
          <a:xfrm>
            <a:off x="1664280" y="4428000"/>
            <a:ext cx="40226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Chronos-2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Box 53"/>
          <p:cNvSpPr/>
          <p:nvPr/>
        </p:nvSpPr>
        <p:spPr>
          <a:xfrm>
            <a:off x="1664280" y="4773240"/>
            <a:ext cx="40226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Foundation-Modell (Zero-Shot)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TextBox 54"/>
          <p:cNvSpPr/>
          <p:nvPr/>
        </p:nvSpPr>
        <p:spPr>
          <a:xfrm>
            <a:off x="749880" y="5276160"/>
            <a:ext cx="4891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Vortrainiertes Transformer-Modell für Zeitreihen; kein eigenes Training nötig, nutzt Wetter- und Kalenderdaten als Kovariaten.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Rounded Rectangle 11"/>
          <p:cNvSpPr/>
          <p:nvPr/>
        </p:nvSpPr>
        <p:spPr>
          <a:xfrm>
            <a:off x="6263640" y="4041720"/>
            <a:ext cx="5439960" cy="2193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1e3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3" name="Oval 10"/>
          <p:cNvSpPr/>
          <p:nvPr/>
        </p:nvSpPr>
        <p:spPr>
          <a:xfrm>
            <a:off x="6537960" y="4316040"/>
            <a:ext cx="776520" cy="77652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74" name="TextBox 55"/>
          <p:cNvSpPr/>
          <p:nvPr/>
        </p:nvSpPr>
        <p:spPr>
          <a:xfrm>
            <a:off x="6537960" y="4536360"/>
            <a:ext cx="776520" cy="33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04</a:t>
            </a:r>
            <a:endParaRPr lang="de-DE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Box 56"/>
          <p:cNvSpPr/>
          <p:nvPr/>
        </p:nvSpPr>
        <p:spPr>
          <a:xfrm>
            <a:off x="7470720" y="4428000"/>
            <a:ext cx="402264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TFT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Box 57"/>
          <p:cNvSpPr/>
          <p:nvPr/>
        </p:nvSpPr>
        <p:spPr>
          <a:xfrm>
            <a:off x="7470720" y="4773240"/>
            <a:ext cx="4022640" cy="16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e0912f"/>
                </a:solidFill>
                <a:effectLst/>
                <a:uFillTx/>
                <a:latin typeface="Calibri"/>
              </a:rPr>
              <a:t>Deep-Learning-Modell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Box 58"/>
          <p:cNvSpPr/>
          <p:nvPr/>
        </p:nvSpPr>
        <p:spPr>
          <a:xfrm>
            <a:off x="6556320" y="5276160"/>
            <a:ext cx="4891320" cy="38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i="1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Temporal Fusion Transformer; lernt komplexe, nichtlineare Muster selbst — mit deutlich höherem Trainingsaufwand als die anderen drei Modelle.</a:t>
            </a:r>
            <a:endParaRPr lang="de-DE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Box 59"/>
          <p:cNvSpPr/>
          <p:nvPr/>
        </p:nvSpPr>
        <p:spPr>
          <a:xfrm>
            <a:off x="457200" y="6419160"/>
            <a:ext cx="7314480" cy="13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Seasonal Naive, Prophet</a:t>
            </a: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, </a:t>
            </a: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Chronos-2</a:t>
            </a: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 &amp; TFT</a:t>
            </a:r>
            <a:r>
              <a:rPr lang="en-US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  ·  Modellvergleich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Picture 1"/>
          <p:cNvPicPr/>
          <p:nvPr/>
        </p:nvPicPr>
        <p:blipFill>
          <a:blip r:embed="rId1"/>
          <a:stretch/>
        </p:blipFill>
        <p:spPr>
          <a:xfrm>
            <a:off x="360" y="6840"/>
            <a:ext cx="12161160" cy="684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0" name="TextBox 2"/>
          <p:cNvSpPr/>
          <p:nvPr/>
        </p:nvSpPr>
        <p:spPr>
          <a:xfrm>
            <a:off x="594360" y="4974840"/>
            <a:ext cx="1097244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46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Vielen Dank</a:t>
            </a:r>
            <a:endParaRPr lang="de-DE" sz="4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1" name="TextBox 3"/>
          <p:cNvSpPr/>
          <p:nvPr/>
        </p:nvSpPr>
        <p:spPr>
          <a:xfrm>
            <a:off x="379440" y="6259680"/>
            <a:ext cx="10972440" cy="6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0e4ce"/>
                </a:solidFill>
                <a:effectLst/>
                <a:uFillTx/>
                <a:latin typeface="Calibri"/>
              </a:rPr>
              <a:t>Fragen &amp; Diskussion   ·   </a:t>
            </a:r>
            <a:r>
              <a:rPr lang="de-DE" sz="2000" b="0" u="none" strike="noStrike">
                <a:solidFill>
                  <a:srgbClr val="d7cbb6"/>
                </a:solidFill>
                <a:effectLst/>
                <a:uFillTx/>
                <a:latin typeface="Calibri"/>
              </a:rPr>
              <a:t>Bettina Gertjerenken   ·   Kai Steffen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Oval 1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3" name="TextBox 23"/>
          <p:cNvSpPr/>
          <p:nvPr/>
        </p:nvSpPr>
        <p:spPr>
          <a:xfrm>
            <a:off x="457200" y="753840"/>
            <a:ext cx="105120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Box 28"/>
          <p:cNvSpPr/>
          <p:nvPr/>
        </p:nvSpPr>
        <p:spPr>
          <a:xfrm>
            <a:off x="1691640" y="312480"/>
            <a:ext cx="9143640" cy="97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Vergleich der beiden besten optuna TFT Ergebnisse – Durchschnitts MAE rolling_window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Box 29"/>
          <p:cNvSpPr/>
          <p:nvPr/>
        </p:nvSpPr>
        <p:spPr>
          <a:xfrm>
            <a:off x="1710000" y="1115640"/>
            <a:ext cx="9143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Box 65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Oval 14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8" name="Oval 15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89" name="Oval 16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0" name="Oval 24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1" name="Oval 25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2" name="Oval 26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pic>
        <p:nvPicPr>
          <p:cNvPr id="293" name=""/>
          <p:cNvPicPr/>
          <p:nvPr/>
        </p:nvPicPr>
        <p:blipFill>
          <a:blip r:embed="rId1"/>
          <a:stretch/>
        </p:blipFill>
        <p:spPr>
          <a:xfrm>
            <a:off x="575640" y="1620000"/>
            <a:ext cx="4524480" cy="252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4" name=""/>
          <p:cNvSpPr txBox="1"/>
          <p:nvPr/>
        </p:nvSpPr>
        <p:spPr>
          <a:xfrm>
            <a:off x="5760000" y="1698120"/>
            <a:ext cx="6300000" cy="3161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Modell    tft_final_multivariat  tft_final_multivariat_v2  Differenz (A - B)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Horizont                                                                   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h                      25.498                    22.160              3.338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24 h                     29.629                    27.078              2.551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48 h                     29.598                    28.213              1.385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72 h                     33.685                    30.216              3.469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"/>
          <p:cNvSpPr txBox="1"/>
          <p:nvPr/>
        </p:nvSpPr>
        <p:spPr>
          <a:xfrm>
            <a:off x="720000" y="4680000"/>
            <a:ext cx="7164360" cy="346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Hinweis: Training ohne 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Oval 13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97" name="TextBox 17"/>
          <p:cNvSpPr/>
          <p:nvPr/>
        </p:nvSpPr>
        <p:spPr>
          <a:xfrm>
            <a:off x="457200" y="753840"/>
            <a:ext cx="105120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Box 22"/>
          <p:cNvSpPr/>
          <p:nvPr/>
        </p:nvSpPr>
        <p:spPr>
          <a:xfrm>
            <a:off x="1691640" y="555480"/>
            <a:ext cx="91436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Beispielergebnisse TFT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Box 34"/>
          <p:cNvSpPr/>
          <p:nvPr/>
        </p:nvSpPr>
        <p:spPr>
          <a:xfrm>
            <a:off x="1710000" y="1115640"/>
            <a:ext cx="9143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TextBox 35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Oval 27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2" name="Oval 28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3" name="Oval 30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4" name="Oval 31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5" name="Oval 32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6" name="Oval 33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Oval 49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08" name="TextBox 69"/>
          <p:cNvSpPr/>
          <p:nvPr/>
        </p:nvSpPr>
        <p:spPr>
          <a:xfrm>
            <a:off x="457200" y="753840"/>
            <a:ext cx="105120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Box 70"/>
          <p:cNvSpPr/>
          <p:nvPr/>
        </p:nvSpPr>
        <p:spPr>
          <a:xfrm>
            <a:off x="1691640" y="555480"/>
            <a:ext cx="91436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Beispielergebnisse TFT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Box 71"/>
          <p:cNvSpPr/>
          <p:nvPr/>
        </p:nvSpPr>
        <p:spPr>
          <a:xfrm>
            <a:off x="1710000" y="1115640"/>
            <a:ext cx="9143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Box 72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Oval 50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3" name="Oval 51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4" name="Oval 52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5" name="Oval 53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6" name="Oval 54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7" name="Oval 55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Oval 42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19" name="TextBox 64"/>
          <p:cNvSpPr/>
          <p:nvPr/>
        </p:nvSpPr>
        <p:spPr>
          <a:xfrm>
            <a:off x="457200" y="753840"/>
            <a:ext cx="105120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Box 66"/>
          <p:cNvSpPr/>
          <p:nvPr/>
        </p:nvSpPr>
        <p:spPr>
          <a:xfrm>
            <a:off x="1691640" y="555480"/>
            <a:ext cx="91436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Beispielergebnisse TFT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Box 67"/>
          <p:cNvSpPr/>
          <p:nvPr/>
        </p:nvSpPr>
        <p:spPr>
          <a:xfrm>
            <a:off x="1710000" y="1115640"/>
            <a:ext cx="9143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Box 68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3" name="Oval 43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4" name="Oval 44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5" name="Oval 45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6" name="Oval 46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7" name="Oval 47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28" name="Oval 48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Oval 34"/>
          <p:cNvSpPr/>
          <p:nvPr/>
        </p:nvSpPr>
        <p:spPr>
          <a:xfrm>
            <a:off x="457200" y="457200"/>
            <a:ext cx="1051200" cy="10512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0" name="TextBox 60"/>
          <p:cNvSpPr/>
          <p:nvPr/>
        </p:nvSpPr>
        <p:spPr>
          <a:xfrm>
            <a:off x="457200" y="753840"/>
            <a:ext cx="105120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</a:rPr>
              <a:t>06</a:t>
            </a:r>
            <a:endParaRPr lang="de-DE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Box 61"/>
          <p:cNvSpPr/>
          <p:nvPr/>
        </p:nvSpPr>
        <p:spPr>
          <a:xfrm>
            <a:off x="1691640" y="555480"/>
            <a:ext cx="9143640" cy="48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22272b"/>
                </a:solidFill>
                <a:effectLst/>
                <a:uFillTx/>
                <a:latin typeface="Cambria"/>
              </a:rPr>
              <a:t>Beispielergebnisse TFT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TextBox 62"/>
          <p:cNvSpPr/>
          <p:nvPr/>
        </p:nvSpPr>
        <p:spPr>
          <a:xfrm>
            <a:off x="1710000" y="1115640"/>
            <a:ext cx="9143640" cy="21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Box 63"/>
          <p:cNvSpPr/>
          <p:nvPr/>
        </p:nvSpPr>
        <p:spPr>
          <a:xfrm>
            <a:off x="457200" y="6419160"/>
            <a:ext cx="73148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900" b="0" u="none" strike="noStrike">
                <a:solidFill>
                  <a:srgbClr val="6c7278"/>
                </a:solidFill>
                <a:effectLst/>
                <a:uFillTx/>
                <a:latin typeface="Calibri"/>
              </a:rPr>
              <a:t>PM2.5-Prognose Beijing  ·  Prophet, Chronos &amp; PatchTST  ·  CRISP-DM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Oval 36"/>
          <p:cNvSpPr/>
          <p:nvPr/>
        </p:nvSpPr>
        <p:spPr>
          <a:xfrm>
            <a:off x="100584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5" name="Oval 37"/>
          <p:cNvSpPr/>
          <p:nvPr/>
        </p:nvSpPr>
        <p:spPr>
          <a:xfrm>
            <a:off x="103600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6" name="Oval 38"/>
          <p:cNvSpPr/>
          <p:nvPr/>
        </p:nvSpPr>
        <p:spPr>
          <a:xfrm>
            <a:off x="106617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7" name="Oval 39"/>
          <p:cNvSpPr/>
          <p:nvPr/>
        </p:nvSpPr>
        <p:spPr>
          <a:xfrm>
            <a:off x="1096380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8" name="Oval 40"/>
          <p:cNvSpPr/>
          <p:nvPr/>
        </p:nvSpPr>
        <p:spPr>
          <a:xfrm>
            <a:off x="1126548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339" name="Oval 41"/>
          <p:cNvSpPr/>
          <p:nvPr/>
        </p:nvSpPr>
        <p:spPr>
          <a:xfrm>
            <a:off x="11567160" y="6473880"/>
            <a:ext cx="145800" cy="145800"/>
          </a:xfrm>
          <a:prstGeom prst="ellipse">
            <a:avLst/>
          </a:prstGeom>
          <a:solidFill>
            <a:srgbClr val="e091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rafik 4"/>
          <p:cNvPicPr/>
          <p:nvPr/>
        </p:nvPicPr>
        <p:blipFill>
          <a:blip r:embed="rId1"/>
          <a:stretch/>
        </p:blipFill>
        <p:spPr>
          <a:xfrm>
            <a:off x="2294640" y="1449000"/>
            <a:ext cx="6854760" cy="4721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5000" lnSpcReduction="9999"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Grenzwerte – WHO Air Quality Guidelines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lang="de-DE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Dataset statistics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pic>
        <p:nvPicPr>
          <p:cNvPr id="343" name="Grafik 4"/>
          <p:cNvPicPr/>
          <p:nvPr/>
        </p:nvPicPr>
        <p:blipFill>
          <a:blip r:embed="rId1"/>
          <a:stretch/>
        </p:blipFill>
        <p:spPr>
          <a:xfrm>
            <a:off x="3586680" y="1496880"/>
            <a:ext cx="4987800" cy="4987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4" name="Grafik 2"/>
          <p:cNvPicPr/>
          <p:nvPr/>
        </p:nvPicPr>
        <p:blipFill>
          <a:blip r:embed="rId1"/>
          <a:stretch/>
        </p:blipFill>
        <p:spPr>
          <a:xfrm>
            <a:off x="3099600" y="1095120"/>
            <a:ext cx="5962680" cy="4667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LibreOffice/25.8.7.3$Windows_X86_64 LibreOffice_project/30742500f2d3eb4366ac312fa33d3dcabdb3eba5</Application>
  <AppVersion>15.0000</AppVersion>
  <Words>616</Words>
  <Paragraphs>128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>Kai Steffen</dc:creator>
  <dc:description>generated using python-pptx</dc:description>
  <dc:language>de-DE</dc:language>
  <cp:lastModifiedBy/>
  <dcterms:modified xsi:type="dcterms:W3CDTF">2026-07-19T10:26:58Z</dcterms:modified>
  <cp:revision>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9</vt:i4>
  </property>
  <property fmtid="{D5CDD505-2E9C-101B-9397-08002B2CF9AE}" pid="3" name="PresentationFormat">
    <vt:lpwstr>Benutzerdefiniert</vt:lpwstr>
  </property>
  <property fmtid="{D5CDD505-2E9C-101B-9397-08002B2CF9AE}" pid="4" name="Slides">
    <vt:i4>12</vt:i4>
  </property>
</Properties>
</file>