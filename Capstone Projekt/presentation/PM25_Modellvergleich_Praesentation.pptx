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11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PM2.5 (µg/m³, Jahresmittel)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23E-4DB9-BABC-09A02D5E6361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23E-4DB9-BABC-09A02D5E6361}"/>
              </c:ext>
            </c:extLst>
          </c:dPt>
          <c:dPt>
            <c:idx val="2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23E-4DB9-BABC-09A02D5E6361}"/>
              </c:ext>
            </c:extLst>
          </c:dPt>
          <c:dPt>
            <c:idx val="3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23E-4DB9-BABC-09A02D5E6361}"/>
              </c:ext>
            </c:extLst>
          </c:dPt>
          <c:dPt>
            <c:idx val="4"/>
            <c:invertIfNegative val="0"/>
            <c:bubble3D val="0"/>
            <c:spPr>
              <a:solidFill>
                <a:srgbClr val="C4471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23E-4DB9-BABC-09A02D5E6361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rgbClr val="242A31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WHO-Richtwert</c:v>
                </c:pt>
                <c:pt idx="1">
                  <c:v>Berlin</c:v>
                </c:pt>
                <c:pt idx="2">
                  <c:v>Stuttgart</c:v>
                </c:pt>
                <c:pt idx="3">
                  <c:v>München</c:v>
                </c:pt>
                <c:pt idx="4">
                  <c:v>Beijing 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</c:v>
                </c:pt>
                <c:pt idx="1">
                  <c:v>10.5</c:v>
                </c:pt>
                <c:pt idx="2">
                  <c:v>8.4</c:v>
                </c:pt>
                <c:pt idx="3">
                  <c:v>8.1999999999999993</c:v>
                </c:pt>
                <c:pt idx="4">
                  <c:v>30.5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E23E-4DB9-BABC-09A02D5E636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42A3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l"/>
        <c:majorGridlines>
          <c:spPr>
            <a:ln w="12700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42A31"/>
                </a:solidFill>
                <a:latin typeface="Arial"/>
              </a:defRPr>
            </a:pPr>
            <a:r>
              <a:rPr sz="1200" b="0" i="0" u="none" strike="noStrike">
                <a:solidFill>
                  <a:srgbClr val="242A31"/>
                </a:solidFill>
                <a:latin typeface="Arial"/>
              </a:rPr>
              <a:t>Quellen-Anteile am PM2.5 (grob)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Quellen-Anteile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B2CB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825-45BE-B39F-C500B4407B12}"/>
              </c:ext>
            </c:extLst>
          </c:dPt>
          <c:dPt>
            <c:idx val="1"/>
            <c:bubble3D val="0"/>
            <c:spPr>
              <a:solidFill>
                <a:srgbClr val="2C3E5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825-45BE-B39F-C500B4407B12}"/>
              </c:ext>
            </c:extLst>
          </c:dPt>
          <c:dPt>
            <c:idx val="2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825-45BE-B39F-C500B4407B12}"/>
              </c:ext>
            </c:extLst>
          </c:dPt>
          <c:dPt>
            <c:idx val="3"/>
            <c:bubble3D val="0"/>
            <c:spPr>
              <a:solidFill>
                <a:srgbClr val="6B768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825-45BE-B39F-C500B4407B12}"/>
              </c:ext>
            </c:extLst>
          </c:dPt>
          <c:dPt>
            <c:idx val="4"/>
            <c:bubble3D val="0"/>
            <c:spPr>
              <a:solidFill>
                <a:srgbClr val="C4471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825-45BE-B39F-C500B4407B12}"/>
              </c:ext>
            </c:extLst>
          </c:dPt>
          <c:dPt>
            <c:idx val="5"/>
            <c:bubble3D val="0"/>
            <c:spPr>
              <a:solidFill>
                <a:srgbClr val="E0912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4825-45BE-B39F-C500B4407B1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de-DE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825-45BE-B39F-C500B4407B1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de-DE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825-45BE-B39F-C500B4407B1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de-DE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825-45BE-B39F-C500B4407B1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de-DE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825-45BE-B39F-C500B4407B12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de-DE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825-45BE-B39F-C500B4407B12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de-DE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4825-45BE-B39F-C500B4407B1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Sekundäraerosole</c:v>
                </c:pt>
                <c:pt idx="1">
                  <c:v>Kohle</c:v>
                </c:pt>
                <c:pt idx="2">
                  <c:v>Verkehr</c:v>
                </c:pt>
                <c:pt idx="3">
                  <c:v>Industrie</c:v>
                </c:pt>
                <c:pt idx="4">
                  <c:v>Biomasse</c:v>
                </c:pt>
                <c:pt idx="5">
                  <c:v>Staub/Sonstige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</c:v>
                </c:pt>
                <c:pt idx="1">
                  <c:v>20</c:v>
                </c:pt>
                <c:pt idx="2">
                  <c:v>15</c:v>
                </c:pt>
                <c:pt idx="3">
                  <c:v>12</c:v>
                </c:pt>
                <c:pt idx="4">
                  <c:v>10</c:v>
                </c:pt>
                <c:pt idx="5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825-45BE-B39F-C500B4407B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242A31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652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2.xml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6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Feinstaub-Prognose für Beijing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Prognose-Philosophien im Vergleich:  Seasonal-Naive · Prophet · Chronos-2 · TFT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· 12 Messstationen · 2013–2017 · Rolling-Window-Backtest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5120640"/>
            <a:ext cx="201168" cy="201168"/>
          </a:xfrm>
          <a:prstGeom prst="ellipse">
            <a:avLst/>
          </a:prstGeom>
          <a:solidFill>
            <a:srgbClr val="E0912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1024128" y="5029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Seasonal-Naive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520440" y="5120640"/>
            <a:ext cx="201168" cy="201168"/>
          </a:xfrm>
          <a:prstGeom prst="ellipse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3767328" y="5029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5120640"/>
            <a:ext cx="201168" cy="201168"/>
          </a:xfrm>
          <a:prstGeom prst="ellipse">
            <a:avLst/>
          </a:prstGeom>
          <a:solidFill>
            <a:srgbClr val="7B2CB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6510528" y="5029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06840" y="5120640"/>
            <a:ext cx="201168" cy="201168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9253728" y="5029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eager-gallant-allen/mnt/AIForBusinessPrognosis_fv/Capstone Projekt/images/peopleinbejing201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5135"/>
            <a:ext cx="5852160" cy="328773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852160" y="0"/>
            <a:ext cx="6339535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" name="Shape 1"/>
          <p:cNvSpPr/>
          <p:nvPr/>
        </p:nvSpPr>
        <p:spPr>
          <a:xfrm>
            <a:off x="6309360" y="64008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2"/>
          <p:cNvSpPr/>
          <p:nvPr/>
        </p:nvSpPr>
        <p:spPr>
          <a:xfrm>
            <a:off x="6537960" y="4572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PM2.5-Prognose?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6537960" y="137160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Feinstaub (PM2.5) ist ein akutes Gesundheitsrisiko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Beijing: extreme Smog-Episoden im Winter (Heizperiode)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Verlässliche Kurzfrist-Prognosen (8–72 h) stützen Warnungen, Verkehrs- und Gesundheitsplanung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Frage: Wie gut können moderne Modelle das leisten?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Zur Einordnung: PM2.5 im Vergleich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554480"/>
          <a:ext cx="7772400" cy="4617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686800" y="1554480"/>
            <a:ext cx="2770632" cy="4617720"/>
          </a:xfrm>
          <a:prstGeom prst="roundRect">
            <a:avLst>
              <a:gd name="adj" fmla="val 3300"/>
            </a:avLst>
          </a:prstGeom>
          <a:solidFill>
            <a:srgbClr val="2026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3"/>
          <p:cNvSpPr/>
          <p:nvPr/>
        </p:nvSpPr>
        <p:spPr>
          <a:xfrm>
            <a:off x="8915400" y="1783080"/>
            <a:ext cx="2331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09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Deutsche Städte heute</a:t>
            </a:r>
            <a:endParaRPr lang="en-US" sz="13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~8–11 µg/m³  (≈ 2× WHO)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09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Beijing 2024</a:t>
            </a:r>
            <a:endParaRPr lang="en-US" sz="1300" dirty="0"/>
          </a:p>
          <a:p>
            <a:pPr marL="0" indent="0">
              <a:spcAft>
                <a:spcPts val="1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30,5 µg/m³  (≈ 3× dt. Städte, 6× WHO)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09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Beijing 2013–2017 (unser Datensatz)</a:t>
            </a:r>
            <a:endParaRPr lang="en-US" sz="1300" dirty="0"/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 µg/m³, Spitzen bis 625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6263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WHO-Richtwert 5 µg/m³ (2021).  Quellen: EEA 2024 (dt. Städte) · Beijing Municipal Bureau of Ecology and Environment (2024).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Wodurch entstand der Smog? (2013–2017)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08760"/>
            <a:ext cx="658368" cy="658368"/>
          </a:xfrm>
          <a:prstGeom prst="ellipse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5" name="Image 0" descr="/tmp/ic_co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1655064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00200" y="149047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Kohle &amp; Heizung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600200" y="18745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Winterheizung, Kraftwerke, Industrie – größter Einzeltreiber (~20 %).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468880"/>
            <a:ext cx="658368" cy="65836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9" name="Image 1" descr="/tmp/ic_verkeh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261518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00200" y="245059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Verkehr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600200" y="28346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Millionen Fahrzeuge: Stickoxide, Ruß, Partikel.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3429000"/>
            <a:ext cx="658368" cy="658368"/>
          </a:xfrm>
          <a:prstGeom prst="ellipse">
            <a:avLst/>
          </a:prstGeom>
          <a:solidFill>
            <a:srgbClr val="6B768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3" name="Image 2" descr="/tmp/ic_industri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7824" y="3575304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00200" y="341071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 (Umland Hebei)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600200" y="37947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Stahl, Zement, Chemie – regionaler Transport nach Beijing.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31520" y="4389120"/>
            <a:ext cx="658368" cy="658368"/>
          </a:xfrm>
          <a:prstGeom prst="ellipse">
            <a:avLst/>
          </a:prstGeom>
          <a:solidFill>
            <a:srgbClr val="C4471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7" name="Image 3" descr="/tmp/ic_biomas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4535424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00200" y="437083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Biomasse &amp; Feuerwerk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1600200" y="47548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Ernteverbrennung; Frühlingsfest-Feuerwerk (Extrempeaks).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31520" y="5349240"/>
            <a:ext cx="658368" cy="658368"/>
          </a:xfrm>
          <a:prstGeom prst="ellipse">
            <a:avLst/>
          </a:prstGeom>
          <a:solidFill>
            <a:srgbClr val="E0912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4" descr="/tmp/ic_wet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5495544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00200" y="533095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Wetterlage</a:t>
            </a:r>
            <a:endParaRPr lang="en-US" sz="1700" dirty="0"/>
          </a:p>
        </p:txBody>
      </p:sp>
      <p:sp>
        <p:nvSpPr>
          <p:cNvPr id="23" name="Text 16"/>
          <p:cNvSpPr/>
          <p:nvPr/>
        </p:nvSpPr>
        <p:spPr>
          <a:xfrm>
            <a:off x="1600200" y="57150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Beckenlage, Winter-Inversion, wenig Wind → Stau statt Abzug.</a:t>
            </a:r>
            <a:endParaRPr lang="en-US" sz="130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7040880" y="1600200"/>
          <a:ext cx="44805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sp>
        <p:nvSpPr>
          <p:cNvPr id="25" name="Text 17"/>
          <p:cNvSpPr/>
          <p:nvPr/>
        </p:nvSpPr>
        <p:spPr>
          <a:xfrm>
            <a:off x="7040880" y="51663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großer Teil ist „sekundär“: Sulfat/Nitrat/Ammonium bilden sich erst in der Luft aus SO₂, NOx, NH₃.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Anteile grob, variieren je Studie/Saison. Quellen: ACP 2013/2019; Zheng et al. 2016 (Beijing PM2.5-Quellenanalyse).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ist Feinstaub (PM2.5) gefährlich?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tief dringt PM2.5 ein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783080"/>
            <a:ext cx="868680" cy="868680"/>
          </a:xfrm>
          <a:prstGeom prst="ellipse">
            <a:avLst/>
          </a:prstGeom>
          <a:solidFill>
            <a:srgbClr val="E0912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6" name="Image 0" descr="/tmp/ih_airway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2002536"/>
            <a:ext cx="438912" cy="438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37944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Nase &amp; obere Atemwege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83080" y="2240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Grober Staub (PM10) bleibt hier hängen.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86968" y="265176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31520" y="3081528"/>
            <a:ext cx="868680" cy="868680"/>
          </a:xfrm>
          <a:prstGeom prst="ellipse">
            <a:avLst/>
          </a:prstGeom>
          <a:solidFill>
            <a:srgbClr val="C4471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1" name="Image 1" descr="/tmp/ih_lu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330098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1363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Lunge &amp; Lungenbläschen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783080" y="35387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dringt bis in die Alveolen vor.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86968" y="395020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31520" y="4379976"/>
            <a:ext cx="868680" cy="868680"/>
          </a:xfrm>
          <a:prstGeom prst="ellipse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16" name="Image 2" descr="/tmp/ih_he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4599432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443484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Blutbahn &amp; Herz-Kreislauf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783080" y="48371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Ultrafeine Partikel gehen ins Blut über.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035040" y="1325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Gesundheitsfolgen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6035040" y="1783080"/>
            <a:ext cx="566928" cy="566928"/>
          </a:xfrm>
          <a:prstGeom prst="ellipse">
            <a:avLst/>
          </a:prstGeom>
          <a:solidFill>
            <a:srgbClr val="C4471C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1" name="Image 3" descr="/tmp/ih_he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929384"/>
            <a:ext cx="292608" cy="29260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766560" y="1783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Herz-Kreislauf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766560" y="211226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Infarkt, Schlaganfall, Bluthochdruck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6035040" y="262432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5" name="Image 4" descr="/tmp/ih_lu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770632"/>
            <a:ext cx="292608" cy="29260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766560" y="26243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Atemwege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6766560" y="295351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Asthma/COPD, geringere Lungenfunktion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6035040" y="3465576"/>
            <a:ext cx="566928" cy="566928"/>
          </a:xfrm>
          <a:prstGeom prst="ellipse">
            <a:avLst/>
          </a:prstGeom>
          <a:solidFill>
            <a:srgbClr val="7B2CBF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29" name="Image 5" descr="/tmp/ih_dn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3611880"/>
            <a:ext cx="292608" cy="29260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6766560" y="34655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Krebs</a:t>
            </a:r>
            <a:endParaRPr lang="en-US" sz="1500" dirty="0"/>
          </a:p>
        </p:txBody>
      </p:sp>
      <p:sp>
        <p:nvSpPr>
          <p:cNvPr id="31" name="Text 23"/>
          <p:cNvSpPr/>
          <p:nvPr/>
        </p:nvSpPr>
        <p:spPr>
          <a:xfrm>
            <a:off x="6766560" y="37947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Lungenkrebs – WHO/IARC Gruppe 1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035040" y="4306824"/>
            <a:ext cx="566928" cy="566928"/>
          </a:xfrm>
          <a:prstGeom prst="ellipse">
            <a:avLst/>
          </a:prstGeom>
          <a:solidFill>
            <a:srgbClr val="6B7684"/>
          </a:solidFill>
          <a:ln/>
        </p:spPr>
        <p:txBody>
          <a:bodyPr/>
          <a:lstStyle/>
          <a:p>
            <a:endParaRPr lang="de-DE"/>
          </a:p>
        </p:txBody>
      </p:sp>
      <p:pic>
        <p:nvPicPr>
          <p:cNvPr id="33" name="Image 6" descr="/tmp/ih_b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4453128"/>
            <a:ext cx="292608" cy="29260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6766560" y="43068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sicherer Schwellenwert</a:t>
            </a:r>
            <a:endParaRPr lang="en-US" sz="1500" dirty="0"/>
          </a:p>
        </p:txBody>
      </p:sp>
      <p:sp>
        <p:nvSpPr>
          <p:cNvPr id="35" name="Text 26"/>
          <p:cNvSpPr/>
          <p:nvPr/>
        </p:nvSpPr>
        <p:spPr>
          <a:xfrm>
            <a:off x="6766560" y="46360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WHO-Richtwert nur 5 µg/m³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731520" y="54406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Woraus PM2.5 besteht (Massenanteil, grob):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731520" y="5806440"/>
            <a:ext cx="4290365" cy="457200"/>
          </a:xfrm>
          <a:prstGeom prst="rect">
            <a:avLst/>
          </a:prstGeom>
          <a:solidFill>
            <a:srgbClr val="7B2CB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8" name="Text 29"/>
          <p:cNvSpPr/>
          <p:nvPr/>
        </p:nvSpPr>
        <p:spPr>
          <a:xfrm>
            <a:off x="731520" y="5806440"/>
            <a:ext cx="429036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1200" dirty="0"/>
          </a:p>
        </p:txBody>
      </p:sp>
      <p:sp>
        <p:nvSpPr>
          <p:cNvPr id="39" name="Shape 30"/>
          <p:cNvSpPr/>
          <p:nvPr/>
        </p:nvSpPr>
        <p:spPr>
          <a:xfrm>
            <a:off x="5021885" y="5806440"/>
            <a:ext cx="2681478" cy="4572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0" name="Text 31"/>
          <p:cNvSpPr/>
          <p:nvPr/>
        </p:nvSpPr>
        <p:spPr>
          <a:xfrm>
            <a:off x="5021885" y="5806440"/>
            <a:ext cx="26814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200" dirty="0"/>
          </a:p>
        </p:txBody>
      </p:sp>
      <p:sp>
        <p:nvSpPr>
          <p:cNvPr id="41" name="Shape 32"/>
          <p:cNvSpPr/>
          <p:nvPr/>
        </p:nvSpPr>
        <p:spPr>
          <a:xfrm>
            <a:off x="7703363" y="5806440"/>
            <a:ext cx="1608887" cy="457200"/>
          </a:xfrm>
          <a:prstGeom prst="rect">
            <a:avLst/>
          </a:prstGeom>
          <a:solidFill>
            <a:srgbClr val="E0912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2" name="Text 33"/>
          <p:cNvSpPr/>
          <p:nvPr/>
        </p:nvSpPr>
        <p:spPr>
          <a:xfrm>
            <a:off x="7703363" y="5806440"/>
            <a:ext cx="16088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200" dirty="0"/>
          </a:p>
        </p:txBody>
      </p:sp>
      <p:sp>
        <p:nvSpPr>
          <p:cNvPr id="43" name="Shape 34"/>
          <p:cNvSpPr/>
          <p:nvPr/>
        </p:nvSpPr>
        <p:spPr>
          <a:xfrm>
            <a:off x="9312250" y="5806440"/>
            <a:ext cx="1287109" cy="45720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4" name="Text 35"/>
          <p:cNvSpPr/>
          <p:nvPr/>
        </p:nvSpPr>
        <p:spPr>
          <a:xfrm>
            <a:off x="9312250" y="5806440"/>
            <a:ext cx="12871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10599359" y="5806440"/>
            <a:ext cx="858073" cy="457200"/>
          </a:xfrm>
          <a:prstGeom prst="rect">
            <a:avLst/>
          </a:prstGeom>
          <a:solidFill>
            <a:srgbClr val="6B7684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46" name="Text 37"/>
          <p:cNvSpPr/>
          <p:nvPr/>
        </p:nvSpPr>
        <p:spPr>
          <a:xfrm>
            <a:off x="731520" y="63550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7B2C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Sekundär (Sulfat/Nitrat/Ammonium)</a:t>
            </a: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■ Organik</a:t>
            </a:r>
            <a:r>
              <a:rPr lang="en-US" sz="1100" b="1" dirty="0">
                <a:solidFill>
                  <a:srgbClr val="E09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■ Mineralstaub</a:t>
            </a:r>
            <a:r>
              <a:rPr lang="en-US" sz="1100" b="1" dirty="0">
                <a:solidFill>
                  <a:srgbClr val="2C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■ Ruß</a:t>
            </a:r>
            <a:r>
              <a:rPr lang="en-US" sz="1100" b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■ Metalle/Sonstige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Datensatz &amp; Ziel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2788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Messstationen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20440" y="155448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3520440" y="18745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~35.000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520440" y="2788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Stunden je Station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55448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6309360" y="18745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Jahre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6309360" y="2788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2017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098280" y="1554480"/>
            <a:ext cx="2560320" cy="2011680"/>
          </a:xfrm>
          <a:prstGeom prst="roundRect">
            <a:avLst>
              <a:gd name="adj" fmla="val 4545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9098280" y="18745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8–72 h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9098280" y="278892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Prognosehorizonte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4023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Stündliche PM2.5-Werte plus Wetter (Temperatur, Wind, Druck, Regen …) und Co-Schadstoffe (SO₂, NO₂, CO, O₃) als Kovariaten. Ziel: PM2.5 mehrere Stunden im Voraus prognostizieren.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026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09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Leitfrage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2194560"/>
            <a:ext cx="10698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Schlägt ein modernes Modell die simple Baseline –</a:t>
            </a:r>
            <a:endParaRPr lang="en-US" sz="3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 lohnt sich Deep Learning gegenüber klassischer Statistik oder einem trainingsfreien Foundation-Modell?</a:t>
            </a:r>
            <a:endParaRPr lang="en-US" sz="3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Fairer Testaufbau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00200" y="15361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00200" y="193852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30.08.2016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6974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00200" y="26791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Rolling-Window-Backtest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600200" y="308152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09/2016 – 02/2017, Versatz 15 Tage, 12 Folds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73152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38221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Horizonte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22452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24 · 48 · 72 h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9834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731520" y="4983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00200" y="49651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Metrik: MASE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00200" y="536752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= besser als Naive-Baseline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600200" y="61264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vier Modelle prognostizieren dieselben Fenster → direkter, fairer Vergleich.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Prognose-Philosophien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54480"/>
          <a:ext cx="10725912" cy="914400"/>
        </p:xfrm>
        <a:graphic>
          <a:graphicData uri="http://schemas.openxmlformats.org/drawingml/2006/table">
            <a:tbl>
              <a:tblPr/>
              <a:tblGrid>
                <a:gridCol w="1947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Seasonal Naive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912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Chronos-2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2CB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klassisch-statistisch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Foundation-Modell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Deep-Learning-Netz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keins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 Fenster neu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zero-shot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einmal, dann eingefroren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Stärke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Referenzwert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interpretierbar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Muster ohne 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komplexe Zusammenhänge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Schwäche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ignoriert Lage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Blackbox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Trainingsaufwand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grundverschiedene Ansätze – genau das macht den Vergleich spannend.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Annahmen &amp; Fairness – offen gelegt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10725912" cy="1234440"/>
          </a:xfrm>
          <a:prstGeom prst="roundRect">
            <a:avLst>
              <a:gd name="adj" fmla="val 5926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960120" y="192024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960120" y="1920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173736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Perfect-Prognosis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783080" y="214884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Wetter für den Prognosezeitraum als „bekannt“ angenommen = optimistische Obergrenze. Zusätzlich realistische Persistenz-Variante.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017520"/>
            <a:ext cx="10725912" cy="1234440"/>
          </a:xfrm>
          <a:prstGeom prst="roundRect">
            <a:avLst>
              <a:gd name="adj" fmla="val 5926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0" name="Shape 8"/>
          <p:cNvSpPr/>
          <p:nvPr/>
        </p:nvSpPr>
        <p:spPr>
          <a:xfrm>
            <a:off x="960120" y="33375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60120" y="3337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 eingefroren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56616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 ist auf den 30.08.2016 trainiert; Prophet/Chronos nutzen pro Fold aktuellere Historie.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434840"/>
            <a:ext cx="10725912" cy="1234440"/>
          </a:xfrm>
          <a:prstGeom prst="roundRect">
            <a:avLst>
              <a:gd name="adj" fmla="val 5926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960120" y="475488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960120" y="47548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83080" y="457200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Out-of-time-Test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783080" y="4983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12 Stationen waren im TFT-Training – aber der Testzeitraum ist zeitlich neu (nicht: unbekannte Stationen).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Hauptergebnis: Fehler je Horizont</a:t>
            </a:r>
            <a:endParaRPr lang="en-US" sz="3000" dirty="0"/>
          </a:p>
        </p:txBody>
      </p:sp>
      <p:pic>
        <p:nvPicPr>
          <p:cNvPr id="4" name="Image 0" descr="/sessions/eager-gallant-allen/mnt/AIForBusinessPrognosis_fv/Capstone Projekt/grafiken/vergleich_rolling_note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23601"/>
            <a:ext cx="11064240" cy="28963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4892040"/>
            <a:ext cx="10725912" cy="1508760"/>
          </a:xfrm>
          <a:prstGeom prst="roundRect">
            <a:avLst>
              <a:gd name="adj" fmla="val 6061"/>
            </a:avLst>
          </a:prstGeom>
          <a:solidFill>
            <a:srgbClr val="2026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3"/>
          <p:cNvSpPr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09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Kernbefund:  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Chronos-2 ≈ TFT an der Spitze – beide ≫ Prophet ≫ Naive.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05840" y="562356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MASE 8 h:  Chronos 0,37 · TFT 0,41 · Prophet 0,77 · Seasonal Naive 1,44   (Mittel über alle 12 Stationen, 12 Folds)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 der Unterschied echt?</a:t>
            </a:r>
            <a:endParaRPr lang="en-US" sz="3000" dirty="0"/>
          </a:p>
        </p:txBody>
      </p:sp>
      <p:pic>
        <p:nvPicPr>
          <p:cNvPr id="4" name="Image 0" descr="/sessions/eager-gallant-allen/mnt/AIForBusinessPrognosis_fv/Capstone Projekt/grafiken/signifikanz_tft_vs_chro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13224"/>
            <a:ext cx="6583680" cy="36373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589520" y="1737360"/>
            <a:ext cx="4114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20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 vs. Chronos-2:</a:t>
            </a:r>
            <a:endParaRPr lang="en-US" sz="20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gleichauf</a:t>
            </a:r>
            <a:endParaRPr lang="en-US" sz="20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Gepaarte MASE-Differenzen streuen um 0, Trefferquote ~50 %, Wilcoxon p = 0,4–0,9 → kein belastbarer Unterschied.</a:t>
            </a:r>
            <a:endParaRPr lang="en-US" sz="2000" dirty="0"/>
          </a:p>
          <a:p>
            <a:pPr marL="0" indent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schlagen Prophet signifikant (kleine p-Werte).</a:t>
            </a:r>
            <a:endParaRPr lang="en-US" sz="2000" dirty="0"/>
          </a:p>
          <a:p>
            <a:pPr marL="0" indent="0">
              <a:buNone/>
            </a:pPr>
            <a:r>
              <a:rPr lang="en-US" sz="1500" b="1" i="1" dirty="0">
                <a:solidFill>
                  <a:srgbClr val="E09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„TFT ist NICHT das beste Modell – Chronos zieht ohne jedes Training gleich.“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Prophets Stärke: Interpretierbarkeit</a:t>
            </a:r>
            <a:endParaRPr lang="en-US" sz="3000" dirty="0"/>
          </a:p>
        </p:txBody>
      </p:sp>
      <p:pic>
        <p:nvPicPr>
          <p:cNvPr id="4" name="Image 0" descr="/sessions/eager-gallant-allen/mnt/AIForBusinessPrognosis_fv/Capstone Projekt/grafiken/prophet_komponenten_Dong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0730" y="1280160"/>
            <a:ext cx="2589581" cy="5394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554480"/>
            <a:ext cx="68580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7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zerlegt die Vorhersage in verständliche Bausteine: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– langfristige Entwicklung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Jahresgang – Heizperiode im Winter hoch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Tagesgang – Abend-Peak, Morgentief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Feiertage – u. a. Frühlingsfest-Ausschläge</a:t>
            </a:r>
            <a:endParaRPr lang="en-US" sz="17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Wetter-Regressoren</a:t>
            </a:r>
            <a:endParaRPr lang="en-US" sz="1700" dirty="0"/>
          </a:p>
          <a:p>
            <a:pPr marL="0" indent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Trade-off: Interpretierbarkeit ↔ Genauigkeit. Chronos/TFT sind genauer, aber Blackboxen.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026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09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ehrliche Befund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Kein Modell beherrscht das Frühlingsfest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31520" y="2468880"/>
            <a:ext cx="10725912" cy="1051560"/>
          </a:xfrm>
          <a:prstGeom prst="roundRect">
            <a:avLst>
              <a:gd name="adj" fmla="val 6957"/>
            </a:avLst>
          </a:prstGeom>
          <a:solidFill>
            <a:srgbClr val="2B333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9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Warum?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389120" y="257860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Feuerwerk + Fahrverbote treiben den PM2.5-Peak – reines Verhalten, kein Wetter.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3703320"/>
            <a:ext cx="10725912" cy="1051560"/>
          </a:xfrm>
          <a:prstGeom prst="roundRect">
            <a:avLst>
              <a:gd name="adj" fmla="val 6957"/>
            </a:avLst>
          </a:prstGeom>
          <a:solidFill>
            <a:srgbClr val="2B333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381304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9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Treiber in den Daten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389120" y="381304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Dieser Auslöser steckt in keiner Kovariate, also unlernbar.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937760"/>
            <a:ext cx="10725912" cy="1051560"/>
          </a:xfrm>
          <a:prstGeom prst="roundRect">
            <a:avLst>
              <a:gd name="adj" fmla="val 6957"/>
            </a:avLst>
          </a:prstGeom>
          <a:solidFill>
            <a:srgbClr val="2B333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1005840" y="504748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09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 + selten + beweglich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389120" y="5047488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kurzer, jährlich wandernder Ausschlag – das schwächste Feld jedes Zeitreihenmodells.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Vertiefungen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5257800" cy="4480560"/>
          </a:xfrm>
          <a:prstGeom prst="roundRect">
            <a:avLst>
              <a:gd name="adj" fmla="val 2041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100584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Optimismus-Band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mit perfekter Wetterprognose (PP) vs. realistischem Persistenz-Wetter.</a:t>
            </a:r>
            <a:endParaRPr lang="en-US" sz="15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h:  MASE 0,98  →  1,48</a:t>
            </a:r>
            <a:endParaRPr lang="en-US" sz="1500" dirty="0"/>
          </a:p>
          <a:p>
            <a:pPr marL="0" indent="0">
              <a:buNone/>
            </a:pPr>
            <a:r>
              <a:rPr lang="en-US" sz="15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der „Preis dafür, das Wetter nicht zu kennen“.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554480"/>
            <a:ext cx="5257800" cy="4480560"/>
          </a:xfrm>
          <a:prstGeom prst="roundRect">
            <a:avLst>
              <a:gd name="adj" fmla="val 2041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649224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Stationstyp-Effekt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92240" y="2377440"/>
            <a:ext cx="47548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(PP) holt an ruhigen Vorstadt-/Hintergrund-Stationen auf:</a:t>
            </a:r>
            <a:endParaRPr lang="en-US" sz="15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Vorstadt  MASE 0,73   vs.   Urban 0,89</a:t>
            </a:r>
            <a:endParaRPr lang="en-US" sz="1500" dirty="0"/>
          </a:p>
          <a:p>
            <a:pPr marL="0" indent="0">
              <a:buNone/>
            </a:pPr>
            <a:r>
              <a:rPr lang="en-US" sz="15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Bleibt aber hinter Chronos/TFT. Spike-lastige Urban-Stationen favorisieren die neuronalen Modelle.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Welches Modell wann?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5257800" cy="2057400"/>
          </a:xfrm>
          <a:prstGeom prst="roundRect">
            <a:avLst>
              <a:gd name="adj" fmla="val 4444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hape 3"/>
          <p:cNvSpPr/>
          <p:nvPr/>
        </p:nvSpPr>
        <p:spPr>
          <a:xfrm>
            <a:off x="1005840" y="1874520"/>
            <a:ext cx="457200" cy="457200"/>
          </a:xfrm>
          <a:prstGeom prst="ellipse">
            <a:avLst/>
          </a:prstGeom>
          <a:solidFill>
            <a:srgbClr val="7B2CB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1645920" y="18470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Chronos-2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45920" y="24231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Beste Genauigkeit ohne Training – ideal, wenn schnell einsatzbereit.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554480"/>
            <a:ext cx="5257800" cy="2057400"/>
          </a:xfrm>
          <a:prstGeom prst="roundRect">
            <a:avLst>
              <a:gd name="adj" fmla="val 4444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6537960" y="1874520"/>
            <a:ext cx="457200" cy="457200"/>
          </a:xfrm>
          <a:prstGeom prst="ellipse">
            <a:avLst/>
          </a:prstGeom>
          <a:solidFill>
            <a:srgbClr val="2C5F2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7178040" y="18470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178040" y="24231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 gut, aber einmal trainieren → billig &amp; skalierbar über viele Stationen.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3840480"/>
            <a:ext cx="5257800" cy="2057400"/>
          </a:xfrm>
          <a:prstGeom prst="roundRect">
            <a:avLst>
              <a:gd name="adj" fmla="val 4444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3" name="Shape 11"/>
          <p:cNvSpPr/>
          <p:nvPr/>
        </p:nvSpPr>
        <p:spPr>
          <a:xfrm>
            <a:off x="1005840" y="4160520"/>
            <a:ext cx="457200" cy="457200"/>
          </a:xfrm>
          <a:prstGeom prst="ellipse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4" name="Text 12"/>
          <p:cNvSpPr/>
          <p:nvPr/>
        </p:nvSpPr>
        <p:spPr>
          <a:xfrm>
            <a:off x="1645920" y="41330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645920" y="47091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Interpretierbarkeit / Erklärbarkeit zählt.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63640" y="3840480"/>
            <a:ext cx="5257800" cy="2057400"/>
          </a:xfrm>
          <a:prstGeom prst="roundRect">
            <a:avLst>
              <a:gd name="adj" fmla="val 4444"/>
            </a:avLst>
          </a:prstGeom>
          <a:solidFill>
            <a:srgbClr val="F3F5F7"/>
          </a:solidFill>
          <a:ln w="12700">
            <a:solidFill>
              <a:srgbClr val="E2E6EA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17" name="Shape 15"/>
          <p:cNvSpPr/>
          <p:nvPr/>
        </p:nvSpPr>
        <p:spPr>
          <a:xfrm>
            <a:off x="6537960" y="4160520"/>
            <a:ext cx="457200" cy="457200"/>
          </a:xfrm>
          <a:prstGeom prst="ellipse">
            <a:avLst/>
          </a:prstGeom>
          <a:solidFill>
            <a:srgbClr val="E0912F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178040" y="41330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Naive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178040" y="470916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Sanity-Floor, den jedes Modell schlagen muss.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75488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20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42A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Ausblick: zusätzliche Kovariaten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6035040" cy="9144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 (TFT)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Windgeschw.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18,53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Windrichtung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beide Wind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E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beide Wind + Geo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242A3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040880" y="1737360"/>
            <a:ext cx="44805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hilft, Geo nicht.</a:t>
            </a:r>
            <a:endParaRPr lang="en-US" sz="22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242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Windgeschwindigkeit &amp; -richtung senken den Fehler; zusätzliche Geo-Koordinaten bringen keinen Nutzen (eher minimal schlechter).</a:t>
            </a:r>
            <a:endParaRPr lang="en-US" sz="22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500" i="1" dirty="0">
                <a:solidFill>
                  <a:srgbClr val="6B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Lehre: Kovariaten begründet auswählen – „mehr Daten“ ist nicht automatisch besser.</a:t>
            </a:r>
            <a:endParaRPr lang="en-US" sz="2200" dirty="0"/>
          </a:p>
          <a:p>
            <a:pPr marL="0" indent="0">
              <a:buNone/>
            </a:pPr>
            <a:r>
              <a:rPr lang="en-US" sz="1300" dirty="0">
                <a:solidFill>
                  <a:srgbClr val="C44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Vorsicht: kleine Effekte, nur 2 Seeds – als Tendenz, nicht als Beweis darstellen.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026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10515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Modelle schlagen die Naive-Baseline klar.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Foundation-Modell (Chronos-2) und Deep Learning (TFT) sind gleichauf an der Spitze – Chronos sogar ohne jedes Training.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Prophet bleibt interpretierbar, aber genauer nur im Mittelfeld.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Grenzen: Perfect-Prognosis-Obergrenze, Extremereignisse (Frühlingsfest) ungelöst.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5029200"/>
            <a:ext cx="10725912" cy="1280160"/>
          </a:xfrm>
          <a:prstGeom prst="roundRect">
            <a:avLst>
              <a:gd name="adj" fmla="val 7143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1005840" y="5029200"/>
            <a:ext cx="10149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Live-Demo: 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interaktives Dashboard (alle 12 Stationen, Fehlervergleich · Verteilung · Prognosekurven)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1129</Words>
  <Application>Microsoft Office PowerPoint</Application>
  <PresentationFormat>Breitbild</PresentationFormat>
  <Paragraphs>212</Paragraphs>
  <Slides>18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2" baseType="lpstr">
      <vt:lpstr>Arial</vt:lpstr>
      <vt:lpstr>Calibri</vt:lpstr>
      <vt:lpstr>Cambria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Kai Steffen</cp:lastModifiedBy>
  <cp:revision>1</cp:revision>
  <dcterms:created xsi:type="dcterms:W3CDTF">2026-07-20T20:54:36Z</dcterms:created>
  <dcterms:modified xsi:type="dcterms:W3CDTF">2026-07-20T22:52:05Z</dcterms:modified>
</cp:coreProperties>
</file>