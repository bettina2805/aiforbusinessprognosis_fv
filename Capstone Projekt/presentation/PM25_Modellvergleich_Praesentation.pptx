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PM2.5 (µg/m³, Jahresmittel)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242A3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471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WHO-Richtwert</c:v>
                  </c:pt>
                  <c:pt idx="1">
                    <c:v>Berlin</c:v>
                  </c:pt>
                  <c:pt idx="2">
                    <c:v>Stuttgart</c:v>
                  </c:pt>
                  <c:pt idx="3">
                    <c:v>München</c:v>
                  </c:pt>
                  <c:pt idx="4">
                    <c:v>Beijing 2024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10.5</c:v>
                </c:pt>
                <c:pt idx="2">
                  <c:v>8.4</c:v>
                </c:pt>
                <c:pt idx="3">
                  <c:v>8.2</c:v>
                </c:pt>
                <c:pt idx="4">
                  <c:v>30.5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400" u="none">
                  <a:solidFill>
                    <a:srgbClr val="242A3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42A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12700" cap="flat">
              <a:solidFill>
                <a:srgbClr val="E6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Feinstaub-Prognose für Beijing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Prognose-Philosophien im Vergleich:  Seasonal-Naive · Prophet · Chronos-2 · TFT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749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· 12 Messstationen · 2013–2017 · Rolling-Window-Backtest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5120640"/>
            <a:ext cx="201168" cy="201168"/>
          </a:xfrm>
          <a:prstGeom prst="ellipse">
            <a:avLst/>
          </a:prstGeom>
          <a:solidFill>
            <a:srgbClr val="E0912F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Seasonal-Naive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20440" y="5120640"/>
            <a:ext cx="201168" cy="201168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8" name="Text 6"/>
          <p:cNvSpPr/>
          <p:nvPr/>
        </p:nvSpPr>
        <p:spPr>
          <a:xfrm>
            <a:off x="37673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5120640"/>
            <a:ext cx="201168" cy="201168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06840" y="5120640"/>
            <a:ext cx="201168" cy="20116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9253728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ager-gallant-allen/mnt/AIForBusinessPrognosis_fv/Capstone Projekt/images/peopleinbejing20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85135"/>
            <a:ext cx="5852160" cy="32877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52160" y="0"/>
            <a:ext cx="633953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6309360" y="6400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/>
          <p:nvPr/>
        </p:nvSpPr>
        <p:spPr>
          <a:xfrm>
            <a:off x="6537960" y="45720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Warum PM2.5-Prognose?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537960" y="137160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Feinstaub (PM2.5) ist ein akutes Gesundheitsrisiko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Beijing: extreme Smog-Episoden im Winter (Heizperiode)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Kurzfrist-Prognosen (8–72 h) stützen Warnungen, Verkehrs- und Gesundheitsplanung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Frage: Wie gut können moderne Modelle das leisten?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Zur Einordnung: PM2.5 im Vergleich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777240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554480"/>
            <a:ext cx="2770632" cy="4617720"/>
          </a:xfrm>
          <a:prstGeom prst="roundRect">
            <a:avLst>
              <a:gd name="adj" fmla="val 3300"/>
            </a:avLst>
          </a:prstGeom>
          <a:solidFill>
            <a:srgbClr val="20262E"/>
          </a:solidFill>
          <a:ln/>
        </p:spPr>
      </p:sp>
      <p:sp>
        <p:nvSpPr>
          <p:cNvPr id="6" name="Text 3"/>
          <p:cNvSpPr/>
          <p:nvPr/>
        </p:nvSpPr>
        <p:spPr>
          <a:xfrm>
            <a:off x="8915400" y="1783080"/>
            <a:ext cx="23317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Deutsche Städte heute</a:t>
            </a:r>
            <a:endParaRPr lang="en-US" sz="1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~8–11 µg/m³  (≈ 2× WHO)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2024</a:t>
            </a:r>
            <a:endParaRPr lang="en-US" sz="13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30,5 µg/m³  (≈ 3× dt. Städte, 6× WHO)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2013–2017 (unser Datensatz)</a:t>
            </a:r>
            <a:endParaRPr lang="en-US" sz="13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µg/m³, Spitzen bis 625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0080" y="6263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WHO-Richtwert 5 µg/m³ (2021).  Quellen: EEA 2024 (dt. Städte) · Beijing Municipal Bureau of Ecology and Environment (2024).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Datensatz &amp; Ziel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Messstationen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~35.000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2044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Stunden je Station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Jahre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30936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 – 2017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098280" y="155448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87452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8–72 h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0982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Prognosehorizonte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 PM2.5-Werte plus Wetter (Temperatur, Wind, Druck, Regen …) und Co-Schadstoffe (SO₂, NO₂, CO, O₃) als Kovariaten. Ziel: PM2.5 mehrere Stunden im Voraus prognostizieren.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Leitfrage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219456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Schlägt ein modernes Modell die simple Baseline –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lohnt sich Deep Learning gegenüber klassischer Statistik oder einem trainingsfreien Foundation-Modell?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Fairer Testaufbau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536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1938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30.08.2016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697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679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Rolling-Window-Backtest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081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09/2016 – 02/2017, Versatz 15 Tage, 12 Folds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822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Horizonte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224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24 · 48 · 72 h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983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49651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Metrik: MASE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3675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= besser als Naive-Baseline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6126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vier Modelle prognostizieren dieselben Fenster → direkter, fairer Vergleich.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Prognose-Philosophien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10725912" cy="914400"/>
        </p:xfrm>
        <a:graphic>
          <a:graphicData uri="http://schemas.openxmlformats.org/drawingml/2006/table">
            <a:tbl>
              <a:tblPr/>
              <a:tblGrid>
                <a:gridCol w="1947672"/>
                <a:gridCol w="2194560"/>
                <a:gridCol w="2194560"/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Seasonal Naive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91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Prophet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Chronos-2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CB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klassisch-statistisch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Foundation-Modell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Deep-Learning-Netz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Fenster neu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einmal, dann eingefroren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Stärke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Referenzwert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interpretierbar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Muster ohne Training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komplexe Zusammenhänge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Schwäche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ignoriert Lage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Trainingsaufwand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grundverschiedene Ansätze – genau das macht den Vergleich spannend.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Annahmen &amp; Fairness – offen gelegt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920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83080" y="17373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Perfect-Prognosis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1488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 für den Prognosezeitraum als „bekannt“ angenommen = optimistische Obergrenze. Zusätzlich realistische Persistenz-Variante.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337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37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1546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eingefroren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5661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ist auf den 30.08.2016 trainiert; Prophet/Chronos nutzen pro Fold aktuellere Historie.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434840"/>
            <a:ext cx="10725912" cy="1234440"/>
          </a:xfrm>
          <a:prstGeom prst="roundRect">
            <a:avLst>
              <a:gd name="adj" fmla="val 5926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" y="47548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754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Out-of-time-Test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834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12 Stationen waren im TFT-Training – aber der Testzeitraum ist zeitlich neu (nicht: unbekannte Stationen).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Hauptergebnis: Fehler je Horizont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vergleich_rolling_note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23601"/>
            <a:ext cx="11064240" cy="289639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892040"/>
            <a:ext cx="10725912" cy="1508760"/>
          </a:xfrm>
          <a:prstGeom prst="roundRect">
            <a:avLst>
              <a:gd name="adj" fmla="val 6061"/>
            </a:avLst>
          </a:prstGeom>
          <a:solidFill>
            <a:srgbClr val="20262E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502920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Kernbefund: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≈ TFT an der Spitze – beide ≫ Prophet ≫ Naive.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56235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MASE 8 h:  Chronos 0,37 · TFT 0,41 · Prophet 0,77 · Seasonal Naive 1,44   (Mittel über alle 12 Stationen, 12 Folds)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der Unterschied echt?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signifikanz_tft_vs_chron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13224"/>
            <a:ext cx="6583680" cy="36373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589520" y="1737360"/>
            <a:ext cx="4114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vs. Chronos-2: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statistisch gleichauf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Gepaarte MASE-Differenzen streuen um 0, Trefferquote ~50 %, Wilcoxon p = 0,4–0,9 → kein belastbarer Unterschied.</a:t>
            </a:r>
            <a:endParaRPr lang="en-US" sz="20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schlagen Prophet signifikant (kleine p-Werte).</a:t>
            </a:r>
            <a:endParaRPr lang="en-US" sz="20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„TFT ist NICHT das beste Modell – Chronos zieht ohne jedes Training gleich.“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Prophets Stärke: Interpretierbarkeit</a:t>
            </a:r>
            <a:endParaRPr lang="en-US" sz="3000" dirty="0"/>
          </a:p>
        </p:txBody>
      </p:sp>
      <p:pic>
        <p:nvPicPr>
          <p:cNvPr id="4" name="Image 0" descr="/sessions/eager-gallant-allen/mnt/AIForBusinessPrognosis_fv/Capstone Projekt/grafiken/prophet_komponenten_Dong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0730" y="1280160"/>
            <a:ext cx="2589581" cy="5394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554480"/>
            <a:ext cx="6858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zerlegt die Vorhersage in verständliche Bausteine: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– langfristige Entwicklung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Jahresgang – Heizperiode im Winter hoch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Tagesgang – Abend-Peak, Morgentief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Feiertage – u. a. Frühlingsfest-Ausschläge</a:t>
            </a:r>
            <a:endParaRPr lang="en-US" sz="17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Wetter-Regressoren</a:t>
            </a:r>
            <a:endParaRPr lang="en-US" sz="1700" dirty="0"/>
          </a:p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Interpretierbarkeit ↔ Genauigkeit. Chronos/TFT sind genauer, aber Blackboxen.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ehrliche Befund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Modell beherrscht das Frühlingsfest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46888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57860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389120" y="257860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Feuerwerk + Fahrverbote treiben den PM2.5-Peak – reines Verhalten, kein Wetter.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1304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Treiber in den Daten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89120" y="381304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Dieser Auslöser steckt in keiner Kovariate, also unlernbar.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937760"/>
            <a:ext cx="10725912" cy="1051560"/>
          </a:xfrm>
          <a:prstGeom prst="roundRect">
            <a:avLst>
              <a:gd name="adj" fmla="val 6957"/>
            </a:avLst>
          </a:prstGeom>
          <a:solidFill>
            <a:srgbClr val="2B333D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5047488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91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 + selten + beweglich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89120" y="5047488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kurzer, jährlich wandernder Ausschlag – das schwächste Feld jedes Zeitreihenmodells.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Vertiefungen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Optimismus-Band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mit perfekter Wetterprognose (PP) vs. realistischem Persistenz-Wetter.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h:  MASE 0,98  →  1,48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der „Preis dafür, das Wetter nicht zu kennen“.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1554480"/>
            <a:ext cx="5257800" cy="4480560"/>
          </a:xfrm>
          <a:prstGeom prst="roundRect">
            <a:avLst>
              <a:gd name="adj" fmla="val 2041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28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Stationstyp-Effekt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754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(PP) holt an ruhigen Vorstadt-/Hintergrund-Stationen auf: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Vorstadt  MASE 0,73   vs.   Urban 0,89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Bleibt aber hinter Chronos/TFT. Spike-lastige Urban-Stationen favorisieren die neuronalen Modelle.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Modell wann?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457200" cy="457200"/>
          </a:xfrm>
          <a:prstGeom prst="ellipse">
            <a:avLst/>
          </a:prstGeom>
          <a:solidFill>
            <a:srgbClr val="7B2CBF"/>
          </a:solidFill>
          <a:ln/>
        </p:spPr>
      </p:sp>
      <p:sp>
        <p:nvSpPr>
          <p:cNvPr id="6" name="Text 4"/>
          <p:cNvSpPr/>
          <p:nvPr/>
        </p:nvSpPr>
        <p:spPr>
          <a:xfrm>
            <a:off x="164592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Genauigkeit ohne Training – ideal, wenn schnell einsatzbereit.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187452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1847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78040" y="2423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gut, aber einmal trainieren → billig &amp; skalierbar über viele Stationen.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5840" y="4160520"/>
            <a:ext cx="457200" cy="457200"/>
          </a:xfrm>
          <a:prstGeom prst="ellipse">
            <a:avLst/>
          </a:prstGeom>
          <a:solidFill>
            <a:srgbClr val="1F6FEB"/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4592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Interpretierbarkeit / Erklärbarkeit zählt.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384048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F3F5F7"/>
          </a:solidFill>
          <a:ln w="12700">
            <a:solidFill>
              <a:srgbClr val="E2E6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4160520"/>
            <a:ext cx="457200" cy="457200"/>
          </a:xfrm>
          <a:prstGeom prst="ellipse">
            <a:avLst/>
          </a:prstGeom>
          <a:solidFill>
            <a:srgbClr val="E0912F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7804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Sanity-Floor, den jedes Modell schlagen muss.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75488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2A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zusätzliche Kovariaten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463040"/>
                <a:gridCol w="14630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Variante (TFT)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Windgeschw.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Windrichtung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35,73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beide Wind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2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beide Wind + Geo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18,92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42A3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33,88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040880" y="1737360"/>
            <a:ext cx="44805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hilft, Geo nicht.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242A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Windgeschwindigkeit &amp; -richtung senken den Fehler; zusätzliche Geo-Koordinaten bringen keinen Nutzen (eher minimal schlechter).</a:t>
            </a:r>
            <a:endParaRPr lang="en-US" sz="22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6B76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Lehre: Kovariaten begründet auswählen – „mehr Daten“ ist nicht automatisch besser.</a:t>
            </a:r>
            <a:endParaRPr lang="en-US" sz="2200" dirty="0"/>
          </a:p>
          <a:p>
            <a:pPr indent="0" marL="0">
              <a:buNone/>
            </a:pPr>
            <a:r>
              <a:rPr lang="en-US" sz="1300" dirty="0">
                <a:solidFill>
                  <a:srgbClr val="C44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Vorsicht: kleine Effekte, nur 2 Seeds – als Tendenz, nicht als Beweis darstellen.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10515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 Modelle schlagen die Naive-Baseline klar.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Foundation-Modell (Chronos-2) und Deep Learning (TFT) sind gleichauf an der Spitze – Chronos sogar ohne jedes Training.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bleibt interpretierbar, aber genauer nur im Mittelfeld.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Grenzen: Perfect-Prognosis-Obergrenze, Extremereignisse (Frühlingsfest) ungelöst.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5029200"/>
            <a:ext cx="10725912" cy="1280160"/>
          </a:xfrm>
          <a:prstGeom prst="roundRect">
            <a:avLst>
              <a:gd name="adj" fmla="val 7143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5029200"/>
            <a:ext cx="10149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interaktives Dashboard (alle 12 Stationen, Fehlervergleich · Verteilung · Prognosekurven)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2026-07-20T18:16:53Z</dcterms:created>
  <dcterms:modified xsi:type="dcterms:W3CDTF">2026-07-20T18:16:53Z</dcterms:modified>
</cp:coreProperties>
</file>