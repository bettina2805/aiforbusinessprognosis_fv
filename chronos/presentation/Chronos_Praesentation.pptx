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3" r:id="rId3"/>
  </p:sldMasterIdLst>
  <p:notesMasterIdLst>
    <p:notesMasterId r:id="rId31"/>
  </p:notesMasterIdLst>
  <p:sldIdLst>
    <p:sldId id="283" r:id="rId4"/>
    <p:sldId id="301" r:id="rId5"/>
    <p:sldId id="258" r:id="rId6"/>
    <p:sldId id="260" r:id="rId7"/>
    <p:sldId id="300" r:id="rId8"/>
    <p:sldId id="261" r:id="rId9"/>
    <p:sldId id="324" r:id="rId10"/>
    <p:sldId id="262" r:id="rId11"/>
    <p:sldId id="325" r:id="rId12"/>
    <p:sldId id="307" r:id="rId13"/>
    <p:sldId id="269" r:id="rId14"/>
    <p:sldId id="312" r:id="rId15"/>
    <p:sldId id="316" r:id="rId16"/>
    <p:sldId id="291" r:id="rId17"/>
    <p:sldId id="272" r:id="rId18"/>
    <p:sldId id="317" r:id="rId19"/>
    <p:sldId id="309" r:id="rId20"/>
    <p:sldId id="276" r:id="rId21"/>
    <p:sldId id="320" r:id="rId22"/>
    <p:sldId id="321" r:id="rId23"/>
    <p:sldId id="322" r:id="rId24"/>
    <p:sldId id="302" r:id="rId25"/>
    <p:sldId id="280" r:id="rId26"/>
    <p:sldId id="327" r:id="rId27"/>
    <p:sldId id="328" r:id="rId28"/>
    <p:sldId id="326" r:id="rId29"/>
    <p:sldId id="30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12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Willkommen. Chronos – benannt nach dem griechischen Titan der Zeit. Das Paper erschien 2024 in den Transactions on Machine Learning Research und stammt von AWS AI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Agenda-Übersicht. Wir werden sowohl die Theorie als auch praktische Ergebnisse besprechen.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zentrale Frage des Papers: Kann man ein Sprachmodell direkt für Zeitreihen nutzen, ohne zeitreihen-spezifische Modifikationen?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Kerndiagramm aus dem Paper. Links Tokenisierung, Mitte Training mit Cross-Entropy, rechts autoregressive Inferenz mit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Sample-Pfade werden autoregressiv generiert. Daraus schätzen wir Quantile für WQL-Bewertung und Median als Punktprognose für MASE.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II: 27 Datensätze, die Chronos nie gesehen hat. Dennoch deutlich besser als lokale Modelle und vergleichbar mit besten task-spezifischen DL-Modellen. Moirai könnte Vorteil haben, da Benchmark-II-Daten teils in dessen Pretraining-Corpus waren.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zentrale Stärken. Besonders bemerkenswert: Das Skalierungsgesetz — Modell-Performance verbessert sich konsistent mit Größe und Training, genau wie bei Sprachmodellen.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3A56-BC33-8CCD-0C6D-9496062C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2A345-4FCB-62CA-2FD3-6B7F5F434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7C5B4-B793-BFAE-A908-E6BE46F38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89E77-D1DF-47A3-E4DA-186202A05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63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0B74-8BFE-8136-3C03-279DA1CD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1A520-2C37-EC58-1864-46B29DE2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9E041-09F1-0E76-F93C-CAF3884A4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II: 27 Datensätze, die Chronos nie gesehen hat. Dennoch deutlich besser als lokale Modelle und vergleichbar mit besten task-spezifischen DL-Modellen. Moirai könnte Vorteil haben, da Benchmark-II-Daten teils in dessen Pretraining-Corpus waren.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BDFBC-FE78-6DE8-CF43-7B7A738D7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52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Stärke von Chronos liegt nicht in einer ausgeklügelten Zeitreihen-Architektur, sondern in der cleveren Tokenisierung und dem Skalieren auf viele Datensätze.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0B3E-1CF2-28A4-0A27-61DA36DE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13126-2BEC-532F-5C3E-02A543770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087B0-327D-AB68-0207-CDE2945F9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Stärke von Chronos liegt nicht in einer ausgeklügelten Zeitreihen-Architektur, sondern in der cleveren Tokenisierung und dem Skalieren auf viele Datensätze.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0237-91F4-7C23-418A-F5A43A0AE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41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8EBEE-FA85-B190-B4E5-DCDBE4DD2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0291A2-CFF7-FB3F-A35B-4EE5C3F9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FBC51F-7143-44FA-1AD8-B8139CBB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03096A-B3E3-B5D0-81EA-9BD66625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73F02D-22FB-3B18-8EE7-805D3699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97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283BC-BBE9-1026-E891-7A7A74CE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69CBE7-10BF-9587-1110-61DFDF9D7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D3D3DF-3041-F9CB-8BAF-34955E5C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CF5446-48FE-E6F4-48B1-D274BDD9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206627-3F60-66B8-5A01-278142AC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263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BE23F-37D9-CE51-3DEE-6E0E4ABB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A2883F-43A3-8E23-00BB-7A0DDFA04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D444D5-34F0-4422-79F8-628C6A7B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B04D15-E7A8-D992-FF86-2471D862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8B3A5A-0602-C589-B55F-E15EA6AC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91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81088-C8F1-821D-5F6D-F4A13956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E64E18-3361-B6E8-B3B0-E570E5DCC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2B453F-8BBC-298D-5F04-D31839DF6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733C3A-CBFE-C02F-1E4D-6CB27C41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6C0061-99AB-E380-0B80-5CF1556D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98CDA4-28D3-AF5A-3B6D-A64E607A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95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30657-F731-DDE0-0984-F41BC2660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8ADE8D-1C69-BBC3-3970-A9580940E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AA03D3-1475-6C26-3079-DADAFAECC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DC8EDF-7E48-D49C-04A4-04C1131FA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A96C88-7DC9-9974-B11E-31DECBD20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A70E0D-0F25-B212-B420-0C186E83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E9930F-B317-0A7F-1B58-F0AAC89D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EBB5283-F5D1-95B8-E435-6BC24896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85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57039-16CF-D7F6-1CCF-9F96941E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9B3A7C-4E6A-0BAE-7EEE-D1FCE0F5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6DFFB8-98C4-32B9-B9F4-2FFFEB8D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6EA058-9C0D-9CC8-1841-4E89C09A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82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362F62-1381-B257-16B8-29FDA2D1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7C0CDE-9BD7-1B71-D0D3-EE01FD2F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693B61-58B1-A9A8-9D4D-9C49E2D7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370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F7DF3-11EA-CB60-DDBA-2EEA97B5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B7AC85-1F5E-4EA0-F24D-043DED1D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8C93BD-256B-70FD-5211-4246DB3A7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D8250F-E919-10B7-726F-6825D724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51EAE0-9097-34D0-08A6-795FE45B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291CB1-1E04-1194-F77B-D987DD7A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38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B9140-CF22-6639-B8F2-BD71EAC2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919F94-3AFE-E4EF-1113-28AB39D98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9A6D56-F94F-4001-8146-D24942C5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FD8B37-DEC7-A65D-764E-CA3A0A16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231117-372B-9018-6947-E167A03F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B234F9-5F58-5EF4-342F-F0CF2467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89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96E91-FF7D-FB7B-9349-13D55F11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A0EAA3-472A-FB56-3845-0091D5381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CDDD5F-E734-3000-D8F0-5FF22EB3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59D468-61DF-47CC-D382-DA8C8110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41999C-28CF-544A-6EB2-B5842E07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607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F0DE8DA-EEAC-C22E-323E-6A92CB89D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80C891-2F8D-DB45-CA1A-CBFB017AA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8B2254-AA50-7AC1-E40F-43FA5B16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CA47FC-98E6-6014-76BE-4F55CE14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A998A2-F49C-9103-F403-56E2B1EB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1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014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68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8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88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38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76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5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80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67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68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3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95D9CD-E560-1ED8-147D-01604C36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7086FD-58DD-8854-7D1D-5022295BD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36C1DF-8590-8FE8-993C-39FE3AB36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A8A66C-058A-C059-D716-265CD3CD9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8A4988-9138-2FC6-2B52-39EF85170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17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2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223760" y="256032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Χρόνος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»Zeit« — der griechische Gott der Zeit und des Wandels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8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CHRONOS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73152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Zeitreihen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Vokabeln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Performance auf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ungesehenen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420000"/>
            <a:ext cx="5029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00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Kai Steffen  ·  Bettina Gertjerenken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 Prognosis  ·  SoSe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Graduate Campus, Hochschule Aalen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060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(2024) — Transactions on Machine Learning Research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76B5585-79F8-F0BC-44C7-11DB037683A7}"/>
              </a:ext>
            </a:extLst>
          </p:cNvPr>
          <p:cNvGrpSpPr/>
          <p:nvPr/>
        </p:nvGrpSpPr>
        <p:grpSpPr>
          <a:xfrm>
            <a:off x="2491740" y="685800"/>
            <a:ext cx="4160520" cy="4145760"/>
            <a:chOff x="365760" y="685800"/>
            <a:chExt cx="4160520" cy="4145760"/>
          </a:xfrm>
        </p:grpSpPr>
        <p:sp>
          <p:nvSpPr>
            <p:cNvPr id="180" name="Card 9"/>
            <p:cNvSpPr/>
            <p:nvPr/>
          </p:nvSpPr>
          <p:spPr>
            <a:xfrm>
              <a:off x="365760" y="4075560"/>
              <a:ext cx="4160520" cy="75600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C30D23-93B7-5FD4-CF09-0720D42940A6}"/>
                </a:ext>
              </a:extLst>
            </p:cNvPr>
            <p:cNvGrpSpPr/>
            <p:nvPr/>
          </p:nvGrpSpPr>
          <p:grpSpPr>
            <a:xfrm>
              <a:off x="365760" y="685800"/>
              <a:ext cx="4160520" cy="3922110"/>
              <a:chOff x="365760" y="685800"/>
              <a:chExt cx="4160520" cy="3922110"/>
            </a:xfrm>
          </p:grpSpPr>
          <p:sp>
            <p:nvSpPr>
              <p:cNvPr id="100" name="Card 1"/>
              <p:cNvSpPr/>
              <p:nvPr/>
            </p:nvSpPr>
            <p:spPr>
              <a:xfrm>
                <a:off x="365760" y="68580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Num 1"/>
              <p:cNvSpPr/>
              <p:nvPr/>
            </p:nvSpPr>
            <p:spPr>
              <a:xfrm>
                <a:off x="457200" y="80667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2" name="Title 1"/>
              <p:cNvSpPr/>
              <p:nvPr/>
            </p:nvSpPr>
            <p:spPr>
              <a:xfrm>
                <a:off x="960120" y="836923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Motivation &amp; Problemstellung</a:t>
                </a:r>
              </a:p>
            </p:txBody>
          </p:sp>
          <p:sp>
            <p:nvSpPr>
              <p:cNvPr id="120" name="Card 3"/>
              <p:cNvSpPr/>
              <p:nvPr/>
            </p:nvSpPr>
            <p:spPr>
              <a:xfrm>
                <a:off x="365760" y="153324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Num 3"/>
              <p:cNvSpPr/>
              <p:nvPr/>
            </p:nvSpPr>
            <p:spPr>
              <a:xfrm>
                <a:off x="457200" y="165411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2" name="Title 3"/>
              <p:cNvSpPr/>
              <p:nvPr/>
            </p:nvSpPr>
            <p:spPr>
              <a:xfrm>
                <a:off x="960120" y="167085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Chronos-Framework</a:t>
                </a:r>
              </a:p>
            </p:txBody>
          </p:sp>
          <p:sp>
            <p:nvSpPr>
              <p:cNvPr id="140" name="Card 5"/>
              <p:cNvSpPr/>
              <p:nvPr/>
            </p:nvSpPr>
            <p:spPr>
              <a:xfrm>
                <a:off x="365760" y="238068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Num 5"/>
              <p:cNvSpPr/>
              <p:nvPr/>
            </p:nvSpPr>
            <p:spPr>
              <a:xfrm>
                <a:off x="457200" y="250155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2" name="Title 5"/>
              <p:cNvSpPr/>
              <p:nvPr/>
            </p:nvSpPr>
            <p:spPr>
              <a:xfrm>
                <a:off x="960120" y="251829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Anwendung und Benchmarking</a:t>
                </a:r>
              </a:p>
            </p:txBody>
          </p:sp>
          <p:sp>
            <p:nvSpPr>
              <p:cNvPr id="160" name="Card 7"/>
              <p:cNvSpPr/>
              <p:nvPr/>
            </p:nvSpPr>
            <p:spPr>
              <a:xfrm>
                <a:off x="365760" y="322812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Num 7"/>
              <p:cNvSpPr/>
              <p:nvPr/>
            </p:nvSpPr>
            <p:spPr>
              <a:xfrm>
                <a:off x="457200" y="334899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solidFill>
                      <a:srgbClr val="00B4D8"/>
                    </a:solidFill>
                    <a:latin typeface="Calibri" pitchFamily="34" charset="0"/>
                  </a:rPr>
                  <a:t>4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4D8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2" name="Title 7"/>
              <p:cNvSpPr/>
              <p:nvPr/>
            </p:nvSpPr>
            <p:spPr>
              <a:xfrm>
                <a:off x="960120" y="336573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Von Chronos zu Chronos-2</a:t>
                </a:r>
              </a:p>
            </p:txBody>
          </p:sp>
          <p:sp>
            <p:nvSpPr>
              <p:cNvPr id="163" name="Sub 7"/>
              <p:cNvSpPr/>
              <p:nvPr/>
            </p:nvSpPr>
            <p:spPr>
              <a:xfrm>
                <a:off x="960120" y="3725520"/>
                <a:ext cx="3474720" cy="25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Num 9"/>
              <p:cNvSpPr/>
              <p:nvPr/>
            </p:nvSpPr>
            <p:spPr>
              <a:xfrm>
                <a:off x="457200" y="419643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182" name="Title 9"/>
              <p:cNvSpPr/>
              <p:nvPr/>
            </p:nvSpPr>
            <p:spPr>
              <a:xfrm>
                <a:off x="960120" y="422991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Zusammenfassung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Problemstellung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problemspezifisches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</a:t>
            </a:r>
            <a:endParaRPr lang="en-US" sz="1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Vision: Foundation Models für Zeitreihen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665C3CC-4C8C-D15C-E625-4FA358DE03CB}"/>
              </a:ext>
            </a:extLst>
          </p:cNvPr>
          <p:cNvGrpSpPr/>
          <p:nvPr/>
        </p:nvGrpSpPr>
        <p:grpSpPr>
          <a:xfrm>
            <a:off x="1805940" y="2011680"/>
            <a:ext cx="2651760" cy="2651760"/>
            <a:chOff x="320040" y="1280160"/>
            <a:chExt cx="2651760" cy="2651760"/>
          </a:xfrm>
        </p:grpSpPr>
        <p:sp>
          <p:nvSpPr>
            <p:cNvPr id="6" name="Shape 4"/>
            <p:cNvSpPr/>
            <p:nvPr/>
          </p:nvSpPr>
          <p:spPr>
            <a:xfrm>
              <a:off x="320040" y="1280160"/>
              <a:ext cx="2651760" cy="2475411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947999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 err="1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Einmal</a:t>
              </a:r>
              <a:r>
                <a:rPr lang="en-US" sz="1500" b="1" dirty="0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500" b="1" dirty="0" err="1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trainiert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71500" y="2011680"/>
              <a:ext cx="230886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Modell auf vielen Zeitreihen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unterschiedlichen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Domänen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vortrainiert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Umsatzprognosen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Finanzen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Klima, …)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von Amazon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Open-Source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bereitgestellt</a:t>
              </a:r>
              <a:endParaRPr lang="en-US" sz="1100" dirty="0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0409D5A-2011-2D40-0F41-6232FB240AFF}"/>
              </a:ext>
            </a:extLst>
          </p:cNvPr>
          <p:cNvGrpSpPr/>
          <p:nvPr/>
        </p:nvGrpSpPr>
        <p:grpSpPr>
          <a:xfrm>
            <a:off x="4686300" y="2011680"/>
            <a:ext cx="2651760" cy="2591671"/>
            <a:chOff x="3200400" y="1280160"/>
            <a:chExt cx="2651760" cy="2591671"/>
          </a:xfrm>
        </p:grpSpPr>
        <p:sp>
          <p:nvSpPr>
            <p:cNvPr id="10" name="Shape 8"/>
            <p:cNvSpPr/>
            <p:nvPr/>
          </p:nvSpPr>
          <p:spPr>
            <a:xfrm>
              <a:off x="3200400" y="1280160"/>
              <a:ext cx="2651760" cy="2475411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0" y="141732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dirty="0">
                  <a:solidFill>
                    <a:srgbClr val="000000"/>
                  </a:solidFill>
                </a:rPr>
                <a:t>⚡</a:t>
              </a:r>
              <a:endParaRPr lang="en-US" sz="3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91840" y="1947999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Zero-Shot </a:t>
              </a:r>
              <a:r>
                <a:rPr lang="en-US" sz="1500" b="1" dirty="0" err="1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Anwendung</a:t>
              </a:r>
              <a:endParaRPr lang="en-US" sz="15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337560" y="1951591"/>
              <a:ext cx="237744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Universelles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Modell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kein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weiteres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Training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erforderlich</a:t>
              </a:r>
              <a:endPara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direkt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auf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neue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ungesehene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Datensätze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anwendbar</a:t>
              </a:r>
              <a:endPara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8" name="Text 16"/>
          <p:cNvSpPr/>
          <p:nvPr/>
        </p:nvSpPr>
        <p:spPr>
          <a:xfrm>
            <a:off x="1982289" y="926156"/>
            <a:ext cx="51794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"Shouldn't good language models just work on time series?" — Ansari et al. (2024)</a:t>
            </a:r>
            <a:endParaRPr lang="en-US" sz="1200" dirty="0"/>
          </a:p>
        </p:txBody>
      </p:sp>
      <p:sp>
        <p:nvSpPr>
          <p:cNvPr id="23" name="Kernidee">
            <a:extLst>
              <a:ext uri="{FF2B5EF4-FFF2-40B4-BE49-F238E27FC236}">
                <a16:creationId xmlns:a16="http://schemas.microsoft.com/office/drawing/2014/main" id="{D4805A80-43B4-9876-3DAD-589E01F1D36B}"/>
              </a:ext>
            </a:extLst>
          </p:cNvPr>
          <p:cNvSpPr/>
          <p:nvPr/>
        </p:nvSpPr>
        <p:spPr>
          <a:xfrm>
            <a:off x="1051560" y="1361149"/>
            <a:ext cx="7040880" cy="356616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12700">
            <a:solidFill>
              <a:srgbClr val="BFD0E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5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Kernidee:  </a:t>
            </a:r>
            <a:r>
              <a:rPr kumimoji="0" lang="de-DE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Zeitreihe = Sprache. Werte werden zu Tokens; ein Sprachmodell lernt daraus und setzt den „Satz“ fort.</a:t>
            </a:r>
            <a:endParaRPr kumimoji="0" lang="de-DE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169674D-B5E0-51AF-1110-ED181729B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543" y="2275113"/>
            <a:ext cx="849086" cy="375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Entwicklungshistorie bei Amazon</a:t>
            </a:r>
            <a:endParaRPr kumimoji="0" lang="de-D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Lead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Prognosen steuern bei Amazon Lagerbestände, Cloud-Kapazitäten und Lieferketten — über ein riesiges Spektrum an Zeitreihen hinweg.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rd Left"/>
          <p:cNvSpPr/>
          <p:nvPr/>
        </p:nvSpPr>
        <p:spPr>
          <a:xfrm>
            <a:off x="320040" y="1188720"/>
            <a:ext cx="3931920" cy="3072384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rd Left Heading"/>
          <p:cNvSpPr/>
          <p:nvPr/>
        </p:nvSpPr>
        <p:spPr>
          <a:xfrm>
            <a:off x="5029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</a:t>
            </a:r>
            <a:endParaRPr kumimoji="0" lang="de-DE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rd Left Body"/>
          <p:cNvSpPr/>
          <p:nvPr/>
        </p:nvSpPr>
        <p:spPr>
          <a:xfrm>
            <a:off x="502920" y="1716528"/>
            <a:ext cx="35661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Klassische Modelle mussten für jede Zeitreihe einzeln trainiert und aufwendig angepasst werden — Feature-Engineering, Tuning, Domänenwissen.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basierte vorherige Ansätze erforderten weiterhin problemspezifisches Training.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Gesucht war EIN vortrainiertes Modell, das ohne Neutraining auf neue Reihen generalisiert — Zero-Shot.</a:t>
            </a:r>
          </a:p>
        </p:txBody>
      </p:sp>
      <p:sp>
        <p:nvSpPr>
          <p:cNvPr id="8" name="Card Right"/>
          <p:cNvSpPr/>
          <p:nvPr/>
        </p:nvSpPr>
        <p:spPr>
          <a:xfrm>
            <a:off x="4526280" y="1188720"/>
            <a:ext cx="4297680" cy="3072384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rd Right Heading"/>
          <p:cNvSpPr/>
          <p:nvPr/>
        </p:nvSpPr>
        <p:spPr>
          <a:xfrm>
            <a:off x="47091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1" i="0" u="none" strike="noStrike" kern="1200" cap="none" spc="0" normalizeH="0" baseline="0" noProof="0" dirty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Die Entwicklung</a:t>
            </a:r>
            <a:endParaRPr kumimoji="0" lang="de-DE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rd Right Body"/>
          <p:cNvSpPr/>
          <p:nvPr/>
        </p:nvSpPr>
        <p:spPr>
          <a:xfrm>
            <a:off x="4709160" y="1716528"/>
            <a:ext cx="393192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seit ~2017 — DeepAR &amp; Amazon Forecast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Amazons erste Deep-Learning-Prognose: probabilistische RNNs, später als Dienst Amazon Forecast.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2024 — Chronos (univariat)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Zeitreihen werden wie Sprache behandelt: skaliert, quantisiert und mit T5-Transformern (20–710 Mio. Parameter) trainiert.</a:t>
            </a:r>
            <a:endParaRPr lang="de-DE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Ende 2024: Effizienz-Update Chronos-Bolt (Geschwindigkeit, Kosten &amp; CPU-Fähigkeit)</a:t>
            </a:r>
          </a:p>
          <a:p>
            <a:pPr>
              <a:spcAft>
                <a:spcPts val="200"/>
              </a:spcAft>
              <a:defRPr/>
            </a:pPr>
            <a:r>
              <a:rPr lang="de-DE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Chronos-2 (univariat, multi-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kovariaten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-informiert)</a:t>
            </a:r>
          </a:p>
          <a:p>
            <a:pPr lvl="0">
              <a:spcAft>
                <a:spcPts val="900"/>
              </a:spcAft>
              <a:defRPr/>
            </a:pPr>
            <a:r>
              <a:rPr lang="de-DE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Universelles </a:t>
            </a:r>
            <a:r>
              <a:rPr lang="de-DE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r>
              <a:rPr lang="de-DE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-Model mit deutlich erweitertem Anwendungsbereich.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Footer"/>
          <p:cNvSpPr/>
          <p:nvPr/>
        </p:nvSpPr>
        <p:spPr>
          <a:xfrm>
            <a:off x="182880" y="48920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ource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Quelle: Ansari et al. (2024), TMLR  ·  amazon.science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Chronos-Framework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Tokenisierung · Training · Inferenz</a:t>
            </a:r>
            <a:endParaRPr lang="en-US" sz="16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Sprachmodell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Foundation Model für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Zeitreihen</a:t>
            </a:r>
            <a:endParaRPr lang="en-US" sz="2000" dirty="0"/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pic>
        <p:nvPicPr>
          <p:cNvPr id="5" name="Transformer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787500"/>
            <a:ext cx="2568009" cy="3937500"/>
          </a:xfrm>
          <a:prstGeom prst="rect">
            <a:avLst/>
          </a:prstGeom>
        </p:spPr>
      </p:pic>
      <p:sp>
        <p:nvSpPr>
          <p:cNvPr id="7" name="Table Subheading"/>
          <p:cNvSpPr/>
          <p:nvPr/>
        </p:nvSpPr>
        <p:spPr>
          <a:xfrm>
            <a:off x="3202432" y="787500"/>
            <a:ext cx="557580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75" b="1" dirty="0">
                <a:solidFill>
                  <a:srgbClr val="0D1B2A"/>
                </a:solidFill>
                <a:latin typeface="Cambria" pitchFamily="34" charset="0"/>
              </a:rPr>
              <a:t>Sprachmodell vs. Zeitreihen</a:t>
            </a:r>
          </a:p>
        </p:txBody>
      </p:sp>
      <p:graphicFrame>
        <p:nvGraphicFramePr>
          <p:cNvPr id="1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62561"/>
              </p:ext>
            </p:extLst>
          </p:nvPr>
        </p:nvGraphicFramePr>
        <p:xfrm>
          <a:off x="3202432" y="1125000"/>
          <a:ext cx="5575808" cy="1837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1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1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5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Aspekt</a:t>
                      </a:r>
                    </a:p>
                  </a:txBody>
                  <a:tcPr marL="68580" marR="34290" marT="13716" marB="13716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BFDBFE"/>
                          </a:solidFill>
                          <a:latin typeface="Calibri" pitchFamily="34" charset="0"/>
                        </a:rPr>
                        <a:t>Sprachmodell (Text)</a:t>
                      </a:r>
                    </a:p>
                  </a:txBody>
                  <a:tcPr marL="68580" marR="34290" marT="13716" marB="13716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BBF7D0"/>
                          </a:solidFill>
                          <a:latin typeface="Calibri" pitchFamily="34" charset="0"/>
                        </a:rPr>
                        <a:t>Zeitreihen (Chronos)</a:t>
                      </a:r>
                    </a:p>
                  </a:txBody>
                  <a:tcPr marL="68580" marR="34290" marT="13716" marB="13716"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Vokabular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Subword-Tokens (BPE), ~32.000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Quantisierte Wert-Bins, ~4.096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Eingabe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Diskrete Wortsequenzen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Skalierte, kontinuierliche Messwerte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Kontext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Sätze / Absätze variabler Länge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Feste Beobachtungsfenster (Zeitschritte)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Ziel-Vorhersage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Nächstes Wort (Token)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Nächster Werte-Bin (autoregressiv)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Flow Explanation"/>
          <p:cNvSpPr/>
          <p:nvPr/>
        </p:nvSpPr>
        <p:spPr>
          <a:xfrm>
            <a:off x="3202432" y="3246480"/>
            <a:ext cx="5125139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de-DE" sz="975" dirty="0">
                <a:solidFill>
                  <a:srgbClr val="0D1B2A"/>
                </a:solidFill>
                <a:latin typeface="Calibri" pitchFamily="34" charset="0"/>
              </a:rPr>
              <a:t>Encoder und Decoder bleiben strukturell identisch zum Original-Transformer (siehe Abbildung links): Der Encoder verarbeitet den Kontext bidirektional per Self-Attention, der Decoder erzeugt die Vorhersage autoregressiv über Cross-Attention zum Encoder.</a:t>
            </a:r>
          </a:p>
        </p:txBody>
      </p:sp>
      <p:sp>
        <p:nvSpPr>
          <p:cNvPr id="14" name="Key Message Banner"/>
          <p:cNvSpPr/>
          <p:nvPr/>
        </p:nvSpPr>
        <p:spPr>
          <a:xfrm>
            <a:off x="3202432" y="4012500"/>
            <a:ext cx="5575808" cy="7125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783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Key Message Label"/>
          <p:cNvSpPr/>
          <p:nvPr/>
        </p:nvSpPr>
        <p:spPr>
          <a:xfrm>
            <a:off x="594360" y="4080000"/>
            <a:ext cx="795456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KERNBOTSCHAFT</a:t>
            </a:r>
          </a:p>
        </p:txBody>
      </p:sp>
      <p:sp>
        <p:nvSpPr>
          <p:cNvPr id="16" name="Key Message Text"/>
          <p:cNvSpPr/>
          <p:nvPr/>
        </p:nvSpPr>
        <p:spPr>
          <a:xfrm>
            <a:off x="3299968" y="4312500"/>
            <a:ext cx="5248952" cy="3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125" b="1" dirty="0">
                <a:solidFill>
                  <a:srgbClr val="FFFFFF"/>
                </a:solidFill>
                <a:latin typeface="Cambria" pitchFamily="34" charset="0"/>
              </a:rPr>
              <a:t>🔑 T5 bleibt unverändert — nur Tokenisierung &amp; Vokabular verwandeln Zeitreihen in eine „Sprache“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0C4AB15-36A3-F00F-BD65-38541E3A27A0}"/>
              </a:ext>
            </a:extLst>
          </p:cNvPr>
          <p:cNvSpPr txBox="1"/>
          <p:nvPr/>
        </p:nvSpPr>
        <p:spPr>
          <a:xfrm>
            <a:off x="365759" y="761450"/>
            <a:ext cx="15246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(2017)</a:t>
            </a:r>
            <a:endParaRPr lang="de-DE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Sprachmodell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Foundation Model für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Zeitreihen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 Anpassung: Nur die Tokenisierung wird geändert — die LM-Architektur bleibt unverändert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645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Ansari et al. (2024), Fig. 1</a:t>
            </a:r>
            <a:endParaRPr lang="en-US" sz="8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2EFE724-4137-EF15-5D42-59D12AFE9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191607"/>
            <a:ext cx="8412481" cy="3359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914378"/>
            <a:endParaRPr lang="de-DE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697" y="17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Inferenz: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Probabilistische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Prognosen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wiederholte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autoregressive Token-Samples</a:t>
            </a:r>
            <a:endParaRPr lang="en-US" sz="2000" dirty="0">
              <a:solidFill>
                <a:schemeClr val="bg1"/>
              </a:solidFill>
            </a:endParaRPr>
          </a:p>
          <a:p>
            <a:pPr defTabSz="914378"/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Steps Group"/>
          <p:cNvGrpSpPr/>
          <p:nvPr/>
        </p:nvGrpSpPr>
        <p:grpSpPr>
          <a:xfrm>
            <a:off x="320040" y="901255"/>
            <a:ext cx="8366760" cy="1401749"/>
            <a:chOff x="426720" y="1706880"/>
            <a:chExt cx="11155680" cy="3190156"/>
          </a:xfrm>
        </p:grpSpPr>
        <p:sp>
          <p:nvSpPr>
            <p:cNvPr id="6" name="Shape 4"/>
            <p:cNvSpPr/>
            <p:nvPr/>
          </p:nvSpPr>
          <p:spPr>
            <a:xfrm>
              <a:off x="426720" y="1706880"/>
              <a:ext cx="2560320" cy="3169917"/>
            </a:xfrm>
            <a:prstGeom prst="roundRect">
              <a:avLst>
                <a:gd name="adj" fmla="val 4762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34112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34112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7302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Skalieren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x̃ᵢ = xᵢ / s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 = mean(|x₁,...,xC|)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3011424" y="3413760"/>
              <a:ext cx="268224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291840" y="1706880"/>
              <a:ext cx="2560320" cy="3169920"/>
            </a:xfrm>
            <a:prstGeom prst="roundRect">
              <a:avLst>
                <a:gd name="adj" fmla="val 4762"/>
              </a:avLst>
            </a:prstGeom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20624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20624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43814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Quantisieren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341376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zᵢ = q(x̃ᵢ) ∈ {1,...,B}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Mapping auf Bin-Index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5876544" y="3413760"/>
              <a:ext cx="268224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156960" y="1706880"/>
              <a:ext cx="2560320" cy="3190156"/>
            </a:xfrm>
            <a:prstGeom prst="roundRect">
              <a:avLst>
                <a:gd name="adj" fmla="val 4762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707136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707136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30326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 sampeln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27888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ẑ ~ p_θ(· | z₁:C+h)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Softmax → Multinomial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8741664" y="3413760"/>
              <a:ext cx="268224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9022080" y="1706880"/>
              <a:ext cx="2560320" cy="3190156"/>
            </a:xfrm>
            <a:prstGeom prst="roundRect">
              <a:avLst>
                <a:gd name="adj" fmla="val 4762"/>
              </a:avLst>
            </a:prstGeom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993648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993648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916838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Rekonstruieren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914400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x̂ = d(ẑ) · s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Dequantisierung + Unskalierung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9" name="Token Distribution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77" y="2463786"/>
            <a:ext cx="5126983" cy="1831065"/>
          </a:xfrm>
          <a:prstGeom prst="rect">
            <a:avLst/>
          </a:prstGeom>
        </p:spPr>
      </p:pic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486195F6-8A27-4A16-AC3C-1C52B0E03ACB}"/>
              </a:ext>
            </a:extLst>
          </p:cNvPr>
          <p:cNvGrpSpPr/>
          <p:nvPr/>
        </p:nvGrpSpPr>
        <p:grpSpPr>
          <a:xfrm>
            <a:off x="711926" y="4389120"/>
            <a:ext cx="7720148" cy="450000"/>
            <a:chOff x="607423" y="4260000"/>
            <a:chExt cx="7720148" cy="450000"/>
          </a:xfrm>
        </p:grpSpPr>
        <p:sp>
          <p:nvSpPr>
            <p:cNvPr id="30" name="Shape 28"/>
            <p:cNvSpPr/>
            <p:nvPr/>
          </p:nvSpPr>
          <p:spPr>
            <a:xfrm>
              <a:off x="607423" y="4260000"/>
              <a:ext cx="7720148" cy="450000"/>
            </a:xfrm>
            <a:prstGeom prst="roundRect">
              <a:avLst>
                <a:gd name="adj" fmla="val 15385"/>
              </a:avLst>
            </a:prstGeom>
            <a:solidFill>
              <a:srgbClr val="FFF7ED"/>
            </a:solidFill>
            <a:ln w="12700">
              <a:solidFill>
                <a:srgbClr val="FED7AA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672737" y="4290000"/>
              <a:ext cx="7589520" cy="39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de-DE" sz="1050" dirty="0"/>
                <a:t>„Durch die Simulation mehrerer Zukunftsszenarien werden mittels </a:t>
              </a:r>
              <a:r>
                <a:rPr lang="de-DE" sz="1050" dirty="0" err="1"/>
                <a:t>Quantilsschätzung</a:t>
              </a:r>
              <a:r>
                <a:rPr lang="de-DE" sz="1050" dirty="0"/>
                <a:t> verlässliche Wahrscheinlichkeitskorridore berechnet.“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Explanation">
            <a:extLst>
              <a:ext uri="{FF2B5EF4-FFF2-40B4-BE49-F238E27FC236}">
                <a16:creationId xmlns:a16="http://schemas.microsoft.com/office/drawing/2014/main" id="{D016049F-6DB8-8CE0-6E42-83D0AC90ED5F}"/>
              </a:ext>
            </a:extLst>
          </p:cNvPr>
          <p:cNvSpPr/>
          <p:nvPr/>
        </p:nvSpPr>
        <p:spPr>
          <a:xfrm>
            <a:off x="5498760" y="2469190"/>
            <a:ext cx="3139608" cy="57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Bei jedem Schritt liefert der Decoder keine einzelne Zahl, sondern eine vollständige Wahrscheinlichkeitsverteilung über alle Wert-Bins (</a:t>
            </a:r>
            <a:r>
              <a:rPr lang="de-DE" sz="1100" dirty="0" err="1">
                <a:solidFill>
                  <a:srgbClr val="0D1B2A"/>
                </a:solidFill>
                <a:latin typeface="Calibri" pitchFamily="34" charset="0"/>
              </a:rPr>
              <a:t>Softmax</a:t>
            </a: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).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Ein Bin wird per Multinomial-Sampling gezogen und zurück in einen reellen Wert übersetzt (</a:t>
            </a:r>
            <a:r>
              <a:rPr lang="de-DE" sz="1100" dirty="0" err="1">
                <a:solidFill>
                  <a:srgbClr val="0D1B2A"/>
                </a:solidFill>
                <a:latin typeface="Calibri" pitchFamily="34" charset="0"/>
              </a:rPr>
              <a:t>Dequantisierung</a:t>
            </a: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).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Wiederholt man das 20×, entstehen 20 unterschiedliche Sample-Pfade — daraus ergibt sich die empirische prädiktive Verteilung.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Trainingsstrategie - Augmentation mit synthetischen Daten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13" name="Key Message Banner"/>
          <p:cNvSpPr/>
          <p:nvPr/>
        </p:nvSpPr>
        <p:spPr>
          <a:xfrm>
            <a:off x="365760" y="3891288"/>
            <a:ext cx="8412480" cy="646211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800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Key Message Text"/>
          <p:cNvSpPr/>
          <p:nvPr/>
        </p:nvSpPr>
        <p:spPr>
          <a:xfrm>
            <a:off x="594720" y="3782690"/>
            <a:ext cx="7954560" cy="8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600" b="1" dirty="0">
                <a:solidFill>
                  <a:srgbClr val="FFFFFF"/>
                </a:solidFill>
                <a:latin typeface="Cambria" pitchFamily="34" charset="0"/>
              </a:rPr>
              <a:t>Ergebnis: Synthetische Daten verbessern die Zero-Shot Generalisierung messbar!</a:t>
            </a:r>
          </a:p>
        </p:txBody>
      </p:sp>
      <p:sp>
        <p:nvSpPr>
          <p:cNvPr id="22" name="Kernidee">
            <a:extLst>
              <a:ext uri="{FF2B5EF4-FFF2-40B4-BE49-F238E27FC236}">
                <a16:creationId xmlns:a16="http://schemas.microsoft.com/office/drawing/2014/main" id="{584719FD-7CC7-05E0-8B6E-C0072AA15FDC}"/>
              </a:ext>
            </a:extLst>
          </p:cNvPr>
          <p:cNvSpPr/>
          <p:nvPr/>
        </p:nvSpPr>
        <p:spPr>
          <a:xfrm>
            <a:off x="400620" y="940646"/>
            <a:ext cx="8287500" cy="1056325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12700">
            <a:solidFill>
              <a:srgbClr val="BFD0E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lvl="0">
              <a:defRPr/>
            </a:pPr>
            <a:r>
              <a:rPr kumimoji="0" lang="de-DE" sz="115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de-DE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Gegensatz zu vielfältig vorhandenem Text für das Training von Sprachmodellen stehen deutlich weniger Zeitreihendaten für das Training eines Zeitreihen-</a:t>
            </a:r>
            <a:r>
              <a:rPr lang="de-DE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r>
              <a:rPr lang="de-DE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-Models zur Verfügung.</a:t>
            </a:r>
          </a:p>
          <a:p>
            <a:pPr lvl="0">
              <a:defRPr/>
            </a:pPr>
            <a:r>
              <a:rPr lang="de-DE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Idee: </a:t>
            </a:r>
            <a:r>
              <a:rPr lang="de-DE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Anreicherung des Datensatzes mit synthetischen Daten im Verhältnis 9:1 von realen zu synthetischen Daten im Trainingsdatensatz. Hierbei kamen beim Training von Chronos zwei Strategien zum Einsatz:  </a:t>
            </a:r>
            <a:endParaRPr kumimoji="0" lang="de-DE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54098D8-3017-B89D-E5F6-57703CDFB1C6}"/>
              </a:ext>
            </a:extLst>
          </p:cNvPr>
          <p:cNvGrpSpPr/>
          <p:nvPr/>
        </p:nvGrpSpPr>
        <p:grpSpPr>
          <a:xfrm>
            <a:off x="400620" y="2344283"/>
            <a:ext cx="8287500" cy="2088990"/>
            <a:chOff x="400620" y="1473980"/>
            <a:chExt cx="8287500" cy="2088990"/>
          </a:xfrm>
        </p:grpSpPr>
        <p:sp>
          <p:nvSpPr>
            <p:cNvPr id="8" name="TSMixup Bullets"/>
            <p:cNvSpPr/>
            <p:nvPr/>
          </p:nvSpPr>
          <p:spPr>
            <a:xfrm>
              <a:off x="548640" y="1680210"/>
              <a:ext cx="3675000" cy="159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defTabSz="685800">
                <a:spcAft>
                  <a:spcPts val="525"/>
                </a:spcAft>
              </a:pPr>
              <a:endParaRPr lang="de-DE" sz="1050" i="1" dirty="0">
                <a:solidFill>
                  <a:srgbClr val="0D1B2A"/>
                </a:solidFill>
                <a:latin typeface="Calibri" pitchFamily="34" charset="0"/>
              </a:endParaRPr>
            </a:p>
            <a:p>
              <a:pPr defTabSz="685800">
                <a:spcAft>
                  <a:spcPts val="525"/>
                </a:spcAft>
              </a:pPr>
              <a:endParaRPr lang="de-DE" sz="1050" i="1" dirty="0">
                <a:solidFill>
                  <a:srgbClr val="0D1B2A"/>
                </a:solidFill>
                <a:latin typeface="Calibri" pitchFamily="34" charset="0"/>
              </a:endParaRPr>
            </a:p>
            <a:p>
              <a:pPr defTabSz="685800">
                <a:spcAft>
                  <a:spcPts val="525"/>
                </a:spcAft>
              </a:pPr>
              <a:r>
                <a:rPr lang="de-DE" sz="1050" i="1" dirty="0">
                  <a:solidFill>
                    <a:srgbClr val="1D4ED8"/>
                  </a:solidFill>
                  <a:latin typeface="Calibri" pitchFamily="34" charset="0"/>
                </a:rPr>
                <a:t>→ Realistische Reihenkombinationen für robustes Training</a:t>
              </a:r>
            </a:p>
          </p:txBody>
        </p:sp>
        <p:sp>
          <p:nvSpPr>
            <p:cNvPr id="12" name="KernelSynth Bullets"/>
            <p:cNvSpPr/>
            <p:nvPr/>
          </p:nvSpPr>
          <p:spPr>
            <a:xfrm>
              <a:off x="4823640" y="1680210"/>
              <a:ext cx="3675000" cy="159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Kernel-Bank: Linear, RBF, Periodic, RQ</a:t>
              </a:r>
            </a:p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j~U{1,5} Kerne zufällig kombiniert (+ / ×)</a:t>
              </a:r>
            </a:p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1 M synthetische Reihen, Länge 1024</a:t>
              </a:r>
            </a:p>
            <a:p>
              <a:pPr defTabSz="685800">
                <a:spcAft>
                  <a:spcPts val="525"/>
                </a:spcAft>
              </a:pPr>
              <a:r>
                <a:rPr lang="de-DE" sz="1050" i="1" dirty="0">
                  <a:solidFill>
                    <a:srgbClr val="15803D"/>
                  </a:solidFill>
                  <a:latin typeface="Calibri" pitchFamily="34" charset="0"/>
                </a:rPr>
                <a:t>→ Reine Muster-Vielfalt ohne reale Datenabhängigkeit</a:t>
              </a:r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18F09B1F-FF8B-3CB7-17B8-C2F9B8B07734}"/>
                </a:ext>
              </a:extLst>
            </p:cNvPr>
            <p:cNvGrpSpPr/>
            <p:nvPr/>
          </p:nvGrpSpPr>
          <p:grpSpPr>
            <a:xfrm>
              <a:off x="4675620" y="1473980"/>
              <a:ext cx="4012500" cy="1247503"/>
              <a:chOff x="4640760" y="788670"/>
              <a:chExt cx="4012500" cy="1247503"/>
            </a:xfrm>
          </p:grpSpPr>
          <p:sp>
            <p:nvSpPr>
              <p:cNvPr id="9" name="Card KernelSynth"/>
              <p:cNvSpPr/>
              <p:nvPr/>
            </p:nvSpPr>
            <p:spPr>
              <a:xfrm>
                <a:off x="4640760" y="788670"/>
                <a:ext cx="4012500" cy="1247503"/>
              </a:xfrm>
              <a:prstGeom prst="roundRect">
                <a:avLst>
                  <a:gd name="adj" fmla="val 3000"/>
                </a:avLst>
              </a:prstGeom>
              <a:solidFill>
                <a:srgbClr val="F0FDF4"/>
              </a:solidFill>
              <a:ln w="12700">
                <a:solidFill>
                  <a:srgbClr val="BBF7D0"/>
                </a:solidFill>
                <a:prstDash val="solid"/>
              </a:ln>
            </p:spPr>
            <p:txBody>
              <a:bodyPr/>
              <a:lstStyle/>
              <a:p>
                <a:pPr defTabSz="685800"/>
                <a:endParaRPr lang="de-DE" sz="105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  <p:sp>
            <p:nvSpPr>
              <p:cNvPr id="10" name="KernelSynth Title"/>
              <p:cNvSpPr/>
              <p:nvPr/>
            </p:nvSpPr>
            <p:spPr>
              <a:xfrm>
                <a:off x="4823640" y="914400"/>
                <a:ext cx="3675000" cy="31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685800"/>
                <a:r>
                  <a:rPr lang="de-DE" sz="1500" b="1" dirty="0">
                    <a:solidFill>
                      <a:srgbClr val="15803D"/>
                    </a:solidFill>
                    <a:latin typeface="Cambria" pitchFamily="34" charset="0"/>
                  </a:rPr>
                  <a:t>KernelSynth</a:t>
                </a: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8F2428DA-878C-367A-97DF-3C87D65F81EE}"/>
                </a:ext>
              </a:extLst>
            </p:cNvPr>
            <p:cNvGrpSpPr/>
            <p:nvPr/>
          </p:nvGrpSpPr>
          <p:grpSpPr>
            <a:xfrm>
              <a:off x="400620" y="1473980"/>
              <a:ext cx="4012500" cy="2088990"/>
              <a:chOff x="365760" y="788670"/>
              <a:chExt cx="4012500" cy="2088990"/>
            </a:xfrm>
          </p:grpSpPr>
          <p:sp>
            <p:nvSpPr>
              <p:cNvPr id="5" name="Card TSMixup"/>
              <p:cNvSpPr/>
              <p:nvPr/>
            </p:nvSpPr>
            <p:spPr>
              <a:xfrm>
                <a:off x="365760" y="788670"/>
                <a:ext cx="4012500" cy="1247503"/>
              </a:xfrm>
              <a:prstGeom prst="roundRect">
                <a:avLst>
                  <a:gd name="adj" fmla="val 3000"/>
                </a:avLst>
              </a:prstGeom>
              <a:solidFill>
                <a:srgbClr val="EFF6FF"/>
              </a:solidFill>
              <a:ln w="12700">
                <a:solidFill>
                  <a:srgbClr val="BFDBFE"/>
                </a:solidFill>
                <a:prstDash val="solid"/>
              </a:ln>
            </p:spPr>
            <p:txBody>
              <a:bodyPr/>
              <a:lstStyle/>
              <a:p>
                <a:pPr defTabSz="685800"/>
                <a:endParaRPr lang="de-DE" sz="105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  <p:sp>
            <p:nvSpPr>
              <p:cNvPr id="6" name="TSMixup Title"/>
              <p:cNvSpPr/>
              <p:nvPr/>
            </p:nvSpPr>
            <p:spPr>
              <a:xfrm>
                <a:off x="548640" y="914400"/>
                <a:ext cx="3675000" cy="31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685800"/>
                <a:r>
                  <a:rPr lang="de-DE" sz="1500" b="1" dirty="0">
                    <a:solidFill>
                      <a:srgbClr val="1D4ED8"/>
                    </a:solidFill>
                    <a:latin typeface="Cambria" pitchFamily="34" charset="0"/>
                  </a:rPr>
                  <a:t>TSMixup</a:t>
                </a:r>
              </a:p>
            </p:txBody>
          </p:sp>
          <p:sp>
            <p:nvSpPr>
              <p:cNvPr id="17" name="KernelSynth Bullets">
                <a:extLst>
                  <a:ext uri="{FF2B5EF4-FFF2-40B4-BE49-F238E27FC236}">
                    <a16:creationId xmlns:a16="http://schemas.microsoft.com/office/drawing/2014/main" id="{98254B9D-9AE0-DDC0-6703-445B60354C49}"/>
                  </a:ext>
                </a:extLst>
              </p:cNvPr>
              <p:cNvSpPr/>
              <p:nvPr/>
            </p:nvSpPr>
            <p:spPr>
              <a:xfrm>
                <a:off x="548640" y="1280160"/>
                <a:ext cx="3675000" cy="159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defTabSz="685800">
                  <a:spcAft>
                    <a:spcPts val="525"/>
                  </a:spcAft>
                </a:pPr>
                <a:r>
                  <a:rPr lang="de-DE" sz="1050" dirty="0">
                    <a:solidFill>
                      <a:srgbClr val="0D1B2A"/>
                    </a:solidFill>
                    <a:latin typeface="Calibri" pitchFamily="34" charset="0"/>
                  </a:rPr>
                  <a:t>▸ </a:t>
                </a:r>
                <a:r>
                  <a:rPr lang="de-DE" sz="1050" b="1" dirty="0">
                    <a:solidFill>
                      <a:srgbClr val="0D1B2A"/>
                    </a:solidFill>
                    <a:latin typeface="Calibri" pitchFamily="34" charset="0"/>
                  </a:rPr>
                  <a:t>Reale Zeitreihen </a:t>
                </a:r>
                <a:r>
                  <a:rPr lang="de-DE" sz="1050" dirty="0">
                    <a:solidFill>
                      <a:srgbClr val="0D1B2A"/>
                    </a:solidFill>
                    <a:latin typeface="Calibri" pitchFamily="34" charset="0"/>
                  </a:rPr>
                  <a:t>werden nach vorheriger Skalierung mit zufälligen Gewichten linear zu einer neuen, synthetischen Reihe gemischt.</a:t>
                </a:r>
              </a:p>
            </p:txBody>
          </p:sp>
        </p:grpSp>
        <p:sp>
          <p:nvSpPr>
            <p:cNvPr id="24" name="KernelSynth Bullets">
              <a:extLst>
                <a:ext uri="{FF2B5EF4-FFF2-40B4-BE49-F238E27FC236}">
                  <a16:creationId xmlns:a16="http://schemas.microsoft.com/office/drawing/2014/main" id="{11D67EF8-BF74-D746-97B4-164814A09CE5}"/>
                </a:ext>
              </a:extLst>
            </p:cNvPr>
            <p:cNvSpPr/>
            <p:nvPr/>
          </p:nvSpPr>
          <p:spPr>
            <a:xfrm>
              <a:off x="4809510" y="1943057"/>
              <a:ext cx="3675000" cy="159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</a:t>
              </a:r>
              <a:r>
                <a:rPr lang="de-DE" sz="1050" b="1" dirty="0">
                  <a:solidFill>
                    <a:srgbClr val="0D1B2A"/>
                  </a:solidFill>
                  <a:latin typeface="Calibri" pitchFamily="34" charset="0"/>
                </a:rPr>
                <a:t>Komplett künstliche </a:t>
              </a: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Zeitreihen werden erzeugt durch Überlagerung verschiedener Kernel-Funktionen (linear, periodisch) mit Rauschen.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Anwendung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Benchmarking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Performance auf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ungesehenen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Zeitreihen</a:t>
            </a:r>
            <a:endParaRPr lang="en-US" sz="16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60489-0B2A-1172-5D21-DDAF486B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56CAE62B-BD9F-CD54-CA6E-107F3F877AD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D0CC27-8F9F-1B3A-85A1-0E1FD3417F4C}"/>
              </a:ext>
            </a:extLst>
          </p:cNvPr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Anwendungsbeispiel - Box &amp; Jenkins Airline </a:t>
            </a:r>
            <a:r>
              <a:rPr lang="de-DE" sz="2100" b="1" dirty="0" err="1">
                <a:solidFill>
                  <a:srgbClr val="FFFFFF"/>
                </a:solidFill>
                <a:latin typeface="Cambria" pitchFamily="34" charset="0"/>
              </a:rPr>
              <a:t>Passengers</a:t>
            </a:r>
            <a:endParaRPr lang="de-DE" sz="2100" b="1" dirty="0">
              <a:solidFill>
                <a:srgbClr val="FFFFFF"/>
              </a:solidFill>
              <a:latin typeface="Cambria" pitchFamily="34" charset="0"/>
            </a:endParaRP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34878B8-D469-D6CF-8B89-441F290C8189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21" name="Card Left">
            <a:extLst>
              <a:ext uri="{FF2B5EF4-FFF2-40B4-BE49-F238E27FC236}">
                <a16:creationId xmlns:a16="http://schemas.microsoft.com/office/drawing/2014/main" id="{1AAA81F7-AD24-86D0-AC16-47D9B414F2EB}"/>
              </a:ext>
            </a:extLst>
          </p:cNvPr>
          <p:cNvSpPr/>
          <p:nvPr/>
        </p:nvSpPr>
        <p:spPr>
          <a:xfrm>
            <a:off x="5584372" y="1013964"/>
            <a:ext cx="3193868" cy="3407813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▸Datensatz: 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Monatliche Anzahl der Flugpassiere einer US-Fluglinie</a:t>
            </a: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▸</a:t>
            </a:r>
            <a:r>
              <a:rPr lang="de-DE" sz="1200" b="1" dirty="0">
                <a:solidFill>
                  <a:prstClr val="black"/>
                </a:solidFill>
                <a:latin typeface="Calibri" panose="020F0502020204030204"/>
              </a:rPr>
              <a:t>Zero-Shot-Performance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: Chronos (hier: chronos-t5-small) sagt die Passagierzahlen korrekt voraus und liefert das Unsicherheitsintervall direkt mit aus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Einfluss </a:t>
            </a:r>
            <a:r>
              <a:rPr lang="de-DE" sz="1200" b="1" dirty="0">
                <a:solidFill>
                  <a:prstClr val="black"/>
                </a:solidFill>
                <a:latin typeface="Calibri" panose="020F0502020204030204"/>
              </a:rPr>
              <a:t>Kontextfenster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: Werden nur die die letzten 36 Monate für die Prognose verwendet ist das Kontextfenster zu kurz 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 Chronos unterschätzt den Trend.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71421E2-6463-EE5C-9C8A-61DCA2ADC600}"/>
              </a:ext>
            </a:extLst>
          </p:cNvPr>
          <p:cNvSpPr txBox="1"/>
          <p:nvPr/>
        </p:nvSpPr>
        <p:spPr>
          <a:xfrm>
            <a:off x="97971" y="4661847"/>
            <a:ext cx="7112726" cy="25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https://raw.githubusercontent.com/AileenNielsen/TimeSeriesAnalysisWithPython/master/data/AirPassengers.csv</a:t>
            </a:r>
            <a:endParaRPr lang="de-DE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350C7271-5381-5853-A223-A2A87488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3963"/>
            <a:ext cx="4721880" cy="340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2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2AA09-A79B-F4EF-554B-EA613040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FF27329A-5268-8592-4FFF-EDCD01F8CE5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77CC07E-6772-7C67-9D67-C693E9E20E5C}"/>
              </a:ext>
            </a:extLst>
          </p:cNvPr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Anwendungsbeispiel - Box &amp; Jenkins Airline </a:t>
            </a:r>
            <a:r>
              <a:rPr lang="de-DE" sz="2100" b="1" dirty="0" err="1">
                <a:solidFill>
                  <a:srgbClr val="FFFFFF"/>
                </a:solidFill>
                <a:latin typeface="Cambria" pitchFamily="34" charset="0"/>
              </a:rPr>
              <a:t>Passengers</a:t>
            </a:r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 II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DAA3673-ACC1-2CBE-98A7-F512392C4051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21" name="Card Left">
            <a:extLst>
              <a:ext uri="{FF2B5EF4-FFF2-40B4-BE49-F238E27FC236}">
                <a16:creationId xmlns:a16="http://schemas.microsoft.com/office/drawing/2014/main" id="{E796FFD2-F510-272A-527C-0AA18725EB33}"/>
              </a:ext>
            </a:extLst>
          </p:cNvPr>
          <p:cNvSpPr/>
          <p:nvPr/>
        </p:nvSpPr>
        <p:spPr>
          <a:xfrm>
            <a:off x="5584372" y="824552"/>
            <a:ext cx="3193868" cy="3407813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 lvl="0"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Erzeugung des </a:t>
            </a:r>
            <a:r>
              <a:rPr lang="de-DE" sz="1200" b="1" dirty="0">
                <a:solidFill>
                  <a:prstClr val="black"/>
                </a:solidFill>
                <a:latin typeface="Calibri" panose="020F0502020204030204"/>
              </a:rPr>
              <a:t>Konfidenzintervalls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durch Ziehen mehrerer Sample-Trajektorien aus der Token-Wahrscheinlichkeitsverteilung und Berechnung empirischer Quantile für jeden Zeitschritt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▸Steigende Breite des Konfidenzintervalls mit längerem Prädiktionszeitfenster.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▸Vgl. Bonus-Notebook </a:t>
            </a:r>
            <a:r>
              <a:rPr lang="de-DE" sz="1200" dirty="0" err="1">
                <a:solidFill>
                  <a:prstClr val="black"/>
                </a:solidFill>
                <a:latin typeface="Calibri" panose="020F0502020204030204"/>
              </a:rPr>
              <a:t>Airpassengers.ipynb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endParaRPr lang="de-DE" sz="1200" b="1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FC77904-22DE-6B69-744C-755C35BAC1CB}"/>
              </a:ext>
            </a:extLst>
          </p:cNvPr>
          <p:cNvSpPr txBox="1"/>
          <p:nvPr/>
        </p:nvSpPr>
        <p:spPr>
          <a:xfrm>
            <a:off x="97971" y="4661847"/>
            <a:ext cx="7112726" cy="25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https://raw.githubusercontent.com/AileenNielsen/TimeSeriesAnalysisWithPython/master/data/AirPassengers.csv</a:t>
            </a:r>
            <a:endParaRPr lang="de-DE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F5E5E18-316F-A68A-1499-4F491FC9B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26" y="824552"/>
            <a:ext cx="4961152" cy="35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05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2CB18-2D79-CADB-BF51-5F371B73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A38DA4BC-B510-7338-FBC0-F8EADA61C5C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B33BF5A-3232-E55C-B794-27DFF67B8E4F}"/>
              </a:ext>
            </a:extLst>
          </p:cNvPr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Chronos im Code: Von Setup zu Pipeline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C0A43BC-C34D-53BC-4BA2-4DBC23C74046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5" name="Step1 Circle">
            <a:extLst>
              <a:ext uri="{FF2B5EF4-FFF2-40B4-BE49-F238E27FC236}">
                <a16:creationId xmlns:a16="http://schemas.microsoft.com/office/drawing/2014/main" id="{32035542-1677-5053-FB4B-93388BABC58C}"/>
              </a:ext>
            </a:extLst>
          </p:cNvPr>
          <p:cNvSpPr/>
          <p:nvPr/>
        </p:nvSpPr>
        <p:spPr>
          <a:xfrm>
            <a:off x="365760" y="712500"/>
            <a:ext cx="255000" cy="25500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6" name="Step1 Title">
            <a:extLst>
              <a:ext uri="{FF2B5EF4-FFF2-40B4-BE49-F238E27FC236}">
                <a16:creationId xmlns:a16="http://schemas.microsoft.com/office/drawing/2014/main" id="{05EBFF62-8A58-3CD8-FD24-BDD15A15434B}"/>
              </a:ext>
            </a:extLst>
          </p:cNvPr>
          <p:cNvSpPr/>
          <p:nvPr/>
        </p:nvSpPr>
        <p:spPr>
          <a:xfrm>
            <a:off x="690000" y="7125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Paket laden</a:t>
            </a:r>
          </a:p>
        </p:txBody>
      </p:sp>
      <p:sp>
        <p:nvSpPr>
          <p:cNvPr id="7" name="Step1 Code Box">
            <a:extLst>
              <a:ext uri="{FF2B5EF4-FFF2-40B4-BE49-F238E27FC236}">
                <a16:creationId xmlns:a16="http://schemas.microsoft.com/office/drawing/2014/main" id="{8D8EC8C8-7742-72F7-DA32-25F1DB7AC1C7}"/>
              </a:ext>
            </a:extLst>
          </p:cNvPr>
          <p:cNvSpPr/>
          <p:nvPr/>
        </p:nvSpPr>
        <p:spPr>
          <a:xfrm>
            <a:off x="365760" y="997500"/>
            <a:ext cx="8412480" cy="7125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!pip install chronos-forecasting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import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pandas </a:t>
            </a: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as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pd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import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torch</a:t>
            </a:r>
          </a:p>
          <a:p>
            <a:pPr defTabSz="685800"/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from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chronos </a:t>
            </a: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import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ChronosPipeline</a:t>
            </a:r>
          </a:p>
        </p:txBody>
      </p:sp>
      <p:sp>
        <p:nvSpPr>
          <p:cNvPr id="8" name="Step2 Circle">
            <a:extLst>
              <a:ext uri="{FF2B5EF4-FFF2-40B4-BE49-F238E27FC236}">
                <a16:creationId xmlns:a16="http://schemas.microsoft.com/office/drawing/2014/main" id="{BA442F93-04D8-9B49-E251-12ECE1CE29E5}"/>
              </a:ext>
            </a:extLst>
          </p:cNvPr>
          <p:cNvSpPr/>
          <p:nvPr/>
        </p:nvSpPr>
        <p:spPr>
          <a:xfrm>
            <a:off x="365760" y="1792500"/>
            <a:ext cx="255000" cy="255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9" name="Step2 Title">
            <a:extLst>
              <a:ext uri="{FF2B5EF4-FFF2-40B4-BE49-F238E27FC236}">
                <a16:creationId xmlns:a16="http://schemas.microsoft.com/office/drawing/2014/main" id="{4E513992-52F3-F2D2-69DE-1F865DEF256E}"/>
              </a:ext>
            </a:extLst>
          </p:cNvPr>
          <p:cNvSpPr/>
          <p:nvPr/>
        </p:nvSpPr>
        <p:spPr>
          <a:xfrm>
            <a:off x="690000" y="17925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1D4ED8"/>
                </a:solidFill>
                <a:latin typeface="Calibri" pitchFamily="34" charset="0"/>
              </a:rPr>
              <a:t>Trainings- und Testdaten laden bzw. Daten für die Zero-Shot Vorhersage aufrufen</a:t>
            </a:r>
          </a:p>
        </p:txBody>
      </p:sp>
      <p:sp>
        <p:nvSpPr>
          <p:cNvPr id="10" name="Step2 Code Box">
            <a:extLst>
              <a:ext uri="{FF2B5EF4-FFF2-40B4-BE49-F238E27FC236}">
                <a16:creationId xmlns:a16="http://schemas.microsoft.com/office/drawing/2014/main" id="{34D3C5AC-AD54-C672-87BA-36C4FB0ABF58}"/>
              </a:ext>
            </a:extLst>
          </p:cNvPr>
          <p:cNvSpPr/>
          <p:nvPr/>
        </p:nvSpPr>
        <p:spPr>
          <a:xfrm>
            <a:off x="365760" y="2077500"/>
            <a:ext cx="8412480" cy="5700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df = pd.read_csv("zeitreihe.csv")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context = torch.tensor(df["wert"][:context_len])</a:t>
            </a:r>
          </a:p>
          <a:p>
            <a:pPr defTabSz="685800"/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actual_future = df["wert"][context_len:]</a:t>
            </a:r>
          </a:p>
        </p:txBody>
      </p:sp>
      <p:sp>
        <p:nvSpPr>
          <p:cNvPr id="11" name="Step3 Circle">
            <a:extLst>
              <a:ext uri="{FF2B5EF4-FFF2-40B4-BE49-F238E27FC236}">
                <a16:creationId xmlns:a16="http://schemas.microsoft.com/office/drawing/2014/main" id="{C2998323-96DC-7805-181D-43B9A6958856}"/>
              </a:ext>
            </a:extLst>
          </p:cNvPr>
          <p:cNvSpPr/>
          <p:nvPr/>
        </p:nvSpPr>
        <p:spPr>
          <a:xfrm>
            <a:off x="365760" y="2730000"/>
            <a:ext cx="255000" cy="2550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2" name="Step3 Title">
            <a:extLst>
              <a:ext uri="{FF2B5EF4-FFF2-40B4-BE49-F238E27FC236}">
                <a16:creationId xmlns:a16="http://schemas.microsoft.com/office/drawing/2014/main" id="{DA7C5F0B-6148-5282-DB08-55F3EB9DA8EB}"/>
              </a:ext>
            </a:extLst>
          </p:cNvPr>
          <p:cNvSpPr/>
          <p:nvPr/>
        </p:nvSpPr>
        <p:spPr>
          <a:xfrm>
            <a:off x="690000" y="27300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15803D"/>
                </a:solidFill>
                <a:latin typeface="Calibri" pitchFamily="34" charset="0"/>
              </a:rPr>
              <a:t>Chronos-Pipeline definieren</a:t>
            </a:r>
          </a:p>
        </p:txBody>
      </p:sp>
      <p:sp>
        <p:nvSpPr>
          <p:cNvPr id="13" name="Step3 Code Box">
            <a:extLst>
              <a:ext uri="{FF2B5EF4-FFF2-40B4-BE49-F238E27FC236}">
                <a16:creationId xmlns:a16="http://schemas.microsoft.com/office/drawing/2014/main" id="{5A4C79DA-2EE0-522F-ED10-405AA3F6954F}"/>
              </a:ext>
            </a:extLst>
          </p:cNvPr>
          <p:cNvSpPr/>
          <p:nvPr/>
        </p:nvSpPr>
        <p:spPr>
          <a:xfrm>
            <a:off x="365760" y="3015000"/>
            <a:ext cx="8412480" cy="8625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pipeline = ChronosPipeline.from_pretrained(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9A826"/>
                </a:solidFill>
                <a:latin typeface="Courier New" pitchFamily="34" charset="0"/>
              </a:rPr>
              <a:t>    "amazon/chronos-t5-small"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,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 # alternativ: tiny, mini, base, large -- oder chronos-bolt-*, chronos-2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   device_map=</a:t>
            </a:r>
            <a:r>
              <a:rPr lang="en-US" sz="938" dirty="0">
                <a:solidFill>
                  <a:srgbClr val="F9A826"/>
                </a:solidFill>
                <a:latin typeface="Courier New" pitchFamily="34" charset="0"/>
              </a:rPr>
              <a:t>"cpu"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,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 # idealerweise "cuda", falls GPU verfügbar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   torch_dtype=torch.float32,</a:t>
            </a:r>
          </a:p>
          <a:p>
            <a:pPr defTabSz="685800"/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)</a:t>
            </a:r>
          </a:p>
        </p:txBody>
      </p:sp>
      <p:sp>
        <p:nvSpPr>
          <p:cNvPr id="15" name="Step4 Circle">
            <a:extLst>
              <a:ext uri="{FF2B5EF4-FFF2-40B4-BE49-F238E27FC236}">
                <a16:creationId xmlns:a16="http://schemas.microsoft.com/office/drawing/2014/main" id="{226AAE87-481C-B6EA-EBB2-6886B6A4C367}"/>
              </a:ext>
            </a:extLst>
          </p:cNvPr>
          <p:cNvSpPr/>
          <p:nvPr/>
        </p:nvSpPr>
        <p:spPr>
          <a:xfrm>
            <a:off x="365760" y="3960000"/>
            <a:ext cx="255000" cy="25500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6" name="Step4 Title">
            <a:extLst>
              <a:ext uri="{FF2B5EF4-FFF2-40B4-BE49-F238E27FC236}">
                <a16:creationId xmlns:a16="http://schemas.microsoft.com/office/drawing/2014/main" id="{8E6E4969-5BA1-E1AC-8863-6CC0C686861B}"/>
              </a:ext>
            </a:extLst>
          </p:cNvPr>
          <p:cNvSpPr/>
          <p:nvPr/>
        </p:nvSpPr>
        <p:spPr>
          <a:xfrm>
            <a:off x="690000" y="39600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B45309"/>
                </a:solidFill>
                <a:latin typeface="Calibri" pitchFamily="34" charset="0"/>
              </a:rPr>
              <a:t>Forecast erstellen</a:t>
            </a:r>
          </a:p>
        </p:txBody>
      </p:sp>
      <p:sp>
        <p:nvSpPr>
          <p:cNvPr id="17" name="Step4 Code Box">
            <a:extLst>
              <a:ext uri="{FF2B5EF4-FFF2-40B4-BE49-F238E27FC236}">
                <a16:creationId xmlns:a16="http://schemas.microsoft.com/office/drawing/2014/main" id="{16E7C3DA-0F7A-EAA3-5962-D5E02A0E9CAC}"/>
              </a:ext>
            </a:extLst>
          </p:cNvPr>
          <p:cNvSpPr/>
          <p:nvPr/>
        </p:nvSpPr>
        <p:spPr>
          <a:xfrm>
            <a:off x="365760" y="4245000"/>
            <a:ext cx="8412480" cy="5700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forecast = pipeline.predict(context, prediction_length=12, num_samples=100)</a:t>
            </a:r>
          </a:p>
          <a:p>
            <a:pPr defTabSz="685800"/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low, median, high = np.quantile(forecast[0].numpy(), [0.1, 0.5, 0.9], axis=0)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# </a:t>
            </a:r>
            <a:r>
              <a:rPr lang="en-US" sz="938" dirty="0" err="1">
                <a:solidFill>
                  <a:srgbClr val="94A3B8"/>
                </a:solidFill>
                <a:latin typeface="Courier New" pitchFamily="34" charset="0"/>
              </a:rPr>
              <a:t>gewünschtes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</a:t>
            </a:r>
            <a:r>
              <a:rPr lang="en-US" sz="938" dirty="0" err="1">
                <a:solidFill>
                  <a:srgbClr val="94A3B8"/>
                </a:solidFill>
                <a:latin typeface="Courier New" pitchFamily="34" charset="0"/>
              </a:rPr>
              <a:t>Konfidenzintervall</a:t>
            </a:r>
            <a:endParaRPr lang="en-US" sz="938" dirty="0">
              <a:solidFill>
                <a:srgbClr val="FFFFFF"/>
              </a:solidFill>
              <a:latin typeface="Courier Ne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47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Benchmark: Zero-Shot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Ergebnisse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auf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ungesehenen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442DBE0-30D6-3B56-0F79-7DA9458CCACD}"/>
              </a:ext>
            </a:extLst>
          </p:cNvPr>
          <p:cNvGrpSpPr/>
          <p:nvPr/>
        </p:nvGrpSpPr>
        <p:grpSpPr>
          <a:xfrm>
            <a:off x="574690" y="4370832"/>
            <a:ext cx="3997310" cy="566928"/>
            <a:chOff x="320040" y="4370832"/>
            <a:chExt cx="2743200" cy="566928"/>
          </a:xfrm>
        </p:grpSpPr>
        <p:sp>
          <p:nvSpPr>
            <p:cNvPr id="6" name="Shape 3"/>
            <p:cNvSpPr/>
            <p:nvPr/>
          </p:nvSpPr>
          <p:spPr>
            <a:xfrm>
              <a:off x="320040" y="4370832"/>
              <a:ext cx="2743200" cy="566928"/>
            </a:xfrm>
            <a:prstGeom prst="roundRect">
              <a:avLst>
                <a:gd name="adj" fmla="val 12903"/>
              </a:avLst>
            </a:prstGeom>
            <a:solidFill>
              <a:srgbClr val="ECFDF5"/>
            </a:solidFill>
            <a:ln w="635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4"/>
            <p:cNvSpPr/>
            <p:nvPr/>
          </p:nvSpPr>
          <p:spPr>
            <a:xfrm>
              <a:off x="438912" y="4434840"/>
              <a:ext cx="2514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WQL (Weighted Quantile Loss):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Qualitätsmaß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probabilistischen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Vorhersage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d.h.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inclusive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Konfidenzintervall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Chronos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schneidet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auf Rang 2–4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besser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als die meisten task-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spezifischen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Modelle ab.</a:t>
              </a:r>
              <a:endParaRPr lang="en-US" sz="1000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F9D1848-C0E2-5CC9-D2AB-32EB23D43B67}"/>
              </a:ext>
            </a:extLst>
          </p:cNvPr>
          <p:cNvGrpSpPr/>
          <p:nvPr/>
        </p:nvGrpSpPr>
        <p:grpSpPr>
          <a:xfrm>
            <a:off x="4586174" y="4370832"/>
            <a:ext cx="4037999" cy="566928"/>
            <a:chOff x="3227832" y="4370832"/>
            <a:chExt cx="2743200" cy="566928"/>
          </a:xfrm>
        </p:grpSpPr>
        <p:sp>
          <p:nvSpPr>
            <p:cNvPr id="8" name="Shape 5"/>
            <p:cNvSpPr/>
            <p:nvPr/>
          </p:nvSpPr>
          <p:spPr>
            <a:xfrm>
              <a:off x="3227832" y="4370832"/>
              <a:ext cx="2743200" cy="566928"/>
            </a:xfrm>
            <a:prstGeom prst="roundRect">
              <a:avLst>
                <a:gd name="adj" fmla="val 12903"/>
              </a:avLst>
            </a:prstGeom>
            <a:solidFill>
              <a:srgbClr val="ECFDF5"/>
            </a:solidFill>
            <a:ln w="635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Text 6"/>
            <p:cNvSpPr/>
            <p:nvPr/>
          </p:nvSpPr>
          <p:spPr>
            <a:xfrm>
              <a:off x="3346704" y="4434840"/>
              <a:ext cx="2514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MASE (Mean Absolute Scaled Error):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Qualitätsmaß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Punktvorhersage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Chronos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schneidet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auch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vergleichbar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bzw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besser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als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task-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spezifische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Modelle ab!</a:t>
              </a:r>
              <a:endParaRPr lang="en-US" sz="1000" dirty="0"/>
            </a:p>
          </p:txBody>
        </p:sp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FA696A48-73B8-E84B-E8DE-21919CCE3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0" y="749204"/>
            <a:ext cx="8049484" cy="35125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914378"/>
            <a:endParaRPr lang="de-DE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400" b="1" dirty="0">
                <a:solidFill>
                  <a:srgbClr val="FFFFFF"/>
                </a:solidFill>
                <a:latin typeface="Cambria" pitchFamily="34" charset="0"/>
              </a:rPr>
              <a:t>Stärken von Chronos</a:t>
            </a:r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63D8523C-FD1D-72A2-FE7B-E16703900BDA}"/>
              </a:ext>
            </a:extLst>
          </p:cNvPr>
          <p:cNvGrpSpPr/>
          <p:nvPr/>
        </p:nvGrpSpPr>
        <p:grpSpPr>
          <a:xfrm>
            <a:off x="320040" y="1781769"/>
            <a:ext cx="8558784" cy="1874520"/>
            <a:chOff x="320040" y="749808"/>
            <a:chExt cx="8558784" cy="1874520"/>
          </a:xfrm>
        </p:grpSpPr>
        <p:sp>
          <p:nvSpPr>
            <p:cNvPr id="5" name="Shape 3"/>
            <p:cNvSpPr/>
            <p:nvPr/>
          </p:nvSpPr>
          <p:spPr>
            <a:xfrm>
              <a:off x="320040" y="749808"/>
              <a:ext cx="2743200" cy="1874520"/>
            </a:xfrm>
            <a:prstGeom prst="roundRect">
              <a:avLst>
                <a:gd name="adj" fmla="val 4878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841248"/>
              <a:ext cx="2103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200" b="1" dirty="0">
                  <a:solidFill>
                    <a:srgbClr val="065F4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Zero-Shot Generalisierung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29768" y="1252728"/>
              <a:ext cx="2514600" cy="126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Einmal trainiert — auf beliebigen ungesehenen Zeitreihen einsetzbar, ohne erneutes Training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227832" y="749808"/>
              <a:ext cx="2743200" cy="1874520"/>
            </a:xfrm>
            <a:prstGeom prst="roundRect">
              <a:avLst>
                <a:gd name="adj" fmla="val 4878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749040" y="839942"/>
              <a:ext cx="2103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200" b="1" dirty="0">
                  <a:solidFill>
                    <a:srgbClr val="065F4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Architektur-Agnostisch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337560" y="1252728"/>
              <a:ext cx="2514600" cy="126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Funktioniert mit T5 (encoder-decoder) und GPT-2 (decoder-only). Kompatibel mit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zukünftigen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LLM-Advances.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A54DCF2-2378-7000-14B5-72D386116D78}"/>
                </a:ext>
              </a:extLst>
            </p:cNvPr>
            <p:cNvGrpSpPr/>
            <p:nvPr/>
          </p:nvGrpSpPr>
          <p:grpSpPr>
            <a:xfrm>
              <a:off x="6135624" y="749808"/>
              <a:ext cx="2743200" cy="1874520"/>
              <a:chOff x="3227832" y="2807208"/>
              <a:chExt cx="2743200" cy="187452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3227832" y="2807208"/>
                <a:ext cx="2743200" cy="1874520"/>
              </a:xfrm>
              <a:prstGeom prst="roundRect">
                <a:avLst>
                  <a:gd name="adj" fmla="val 4878"/>
                </a:avLst>
              </a:prstGeom>
              <a:solidFill>
                <a:srgbClr val="ECFDF5"/>
              </a:solidFill>
              <a:ln w="12700">
                <a:solidFill>
                  <a:srgbClr val="A7F3D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7000"/>
                  </a:srgbClr>
                </a:outerShdw>
              </a:effectLst>
            </p:spPr>
            <p:txBody>
              <a:bodyPr/>
              <a:lstStyle/>
              <a:p>
                <a:pPr defTabSz="914378"/>
                <a:endParaRPr lang="de-DE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3557016" y="2898648"/>
                <a:ext cx="2295144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914378"/>
                <a:r>
                  <a:rPr lang="en-US" sz="1200" b="1" dirty="0">
                    <a:solidFill>
                      <a:srgbClr val="065F46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Einfache Deployment-Pipeline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337560" y="3310128"/>
                <a:ext cx="2468880" cy="12618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914378"/>
                <a:r>
                  <a:rPr lang="de-DE" sz="11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Keine komplexen Trainings-Pipelines pro Use-Case nötig. Die Anpassung erfolgt effizient über reine Inferenz-Parameter (z.B. Kontextlänge)</a:t>
                </a:r>
                <a:endPara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AA535-3A99-918D-24E4-5A059E3B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27FADE-DEA7-AA16-66BA-A9D2BC5A9AE5}"/>
              </a:ext>
            </a:extLst>
          </p:cNvPr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0BB1F3-742C-EFE0-BCD9-92BCC6756F13}"/>
              </a:ext>
            </a:extLst>
          </p:cNvPr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A5DEAC-2C27-0814-9945-847D7AE6F869}"/>
              </a:ext>
            </a:extLst>
          </p:cNvPr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201A45-601C-5AD8-5452-6C11852AF140}"/>
              </a:ext>
            </a:extLst>
          </p:cNvPr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Chronos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Chronos-2</a:t>
            </a: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396A55C-4241-291F-EDE8-63B95A49E4CD}"/>
              </a:ext>
            </a:extLst>
          </p:cNvPr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90E0EF"/>
                </a:solidFill>
                <a:latin typeface="Calibri" pitchFamily="34" charset="0"/>
              </a:rPr>
              <a:t>Von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</a:rPr>
              <a:t>univariat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</a:rPr>
              <a:t>zu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</a:rPr>
              <a:t>universell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570088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Grenzen von Chronos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5" name="Card5 BG"/>
          <p:cNvSpPr/>
          <p:nvPr/>
        </p:nvSpPr>
        <p:spPr>
          <a:xfrm>
            <a:off x="32004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" name="Card5 Icon"/>
          <p:cNvSpPr/>
          <p:nvPr/>
        </p:nvSpPr>
        <p:spPr>
          <a:xfrm>
            <a:off x="32004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📊</a:t>
            </a:r>
          </a:p>
        </p:txBody>
      </p:sp>
      <p:sp>
        <p:nvSpPr>
          <p:cNvPr id="7" name="Card5 Title"/>
          <p:cNvSpPr/>
          <p:nvPr/>
        </p:nvSpPr>
        <p:spPr>
          <a:xfrm>
            <a:off x="41004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Nur univariat</a:t>
            </a:r>
          </a:p>
        </p:txBody>
      </p:sp>
      <p:sp>
        <p:nvSpPr>
          <p:cNvPr id="8" name="Card5 Desc"/>
          <p:cNvSpPr/>
          <p:nvPr/>
        </p:nvSpPr>
        <p:spPr>
          <a:xfrm>
            <a:off x="41004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38" dirty="0">
                <a:solidFill>
                  <a:srgbClr val="0D1B2A"/>
                </a:solidFill>
                <a:latin typeface="Calibri" pitchFamily="34" charset="0"/>
              </a:rPr>
              <a:t>Keine gemeinsame Modellierung mehrerer Zeitreihen, keine externen Kovariaten</a:t>
            </a:r>
          </a:p>
        </p:txBody>
      </p:sp>
      <p:sp>
        <p:nvSpPr>
          <p:cNvPr id="9" name="Card9 BG"/>
          <p:cNvSpPr/>
          <p:nvPr/>
        </p:nvSpPr>
        <p:spPr>
          <a:xfrm>
            <a:off x="247977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0" name="Card9 Icon"/>
          <p:cNvSpPr/>
          <p:nvPr/>
        </p:nvSpPr>
        <p:spPr>
          <a:xfrm>
            <a:off x="247977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🧩</a:t>
            </a:r>
          </a:p>
        </p:txBody>
      </p:sp>
      <p:sp>
        <p:nvSpPr>
          <p:cNvPr id="11" name="Card9 Title"/>
          <p:cNvSpPr/>
          <p:nvPr/>
        </p:nvSpPr>
        <p:spPr>
          <a:xfrm>
            <a:off x="256977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Kein In-Context Learning</a:t>
            </a:r>
          </a:p>
        </p:txBody>
      </p:sp>
      <p:sp>
        <p:nvSpPr>
          <p:cNvPr id="12" name="Card9 Desc"/>
          <p:cNvSpPr/>
          <p:nvPr/>
        </p:nvSpPr>
        <p:spPr>
          <a:xfrm>
            <a:off x="256977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863" dirty="0">
                <a:solidFill>
                  <a:srgbClr val="0D1B2A"/>
                </a:solidFill>
                <a:latin typeface="Calibri" pitchFamily="34" charset="0"/>
              </a:rPr>
              <a:t>Kann neue Muster nicht aus Beispielen im Kontext lernen (wie z.B. GPT-4) — nur durch erneutes Training</a:t>
            </a:r>
          </a:p>
        </p:txBody>
      </p:sp>
      <p:sp>
        <p:nvSpPr>
          <p:cNvPr id="13" name="Card13 BG"/>
          <p:cNvSpPr/>
          <p:nvPr/>
        </p:nvSpPr>
        <p:spPr>
          <a:xfrm>
            <a:off x="463950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4" name="Card13 Icon"/>
          <p:cNvSpPr/>
          <p:nvPr/>
        </p:nvSpPr>
        <p:spPr>
          <a:xfrm>
            <a:off x="463950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⚙️</a:t>
            </a:r>
          </a:p>
        </p:txBody>
      </p:sp>
      <p:sp>
        <p:nvSpPr>
          <p:cNvPr id="15" name="Card13 Title"/>
          <p:cNvSpPr/>
          <p:nvPr/>
        </p:nvSpPr>
        <p:spPr>
          <a:xfrm>
            <a:off x="472950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Hoher Rechenaufwand</a:t>
            </a:r>
          </a:p>
        </p:txBody>
      </p:sp>
      <p:sp>
        <p:nvSpPr>
          <p:cNvPr id="16" name="Card13 Desc"/>
          <p:cNvSpPr/>
          <p:nvPr/>
        </p:nvSpPr>
        <p:spPr>
          <a:xfrm>
            <a:off x="472950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38" dirty="0">
                <a:solidFill>
                  <a:srgbClr val="0D1B2A"/>
                </a:solidFill>
                <a:latin typeface="Calibri" pitchFamily="34" charset="0"/>
              </a:rPr>
              <a:t>Große Modelle mit bis zu 710M Parametern benötigen viel Speicher und GPU-Leistung</a:t>
            </a:r>
          </a:p>
        </p:txBody>
      </p:sp>
      <p:sp>
        <p:nvSpPr>
          <p:cNvPr id="17" name="Card17 BG"/>
          <p:cNvSpPr/>
          <p:nvPr/>
        </p:nvSpPr>
        <p:spPr>
          <a:xfrm>
            <a:off x="679923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8" name="Card17 Icon"/>
          <p:cNvSpPr/>
          <p:nvPr/>
        </p:nvSpPr>
        <p:spPr>
          <a:xfrm>
            <a:off x="679923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⏱</a:t>
            </a:r>
          </a:p>
        </p:txBody>
      </p:sp>
      <p:sp>
        <p:nvSpPr>
          <p:cNvPr id="19" name="Card17 Title"/>
          <p:cNvSpPr/>
          <p:nvPr/>
        </p:nvSpPr>
        <p:spPr>
          <a:xfrm>
            <a:off x="688923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Langsame Inferenz</a:t>
            </a:r>
          </a:p>
        </p:txBody>
      </p:sp>
      <p:sp>
        <p:nvSpPr>
          <p:cNvPr id="20" name="Card17 Desc"/>
          <p:cNvSpPr/>
          <p:nvPr/>
        </p:nvSpPr>
        <p:spPr>
          <a:xfrm>
            <a:off x="688923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38" dirty="0">
                <a:solidFill>
                  <a:srgbClr val="0D1B2A"/>
                </a:solidFill>
                <a:latin typeface="Calibri" pitchFamily="34" charset="0"/>
              </a:rPr>
              <a:t>Autoregressive Token-für-Token-Generierung verlangsamt die Prognose spürbar</a:t>
            </a:r>
          </a:p>
        </p:txBody>
      </p:sp>
      <p:sp>
        <p:nvSpPr>
          <p:cNvPr id="21" name="Bridge Banner"/>
          <p:cNvSpPr/>
          <p:nvPr/>
        </p:nvSpPr>
        <p:spPr>
          <a:xfrm>
            <a:off x="320040" y="2887500"/>
            <a:ext cx="8503920" cy="15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783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2" name="Bridge Label"/>
          <p:cNvSpPr/>
          <p:nvPr/>
        </p:nvSpPr>
        <p:spPr>
          <a:xfrm>
            <a:off x="594360" y="3015000"/>
            <a:ext cx="7954560" cy="24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AUSBLICK</a:t>
            </a:r>
          </a:p>
        </p:txBody>
      </p:sp>
      <p:sp>
        <p:nvSpPr>
          <p:cNvPr id="23" name="Bridge Main"/>
          <p:cNvSpPr/>
          <p:nvPr/>
        </p:nvSpPr>
        <p:spPr>
          <a:xfrm>
            <a:off x="594360" y="3315000"/>
            <a:ext cx="7954560" cy="46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950" b="1" dirty="0">
                <a:solidFill>
                  <a:srgbClr val="FFFFFF"/>
                </a:solidFill>
                <a:latin typeface="Cambria" pitchFamily="34" charset="0"/>
              </a:rPr>
              <a:t>Chronos → Chronos-2</a:t>
            </a:r>
          </a:p>
        </p:txBody>
      </p:sp>
      <p:sp>
        <p:nvSpPr>
          <p:cNvPr id="24" name="Bridge Subtitle"/>
          <p:cNvSpPr/>
          <p:nvPr/>
        </p:nvSpPr>
        <p:spPr>
          <a:xfrm>
            <a:off x="594360" y="3855000"/>
            <a:ext cx="7954560" cy="3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125" dirty="0">
                <a:solidFill>
                  <a:srgbClr val="CADCFC"/>
                </a:solidFill>
                <a:latin typeface="Calibri" pitchFamily="34" charset="0"/>
              </a:rPr>
              <a:t>Multivariate Prognosen · native Kovariaten · In-Context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In-Context Learning: Lernen aus dem Prompt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5" name="Left Subheading"/>
          <p:cNvSpPr/>
          <p:nvPr/>
        </p:nvSpPr>
        <p:spPr>
          <a:xfrm>
            <a:off x="365760" y="765000"/>
            <a:ext cx="4012500" cy="33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425" b="1" dirty="0">
                <a:solidFill>
                  <a:srgbClr val="0D1B2A"/>
                </a:solidFill>
                <a:latin typeface="Cambria" pitchFamily="34" charset="0"/>
              </a:rPr>
              <a:t>Was ist In-Context Learning?</a:t>
            </a:r>
          </a:p>
        </p:txBody>
      </p:sp>
      <p:sp>
        <p:nvSpPr>
          <p:cNvPr id="6" name="Left Paragraph"/>
          <p:cNvSpPr/>
          <p:nvPr/>
        </p:nvSpPr>
        <p:spPr>
          <a:xfrm>
            <a:off x="365760" y="1170000"/>
            <a:ext cx="4012500" cy="101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Die Fähigkeit großer Sprachmodelle (z. B. GPT-4), ein neues Muster allein aus Beispielen im Eingabefenster — dem „Kontext" — zu erkennen und fortzusetzen. Ganz ohne erneutes Training oder Fine-Tuning.</a:t>
            </a:r>
          </a:p>
        </p:txBody>
      </p:sp>
      <p:sp>
        <p:nvSpPr>
          <p:cNvPr id="7" name="Left Bullets"/>
          <p:cNvSpPr/>
          <p:nvPr/>
        </p:nvSpPr>
        <p:spPr>
          <a:xfrm>
            <a:off x="365760" y="2287500"/>
            <a:ext cx="4012500" cy="15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spcAft>
                <a:spcPts val="675"/>
              </a:spcAft>
            </a:pPr>
            <a:r>
              <a:rPr lang="de-DE" sz="1088" b="1" dirty="0">
                <a:solidFill>
                  <a:srgbClr val="1D4ED8"/>
                </a:solidFill>
                <a:latin typeface="Calibri" pitchFamily="34" charset="0"/>
              </a:rPr>
              <a:t>▸ Keine Gewichtsänderung</a:t>
            </a:r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 — das Modell selbst bleibt unverändert</a:t>
            </a:r>
          </a:p>
          <a:p>
            <a:pPr defTabSz="685800">
              <a:spcAft>
                <a:spcPts val="675"/>
              </a:spcAft>
            </a:pPr>
            <a:r>
              <a:rPr lang="de-DE" sz="1088" b="1" dirty="0">
                <a:solidFill>
                  <a:srgbClr val="1D4ED8"/>
                </a:solidFill>
                <a:latin typeface="Calibri" pitchFamily="34" charset="0"/>
              </a:rPr>
              <a:t>▸ Nur Beispiele im Prompt</a:t>
            </a:r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 — das Muster wird „on the fly" erkannt</a:t>
            </a:r>
          </a:p>
          <a:p>
            <a:pPr defTabSz="685800"/>
            <a:r>
              <a:rPr lang="de-DE" sz="1088" b="1" dirty="0">
                <a:solidFill>
                  <a:srgbClr val="1D4ED8"/>
                </a:solidFill>
                <a:latin typeface="Calibri" pitchFamily="34" charset="0"/>
              </a:rPr>
              <a:t>▸ Bekannt aus LLMs</a:t>
            </a:r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 — Standardtechnik im Prompting, z. B. bei GPT-4</a:t>
            </a:r>
          </a:p>
        </p:txBody>
      </p:sp>
      <p:sp>
        <p:nvSpPr>
          <p:cNvPr id="8" name="Right Label"/>
          <p:cNvSpPr/>
          <p:nvPr/>
        </p:nvSpPr>
        <p:spPr>
          <a:xfrm>
            <a:off x="4640760" y="765000"/>
            <a:ext cx="4012500" cy="2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425" b="1" dirty="0">
                <a:solidFill>
                  <a:srgbClr val="0D1B2A"/>
                </a:solidFill>
                <a:latin typeface="Cambria" pitchFamily="34" charset="0"/>
              </a:rPr>
              <a:t>Beispiel-Prompt</a:t>
            </a:r>
          </a:p>
        </p:txBody>
      </p:sp>
      <p:sp>
        <p:nvSpPr>
          <p:cNvPr id="21" name="Right Caption"/>
          <p:cNvSpPr/>
          <p:nvPr/>
        </p:nvSpPr>
        <p:spPr>
          <a:xfrm>
            <a:off x="4640760" y="1050000"/>
            <a:ext cx="4012500" cy="24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900" i="1" dirty="0">
                <a:solidFill>
                  <a:srgbClr val="64748B"/>
                </a:solidFill>
                <a:latin typeface="Calibri" pitchFamily="34" charset="0"/>
              </a:rPr>
              <a:t>Frei erfundene Regel — kein erlerntes Weltwissen hilft hier, nur das Muster zählt</a:t>
            </a:r>
          </a:p>
        </p:txBody>
      </p:sp>
      <p:sp>
        <p:nvSpPr>
          <p:cNvPr id="9" name="Prompt Box"/>
          <p:cNvSpPr/>
          <p:nvPr/>
        </p:nvSpPr>
        <p:spPr>
          <a:xfrm>
            <a:off x="4640760" y="1372500"/>
            <a:ext cx="4012500" cy="12375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205740" tIns="137160" rIns="205740" bIns="137160" rtlCol="0" anchor="ctr"/>
          <a:lstStyle/>
          <a:p>
            <a:pPr defTabSz="685800">
              <a:spcAft>
                <a:spcPts val="450"/>
              </a:spcAft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12      </a:t>
            </a:r>
            <a:r>
              <a:rPr lang="en-US" sz="1350" b="1" dirty="0">
                <a:solidFill>
                  <a:srgbClr val="90E0EF"/>
                </a:solidFill>
                <a:latin typeface="Courier New" pitchFamily="34" charset="0"/>
              </a:rPr>
              <a:t>→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  21</a:t>
            </a:r>
          </a:p>
          <a:p>
            <a:pPr defTabSz="685800">
              <a:spcAft>
                <a:spcPts val="450"/>
              </a:spcAft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34      </a:t>
            </a:r>
            <a:r>
              <a:rPr lang="en-US" sz="1350" b="1" dirty="0">
                <a:solidFill>
                  <a:srgbClr val="90E0EF"/>
                </a:solidFill>
                <a:latin typeface="Courier New" pitchFamily="34" charset="0"/>
              </a:rPr>
              <a:t>→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  43</a:t>
            </a:r>
          </a:p>
          <a:p>
            <a:pPr defTabSz="685800"/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56      </a:t>
            </a:r>
            <a:r>
              <a:rPr lang="en-US" sz="1350" b="1" dirty="0">
                <a:solidFill>
                  <a:srgbClr val="90E0EF"/>
                </a:solidFill>
                <a:latin typeface="Courier New" pitchFamily="34" charset="0"/>
              </a:rPr>
              <a:t>→</a:t>
            </a:r>
            <a:r>
              <a:rPr lang="en-US" sz="1350" b="1" dirty="0">
                <a:solidFill>
                  <a:srgbClr val="F9A826"/>
                </a:solidFill>
                <a:latin typeface="Courier New" pitchFamily="34" charset="0"/>
              </a:rPr>
              <a:t>  ?</a:t>
            </a:r>
          </a:p>
        </p:txBody>
      </p:sp>
      <p:sp>
        <p:nvSpPr>
          <p:cNvPr id="10" name="Answer Reveal"/>
          <p:cNvSpPr/>
          <p:nvPr/>
        </p:nvSpPr>
        <p:spPr>
          <a:xfrm>
            <a:off x="4640760" y="2715000"/>
            <a:ext cx="4012500" cy="525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algn="ctr" defTabSz="685800"/>
            <a:r>
              <a:rPr lang="de-DE" sz="1200" b="1" dirty="0">
                <a:solidFill>
                  <a:srgbClr val="15803D"/>
                </a:solidFill>
                <a:latin typeface="Calibri" pitchFamily="34" charset="0"/>
              </a:rPr>
              <a:t>Modell erkennt das Muster → 65</a:t>
            </a:r>
          </a:p>
        </p:txBody>
      </p:sp>
      <p:sp>
        <p:nvSpPr>
          <p:cNvPr id="11" name="Key Message Banner"/>
          <p:cNvSpPr/>
          <p:nvPr/>
        </p:nvSpPr>
        <p:spPr>
          <a:xfrm>
            <a:off x="365760" y="3937500"/>
            <a:ext cx="8412480" cy="81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800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2" name="Key Message Label"/>
          <p:cNvSpPr/>
          <p:nvPr/>
        </p:nvSpPr>
        <p:spPr>
          <a:xfrm>
            <a:off x="594360" y="4012500"/>
            <a:ext cx="795456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BEZUG ZU CHRONOS</a:t>
            </a:r>
          </a:p>
        </p:txBody>
      </p:sp>
      <p:sp>
        <p:nvSpPr>
          <p:cNvPr id="13" name="Key Message Text"/>
          <p:cNvSpPr/>
          <p:nvPr/>
        </p:nvSpPr>
        <p:spPr>
          <a:xfrm>
            <a:off x="594360" y="4252500"/>
            <a:ext cx="79545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75" b="1" dirty="0">
                <a:solidFill>
                  <a:srgbClr val="FFFFFF"/>
                </a:solidFill>
                <a:latin typeface="Cambria" pitchFamily="34" charset="0"/>
              </a:rPr>
              <a:t>🔑 Chronos nutzt bislang kein ICL — Chronos-2 führt es gezielt für Zeitreihen ein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Patches: Weniger Token, schnellere Inferenz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20" name="Left Col Header"/>
          <p:cNvSpPr/>
          <p:nvPr/>
        </p:nvSpPr>
        <p:spPr>
          <a:xfrm>
            <a:off x="365760" y="840000"/>
            <a:ext cx="4012500" cy="33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350" b="1" dirty="0">
                <a:solidFill>
                  <a:srgbClr val="64748B"/>
                </a:solidFill>
                <a:latin typeface="Cambria" pitchFamily="34" charset="0"/>
              </a:rPr>
              <a:t>Chronos (v1): Wert für Wert</a:t>
            </a:r>
          </a:p>
        </p:txBody>
      </p:sp>
      <p:sp>
        <p:nvSpPr>
          <p:cNvPr id="21" name="Right Col Header"/>
          <p:cNvSpPr/>
          <p:nvPr/>
        </p:nvSpPr>
        <p:spPr>
          <a:xfrm>
            <a:off x="4640760" y="840000"/>
            <a:ext cx="4012500" cy="33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350" b="1" dirty="0">
                <a:solidFill>
                  <a:srgbClr val="1D4ED8"/>
                </a:solidFill>
                <a:latin typeface="Cambria" pitchFamily="34" charset="0"/>
              </a:rPr>
              <a:t>Chronos-Bolt / -2: Patch-weise</a:t>
            </a:r>
          </a:p>
        </p:txBody>
      </p:sp>
      <p:sp>
        <p:nvSpPr>
          <p:cNvPr id="40" name="Cell40"/>
          <p:cNvSpPr/>
          <p:nvPr/>
        </p:nvSpPr>
        <p:spPr>
          <a:xfrm>
            <a:off x="36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Cell41"/>
          <p:cNvSpPr/>
          <p:nvPr/>
        </p:nvSpPr>
        <p:spPr>
          <a:xfrm>
            <a:off x="68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Cell42"/>
          <p:cNvSpPr/>
          <p:nvPr/>
        </p:nvSpPr>
        <p:spPr>
          <a:xfrm>
            <a:off x="99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3" name="Cell43"/>
          <p:cNvSpPr/>
          <p:nvPr/>
        </p:nvSpPr>
        <p:spPr>
          <a:xfrm>
            <a:off x="131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Cell44"/>
          <p:cNvSpPr/>
          <p:nvPr/>
        </p:nvSpPr>
        <p:spPr>
          <a:xfrm>
            <a:off x="162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Cell45"/>
          <p:cNvSpPr/>
          <p:nvPr/>
        </p:nvSpPr>
        <p:spPr>
          <a:xfrm>
            <a:off x="194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6" name="Cell46"/>
          <p:cNvSpPr/>
          <p:nvPr/>
        </p:nvSpPr>
        <p:spPr>
          <a:xfrm>
            <a:off x="225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Cell47"/>
          <p:cNvSpPr/>
          <p:nvPr/>
        </p:nvSpPr>
        <p:spPr>
          <a:xfrm>
            <a:off x="257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Cell48"/>
          <p:cNvSpPr/>
          <p:nvPr/>
        </p:nvSpPr>
        <p:spPr>
          <a:xfrm>
            <a:off x="288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9" name="Cell49"/>
          <p:cNvSpPr/>
          <p:nvPr/>
        </p:nvSpPr>
        <p:spPr>
          <a:xfrm>
            <a:off x="320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Cell50"/>
          <p:cNvSpPr/>
          <p:nvPr/>
        </p:nvSpPr>
        <p:spPr>
          <a:xfrm>
            <a:off x="351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Cell51"/>
          <p:cNvSpPr/>
          <p:nvPr/>
        </p:nvSpPr>
        <p:spPr>
          <a:xfrm>
            <a:off x="383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2" name="Cell52"/>
          <p:cNvSpPr/>
          <p:nvPr/>
        </p:nvSpPr>
        <p:spPr>
          <a:xfrm>
            <a:off x="464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3" name="Cell53"/>
          <p:cNvSpPr/>
          <p:nvPr/>
        </p:nvSpPr>
        <p:spPr>
          <a:xfrm>
            <a:off x="495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4" name="Cell54"/>
          <p:cNvSpPr/>
          <p:nvPr/>
        </p:nvSpPr>
        <p:spPr>
          <a:xfrm>
            <a:off x="527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5" name="Cell55"/>
          <p:cNvSpPr/>
          <p:nvPr/>
        </p:nvSpPr>
        <p:spPr>
          <a:xfrm>
            <a:off x="558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6" name="Cell56"/>
          <p:cNvSpPr/>
          <p:nvPr/>
        </p:nvSpPr>
        <p:spPr>
          <a:xfrm>
            <a:off x="590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7" name="Cell57"/>
          <p:cNvSpPr/>
          <p:nvPr/>
        </p:nvSpPr>
        <p:spPr>
          <a:xfrm>
            <a:off x="621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8" name="Cell58"/>
          <p:cNvSpPr/>
          <p:nvPr/>
        </p:nvSpPr>
        <p:spPr>
          <a:xfrm>
            <a:off x="653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9" name="Cell59"/>
          <p:cNvSpPr/>
          <p:nvPr/>
        </p:nvSpPr>
        <p:spPr>
          <a:xfrm>
            <a:off x="684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0" name="Cell60"/>
          <p:cNvSpPr/>
          <p:nvPr/>
        </p:nvSpPr>
        <p:spPr>
          <a:xfrm>
            <a:off x="716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1" name="Cell61"/>
          <p:cNvSpPr/>
          <p:nvPr/>
        </p:nvSpPr>
        <p:spPr>
          <a:xfrm>
            <a:off x="747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2" name="Cell62"/>
          <p:cNvSpPr/>
          <p:nvPr/>
        </p:nvSpPr>
        <p:spPr>
          <a:xfrm>
            <a:off x="779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3" name="Cell63"/>
          <p:cNvSpPr/>
          <p:nvPr/>
        </p:nvSpPr>
        <p:spPr>
          <a:xfrm>
            <a:off x="810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2" name="Left Arrow Label"/>
          <p:cNvSpPr/>
          <p:nvPr/>
        </p:nvSpPr>
        <p:spPr>
          <a:xfrm>
            <a:off x="365760" y="1620000"/>
            <a:ext cx="37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↓ autoregressiv, ein Token nach dem anderen</a:t>
            </a:r>
          </a:p>
        </p:txBody>
      </p:sp>
      <p:sp>
        <p:nvSpPr>
          <p:cNvPr id="23" name="Right Arrow Label"/>
          <p:cNvSpPr/>
          <p:nvPr/>
        </p:nvSpPr>
        <p:spPr>
          <a:xfrm>
            <a:off x="4640760" y="1620000"/>
            <a:ext cx="39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↓ gruppiert zu Patches der Größe 4</a:t>
            </a:r>
          </a:p>
        </p:txBody>
      </p:sp>
      <p:sp>
        <p:nvSpPr>
          <p:cNvPr id="24" name="Left RowB Box"/>
          <p:cNvSpPr/>
          <p:nvPr/>
        </p:nvSpPr>
        <p:spPr>
          <a:xfrm>
            <a:off x="365760" y="1875000"/>
            <a:ext cx="3750000" cy="375000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050" b="1" dirty="0">
                <a:solidFill>
                  <a:srgbClr val="FF6B6B"/>
                </a:solidFill>
                <a:latin typeface="Calibri" pitchFamily="34" charset="0"/>
              </a:rPr>
              <a:t>🔄 12 sequentielle Decoder-Schritte</a:t>
            </a:r>
          </a:p>
        </p:txBody>
      </p:sp>
      <p:sp>
        <p:nvSpPr>
          <p:cNvPr id="25" name="Patch1"/>
          <p:cNvSpPr/>
          <p:nvPr/>
        </p:nvSpPr>
        <p:spPr>
          <a:xfrm>
            <a:off x="4640760" y="1875000"/>
            <a:ext cx="1230000" cy="3750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75" b="1" dirty="0">
                <a:solidFill>
                  <a:srgbClr val="1D4ED8"/>
                </a:solidFill>
                <a:latin typeface="Calibri" pitchFamily="34" charset="0"/>
              </a:rPr>
              <a:t>Patch 1</a:t>
            </a:r>
          </a:p>
        </p:txBody>
      </p:sp>
      <p:sp>
        <p:nvSpPr>
          <p:cNvPr id="26" name="Patch2"/>
          <p:cNvSpPr/>
          <p:nvPr/>
        </p:nvSpPr>
        <p:spPr>
          <a:xfrm>
            <a:off x="5975760" y="1875000"/>
            <a:ext cx="1230000" cy="3750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75" b="1" dirty="0">
                <a:solidFill>
                  <a:srgbClr val="1D4ED8"/>
                </a:solidFill>
                <a:latin typeface="Calibri" pitchFamily="34" charset="0"/>
              </a:rPr>
              <a:t>Patch 2</a:t>
            </a:r>
          </a:p>
        </p:txBody>
      </p:sp>
      <p:sp>
        <p:nvSpPr>
          <p:cNvPr id="27" name="Patch3"/>
          <p:cNvSpPr/>
          <p:nvPr/>
        </p:nvSpPr>
        <p:spPr>
          <a:xfrm>
            <a:off x="7310760" y="1875000"/>
            <a:ext cx="1230000" cy="3750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75" b="1" dirty="0">
                <a:solidFill>
                  <a:srgbClr val="1D4ED8"/>
                </a:solidFill>
                <a:latin typeface="Calibri" pitchFamily="34" charset="0"/>
              </a:rPr>
              <a:t>Patch 3</a:t>
            </a:r>
          </a:p>
        </p:txBody>
      </p:sp>
      <p:sp>
        <p:nvSpPr>
          <p:cNvPr id="28" name="Left Caption"/>
          <p:cNvSpPr/>
          <p:nvPr/>
        </p:nvSpPr>
        <p:spPr>
          <a:xfrm>
            <a:off x="365760" y="2280000"/>
            <a:ext cx="40125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12 Zeitschritte = 12 einzelne Tokens</a:t>
            </a:r>
          </a:p>
        </p:txBody>
      </p:sp>
      <p:sp>
        <p:nvSpPr>
          <p:cNvPr id="29" name="Right Caption"/>
          <p:cNvSpPr/>
          <p:nvPr/>
        </p:nvSpPr>
        <p:spPr>
          <a:xfrm>
            <a:off x="4640760" y="2280000"/>
            <a:ext cx="40125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12 Zeitschritte = 3 Patch-Tokens (Patch-Größe 4)</a:t>
            </a:r>
          </a:p>
        </p:txBody>
      </p:sp>
      <p:sp>
        <p:nvSpPr>
          <p:cNvPr id="30" name="Left Explain Box"/>
          <p:cNvSpPr/>
          <p:nvPr/>
        </p:nvSpPr>
        <p:spPr>
          <a:xfrm>
            <a:off x="365760" y="2625000"/>
            <a:ext cx="4012500" cy="9375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71450" tIns="137160" rIns="171450" bIns="137160" rtlCol="0" anchor="ctr"/>
          <a:lstStyle/>
          <a:p>
            <a:pPr defTabSz="685800">
              <a:spcAft>
                <a:spcPts val="300"/>
              </a:spcAft>
            </a:pPr>
            <a:r>
              <a:rPr lang="de-DE" sz="1125" b="1" dirty="0">
                <a:solidFill>
                  <a:srgbClr val="64748B"/>
                </a:solidFill>
                <a:latin typeface="Cambria" pitchFamily="34" charset="0"/>
              </a:rPr>
              <a:t>Wert-für-Wert-Tokenisierung</a:t>
            </a:r>
          </a:p>
          <a:p>
            <a:pPr defTabSz="685800"/>
            <a:r>
              <a:rPr lang="de-DE" sz="975" dirty="0">
                <a:solidFill>
                  <a:srgbClr val="0D1B2A"/>
                </a:solidFill>
                <a:latin typeface="Calibri" pitchFamily="34" charset="0"/>
              </a:rPr>
              <a:t>Jeder Zeitschritt wird einzeln in einen Bin quantisiert. Der Decoder generiert autoregressiv — jeder Wert braucht einen vollständigen Vorwärtsdurchlauf.</a:t>
            </a:r>
          </a:p>
        </p:txBody>
      </p:sp>
      <p:sp>
        <p:nvSpPr>
          <p:cNvPr id="31" name="Right Explain Box"/>
          <p:cNvSpPr/>
          <p:nvPr/>
        </p:nvSpPr>
        <p:spPr>
          <a:xfrm>
            <a:off x="4640760" y="2625000"/>
            <a:ext cx="4012500" cy="9375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171450" tIns="137160" rIns="171450" bIns="137160" rtlCol="0" anchor="ctr"/>
          <a:lstStyle/>
          <a:p>
            <a:pPr defTabSz="685800">
              <a:spcAft>
                <a:spcPts val="300"/>
              </a:spcAft>
            </a:pPr>
            <a:r>
              <a:rPr lang="de-DE" sz="1125" b="1" dirty="0">
                <a:solidFill>
                  <a:srgbClr val="1D4ED8"/>
                </a:solidFill>
                <a:latin typeface="Cambria" pitchFamily="34" charset="0"/>
              </a:rPr>
              <a:t>Patch-Tokenisierung + Direct Multi-Step</a:t>
            </a:r>
          </a:p>
          <a:p>
            <a:pPr defTabSz="685800"/>
            <a:r>
              <a:rPr lang="de-DE" sz="975" dirty="0">
                <a:solidFill>
                  <a:srgbClr val="0D1B2A"/>
                </a:solidFill>
                <a:latin typeface="Calibri" pitchFamily="34" charset="0"/>
              </a:rPr>
              <a:t>Mehrere Zeitschritte werden per MLP zu einem Patch-Embedding gebündelt. Der Decoder erzeugt mehrere Zukunftswerte direkt — ganz ohne Token-Schleife.</a:t>
            </a:r>
          </a:p>
        </p:txBody>
      </p:sp>
      <p:sp>
        <p:nvSpPr>
          <p:cNvPr id="32" name="Key Message Banner"/>
          <p:cNvSpPr/>
          <p:nvPr/>
        </p:nvSpPr>
        <p:spPr>
          <a:xfrm>
            <a:off x="365760" y="3712500"/>
            <a:ext cx="8412480" cy="8625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800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3" name="Key Message Label"/>
          <p:cNvSpPr/>
          <p:nvPr/>
        </p:nvSpPr>
        <p:spPr>
          <a:xfrm>
            <a:off x="594360" y="3817500"/>
            <a:ext cx="795456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KERNBOTSCHAFT</a:t>
            </a:r>
          </a:p>
        </p:txBody>
      </p:sp>
      <p:sp>
        <p:nvSpPr>
          <p:cNvPr id="34" name="Key Message Text"/>
          <p:cNvSpPr/>
          <p:nvPr/>
        </p:nvSpPr>
        <p:spPr>
          <a:xfrm>
            <a:off x="594360" y="4057500"/>
            <a:ext cx="79545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75" b="1" dirty="0">
                <a:solidFill>
                  <a:srgbClr val="FFFFFF"/>
                </a:solidFill>
                <a:latin typeface="Cambria" pitchFamily="34" charset="0"/>
              </a:rPr>
              <a:t>🔑 Patches + Direct Multi-Step Forecasting: bis zu 250× schneller und CPU-tauglich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F38DF-5E0B-6D83-3D33-398959CE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533823-B38E-ACAB-9531-9C494A78BF8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169533-5F49-2F48-9137-993FC0607B50}"/>
              </a:ext>
            </a:extLst>
          </p:cNvPr>
          <p:cNvSpPr/>
          <p:nvPr/>
        </p:nvSpPr>
        <p:spPr>
          <a:xfrm>
            <a:off x="36576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2 – Multi-variate Prognose &amp; ICL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“Group Attention”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11D4B8-F839-42EB-F053-21786B9B9FB4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F47C03A-D42F-F28F-CFF0-E983E34EB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6" y="776477"/>
            <a:ext cx="7773928" cy="3337523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BD5240F-40F7-2F11-57A6-728946CC0599}"/>
              </a:ext>
            </a:extLst>
          </p:cNvPr>
          <p:cNvGrpSpPr/>
          <p:nvPr/>
        </p:nvGrpSpPr>
        <p:grpSpPr>
          <a:xfrm>
            <a:off x="685036" y="4166920"/>
            <a:ext cx="7800818" cy="640080"/>
            <a:chOff x="607423" y="4260000"/>
            <a:chExt cx="7720148" cy="450000"/>
          </a:xfrm>
        </p:grpSpPr>
        <p:sp>
          <p:nvSpPr>
            <p:cNvPr id="8" name="Shape 28">
              <a:extLst>
                <a:ext uri="{FF2B5EF4-FFF2-40B4-BE49-F238E27FC236}">
                  <a16:creationId xmlns:a16="http://schemas.microsoft.com/office/drawing/2014/main" id="{93E467AE-0877-59B1-ABBC-5EA5A9586511}"/>
                </a:ext>
              </a:extLst>
            </p:cNvPr>
            <p:cNvSpPr/>
            <p:nvPr/>
          </p:nvSpPr>
          <p:spPr>
            <a:xfrm>
              <a:off x="607423" y="4260000"/>
              <a:ext cx="7720148" cy="450000"/>
            </a:xfrm>
            <a:prstGeom prst="roundRect">
              <a:avLst>
                <a:gd name="adj" fmla="val 15385"/>
              </a:avLst>
            </a:prstGeom>
            <a:solidFill>
              <a:srgbClr val="FFF7ED"/>
            </a:solidFill>
            <a:ln w="12700">
              <a:solidFill>
                <a:srgbClr val="FED7AA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29">
              <a:extLst>
                <a:ext uri="{FF2B5EF4-FFF2-40B4-BE49-F238E27FC236}">
                  <a16:creationId xmlns:a16="http://schemas.microsoft.com/office/drawing/2014/main" id="{13B06100-6DC8-CC8A-6D99-71A135BB84C1}"/>
                </a:ext>
              </a:extLst>
            </p:cNvPr>
            <p:cNvSpPr/>
            <p:nvPr/>
          </p:nvSpPr>
          <p:spPr>
            <a:xfrm>
              <a:off x="672737" y="4290000"/>
              <a:ext cx="7589520" cy="39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de-DE" sz="1200" dirty="0"/>
                <a:t>„Die </a:t>
              </a:r>
              <a:r>
                <a:rPr lang="de-DE" sz="1200" b="1" dirty="0"/>
                <a:t>Group Attention</a:t>
              </a:r>
              <a:r>
                <a:rPr lang="de-DE" sz="1200" dirty="0"/>
                <a:t> erkennt Querverbindungen: Sie analysiert parallele Zeitreihen zum selben Zeitpunkt, um multivariate Abhängigkeiten dynamisch zu erfassen.“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45B96BC0-8B4D-E680-45A3-86A7A78C4403}"/>
              </a:ext>
            </a:extLst>
          </p:cNvPr>
          <p:cNvSpPr txBox="1"/>
          <p:nvPr/>
        </p:nvSpPr>
        <p:spPr>
          <a:xfrm>
            <a:off x="7785462" y="4859920"/>
            <a:ext cx="15246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(2025)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4073220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+mn-ea"/>
                <a:cs typeface="+mn-cs"/>
              </a:rPr>
              <a:t>Energiepreis EPF-DE </a:t>
            </a:r>
            <a:r>
              <a:rPr lang="de-DE" sz="2200" b="1" dirty="0">
                <a:solidFill>
                  <a:srgbClr val="FFFFFF"/>
                </a:solidFill>
                <a:latin typeface="Cambria" pitchFamily="34" charset="0"/>
              </a:rPr>
              <a:t>— Wirkung von In-</a:t>
            </a:r>
            <a:r>
              <a:rPr lang="de-DE" sz="2200" b="1" dirty="0" err="1">
                <a:solidFill>
                  <a:srgbClr val="FFFFFF"/>
                </a:solidFill>
                <a:latin typeface="Cambria" pitchFamily="34" charset="0"/>
              </a:rPr>
              <a:t>Context</a:t>
            </a:r>
            <a:r>
              <a:rPr lang="de-DE" sz="2200" b="1" dirty="0">
                <a:solidFill>
                  <a:srgbClr val="FFFFFF"/>
                </a:solidFill>
                <a:latin typeface="Cambria" pitchFamily="34" charset="0"/>
              </a:rPr>
              <a:t> Learning (ICL)</a:t>
            </a:r>
          </a:p>
        </p:txBody>
      </p:sp>
      <p:sp>
        <p:nvSpPr>
          <p:cNvPr id="6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Chronos | AI for Business Prognosis | SoSe 2026 | Graduate Campus, HS Aalen</a:t>
            </a:r>
          </a:p>
        </p:txBody>
      </p:sp>
      <p:sp>
        <p:nvSpPr>
          <p:cNvPr id="11" name="Card Left">
            <a:extLst>
              <a:ext uri="{FF2B5EF4-FFF2-40B4-BE49-F238E27FC236}">
                <a16:creationId xmlns:a16="http://schemas.microsoft.com/office/drawing/2014/main" id="{0D4FDB9A-101F-3126-C825-9068B4F3B850}"/>
              </a:ext>
            </a:extLst>
          </p:cNvPr>
          <p:cNvSpPr/>
          <p:nvPr/>
        </p:nvSpPr>
        <p:spPr>
          <a:xfrm>
            <a:off x="6962504" y="1013964"/>
            <a:ext cx="1939834" cy="3407813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▸Wesentlich verbesserte Vorhersage des Preises durch Verwendung von 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In-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</a:rPr>
              <a:t>Context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-Learning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mit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den 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</a:rPr>
              <a:t>Kovariaten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„Stromproduktion aus Sonne und Wind“ und „</a:t>
            </a:r>
            <a:r>
              <a:rPr lang="de-DE" sz="1200" dirty="0" err="1">
                <a:solidFill>
                  <a:srgbClr val="0D1B2A"/>
                </a:solidFill>
                <a:latin typeface="Calibri" pitchFamily="34" charset="0"/>
              </a:rPr>
              <a:t>Ampirion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Load: Stromnachfrage im Netz“</a:t>
            </a:r>
          </a:p>
          <a:p>
            <a:pPr>
              <a:defRPr/>
            </a:pPr>
            <a:endParaRPr lang="de-DE" sz="1200" dirty="0">
              <a:solidFill>
                <a:srgbClr val="0D1B2A"/>
              </a:solidFill>
              <a:latin typeface="Calibri" pitchFamily="34" charset="0"/>
            </a:endParaRPr>
          </a:p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▸Ohne ICL wird der kurzzeitige Preissturz durch die plötzlich ansteigende Stromproduktion aus Sonne und Wind – und damit viel vorhandenem günstigen Ökostrom - nicht korrekt vorhergesagt.</a:t>
            </a:r>
          </a:p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</a:t>
            </a: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AE815E3-838C-54AA-75D4-C7672243C647}"/>
              </a:ext>
            </a:extLst>
          </p:cNvPr>
          <p:cNvGrpSpPr/>
          <p:nvPr/>
        </p:nvGrpSpPr>
        <p:grpSpPr>
          <a:xfrm>
            <a:off x="365760" y="1205574"/>
            <a:ext cx="8412480" cy="3080153"/>
            <a:chOff x="365760" y="1061886"/>
            <a:chExt cx="8412480" cy="3080153"/>
          </a:xfrm>
        </p:grpSpPr>
        <p:sp>
          <p:nvSpPr>
            <p:cNvPr id="4" name="Subtitle"/>
            <p:cNvSpPr/>
            <p:nvPr/>
          </p:nvSpPr>
          <p:spPr>
            <a:xfrm>
              <a:off x="365760" y="1061886"/>
              <a:ext cx="8412480" cy="3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Stündlicher Strompreis Deutschland an der Börse</a:t>
              </a:r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8B2726BE-9060-5083-6D20-9CB419F9C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760" y="1373796"/>
              <a:ext cx="6426838" cy="2444608"/>
            </a:xfrm>
            <a:prstGeom prst="rect">
              <a:avLst/>
            </a:prstGeom>
          </p:spPr>
        </p:pic>
        <p:sp>
          <p:nvSpPr>
            <p:cNvPr id="13" name="Subtitle">
              <a:extLst>
                <a:ext uri="{FF2B5EF4-FFF2-40B4-BE49-F238E27FC236}">
                  <a16:creationId xmlns:a16="http://schemas.microsoft.com/office/drawing/2014/main" id="{BCA22E58-086A-639A-A04B-BBC9654FA82E}"/>
                </a:ext>
              </a:extLst>
            </p:cNvPr>
            <p:cNvSpPr/>
            <p:nvPr/>
          </p:nvSpPr>
          <p:spPr>
            <a:xfrm>
              <a:off x="365760" y="3832039"/>
              <a:ext cx="8412480" cy="3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100" b="0" i="1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* </a:t>
              </a:r>
              <a:r>
                <a:rPr kumimoji="0" lang="de-DE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Amperion</a:t>
              </a:r>
              <a:r>
                <a:rPr kumimoji="0" lang="de-DE" sz="1100" b="0" i="1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einer der vier großen Übertragungsnetzbetreiber in Deutschland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286F1608-EF56-FFD3-4742-E8589C985FEF}"/>
              </a:ext>
            </a:extLst>
          </p:cNvPr>
          <p:cNvSpPr txBox="1"/>
          <p:nvPr/>
        </p:nvSpPr>
        <p:spPr>
          <a:xfrm>
            <a:off x="7785462" y="4839292"/>
            <a:ext cx="15246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(2025)</a:t>
            </a:r>
            <a:endParaRPr lang="de-DE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Zusammenfassung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Key Takeaways</a:t>
            </a:r>
            <a:endParaRPr lang="en-US" sz="1600" i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457189">
              <a:defRPr/>
            </a:pPr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760" y="150763"/>
            <a:ext cx="84124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2200" b="1">
                <a:solidFill>
                  <a:srgbClr val="FFFFFF"/>
                </a:solidFill>
                <a:latin typeface="Cambria" pitchFamily="34" charset="0"/>
              </a:rPr>
              <a:t>Chronos-Familien im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321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150" i="1">
                <a:solidFill>
                  <a:srgbClr val="475569"/>
                </a:solidFill>
                <a:latin typeface="Calibri"/>
              </a:rPr>
              <a:t>Drei Generationen von Zeitreihen-Foundation-Models — </a:t>
            </a:r>
            <a:r>
              <a:rPr sz="1150" b="1" i="1">
                <a:solidFill>
                  <a:srgbClr val="475569"/>
                </a:solidFill>
                <a:latin typeface="Calibri"/>
              </a:rPr>
              <a:t>alle zero-shot (kein fit() auf eigene Daten)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60704"/>
            <a:ext cx="2590800" cy="3547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548640" y="1207007"/>
            <a:ext cx="566928" cy="566928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9">
              <a:spcAft>
                <a:spcPts val="200"/>
              </a:spcAft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260030"/>
            <a:ext cx="16764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450" b="1">
                <a:solidFill>
                  <a:srgbClr val="0D1B2A"/>
                </a:solidFill>
                <a:latin typeface="Calibri"/>
              </a:rPr>
              <a:t>Chronos (T5)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1517905"/>
            <a:ext cx="1676400" cy="13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5000"/>
              </a:lnSpc>
              <a:spcAft>
                <a:spcPts val="200"/>
              </a:spcAft>
              <a:defRPr/>
            </a:pPr>
            <a:r>
              <a:rPr sz="900" i="1">
                <a:solidFill>
                  <a:srgbClr val="475569"/>
                </a:solidFill>
                <a:latin typeface="Calibri"/>
              </a:rPr>
              <a:t>„Original“ · Sprachmodell-Ansatz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847088"/>
            <a:ext cx="2298192" cy="1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200"/>
              </a:spcAft>
              <a:defRPr/>
            </a:pPr>
            <a:r>
              <a:rPr sz="950">
                <a:solidFill>
                  <a:srgbClr val="0D1B2A"/>
                </a:solidFill>
                <a:latin typeface="Calibri"/>
              </a:rPr>
              <a:t>Skalieren → quantisieren → tokenisieren → T5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249424"/>
            <a:ext cx="2298192" cy="454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Parameter: </a:t>
            </a:r>
            <a:r>
              <a:rPr sz="930">
                <a:solidFill>
                  <a:srgbClr val="0D1B2A"/>
                </a:solidFill>
                <a:latin typeface="Calibri"/>
              </a:rPr>
              <a:t>8M – 710M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Kontext / Horizont: </a:t>
            </a:r>
            <a:r>
              <a:rPr sz="930">
                <a:solidFill>
                  <a:srgbClr val="0D1B2A"/>
                </a:solidFill>
                <a:latin typeface="Calibri"/>
              </a:rPr>
              <a:t>512 / 64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Kovariaten: </a:t>
            </a:r>
            <a:r>
              <a:rPr sz="930">
                <a:solidFill>
                  <a:srgbClr val="0D1B2A"/>
                </a:solidFill>
                <a:latin typeface="Calibri"/>
              </a:rPr>
              <a:t>nein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871215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2E7D46"/>
                </a:solidFill>
                <a:latin typeface="Calibri"/>
              </a:rPr>
              <a:t>Vorteile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3072385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Erstes etabliertes Foundation Model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Probabilistisch (Quantile via Sampling)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Einfaches Konzept „Zeit als Sprache“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3803904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C0392B"/>
                </a:solidFill>
                <a:latin typeface="Calibri"/>
              </a:rPr>
              <a:t>Nachteile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4005073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Langsam (autoregressiv)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Kurzer Kontext (512)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Keine Kovariaten / Multivariat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6600" y="1060704"/>
            <a:ext cx="2590800" cy="3547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413760" y="1207007"/>
            <a:ext cx="566928" cy="566928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9">
              <a:spcAft>
                <a:spcPts val="200"/>
              </a:spcAft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2984" y="1260030"/>
            <a:ext cx="16764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450" b="1">
                <a:solidFill>
                  <a:srgbClr val="0D1B2A"/>
                </a:solidFill>
                <a:latin typeface="Calibri"/>
              </a:rPr>
              <a:t>Chronos-Bolt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2984" y="1517905"/>
            <a:ext cx="1676400" cy="13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5000"/>
              </a:lnSpc>
              <a:spcAft>
                <a:spcPts val="200"/>
              </a:spcAft>
              <a:defRPr/>
            </a:pPr>
            <a:r>
              <a:rPr sz="900" i="1">
                <a:solidFill>
                  <a:srgbClr val="475569"/>
                </a:solidFill>
                <a:latin typeface="Calibri"/>
              </a:rPr>
              <a:t>„Schnell“ · patch-basiert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904" y="1847088"/>
            <a:ext cx="2298192" cy="1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200"/>
              </a:spcAft>
              <a:defRPr/>
            </a:pPr>
            <a:r>
              <a:rPr sz="950">
                <a:solidFill>
                  <a:srgbClr val="0D1B2A"/>
                </a:solidFill>
                <a:latin typeface="Calibri"/>
              </a:rPr>
              <a:t>Chunks + direkte Multi-Step-Prognose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904" y="2249424"/>
            <a:ext cx="2298192" cy="454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Parameter: </a:t>
            </a:r>
            <a:r>
              <a:rPr sz="930">
                <a:solidFill>
                  <a:srgbClr val="0D1B2A"/>
                </a:solidFill>
                <a:latin typeface="Calibri"/>
              </a:rPr>
              <a:t>9M – 205M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Kontext / Horizont: </a:t>
            </a:r>
            <a:r>
              <a:rPr sz="930">
                <a:solidFill>
                  <a:srgbClr val="0D1B2A"/>
                </a:solidFill>
                <a:latin typeface="Calibri"/>
              </a:rPr>
              <a:t>2048 / 64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Kovariaten: </a:t>
            </a:r>
            <a:r>
              <a:rPr sz="930">
                <a:solidFill>
                  <a:srgbClr val="0D1B2A"/>
                </a:solidFill>
                <a:latin typeface="Calibri"/>
              </a:rPr>
              <a:t>nein (nur extern)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2904" y="2871215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2E7D46"/>
                </a:solidFill>
                <a:latin typeface="Calibri"/>
              </a:rPr>
              <a:t>Vorteile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2904" y="3072385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Bis 250× schneller, 20× sparsamer*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Genauer als Original; CPU-tauglich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Ideal für viele Reihen parallel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2904" y="3803904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C0392B"/>
                </a:solidFill>
                <a:latin typeface="Calibri"/>
              </a:rPr>
              <a:t>Nachteile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2904" y="4005073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Keine nativen Kovariaten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Kein Multivariat / Cross-Learning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Horizont auf 64 begrenzt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1720" y="1060704"/>
            <a:ext cx="2590800" cy="3547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278880" y="1207007"/>
            <a:ext cx="566928" cy="566928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9">
              <a:spcAft>
                <a:spcPts val="200"/>
              </a:spcAft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8104" y="1260030"/>
            <a:ext cx="16764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450" b="1">
                <a:solidFill>
                  <a:srgbClr val="0D1B2A"/>
                </a:solidFill>
                <a:latin typeface="Calibri"/>
              </a:rPr>
              <a:t>Chronos-2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8104" y="1517905"/>
            <a:ext cx="16764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5000"/>
              </a:lnSpc>
              <a:spcAft>
                <a:spcPts val="200"/>
              </a:spcAft>
              <a:defRPr/>
            </a:pPr>
            <a:r>
              <a:rPr sz="900" i="1">
                <a:solidFill>
                  <a:srgbClr val="475569"/>
                </a:solidFill>
                <a:latin typeface="Calibri"/>
              </a:rPr>
              <a:t>„Vielseitig“ · Encoder + Group-Attention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8024" y="1847088"/>
            <a:ext cx="2298192" cy="1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200"/>
              </a:spcAft>
              <a:defRPr/>
            </a:pPr>
            <a:r>
              <a:rPr sz="950">
                <a:solidFill>
                  <a:srgbClr val="0D1B2A"/>
                </a:solidFill>
                <a:latin typeface="Calibri"/>
              </a:rPr>
              <a:t>Univariat, multivariat &amp; Kovariaten in einem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8024" y="2249424"/>
            <a:ext cx="2298192" cy="454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Parameter: </a:t>
            </a:r>
            <a:r>
              <a:rPr sz="930">
                <a:solidFill>
                  <a:srgbClr val="0D1B2A"/>
                </a:solidFill>
                <a:latin typeface="Calibri"/>
              </a:rPr>
              <a:t>120M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Kontext / Horizont: </a:t>
            </a:r>
            <a:r>
              <a:rPr sz="930">
                <a:solidFill>
                  <a:srgbClr val="0D1B2A"/>
                </a:solidFill>
                <a:latin typeface="Calibri"/>
              </a:rPr>
              <a:t>8192 / 1024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Kovariaten: </a:t>
            </a:r>
            <a:r>
              <a:rPr sz="930">
                <a:solidFill>
                  <a:srgbClr val="0D1B2A"/>
                </a:solidFill>
                <a:latin typeface="Calibri"/>
              </a:rPr>
              <a:t>ja (past + future)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8024" y="2871215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2E7D46"/>
                </a:solidFill>
                <a:latin typeface="Calibri"/>
              </a:rPr>
              <a:t>Vorteile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8024" y="3072385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Multivariat + Cross-Learning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Native Kovariaten (Promo, Events)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SOTA zero-shot; langer Kontext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24" y="3803904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C0392B"/>
                </a:solidFill>
                <a:latin typeface="Calibri"/>
              </a:rPr>
              <a:t>Nachteile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8024" y="4005073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Rechenintensiver als Bolt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DataFrame-API etwas komplexer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Jüngstes Modell (weniger erprobt)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681729"/>
            <a:ext cx="83210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00" b="1">
                <a:solidFill>
                  <a:srgbClr val="0D1B2A"/>
                </a:solidFill>
                <a:latin typeface="Calibri"/>
              </a:rPr>
              <a:t>Faustregel:  </a:t>
            </a:r>
            <a:r>
              <a:rPr sz="900">
                <a:solidFill>
                  <a:srgbClr val="0D1B2A"/>
                </a:solidFill>
                <a:latin typeface="Calibri"/>
              </a:rPr>
              <a:t>T5 = Verständnis-Baseline · Bolt = schnell für viele Reihen · Chronos-2 = wenn Kovariaten oder mehrere Serien zählen.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01184"/>
            <a:ext cx="832104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750" i="1">
                <a:solidFill>
                  <a:srgbClr val="64748B"/>
                </a:solidFill>
                <a:latin typeface="Calibri"/>
              </a:rPr>
              <a:t>*Bolt vs. Original-Chronos (Amazon).  Parameter/Specs: Amazon- &amp; Hugging-Face-Modellkarten, Stand Juli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74320"/>
            <a:ext cx="2926080" cy="292608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pPr defTabSz="914378"/>
            <a:endParaRPr lang="de-DE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548640" y="914400"/>
            <a:ext cx="7328263" cy="389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LLM-Architekturen funktionieren für Zeitreihen — ohne zeitreihen-spezifische Anpassungen</a:t>
            </a:r>
          </a:p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Zero-Shot Forecasting mit der Chronos-Familie auf unbekannten Zeitreihen – konkurrenzfähig mit besten task-spezifischen DL-Modellen</a:t>
            </a:r>
          </a:p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Kontext ist König – Zu kurze Zeitfenster führen zur Unterschätzung von Trends!</a:t>
            </a:r>
          </a:p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Weiterentwicklungen Chronos-Bolt / Chronos-2: Recheneffizienz, multivariate Prognosen, externe Kovariaten</a:t>
            </a:r>
          </a:p>
          <a:p>
            <a:pPr marL="316706" indent="-316706" defTabSz="914378">
              <a:lnSpc>
                <a:spcPct val="118000"/>
              </a:lnSpc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In-Context Learning (ICL) macht den Unterschied – Chronos-2 kann externe Faktoren nutzen, um Preisstürze korrekt vorherzusagen</a:t>
            </a:r>
            <a:endParaRPr lang="de-DE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(2024) — https://github.com/amazon-science/chronos-forecasting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33BC5-3687-CD96-FF8F-F88AB165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916F10-F8F0-D290-D0B7-26236783997F}"/>
              </a:ext>
            </a:extLst>
          </p:cNvPr>
          <p:cNvSpPr/>
          <p:nvPr/>
        </p:nvSpPr>
        <p:spPr>
          <a:xfrm>
            <a:off x="6858000" y="-274320"/>
            <a:ext cx="2926080" cy="292608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073F16-C5DC-2FEC-B09E-751920C66C75}"/>
              </a:ext>
            </a:extLst>
          </p:cNvPr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61E62A-B32A-996A-BBDB-D1B38FC0E6D8}"/>
              </a:ext>
            </a:extLst>
          </p:cNvPr>
          <p:cNvSpPr/>
          <p:nvPr/>
        </p:nvSpPr>
        <p:spPr>
          <a:xfrm>
            <a:off x="548640" y="2492609"/>
            <a:ext cx="59501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Ansari, A. F., Stella, L., Turkmen, C., Zhang, X., Mercado, P., Shen, H., </a:t>
            </a:r>
            <a:r>
              <a:rPr lang="de-DE" sz="1200" dirty="0" err="1">
                <a:solidFill>
                  <a:schemeClr val="bg1"/>
                </a:solidFill>
              </a:rPr>
              <a:t>Shchur</a:t>
            </a:r>
            <a:r>
              <a:rPr lang="de-DE" sz="1200" dirty="0">
                <a:solidFill>
                  <a:schemeClr val="bg1"/>
                </a:solidFill>
              </a:rPr>
              <a:t>, O., </a:t>
            </a:r>
            <a:r>
              <a:rPr lang="de-DE" sz="1200" dirty="0" err="1">
                <a:solidFill>
                  <a:schemeClr val="bg1"/>
                </a:solidFill>
              </a:rPr>
              <a:t>Rangapuram</a:t>
            </a:r>
            <a:r>
              <a:rPr lang="de-DE" sz="1200" dirty="0">
                <a:solidFill>
                  <a:schemeClr val="bg1"/>
                </a:solidFill>
              </a:rPr>
              <a:t>, S. S., Arango, S. P., Kapoor, S., </a:t>
            </a:r>
            <a:r>
              <a:rPr lang="de-DE" sz="1200" dirty="0" err="1">
                <a:solidFill>
                  <a:schemeClr val="bg1"/>
                </a:solidFill>
              </a:rPr>
              <a:t>Zschiegner</a:t>
            </a:r>
            <a:r>
              <a:rPr lang="de-DE" sz="1200" dirty="0">
                <a:solidFill>
                  <a:schemeClr val="bg1"/>
                </a:solidFill>
              </a:rPr>
              <a:t>, J., Maddix, D. C., Wang, H., Mahoney, M. W., </a:t>
            </a:r>
            <a:r>
              <a:rPr lang="de-DE" sz="1200" dirty="0" err="1">
                <a:solidFill>
                  <a:schemeClr val="bg1"/>
                </a:solidFill>
              </a:rPr>
              <a:t>Torkkola</a:t>
            </a:r>
            <a:r>
              <a:rPr lang="de-DE" sz="1200" dirty="0">
                <a:solidFill>
                  <a:schemeClr val="bg1"/>
                </a:solidFill>
              </a:rPr>
              <a:t>, K., Wilson, A. G., Bohlke-Schneider, M., &amp; Wang, Y. (2024). Chronos: Learning </a:t>
            </a:r>
            <a:r>
              <a:rPr lang="de-DE" sz="1200" dirty="0" err="1">
                <a:solidFill>
                  <a:schemeClr val="bg1"/>
                </a:solidFill>
              </a:rPr>
              <a:t>the</a:t>
            </a:r>
            <a:r>
              <a:rPr lang="de-DE" sz="1200" dirty="0">
                <a:solidFill>
                  <a:schemeClr val="bg1"/>
                </a:solidFill>
              </a:rPr>
              <a:t> Language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Time Series. Transactions on </a:t>
            </a:r>
            <a:r>
              <a:rPr lang="de-DE" sz="1200" dirty="0" err="1">
                <a:solidFill>
                  <a:schemeClr val="bg1"/>
                </a:solidFill>
              </a:rPr>
              <a:t>Machine</a:t>
            </a:r>
            <a:r>
              <a:rPr lang="de-DE" sz="1200" dirty="0">
                <a:solidFill>
                  <a:schemeClr val="bg1"/>
                </a:solidFill>
              </a:rPr>
              <a:t> Learning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Vaswani, A., </a:t>
            </a:r>
            <a:r>
              <a:rPr lang="de-DE" sz="1200" dirty="0" err="1">
                <a:solidFill>
                  <a:schemeClr val="bg1"/>
                </a:solidFill>
              </a:rPr>
              <a:t>Shazeer</a:t>
            </a:r>
            <a:r>
              <a:rPr lang="de-DE" sz="1200" dirty="0">
                <a:solidFill>
                  <a:schemeClr val="bg1"/>
                </a:solidFill>
              </a:rPr>
              <a:t>, N., Parmar, N., </a:t>
            </a:r>
            <a:r>
              <a:rPr lang="de-DE" sz="1200" dirty="0" err="1">
                <a:solidFill>
                  <a:schemeClr val="bg1"/>
                </a:solidFill>
              </a:rPr>
              <a:t>Uszkoreit</a:t>
            </a:r>
            <a:r>
              <a:rPr lang="de-DE" sz="1200" dirty="0">
                <a:solidFill>
                  <a:schemeClr val="bg1"/>
                </a:solidFill>
              </a:rPr>
              <a:t>, J., Jones, L., Gomez, A. N., Kaiser, Ł., &amp; </a:t>
            </a:r>
            <a:r>
              <a:rPr lang="de-DE" sz="1200" dirty="0" err="1">
                <a:solidFill>
                  <a:schemeClr val="bg1"/>
                </a:solidFill>
              </a:rPr>
              <a:t>Polosukhin</a:t>
            </a:r>
            <a:r>
              <a:rPr lang="de-DE" sz="1200" dirty="0">
                <a:solidFill>
                  <a:schemeClr val="bg1"/>
                </a:solidFill>
              </a:rPr>
              <a:t>, I. (2017). Attention </a:t>
            </a:r>
            <a:r>
              <a:rPr lang="de-DE" sz="1200" dirty="0" err="1">
                <a:solidFill>
                  <a:schemeClr val="bg1"/>
                </a:solidFill>
              </a:rPr>
              <a:t>is</a:t>
            </a:r>
            <a:r>
              <a:rPr lang="de-DE" sz="1200" dirty="0">
                <a:solidFill>
                  <a:schemeClr val="bg1"/>
                </a:solidFill>
              </a:rPr>
              <a:t> all </a:t>
            </a:r>
            <a:r>
              <a:rPr lang="de-DE" sz="1200" dirty="0" err="1">
                <a:solidFill>
                  <a:schemeClr val="bg1"/>
                </a:solidFill>
              </a:rPr>
              <a:t>you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need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 err="1">
                <a:solidFill>
                  <a:schemeClr val="bg1"/>
                </a:solidFill>
              </a:rPr>
              <a:t>Advances</a:t>
            </a:r>
            <a:r>
              <a:rPr lang="de-DE" sz="1200" i="1" dirty="0">
                <a:solidFill>
                  <a:schemeClr val="bg1"/>
                </a:solidFill>
              </a:rPr>
              <a:t> in </a:t>
            </a:r>
            <a:r>
              <a:rPr lang="de-DE" sz="1200" i="1" dirty="0" err="1">
                <a:solidFill>
                  <a:schemeClr val="bg1"/>
                </a:solidFill>
              </a:rPr>
              <a:t>Neural</a:t>
            </a:r>
            <a:r>
              <a:rPr lang="de-DE" sz="1200" i="1" dirty="0">
                <a:solidFill>
                  <a:schemeClr val="bg1"/>
                </a:solidFill>
              </a:rPr>
              <a:t> Information Processing Systems</a:t>
            </a:r>
            <a:r>
              <a:rPr lang="de-DE" sz="1200" dirty="0">
                <a:solidFill>
                  <a:schemeClr val="bg1"/>
                </a:solidFill>
              </a:rPr>
              <a:t>, </a:t>
            </a:r>
            <a:r>
              <a:rPr lang="de-DE" sz="1200" i="1" dirty="0">
                <a:solidFill>
                  <a:schemeClr val="bg1"/>
                </a:solidFill>
              </a:rPr>
              <a:t>30.</a:t>
            </a: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Ansari, A. F., </a:t>
            </a:r>
            <a:r>
              <a:rPr lang="de-DE" sz="1200" dirty="0" err="1">
                <a:solidFill>
                  <a:schemeClr val="bg1"/>
                </a:solidFill>
              </a:rPr>
              <a:t>Shchur</a:t>
            </a:r>
            <a:r>
              <a:rPr lang="de-DE" sz="1200" dirty="0">
                <a:solidFill>
                  <a:schemeClr val="bg1"/>
                </a:solidFill>
              </a:rPr>
              <a:t>, O., Küken, J., Auer, A., Han, B., Mercado, P., </a:t>
            </a:r>
            <a:r>
              <a:rPr lang="de-DE" sz="1200" dirty="0" err="1">
                <a:solidFill>
                  <a:schemeClr val="bg1"/>
                </a:solidFill>
              </a:rPr>
              <a:t>Rangapuram</a:t>
            </a:r>
            <a:r>
              <a:rPr lang="de-DE" sz="1200" dirty="0">
                <a:solidFill>
                  <a:schemeClr val="bg1"/>
                </a:solidFill>
              </a:rPr>
              <a:t>, S. S., Shen, H., Stella, L., Zhang, X., Goswami, M., Kapoor, S., Maddix, D. C., Guerron, P., Hu, T., Yin, J., Erickson, N., Desai, P. M., Wang, H., Rangwala, H., </a:t>
            </a:r>
            <a:r>
              <a:rPr lang="de-DE" sz="1200" dirty="0" err="1">
                <a:solidFill>
                  <a:schemeClr val="bg1"/>
                </a:solidFill>
              </a:rPr>
              <a:t>Karypis</a:t>
            </a:r>
            <a:r>
              <a:rPr lang="de-DE" sz="1200" dirty="0">
                <a:solidFill>
                  <a:schemeClr val="bg1"/>
                </a:solidFill>
              </a:rPr>
              <a:t>, G., Wang, Y., &amp; Bohlke-Schneider, M. (2025). Chronos-2: From Univariate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Universal </a:t>
            </a:r>
            <a:r>
              <a:rPr lang="de-DE" sz="1200" dirty="0" err="1">
                <a:solidFill>
                  <a:schemeClr val="bg1"/>
                </a:solidFill>
              </a:rPr>
              <a:t>Forecasting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 err="1">
                <a:solidFill>
                  <a:schemeClr val="bg1"/>
                </a:solidFill>
              </a:rPr>
              <a:t>arXiv</a:t>
            </a:r>
            <a:r>
              <a:rPr lang="de-DE" sz="1200" i="1" dirty="0">
                <a:solidFill>
                  <a:schemeClr val="bg1"/>
                </a:solidFill>
              </a:rPr>
              <a:t> </a:t>
            </a:r>
            <a:r>
              <a:rPr lang="de-DE" sz="1200" i="1" dirty="0" err="1">
                <a:solidFill>
                  <a:schemeClr val="bg1"/>
                </a:solidFill>
              </a:rPr>
              <a:t>preprint</a:t>
            </a:r>
            <a:r>
              <a:rPr lang="de-DE" sz="1200" i="1" dirty="0">
                <a:solidFill>
                  <a:schemeClr val="bg1"/>
                </a:solidFill>
              </a:rPr>
              <a:t> arXiv:2510.15821</a:t>
            </a:r>
            <a:r>
              <a:rPr lang="de-DE" sz="1200" dirty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9A818A-B73C-88AB-5D62-6543F932B876}"/>
              </a:ext>
            </a:extLst>
          </p:cNvPr>
          <p:cNvSpPr/>
          <p:nvPr/>
        </p:nvSpPr>
        <p:spPr>
          <a:xfrm>
            <a:off x="496389" y="2533757"/>
            <a:ext cx="63616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C994185-F256-A98A-2348-B225A664F961}"/>
              </a:ext>
            </a:extLst>
          </p:cNvPr>
          <p:cNvSpPr/>
          <p:nvPr/>
        </p:nvSpPr>
        <p:spPr>
          <a:xfrm>
            <a:off x="548640" y="3512165"/>
            <a:ext cx="60938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D67BF93-FA10-E2BC-B126-DF3F8E44A23A}"/>
              </a:ext>
            </a:extLst>
          </p:cNvPr>
          <p:cNvSpPr/>
          <p:nvPr/>
        </p:nvSpPr>
        <p:spPr>
          <a:xfrm>
            <a:off x="54864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github.com/amazon-science/chronos-forecasting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953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635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dirty="0" err="1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Χρόνος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»Zeit«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Dank!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Steffen  ·  Bettina Gertjerenken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 Prognosis  ·  SoSe 2026  ·  Graduate Campus, HS Aalen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github.com/amazon-science/chronos-forecasting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2924</Words>
  <Application>Microsoft Office PowerPoint</Application>
  <PresentationFormat>Bildschirmpräsentation (16:9)</PresentationFormat>
  <Paragraphs>350</Paragraphs>
  <Slides>27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</vt:lpstr>
      <vt:lpstr>Consolas</vt:lpstr>
      <vt:lpstr>Courier New</vt:lpstr>
      <vt:lpstr>Office Theme</vt:lpstr>
      <vt:lpstr>Office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Chronos: Learning the Language of Time Series</dc:title>
  <dc:subject>PptxGenJS Presentation</dc:subject>
  <dc:creator>noname 1, noname 2</dc:creator>
  <cp:lastModifiedBy>Bettina Gertjerenken</cp:lastModifiedBy>
  <cp:revision>230</cp:revision>
  <dcterms:created xsi:type="dcterms:W3CDTF">2026-06-27T13:48:11Z</dcterms:created>
  <dcterms:modified xsi:type="dcterms:W3CDTF">2026-07-09T15:39:48Z</dcterms:modified>
</cp:coreProperties>
</file>